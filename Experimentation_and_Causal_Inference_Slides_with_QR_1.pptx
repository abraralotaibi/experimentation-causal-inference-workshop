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5"/>
    <p:restoredTop sz="94610"/>
  </p:normalViewPr>
  <p:slideViewPr>
    <p:cSldViewPr snapToGrid="0" snapToObjects="1">
      <p:cViewPr varScale="1">
        <p:scale>
          <a:sx n="117" d="100"/>
          <a:sy n="117" d="100"/>
        </p:scale>
        <p:origin x="176" y="6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notesMaster" Target="notesMasters/notesMaster1.xml"/><Relationship Id="rId224" Type="http://schemas.openxmlformats.org/officeDocument/2006/relationships/presProps" Target="presProps.xml"/><Relationship Id="rId225" Type="http://schemas.openxmlformats.org/officeDocument/2006/relationships/viewProps" Target="viewProps.xml"/><Relationship Id="rId226" Type="http://schemas.openxmlformats.org/officeDocument/2006/relationships/theme" Target="theme/theme1.xml"/><Relationship Id="rId2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11372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everyone, to Experimentation, A/B Testing and Causal Inference. I am Abrar Alotaibi, and I will be your instructor for the next four days. My background is in applied data science and experimentation, and the whole point of this week is to move you from answering what is associated with what to answering what happens if we intervene. Before we go further, a practical note. All course materials live in a GitHub repository, and there is a QR code for it two slides ahead. It holds the README with setup instructions, the Day 1 handout, and the starter notebooks for every lab. Please scan it when it comes up so you have it open for the rest of the week. Let us start with a quick profile of the course.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course on one card. Twenty training hours across four days, five hours per day, at the Expert level of the Science Portfolio. The thing I want you to notice is the bottom line: roughly 45 percent of our contact time is hands-on. There are five labs plus a capstone, and every lab produces a runnable notebook you take home. The prerequisite codes, SF-3 and DS-1, mean I will assume you can run Python and read a hypothesis test. I will not re-teach those. What I will teach is how to decide which number you should have been computing in the first place. Quick show of hands: who has shipped or analyzed an A/B test before? Good, that tells me where to calibrate.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GitHub repository QR code. Please scan it now, it takes ten seconds, and keep the README open on a second screen. The handout for today and the starter notebooks are all there. The idea on this slide is the 80/20 rule of causal work. Most of the credibility of a causal estimate is decided before any model is fit, by how the question is framed and what identification argument supports it. That is why today contains almost no code until the final hour. Ask yourself: when a colleague shows you a lift number, do you ask what model they used, or do you ask how people ended up in the treatment group? By Thursday, I want the second question to be your reflex.</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first four learning outcomes. Read them as a sequence rather than a list. Outcome one is turning a business decision into a precise estimand, and you will see that this is harder than it sounds. Outcome two is stating the assumptions that connect that estimand to data. Outcomes three and four are the experimental track: designing a test with real power calculations and then analyzing it without fooling yourself through peeking or multiple comparisons. The one idea to land here is that outcomes one and two come first for a reason. Estimation is downstream of design. If a participant can only take one thing from Day 1, it should be the habit of naming the estimand before opening a notebook.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Outcomes five through eight cover what happens when you cannot randomize, which in most organizations is most of the time. Five is the observational toolkit: regression, matching, propensity scores, weighting, and doubly robust estimators, all reasoned through with causal diagrams. Six is the quasi-experimental family: difference-in-differences, synthetic control, instrumental variables, and regression discontinuity. Seven and eight are about honesty: producing the right standard error for the design you actually have, and knowing when a claim is unsafe to act on. Tell the room that the capstone rubric is built directly on these eight outcomes, so the deliverable on Day 4 is not a surprise. Ask which of the eight feels furthest from their current work; that answer usually points to Day 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 me be clear about what I assume. Statistical foundations: you know what a confidence interval is and what a p-value is not. Applied data science: you can wrangle a pandas DataFrame and fit a regression. Comfort with notation: expectations and conditional probabilities will appear on almost every slide, though I will always translate them into words. If any of that feels shaky, the README lists a short refresher. On audience, you will notice four personas. In practice each group brings a different blind spot. Data scientists tend to trust models too much, growth analysts trust the platform dashboard too much, and policy analysts trust administrative records too much. This week is partly about learning to distrust each of those in the right way.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roadmap. Today is foundations: causal thinking, potential outcomes, the assumptions that do the work, and why randomization works. Tomorrow we design and analyze real experiments, including power, minimum detectable effect, and the production A/B testing workflow. Day 3 is the big observational day: confounding and DAGs, matching and weighting, then the quasi-experimental designs. Day 4 closes with uncertainty, a taxonomy of bias, sensitivity analysis, and the capstone. One story threads through all four days. Throughout the week I will use a single running case, Injaz, a unified digital government platform, so that you see one problem evolve from a naive comparison to a defensible estimate. Transition: before the content, a word on how each day actually runs.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day follows the same rhythm, roughly 55 percent concept and 45 percent practice. Concept blocks are short and each one lands on a numerical or code example right away, because an abstract assumption becomes real only when you see it fail in numbers. Each day has one substantial Python lab, done in pairs, and you will leave with notebooks that run. The structured discussions are where professional judgment gets built. My favorite question all week will be: which assumption breaks here? Expect me to ask it often. On assessment, there is a pre-test today, a short knowledge check at the end of most hours, and a post-test on Day 4. Only the post-test and the capstone are graded. The checks are for you, and for me to see where to slow down.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Certification requires a passing composite score and the attendance threshold, and the composite is built from the post-test and the rubric-scored capstone. Nothing from today counts toward the grade. The QR code at the top right of this slide is the entrance exam. We take it now. It is ten multiple-choice questions, ten minutes, diagnostic and ungraded. Its only purpose is to show me where the room is starting from, and I will share aggregate results with the organizer only, never individual scores. Please scan it, answer honestly, and do not look things up; a wrong answer today is useful information, a looked-up right answer is not. When ten minutes are up, we begin Day 1 properly. Start the timer now.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Day 1 begins here. Before I advance, an opening poll, and I want an honest argument, not a polite one. On Injaz, service completion is eight points higher for citizens who opted into the new guided document uploader. Should we roll it out to everyone? Take two minutes and argue it out with your neighbor. Someone in the room will say that maybe the people who opted in were already the engaged ones. When that sentence is spoken, write it on the whiteboard and leave it there all day, because it is the whole course in one line. Today's five hours are about turning that intuition into machinery: a vocabulary, a framework, a set of assumptions, and one design that makes the assumptions true. Transition: three kinds of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Pearl's ladder gives us three distinct questions. Seeing is the probability of Y given that we observe X. Doing is the probability of Y given that we set X. Imagining is what this particular unit's outcome would have been under a different X. Nearly all of machine learning lives on the first rung, and nearly every decision your organization makes lives on the second or third. The idea to land: a better predictive model does not climb the ladder. You can have perfect prediction of who completes an Injaz service and still know nothing about what happens if you change the uploader. Ask the room: which rung does your most recent project sit on? Most will say the first. Transition: so why does seeing fail to tell us about doing?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different stories generate the same observed association, and only one of them is a causal effect. Give each an Injaz face. Reverse causation: citizens who complete services become comfortable enough to adopt the uploader. Confounding: digital literacy drives both adoption and completion. Selection: we analyzed only completed sessions, which is conditioning on a collider. Chance: it was a lucky week. Say this explicitly: of these four, chance is the only one that more data fixes. The other three survive any sample size, and that point returns on the next slide. A useful question for the room: for the uploader case, which of the four story do you find most plausible, and what data would distinguish it from the others?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three numbers are the message. About half of naive observational effects fail to replicate when someone later runs a randomized trial. Peeking and unmanaged multiple testing can inflate a headline A/B lift roughly tenfold. And a confounded design has infinite bias in a precise sense: no sample size fixes it, more data simply converges faster to the wrong number. The insight box is today's thesis, so read it aloud: bias is a property of design and identification, not of sample size. Participants who work with large administrative datasets often resist this, so ask them directly whether four million rows would help with any of the four stories on the previous slide. The answer is only the fourth. Transition: a concrete example to hold onto.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product team ships a new onboarding flow. Retention is 62 percent for those who saw it and 48 percent for those who did not. The tempting read is a fourteen point lift. Ask the room the only question that matters: who saw the new flow? Let them build the list of confounders themselves: newer cohorts, power users, a specific platform. Map it directly onto Injaz. Uploader opt-in users are younger, more digitally literate, and on newer devices. Every one of those independently predicts completion. The disciplined move has three parts: define the target quantity, list what must be true to identify it, then pick a design that makes it credible. Promise the room that Day 2 answers this with a randomized test and Day 3 with observational methods when a test is impossible.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five-step spine is what every credible analysis in the course follows, and it is also the spine of the capstone rubric, so say that now. Question to estimand: whose effect, of what, on whom, on which outcome. Identification: the assumptions under which the estimand equals something computable. Estimation: choose and fit an estimator, which is only as good as the identification behind it. Inference: the right standard error for the design, not the default one. Sensitivity: how wrong could the assumptions be before the conclusion flips. The idea to land is that steps one and two decide about 80 percent of credibility, and most analysts skip straight to step three. Ask: in your last project, which step did you spend the most time on? Almost always the answer is estimation.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fix vocabulary now because sloppy words produce sloppy claims. A unit is whatever can receive treatment: a citizen, a device, a region. Treatment is the intervention, usually binary for us but not always. The outcome is what we measure afterward. Covariates are pre-treatment characteristics, and I want to stress pre-treatment, because anything measured after treatment can never enter the adjustment set. That is your first meeting with the bad-controls rule, which returns in Hour 3. Insist on the final triple. The estimand is the quantity you want. The estimator is the recipe. The estimate is the number the recipe returns. When someone says the effect is 0.05, ask which of the three they mean. Usually they have named the estimate without ever naming the estimand.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quote aloud and then pause for a genuine few seconds. No causes in, no causes out. Data by itself never yields a causal conclusion; every causal conclusion rests on a causal assumption that you brought to the analysis. This is not a limitation of technique. Every method on Day 3, matching, weighting, difference-in-differences, instruments, is a specific causal assumption dressed as a procedure, and the assumption is the part you have to defend. The practical consequence is that a good causal analysis always names its assumptions where a reader can see them. If a report shows a number and no assumptions, the number has no causal meaning yet. Transition: so what makes a question causal at all, rather than merely interesting?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manipulation test is simple: if you cannot describe how, even in principle, the treatment could be set, the causal question is ill-posed. The effect of nationality on Injaz completion fails the test, because nothing sets nationality. The effect of a name on a résumé passes, because we can change the name on the document. Well-defined interventions remove ambiguity: the effect of the uploader means the effect of a specific build shown at a specific step, not a vague idea. The consistency and SUTVA points are placeholders for Hour 3. Some participants find this slide philosophical, so keep it to two minutes. Ask one quick question: rephrase the effect of age on completion as a well-posed intervention. Something like the effect of an age-targeted reminder is a good answer.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disciplines that look alike and optimize for different things. Predictive modeling wants low out-of-sample loss and welcomes any feature that helps, including ones measured after treatment. Causal modeling wants the effect of intervening on T, chooses its adjustment set from causal structure rather than from fit, and can be damaged by adding the wrong control. The line to land: a great predictor can be a terrible basis for a decision. A model that uses number of support calls to predict completion is excellent at prediction and useless for deciding whether to change the uploader, because support calls sit on the causal path. Ask the room whether a feature that improves AUC should always be kept. The honest answer is: it depends on what the model is for. Transition: a quick check before Hour 2.</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quick classification exercise, and we debrief live, one minute per question. Ask for a show of hands on each. Question one, which customers are most likely to churn, is predictive, because it asks who, not what would happen if. Question two, will offering this discount reduce churn, is causal, because it describes an intervention. Question three, what retention would we see had we never launched the flow, is counterfactual, because it asks about an unobserved alternative world for the same units. After the show of hands, give participants three minutes to scan the QR code at the top right and submit their answers on the Google Form, so I have a record of where the room stands. Then the transition line: we now have the vocabulary, next we build the framework that makes the effect a precise object.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Hour 2 opens. This is the Neyman-Rubin potential outcomes framework, and I want you to treat it as the mental operating system for the rest of the week. Everything on Day 3 and Day 4, matching, difference-in-differences, instruments, sensitivity analysis, is a strategy expressed in this language. Set the expectation for the hour. We define potential outcomes, we meet the fundamental problem, we name the family of estimands, and then we do the one derivation that matters most today, the decomposition of the naive difference into an effect plus selection bias. I will do that one on the whiteboard rather than from the slide, so have a pen ready. Ask the room to keep the Injaz uploader case in mind throughout; every abstraction here will get mapped back to 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unit carries two potential outcomes, Y of one if treated and Y of zero if not. Both exist in principle, and reality shows us exactly one. Draw the spreadsheet on the board: one row per user, two columns, and then blank out half the cells in a checkerboard. That picture is the entire subject. The individual effect is the difference between the two columns for the same row, a within-unit contrast, never a comparison between two people. The observed outcome formula simply says treatment picks which column we see. Say the phrase missing data problem out loud, because once participants see the blank cells as missing values, every Day 3 method feels natural: each one is a rule for filling in the hidden column. Ask: for a treated Injaz user, which cell is missing?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Holland's fundamental problem: for any unit we see the factual outcome and lose the counterfactual, so the individual effect is never measured. Do not let this feel like defeat. The rescue is that averages can be identified even when individual effects cannot, provided the design is right. We switch targets, from the impossible individual quantity to a feasible population or subgroup quantity. Watch for two common escapes. Someone will suggest a twin study, someone else a before-and-after measurement on the same person. Neither solves it: twins are different units, and time changes other things besides the treatment. The consequence box is worth reading aloud: every method that follows is a device for filling in the missing counterfactual credibly, on average. Transition: which average, exactly? That is the next slide.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Different decisions need different averages, and naming the estimand is step one of the workflow. The ATE answers everyone treated versus no one treated, the right quantity for a national launch of the uploader. The ATT answers how much it helped those who actually received it, the right quantity for evaluating a voluntary training workshop delivered to attendees. The CATE is the effect within a subgroup, for instance elderly users, and is the basis of any targeting decision. The ITT is the effect of being assigned regardless of whether people complied, which is what a real rollout can deliver. Ask the room: the ministry wants to know whether to fund the workshop nationally. Which estimand? Many will say ATT. Push back: a national mandate treats non-volunteers too, so ATE, and the two can differ a lot.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this arithmetic slowly; it is the concrete version of everything so far. Six users, oracle table with both columns filled. The individual effects are six, minus one, nine, two, eight, and three, and their mean is 4.17 days. Have participants verify that on their phones. Now suppose units one, three, and five are treated. We observe treated values 30, 40, 35 with mean 35, and control values 26, 20, 25 with mean 23.7. The naive difference is 11.3. The truth is 4.2 and the naive number is 2.7 times larger, because the treated units had higher outcomes under control to begin with. Nothing about the calculation was wrong; the comparison was wrong. Ask: what would have made the naive difference honest? Random assignment, and the next slide shows exactly why.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this derivation on the whiteboard, not from the slide; it is the most important ten minutes of the day. Start from the observed gap. Replace Y with Y of one in the treated term and Y of zero in the control term. Add and subtract expected Y of zero among the treated, regroup, and you get ATT plus a term in braces: the untreated outcome for the treated minus the same for the controls. Read it aloud in words: observed gap equals real effect on the treated plus how different the groups already were. Ask for the sign of the bias term on Injaz. Positive, because literate opt-in users would complete more anyway. Then the sentence to land: if treatment is independent of potential outcomes, the braces vanish. Design is the fight to zero that term.</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misreadings that cause downstream errors, so slow down here. First, Y of one and Y of zero are defined for every unit, including units that were never treated; they are not the treated group's outcome. Second, the effect is a within-unit contrast, never a between-group difference. Third, an average effect of zero does not mean no effect for anyone, since positive and negative subgroup effects can cancel, which is why CATEs matter. Fourth, and this is the one that powers Hour 4: potential outcomes are fixed attributes of a unit, and randomness enters only through which one we get to see. Hold onto that, because design-based inference treats the assignment as the only random thing. Ask the room which of the four they think they have personally committed; the first is the usual confession.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Knowledge check on estimands. Show of hands on each, then a short debrief. Question one, emissions among firms that adopted the standard: the answer is B, ATT, because the question is explicitly about those who received the treatment. Question two, personalizing a promotion by segment: the answer is C, CATE, because targeting requires effects that vary with covariates. Question three, effect of assignment under imperfect compliance: the answer is C, ITT, because it measures being assigned rather than actually taking up the treatment. After the hands, give participants three minutes to scan the QR code at the top right and record their answers on the Google Form. Then narrate the Injaz workshop story for five minutes without slides: 71 versus 49 percent completion, a SAR 40 million rollout proposal, an honest re-analysis near four points. Day 3 pays it off.</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Hour 3 begins, and it is the most abstract hour of the day, so anchor every assumption to a concrete Injaz failure. Pick up the transition line from the last hour: the naive difference is ATT plus a bias term, and this hour states exactly what must be true for that term to vanish. Four names to learn: SUTVA, ignorability, positivity, and consistency. Two of them can be checked against data, and two cannot. By the end of the hour participants should be able to say which is which, and why the untestable one is the reason every observational estimate on Day 3 gets a sensitivity analysis on Day 4. Ask the room to keep asking one question at each assumption: how would this break on Injaz?</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 estimand is identified when it can be written purely as a function of the observed-data distribution; that is the definition, and these four are the standard sufficient conditions. A1, SUTVA: no interference between units and one well-defined version of treatment. A2, ignorability: given covariates, treatment is as good as random with respect to the potential outcomes. A3, positivity: every covariate profile has a real chance of landing in either arm. A4, consistency: the outcome you observe is the potential outcome for the treatment actually received. Say clearly that these are sufficient, not necessary. Instrumental variables and difference-in-differences identify effects without A2, using other assumptions instead. Transition: we now take each one apart, starting with the one that most often hides in plain sight.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SUTVA has two clauses that quietly break real analyses. No interference means my outcome does not depend on your treatment. On Injaz that breaks when family members share one device, or when call-center agents learn the new flow and start coaching control users through it. One version of treatment breaks when three slightly different uploader builds ship across operating system versions under a single label. The marketplace warning deserves its own minute. Imagine a priority-appointment feature where treated users grab slots from a fixed pool at control users' expense; the control arm is harmed, and the naive difference overstates the effect. Ask the room for an interference story from their own product. Say that the remedies, cluster randomization and switchback designs, come tomorrow, and spillover modeling on Day 4.</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load-bearing wall, and the metaphor is worth repeating. Ignorability says that once you condition on measured covariates, assignment carries no information about the potential outcomes. In a randomized trial it holds by design, with no covariates needed. In an observational study it is an assumption, and it is true only if your covariates capture every common cause of treatment and outcome. The idea to land is why it is untestable: the data cannot reveal a confounder you never measured. No diagnostic, no residual plot, no goodness-of-fit statistic can show you the variable you did not collect. That is exactly why every observational estimate on Day 3 will be paired with a sensitivity analysis on Day 4. Ask: on Injaz, what is the confounder we probably did not measure? Motivation is the usual answer.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Positivity says you cannot estimate a counterfactual in a region where one arm never appears. A structural violation is a rule: under-18s are never eligible, so no amount of data fills in their treated outcome. A practical violation is subtler: overlap exists on paper, but propensity scores near zero or one produce extreme weights and unstable estimates. Define the propensity score now, e of x, the probability of treatment given covariates, so that Day 3 is not the first time anyone sees it. The first diagnostic in any observational study is a plot of its distribution by arm. The responses are to trim, to restrict to common support, or to change the estimand to something like the ATT or the ATO. Ask which is better: a smaller answer to the right question, or a bigger answer nobody can identify?</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Adding more controls is not a neutral act; it is a causal decision, and some adjustments manufacture bias. A confounder, a common cause of treatment and outcome, is adjusted for: digital literacy on Injaz. A mediator sits on the causal path and must not be adjusted, because you would block part of the effect you want: the number of support calls after adopting the uploader. A collider is a common effect, and conditioning on it opens a spurious path: analyzing only completed sessions. The simple operational rule: keep the adjustment set pre-treatment. Do not derive d-separation yet; the full DAG hour is on Day 3. Ask the room for the variable in their own work that they most often control for by habit, then ask whether it is measured before or after treatment.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signpost for Day 3, so keep it to three minutes. Under the four assumptions the ATE becomes computable in two ways. The g-formula models the outcome: estimate the treated-minus-control gap within each covariate profile, then average over the covariate distribution. Inverse probability weighting models the treatment instead: reweight each unit by one over its probability of the arm it received, creating a pseudo-population in which treatment is independent of covariates. Same assumptions, different model. Doubly robust estimators combine the two and remain consistent if either model is correct. The one idea to land is that the estimator is not where the credibility comes from; the assumptions above it are. Transition: a quick check, then a short discussion question before Hour 4.</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Knowledge check on assumptions. Show of hands for each, then debrief. Question one, a viral referral program where treated users recruit control users: the answer is A, SUTVA, because one unit's treatment is changing another unit's outcome. Question two, no one over 65 was ever eligible: the answer is B, positivity, because a whole covariate region has zero probability of treatment. Question three, an unmeasured driver of both uptake and outcome: the answer is A, ignorability, and it is untestable because the data cannot show a variable that was never collected. After the hands, give participants three minutes to scan the QR code at the top right and submit on the Google Form. Then the transition question, two minutes: you have four million Injaz rows; which of the four assumptions does that help with? None. Sample size touches variance only.</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Hour 4. The purpose of this hour is to show that randomization does not assume ignorability, it manufactures it. Everything in Hour 3 was a list of things that must be true; randomization is the one design that makes the most important of them true by construction. We also introduce design-based inference in two flavors, Fisher and Neyman, because Lab 1 uses both in the final hour. Set expectations: some of this is conceptual, but the payoff is very practical, since it tells you which standard error to report tomorrow when you analyze a real experiment. Ask the room how many have ever seen a permutation test used in an A/B analysis. Usually few hands. By the end of the day they will have written one.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Random assignment is the most powerful tool in the course because it makes the load-bearing assumptions true rather than assumed. Since assignment is independent of everything, potential outcomes are independent of treatment with no covariates required. Measured and unmeasured covariates are balanced in expectation, including the confounders you never thought of, and that last clause is the unique power of an experiment. Matching on Day 3 can balance only what you measured. The control group becomes an unbiased stand-in for the treated group's missing Y of zero, which means the bias term in braces from Hour 2 is zero and the naive difference is the ATE. Point at the independence symbol: that single relation is what turns a group difference into a causal effect. Everything else in the analysis is bookkeeping.</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Balance is a property of the procedure, not of any single draw. Over many re-randomizations the arm means of any covariate converge; in one particular draw, especially at small n, a covariate can differ by chance. The remedies are to design balance in up front by stratifying or blocking on strong predictors, and to adjust for pre-treatment covariates in the analysis, which we do tomorrow. Plant one rule today because the temptation appears in Lab 2 tomorrow: randomize once, check, adjust in analysis, and never re-roll or drop units to force balance after the fact. Doing so breaks the very randomness that gave you ignorability. Ask the room: if you saw a chance imbalance on age in your experiment, what is the first thing you would want to do? Most say re-randomize. That is the wrong instinct.</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philosophies about where the randomness in your standard error comes from. Design-based inference, from Neyman and Fisher, treats potential outcomes as fixed and the assignment as the only random thing; it needs no outcome model. Model-based inference imagines units drawn from a super-population and targets a parameter through an assumed model. The two can give different standard errors, and the difference is not academic when the sample is small or the outcome is skewed. Our default for experiments is design-based, because it is the most assumption-light choice and it matches exactly what we did: we flipped coins. Connect back to slide 26: potential outcomes are fixed attributes, and randomness enters through which one we see. That earlier point is what makes design-based inference coherent.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Fisher's sharp null is stronger than the usual null: it says the effect is zero for every single unit, not just on average. The trick is that under this null both potential outcomes are known for everyone, because they are equal. So we can shuffle the treatment labels every possible way, recompute the statistic each time, and ask how extreme our observed value is in that reference distribution. The p-value is exact and valid in finite samples. No central limit theorem, no normality, no large n; the reference distribution is generated by the same randomness you used to assign treatment. Tell the room that in step six of Lab 1 they will do exactly this with a thousand permutations. Ask: what happens to this test if the assignment was not actually random? It loses its justification entirely.</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Where Fisher tests, Neyman estimates. Under complete randomization the difference in arm means is an unbiased estimator of the sample ATE. Its variance, the treated variance over n treated plus the control variance over n control, is conservative, because the covariance between the two potential outcomes cannot be identified from data where we only ever see one of them. The practical upshot for tomorrow: report the difference in means with a design-based standard error, which in practice means a robust HC2 standard error from a regression of the outcome on treatment. Tomorrow's slide 60 shows the equivalence. The one idea: honest, light on assumptions, and slightly conservative is the right posture for an experiment. Ask why conservative is acceptable here. Because it errs against false discoveries.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Randomization is the benchmark, and real constraints forbid it often enough to justify two full days of alternatives. Ethics: you cannot randomly withhold a known benefit or assign a harmful exposure. Feasibility: you cannot randomize a national subsidy at the citizen level. Cost and time: experiments can be slow relative to abundant observational data. History: the reminder program already rolled out region by region, and the workshops already happened. The response is the quasi-experiment: designs that borrow the logic of randomization from natural or as-if-random variation, which is exactly what Days 3 and 4 deliver. Ask the room for one question from their own work that cannot be randomized and why. Collect two or three; they become good material for the discussion slide in Hour 5.</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Knowledge check on randomization. Show of hands for each question, then debrief. Question one, randomization guarantees balance of unmeasured confounders: the answer is B, in expectation across repetitions, because any single draw can be imbalanced by chance. Question two, Fisher's randomization test is valid because it relies on: the answer is C, the assignment mechanism, since the reference distribution comes from re-randomizing labels rather than from any distributional assumption. Question three, the sharp null states zero effect for: the answer is B, every unit, which is what makes both potential outcomes known under the null. After the hands, give participants three minutes to scan the QR code at the top right and submit on the Google Form. Then move to Hour 5: everything from today becomes code.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Hour 5 is where theory becomes something you can feel. Lab 1 is 35 minutes in pairs, using the starter notebook lab1_potential_outcomes.ipynb from the repository; the solution is in the solution folder if a pair gets badly stuck. Before the pairs start, I run a six-minute live demo of steps three and four myself. Watch the estimate drop from about 0.095 to about 0.052 when the only line that changes is the assignment line. The speed of that drop is the message: nothing about the model changed, only how people got into the treatment group. Then a short debrief, a ten-minute paired discussion on a question from your own work, and a one-slide wrap. Ask everyone to open the notebook now while I demo.</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the steps once, then release the pairs. Simulate five thousand units with a confounder x representing digital literacy, compute the oracle ATE from the full table, induce self-selection so that treatment probability rises with x, and take the naive difference. Then re-assign at random and recompute with a Neyman standard error, plot balance before and after, and finish with a randomization-inference p-value from a thousand permutations. Expected numbers with seed 213: planted ATE 0.050, naive estimate about 0.095 with a bias term about plus 0.044, randomized estimate about 0.052 with standard error 0.014, and a randomization p-value of about 0.000. Where pairs get stuck: revealing the wrong potential outcome with a swapped np.where flips the sign, forgetting np.clip lets probabilities leave zero to one, and unlucky small draws are fixed by raising n or averaging over seeds. The QR code top right opens the Submission Form; remind participants to run the notebook top to bottom, save it as &lt;national ID&gt;_LabN.ipynb and upload it before leaving.</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Debrief with three observations, and check that every pair saw each one. Naive is not truth: the self-selected estimate sits near 0.095 against a planted 0.050, and when you sweep n up to one million it settles confidently near 0.105 rather than drifting toward the truth. Randomized is approximately truth: it centers on 0.050, around 0.052 in the seeded run, with a spread that shrinks as n grows. Balance is visible: the literacy histograms overlap after randomization and diverge under selection, and that plot is the diagnostic you will use all week. The emotional core is the sweep. Watch faces when the big data estimate converges to the wrong number, then say the sentence: bias does not shrink with n, only variance does. Ask what would have to change in the data-generating process for the naive estimate to be right.</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Ten minutes in pairs. Each pair takes a real question from their own work and runs it through today's framework: the decision, the treatment, the outcome, the population; the estimand and why that one; the most plausible confounders and whether they are measurable; and finally whether randomization is possible, and if not, what natural variation might stand in for it. Circulate and listen for the common slips: naming an outcome without a decision, choosing ATT when the decision is a universal rollout, or listing post-treatment variables as confounders. Surface two questions to the room and work them aloud, briefly. The purpose is not to solve them but to show that the vocabulary from this morning is enough to make any question precise. These questions are excellent seeds for the capstone, so ask people to write theirs down.</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lines carry the whole course. Causal is not predictive: intervention questions need counterfactual reasoning, not correlation. Effects are within-unit contrasts, and the missing half of the table is the whole problem. Identification comes before estimation: SUTVA, ignorability, positivity, and consistency decide credibility before any model is fit. Randomization is the benchmark, because it makes ignorability true by design, and everything we do on Days 3 and 4 is an attempt to approximate it. Point back to the sentence still on the whiteboard from this morning. Tomorrow we design real experiments: randomization schemes, power and minimum detectable effect, regression estimation with CUPED, and production A/B testing. Nothing is collected today. Please run check_env.py tonight if you have not, and bring your discussion question with you. Thank you. The QR code top right opens the Submission Form; remind participants to run the notebook top to bottom, save it as &lt;national ID&gt;_LabN.ipynb and upload it before leaving.</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back to Day 2. Yesterday we built the potential-outcomes language and saw why randomization is the cleanest identification strategy we have. Today we spend the whole day inside that strategy: how to design a randomized experiment, how to get honest uncertainty out of it, how to sharpen it with data you already own, and how to keep it trustworthy when it runs in production. Take three minutes here: pick one pair's real question from yesterday's discussion and ask the room, could you randomize it, and at what unit? Their answer is the whole of Hour 1. Set expectations that today is more than half lab and worked example, so we will move to the notebook quickly after each idea. Then move to the overview.</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the five hours briefly. Hour 1 is design: the choices you make before any data arrive. Hour 2 is inference: Fisher's exact test and Neyman's design-based standard error. Hour 3 is regression adjustment, CUPED and heterogeneous effects. Hour 4 is the production discipline of A/B testing, power, peeking and multiplicity. Hour 5 is Lab 2, where you run a complete test on 80,000 Injaz users and measure the peeking hazard yourselves. Tell them the running example today is the Injaz guided document uploader, randomized per user on a national-ID hash, with service-completion rate as the primary metric. The one idea for the day: a trustworthy experiment is mostly decided before launch. Keep this slide under two minutes and move into Hour 1.</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we pick a scheme, fix the vocabulary, because these four fields determine what an estimate even means. Introduce the Injaz uploader as the running example and write its six fields on the board: unit is the user, arms are control and the new uploader, the OEC is service-completion rate, guardrails are time-to-complete, support-ticket rate and upload-error rate, the trigger is reaching the upload step, and the unit of analysis is the user. Emphasize that the randomization unit must match the level at which interference happens and the level at which the decision is made. Make one rule explicit now and promise it returns in Hour 4: exactly one primary metric. Ask the room what happens to power when we add a third arm, and let them reason that it splits.</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 this as a menu with prices. Complete randomization is the simplest and is what most platforms do by default, but in small samples it leaves chance imbalance. Blocking or stratifying buys balance by design and lower variance. Cluster randomization is something you accept when interference or the delivery mechanism forces it, and it costs power. Factorial designs buy several answers from one sample. The idea to land is that each scheme trades balance, power and operational simplicity differently, so the choice is a design decision, not a default. Ask the room which scheme the Injaz uploader should use and why. Then say we will take the next three slides to look at blocking, clustering and factorial designs in turn.</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Give them the maxim: block what you can, randomize what you cannot. In the Injaz case the strong predictor is prior completions, so stratify on that and randomize within each stratum. The payoff is concrete: the variance of the effect estimate falls by roughly the share of outcome variance the blocking variable explains, which is a tighter interval for free. The point to land is the third box. If you block in the design, you must include stratum indicators or stratum fixed effects in the analysis, otherwise you report more uncertainty than you actually have. Pre-empt a pitfall here: if anyone suggests re-randomizing until the arms look balanced, stop them. Randomize once, check balance, and adjust in the analysis.</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where many industry false wins are born. Sometimes the treatment has to go to a whole store, region or classroom, or users inside a group affect each other. Then the unit is the cluster, and correlated units inside a cluster carry less information. Do the design effect live: 13 regions with 10,000 users each and an intra-cluster correlation of 0.02 gives 1 plus 9,999 times 0.02, roughly 200. Ask the room what that means for the effective sample size, then land the idea: you need more clusters, not more users, and you must cluster the standard errors. Mention the Injaz priority-appointment case, where a fixed pool of in-person slots means user-level randomization cannibalizes, so it moves to region-level or switchback design.</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this slide short, about two minutes. The 2 by 2 example is a new headline on or off crossed with an old or new price: four cells, two main effects and one interaction. The efficiency argument is the thing to land: each main effect uses the whole sample, so a factorial test can be far cheaper than running two separate experiments. The caution is that if the effects are strongly non-additive, main effects alone mislead, so pre-specify which interactions matter before you launch. Ask the room whether they would expect the headline and the price to interact and why. Then transition by saying the next slide is the subtlest design choice of all, the gap between where you randomize and where you analyze.</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trap that Lab 2's fast-finisher exercise demonstrates, so slow down here. Randomize where interference stops. Session-level randomization gives lots of power on paper, but if the same citizen sees two different uploaders in one week you get contamination and you damage trust in the service. The rule to land is that the analysis unit sits at or above the randomization unit; you never analyze finer than you assigned without clustering. Repeated observations per user need clustered or aggregated inference, otherwise the precision is fake. Also mention two mechanics from the instructor package: assignment should be a deterministic hash of a salt plus the unit id, so a user always lands in the same arm, and concurrent experiments use different salts. Both appear in Lab 2 step 2.</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the first knowledge check with a show of hands, then give participants three minutes to scan the QR code in the top right and answer on the Google Form. Answers: Q1 is B, cluster by city, because the campaign is delivered per city and word of mouth means neighbors interfere. Q2 is B, stratify on the strong predictor, because blocking on it removes chance imbalance and cuts variance without touching the estimand. Q3 is B, individual-level analysis of a cluster-randomized test understates the standard error, because correlated units inside a cluster carry less independent information than the naive count suggests. If Q3 splits the room, return to the design-effect number from two slides ago. Close Hour 1 by saying the design is now fixed, and Hour 2 turns it into an estimate with honest uncertainty.</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Hour 2 is about turning a design into a number and an interval you can defend. Two traditions do that. Fisher's randomization inference tests a sharp null exactly by re-running the assignment. Neyman's design-based approach estimates the average effect and derives its variance from the assignment mechanism itself. The idea to land for the hour is that both draw their validity from the randomization you actually performed, not from distributional assumptions about the data. Remind them they already did a permutation test in Lab 1 step 6, so this hour is operationalizing something they have touched. Keep this section slide to under a minute and move to the procedure.</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Connect this directly to Lab 1 step 6. Three steps. First, choose the test statistic before you see the data: a difference in means, a difference in ranks or a studentized statistic. Second, permute the labels respecting the design you actually used, so within blocks if you blocked and by cluster if you clustered, and recompute the statistic each time. Third, the p-value is the share of permutations at least as extreme as what you observed, and you invert the test to get an interval. The point to land is the assumption cost box: nothing about normality, nothing about variances, just the assignment rule replayed. Ask the room what goes wrong if you permute individuals in a cluster-randomized test, and let them see it is the same mistake as the last quiz question.</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the estimation side. The estimator is the difference in arm means, unbiased for the ATE under complete randomization. Its variance is S1 squared over n1 plus S0 squared over n0, estimated from within-arm sample variances, and it is conservative because the covariance term you cannot observe is dropped. The idea to land is the equivalence: under complete randomization this is the same as the HC2 heteroskedasticity-robust standard error from regressing Y on T. That is exactly why the lab notebooks default to robust covariance, HC2 or HC3, rather than classical OLS standard errors. Tell them that from now on, robust or clustered standard errors are the default in this course and classical ones need a justification.</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Put the two side by side and make the choice practical. Fisher targets the sharp null that no unit has any effect, gives an exact p-value by permutation, and produces no effect size on its own. Neyman targets the average effect, gives an estimate plus a conservative standard error, and tests the weaker null of zero average effect. The idea to land is that these are complementary rather than rival. Use Fisher when samples are small or you need clean significance; use Neyman when the decision needs an effect size and an interval, which in production is almost always. Ask the room which one an Injaz product owner needs when deciding whether to ship the uploader, and let them answer Neyman and say why.</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sets the standard for the decision paragraph in Lab 2 step 8, which is graded on exactly this. A result is a triple. First, the estimate in real units and as a relative lift, because a 2-point gain on a 55 percent baseline and a 2-point gain on a 5 percent baseline are different stories. Second, the interval, because it tells the reader what the data cannot rule out. Third, the assumptions ledger: the randomization unit, the standard error type and any adjustment. The idea to land is that statistical and practical significance are different questions, and a report that hides either one is not a report. Ask the room what a minimum worthwhile effect would be for the uploader and why that matters before the test, not after.</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 through the four readings slowly, because even experienced people slip. A p-value is the probability of data at least this extreme given the null, not the probability of the null given the data. A p above 0.05 is not evidence of no effect; absence of evidence is not evidence of absence. A tiny p on a huge sample can sit next to a trivial, non-actionable effect. And the interval usually carries more decision information than the p alone. Ask the room to rephrase 'p equals 0.20, so there is no effect' correctly, and push until someone says the data are compatible with a range of effects including zero. Pre-empt one pitfall: computing post-hoc observed power to excuse a null result is circular and should not appear in anyone's notebook.</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Second knowledge check. Show of hands first, then three minutes for participants to scan the QR code in the top right and answer on the Google Form. Answers: Q1 is B, Neyman estimation, because it delivers an estimate with a standard error while Fisher's test alone gives only a p-value. Q2 is B, HC2 robust, because under complete randomization the Neyman variance coincides with the heteroskedasticity-robust standard error from a regression of Y on T. Q3 is B, the statement is incorrect, because it confuses no evidence of an effect with evidence of no effect. Then bridge to Hour 3 with the experiment that ran forever: an Injaz homepage-copy test launched with no sample-size plan, checked daily, that crossed 0.05 four times in both directions. Its true effect was 0.4 points against a detectable MDE of about 2.</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Hour 3 is about doing more with the same data. Regression gives us the difference in means and, once we add pre-treatment covariates, a tighter estimate with no bias. CUPED is the production version of that idea and it is free power. Then we go beyond the average and ask for whom the treatment works, which is where credible experiments most often go quietly wrong. Frame the hour around the worked case you just told: half of that team's problem was chasing an effect they could never resolve, and variance reduction is one of the three levers for that. The idea to land is that adjustment sharpens without bias only when the covariate is fixed before treatment. Move to the regression slide.</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with the simple regression: Y on a constant and T, and the coefficient on T is exactly the difference in means. Lab 2 step 4 shows the two-proportion test and OLS agreeing to four decimals, then shows the covariate-adjusted interval narrowing. Adding pre-treatment covariates leaves the coefficient unbiased under randomization and usually reduces its variance. Mention Lin's estimator briefly: interact treatment with centered covariates and you are guaranteed no efficiency loss with correct finite-sample behavior. The idea to land is the warning box. Adjust only for variables fixed before treatment. Ask the room why adjusting for time-to-complete would be a mistake in the uploader test, and let them see that it is a post-treatment outcome that sits on the causal path.</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CUPED is the same idea packaged for production. Regress the outcome on a strongly correlated pre-period metric and analyze the residual variation. Variance falls by roughly the squared pre/post correlation, so a correlation of 0.7 halves the variance, which is the same power as doubling the sample at zero cost. It is unbiased because the covariate is pre-treatment. Say this before they are surprised in the lab: the pre-period covariate in Lab 2 is pre_completion_rate, and with a binary outcome the variance reduction is about 13 percent, not 50, because a 0/1 outcome caps the achievable correlation. The idea to land is that CUPED changes precision, never the estimate's target. Also warn that if a confidence interval widens after CUPED, the covariate is either not pre-treatment or not correlated, and that is a bug to find.</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ATE is an average over winners and losers, and for targeting, personalization and fairness you need to know how the effect varies with covariates. Give an Injaz example: the uploader might help first-time users and slightly slow experienced ones, and the average would hide both. The idea to land is discipline before machinery. Either pre-specify a small set of subgroups or use methods built for search with valid uncertainty, such as causal forests, meta-learners and doubly robust learners. Ask the room how many subgroups they think the Injaz data supports before someone finds a spurious win, and hold the answer until the false-findings slide. Say the next slide is just vocabulary for the learners and will take two minutes.</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Vocabulary slide, two minutes. The S-learner uses one model with treatment as a feature and differences its predictions at T equals 1 and T equals 0; it is simple but regularization can shrink a small effect away. The T-learner fits one model per arm and differences them; it is flexible but noisy when arms are unequal. The X-learner imputes individual effects and combines them with propensity weighting, which is why it is the one to reach for when arm sizes are very unequal. DR and R-learners are doubly robust or residual-based and have the better theoretical guarantees. The idea to land is that the estimator choice depends on arm balance and how small the effects are. Point them to the reading for details rather than deriving anything here.</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where credible experiments quietly go wrong. The garden of forking paths means enough subgroups guarantee a significant one by chance, and each looks compelling on its own. The discipline is to pre-register a small set of hypotheses, treat the rest as exploratory with a multiplicity correction, and validate any promising CATE in a held-out slice or a follow-up experiment before acting on it. Set up the Lab 2 step 5 moment now: there are 31 region-by-device segments, five come out raw-significant, and zero survive Benjamini-Hochberg. Tell them you will let a pair announce a segment win in the lab and then apply BH and watch it evaporate. The idea to land is that a subgroup finding is a hypothesis, not a result.</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Third knowledge check. Show of hands, then three minutes for participants to scan the QR code in the top right and answer on the Google Form. Answers: Q1 is C, pre-treatment, because a covariate fixed before assignment cannot carry any of the treatment's effect, so removing its variance cannot bias the estimate. Q2 is C, the X-learner, because it imputes effects and uses propensity weighting specifically to cope with very unequal arm sizes. Q3 is B, multiplicity and false discovery, because choosing the best of 20 unplanned tests almost guarantees a chance winner. Then transition to Hour 4 with the other half of the experiment that ran forever: they were also peeking daily, and that alone manufactured the flicker in their p-value. Hour 4 is the production discipline that prevents it.</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Hour 4 takes everything from the morning into a live production system. Frame it with a discussion prompt: a stakeholder screenshots p equals 0.03 on day three and wants to ship. What do you say, and what would let you legitimately act early? Take two or three answers and hold them for the peeking slides. The hour covers the lifecycle, power and MDE, the peeking problem and its valid fixes, multiple testing and guardrails, and a field guide to failure modes. The idea to land is the one from this morning, now with numbers: a trustworthy experiment is decided mostly before launch. Keep the section slide short and go to the lifecycle.</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the four stages as a checklist. A directional, pre-registered hypothesis on one primary metric with guardrails named up front. A power calculation that fixes alpha, power and the minimum detectable effect and turns them into a sample size and a runtime. Randomization at the right unit, with the split verified by an A/A test and clean exposure and outcome logging. Then analysis with valid inference at the pre-set horizon, a guardrail check, and a ship, iterate or stop decision. Ask the room which stage the homepage-copy team skipped, and let them find it was stage two, which then broke stage four. Pre-empt a pitfall here: analyze the triggered users who reached the upload step, not everyone, or the effect is diluted.</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quantities are locked together, alpha, power, MDE and n; choose three and the fourth follows. Show the MDE formula and then do the Injaz numbers live: baseline 0.55, MDE of 2 points, 80 percent power gives about 9,700 users per arm; MDE of 1 point gives about 39,000. That is the scaling law in the box, n proportional to one over delta squared. A second illustration if useful: baseline 10 percent, plus 0.5 point, about 56,400 per arm. Run length is total units over daily eligible traffic times the trigger rate, with a two-week floor for weekly seasonality. Pre-empt a pitfall: size to the minimum worthwhile effect, not the effect you expect. Use the leadership prompt: to detect a 0.3-point lift on modest traffic in two weeks, the three levers are a bigger MDE, variance reduction, or running longer.</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Return to the stakeholder screenshot from the start of the hour. Each look is another chance for noise to cross the threshold, and a fixed-horizon p-value is only valid once, at the planned sample size. Give them the numbers they will reproduce in Lab 2: with 1, 5, 10 and 20 looks the realized false-positive rate is about 5, 13, 20 and 25 percent. Unrestricted peeking pushes a nominal 5 percent to 20 or 30 percent or more. The rule to say out loud: if you want to watch continuously, you must use a method built for continuous watching. The idea to land is that the problem is not looking, it is stopping on a rule the math does not cover. Say the next slide gives the machinery that makes early looks legitimate.</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four families all let you look early without lying to yourself. Group-sequential designs pre-plan a few interim looks and spend the alpha budget across them, with O'Brien-Fleming boundaries strict early and Pocock more even. The SPRT accumulates a likelihood ratio and stops at a boundary, which is efficient for early stops. Always-valid inference, confidence sequences and e-values, stays valid at any stopping time, which is what makes it the natural fit for dashboards. Bayesian monitoring works if the prior and the decision rule are fixed in advance. Tell them Lab 2 step 7 uses a mixture SPRT and they will see the error rate return below nominal while power stays high. The idea to land is that all four require the rule to be chosen before the data, not after.</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PM prompt: your PM wants five primary metrics so we learn more, what is the cost and your counter-proposal? Give the numbers: 20 tests at 0.05 under the null give a 64 percent chance of at least one false positive, and 40 tests give 87 percent. The counter-proposal is one primary metric and a defined family for everything else. Bonferroni for strict family-wise control where a single false alarm is costly, which is the guardrail family. Benjamini-Hochberg for false discovery rate control in exploratory sweeps, which is what the segment sweep in the lab uses. The idea to land is that guardrails are a veto, not a tie-breaker: a winning OEC does not ship if latency, errors or complaints regress. Tell them Lab 2 tests all three Injaz guardrails with Bonferroni.</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Give the Injaz version of each in one sentence. Sample-ratio mismatch: a 51/49 split on 200,000 users is a chi-square failure that signals a plumbing bug, and you never analyze a test that fails it, no matter how close it looks. Peeking: the homepage-copy test. Interference: the priority-appointment slots, where treated users take capacity from control. Novelty and primacy: a new uploader draws curiosity for two days and the lift fades. Simpson's paradox: an aggregate win that reverses in every region because mix shifted. Winner's curse: the shipped variant's true effect is smaller than the estimate that got it shipped, which is why Day 4 re-measures steady state. The idea to land is that each failure has a specific diagnostic, and the lab runs the SRM one live.</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Fourth knowledge check. Show of hands, then three minutes for participants to scan the QR code in the top right and answer on the Google Form. Answers: Q1 is B, times four, because required sample size scales with one over the MDE squared. Q2 is B, always-valid or sequential methods, because they are built so that any stopping time preserves the error rate, unlike a fixed-horizon p-value. Q3 is B, a sample-ratio mismatch, because the observed split departs from the intended one and that points to a broken assignment or logging pipeline rather than any real effect. Close the hour by saying the lab now puts all four hours into one notebook, and that today is one of the labs that should finish on time.</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Lab 2 runs for 40 minutes in pairs on the notebook starter lab2_ab_test_end_to_end.ipynb, using injaz_experiment_results.csv with 80,000 users. Explain that the deliverable is a complete pipeline: a power plan, a verified assignment and split, an A/A check, the effect two ways, guardrails and segments with corrections, a peeking simulation and its repair, and a decision paragraph written in the triple format from Hour 2. Tell them the notebooks are collected at the end of the day for the labs component. Announce that the discussion afterward hands each group a one-page experiment report to audit, and that the pattern they should be hunting for is any place where the analysis does not match the design. Move to the lab brief.</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the six steps and give the expected numbers so pairs can self-check. Step 1: n per arm is 9,666 by closed form and 9,669 from statsmodels, and run length is 14 days on the seasonality floor. Steps 2 and 3: assignment reproduces 100 percent, the SRM p-value is about 0.31 when clean and about 1e-7 after dropping 3 percent of treatment rows, all standardized mean differences are below 0.01, and the A/A false-positive rate is about 0.048. Step 4: lift plus 0.022 with SE 0.0035 and CI 0.015 to 0.029; CUPED SE 0.0033, a 13 percent variance reduction. Step 5: peeking gives 4.7, 13.4, 19.6 and 25.5 percent. Step 6: mSPRT gives 1.4 percent under the null and 100 percent power at effect 0.1. Do the six-minute SRM demo first, then run the peeking loop while pairs work. The QR code top right opens the Submission Form; remind participants to run the notebook top to bottom, save it as &lt;national ID&gt;_LabN.ipynb and upload it before leaving.</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Debrief in ten minutes with the numbers on the board. CUPED is a free lunch: the SE fell from 0.0035 to 0.0033, a 13 percent variance reduction, from data the team already had, and the lift of plus 2.2 points did not move. Peeking is not benign: the naive daily-peek loop produced 4.7, 13.4, 19.6 and 25.5 percent false positives at 1, 5, 10 and 20 looks, several times the nominal 5 percent. Always-valid restores trust: the mixture SPRT brought the null error rate to 1.4 percent while keeping 100 percent power at an effect of 0.1, so early stopping stays available. Also revisit the segment sweep, 31 segments, five raw-significant, none surviving BH, and the guardrails, all OK with upload errors actually improving by 0.6 points. Ask any pair that got a widening CI after CUPED what they found.</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Ten minutes in groups. Hand out the one-page experiment report from the handout and let them work against the five audit questions on the slide. Do not reveal the flaws up front; there are five planted. The test was randomized by session on a returning-user feature, so users cross arms. It was analyzed daily until significant, so the horizon smells of peeking. It has five primary metrics and no guardrails. The standard errors are individual-level on a clustered design. And there is one fished subgroup presented as a finding. Take one flaw from each group in the readout, and ask what single change would have prevented it. The idea to land is that every flaw is a mismatch between the analysis and the design that was actually run.</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on four sentences. Design decides validity: the unit, the scheme and the blocking set credibility and precision before any data arrive. Inference must match design: randomization and design-based methods give honest uncertainty, and robust or clustered standard errors are the default. Adjust and reduce variance: pre-treatment covariates and CUPED sharpen without bias, and CATE tells you for whom, with discipline. Production discipline: power and MDE up front, no peeking without valid methods, control multiplicity and protect guardrails. Preview Day 3: tomorrow we lose the ability to randomize, so we need confounding, DAGs, matching, propensity and IPW, and the quasi-experimental toolkit of DiD, synthetic control, IV and RDD. Remind them to submit the Lab 2 notebook before leaving.</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to Day 3, the densest day of the workshop. Give this opening about three minutes. Say the framing in your own words: an observational study is an experiment you did not run, and every method today tries to recover from data the balance that randomization would have handed us for free. Each method pays for that recovery with an assumption, and the assumption is the thing to hold onto all day. Tell the room that the Injaz thread continues with two programs that could not be randomized: the voluntary digital-literacy training behind the 22-point headline from Day 1, and the regional SMS reminder rollout that went live in three waves. Both come back in Lab 3. Then move to the overview.</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the five hours quickly. Hour 1 is about structure: drawing the assumptions as a graph and choosing what to adjust for by rule rather than by fit. Hour 2 turns that rule into a number with regression, matching, propensity scores, weighting, and doubly robust estimation. Hour 3 exploits timing with difference-in-differences and synthetic control. Hour 4 covers instruments and thresholds. Hour 5 is the lab, where pairs estimate one effect four ways and explain the spread. Mention that the material is heavy, so you may compress staggered DiD, synthetic control, and the RDD slides if time runs short, but you will not cut the collider demonstration or the event-study idea, because those two protect them from the most common real mistakes.</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Land one idea here: confounding is the reason the naive comparison lies. Without randomization, the people who enrolled in training differ from those who did not in ways that also drive completion, so the raw gap mixes the effect with those differences. Explain the identification bet plainly: we assume that once we hold a covariate set X fixed, treatment is as good as random, and then we adjust for X. The bet is that X closes every backdoor. Then name the honesty tax. Because that assumption cannot be tested from the data, every observational estimate we produce this week must travel with a sensitivity analysis, which is tomorrow's topic. Ask the room: what would you need to know about enrollees to trust the naive gap?</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Move to the whiteboard and draw the Injaz training DAG while you talk. Age, literacy, prior completions, and region all point into both enrolled and completed. Enrolled points to support calls, and support calls point to completed. Say that nodes are variables and an arrow means a direct causal claim, and stress that a missing arrow is just as much an assumption as a present one. Association flows along any path, but we only want the causal path from treatment to outcome; the backdoor paths are the ones we must block. The payoff is that the question of which controls to include stops being guesswork and becomes a rule you can check. Say explicitly that the graph goes on the board before any model runs, so domain experts can argue with arrows instead of with code.</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graph you just drew to point at each structure. A chain is a mediator: enrolled leads to support calls, which leads to completion. Adjusting for it removes part of the effect you want, so leave it alone when the target is the total effect. A fork is a confounder: literacy drives both enrollment and completion, and adjusting for it closes the backdoor. A collider is a common effect: the path is already blocked, and conditioning on it opens a spurious one. Give the two rules to remember. Control forks. Never control colliders or mediators unless you deliberately want a direct effect. Ask the room to classify support calls in the Injaz graph before you say the answer, then confirm it is a mediator.</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the rule slowly, in two parts. Find a set Z that blocks every path starting with an arrow into treatment, and make sure Z contains no descendant of treatment. If both hold, adjusting for Z identifies the effect. Connect it to what they will do in Hour 2: the propensity model should contain exactly a valid backdoor set, nothing more, because adding variables for fit is how mediators and colliders sneak in. Point back at the board and ask the room to name a valid set for the Injaz graph. Age, literacy, prior completions, and region is the answer, with support calls excluded. Say that this exact set is what the lab notebook uses, so they will see the rule pay off.</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most counterintuitive error in the course, so slow down. Selection is conditioning. If you study only hospitalized patients, only funded startups, or in Injaz only sessions that completed, you have conditioned on a collider without writing a single control variable. Inside that selected sample, two independent traits can appear negatively correlated, purely from the selection. If time allows, run the fast-finisher demo live: two independent traits, a collider built from both, and the correlation moves from zero to about minus 0.3 once you filter on it. The lesson to land is that control-for-everything is dangerous advice. Structure decides the adjustment set, not statistical fit. Ask the room where selection on outcomes hides in their own dashboards.</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procedure as a habit rather than a list, then narrate the case that makes it real. An Injaz analyst estimating the uploader's effect improved the model by controlling for support calls, because support obviously matters for completion. The effect dropped from about plus 2 points to near zero and the team nearly killed the feature. Support calls are a mediator, so that model answered a different question, the direct effect not through support. Lab 3 step 2 reproduces this: the correct adjusted effect comes out near plus 0.040 and the mediator-controlled version near plus 0.022. Close with the transition prompt: a colleague adds a sensible control and the effect vanishes. Bug or feature, and how would you tell? Let two people answer before the knowledge check.</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this as a show of hands first, one question at a time. Question 1: in T from X to Y, X is a confounder, answer B, because it is a common cause of treatment and outcome. Question 2: conditioning on a collider opens a spurious path, answer B, because the path was blocked until you conditioned. Question 3: a valid backdoor set must never contain a descendant of T, answer C, because anything caused by treatment risks mediator or collider bias. After the hands, point to the QR code at the top right and give participants three minutes to scan and answer on the Google Form so you have a record. While they answer, glance at the results for anyone still choosing A on question 2, and revisit the collider slide if needed. Then break before Hour 2.</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Hour 2 with a single sentence: we have an identifying assumption, and now we need a number. Explain that every estimator in this hour targets the same estimand under unconfoundedness, and what separates them is what they choose to model and how they fail when that model is wrong. Some model the outcome, some model the treatment, and the doubly robust family models both so that one mistake is survivable. Tell the room that all four routes appear in Lab 3, with regression, IPW, and AIPW as the main path and matching as the fast-finisher route. Ask them to keep one question in mind for the whole hour: which model does this estimator trust, and what happens if that trust is misplaced?</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Take the four in order and name the failure mode of each. Outcome regression, the g-formula, models the outcome given treatment and covariates, predicts both potential outcomes for every unit, and averages the difference; it fails if the outcome model is misspecified. Matching pairs treated and control units on X; it is transparent but sensitive to the distance metric and to overlap. Propensity-score methods collapse all of X into one number, the probability of treatment. IPW weights units by the inverse of that probability to build a pseudo-population where treatment is independent of X; it fails if the treatment model is wrong. The idea to land is that regression and IPW trust opposite models, which is exactly why combining them later is powerful.</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Rosenbaum and Rubin result as a shortcut: if adjusting for X is enough, adjusting for the single scalar e(x) is also enough. Within a level of the score, treated and control units share the same covariate distribution, a mini-experiment inside the data. That turns a high-dimensional matching problem into a one-dimensional one you can plot. Then deliver the warning that matters most: the score is a means, not an end. A propensity model that predicts treatment perfectly has destroyed overlap, because it separates the arms completely. Judge it by the covariate balance it achieves, never by AUC. Say that the first diagnostic is always the propensity distribution by arm and the standardized mean differences after adjustment. Point at the Day 4 worked example with the caliper and love plot as the reference.</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Give the weights concretely. Treated units get one over e(x), controls get one over one minus e(x), so units that are rare in their own arm count for more. Then show why that bites. A propensity of 0.05 gives a weight of 20, and a handful of weights above 10 means your effective sample is a few individuals wearing heavy disguises. That is the high-variance danger. Name the three remedies: stabilize by multiplying by the marginal treatment probability, trim extreme propensities, or switch to overlap weights, which downweight the extremes gracefully. Tell the room the lab prints the maximum and 99th-percentile weight, and in this data they land near 2.9 and 2.4 after trimming, which is a sign of good overlap. Ask: what would a max weight of 40 tell you?</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modern default, so say why with conviction. AIPW and TMLE combine an outcome model and a treatment model, and the estimate stays consistent if either one is correctly specified. You get two chances to be right. With cross-fitting, you fit the nuisance models on one fold and evaluate on another, which lets flexible machine learning plug in while the confidence interval stays valid; that is the double or debiased machine learning idea. The point to land is that doubly robust estimation relaxes the modeling burden rather than removing it. Reassure the room that Lab 3 step 4 builds a two-fold cross-fit AIPW with gradient boosting by hand in about 15 lines, so nobody needs a library to understand what is happening.</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 this as a communication decision as much as a statistical one. Matching is intuitive and easy to explain to a non-technical stakeholder, but it discards unmatched units, which quietly changes the estimand, and it is sensitive to the caliper and distance metric. Weighting uses every unit, targets ATE or ATT cleanly, and pairs naturally with doubly robust methods, but extreme weights inflate variance and it needs careful diagnostics and trimming. Ask the room a practical question: you are presenting to a program director who has never heard the word propensity. Which would you show, and what would you check first before showing it? The answer you want is matching for the story, with a post-matching balance table, and weighting or AIPW for the number you actually report.</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checklist as the order they will follow in the lab and in the capstone's observational section. Define the estimand and the target population before touching data, because ATE and ATT can differ. Take the adjustment set from the DAG, not from whatever improves fit. Check overlap and trim to common support before estimating anything. Verify balance after adjustment with standardized mean differences under 0.1. Prefer a doubly robust estimator with cross-fitting and report a proper interval. Finish with a sensitivity analysis for unmeasured confounding, which Day 4 covers. Pre-empt the classic pitfalls here: matching declared successful without a balance table, and a matched estimate treated as free of unobserved confounding. Say that the order matters, because checking overlap after estimating is how thin-support estimates get published.</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Show of hands first, then the form. Question 1: a doubly robust estimator is consistent if either model is correct, answer B, because that is the definition of the two-chances property. Question 2: judge a propensity model by the covariate balance achieved, answer B, because prediction accuracy is not the goal and a perfect classifier destroys overlap. Question 3: propensities near 0 or 1 produce extreme weights and high variance, answer B, because the inverse of a tiny probability is a huge weight. Then point to the QR code at the top right and give participants three minutes to scan and answer on the Google Form. Use the pause to check the clock; Hour 3 starts with a worked 2 by 2 on the board, so have the marker ready. Take the break after the form closes.</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Hour 3 with the shift in strategy. So far we have tried to make treated and control units comparable on covariates. Now we exploit timing instead: when a treatment switches on at a known moment for some units and not others, the before and after change in the untreated group tells us what would have happened anyway. Tell the room this is the design for the Injaz SMS reminder rollout, which was activated in three waves over six months for operational reasons, with thirteen regions observed over 24 months. Preview the four ideas: the double difference, the parallel trends assumption it rests on, event studies as the diagnostic, and synthetic control for the one-treated-unit case. Say that parallel trends is the phrase to remember from this hour.</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the 2 by 2 on the board before you explain anything. Treated group goes from 40 to 52, a change of 12. Control group goes from 38 to 44, a change of 6. The difference in differences is 12 minus 6, an effect of plus 6. Then explain what the subtraction removed: any fixed difference between the groups, because both are differenced against their own past, and any common shock, because both groups felt it. Say what it cannot remove: a trend or shock that hit the groups unequally. Then generalize: a regression with group fixed effects, time fixed effects, and an interaction term reproduces the table and extends it to many periods and covariates. Ask the room what the naive before and after in the treated group would have claimed, and let them say 12.</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Make the assumption precise. Parallel trends says that without treatment, the treated group's outcome would have moved in parallel with the control group's. That is a statement about an untreated potential outcome after treatment, which we never observe, so it can never be fully tested. Pre-treatment trends that look parallel make it plausible, not proven. Give the Injaz example of a violation: a region-specific campaign launched the same month as the reminders would break identification even with perfect pre-trends. Then the lab number: a naive before and after in treated regions shows about plus 7 points because national digital adoption was rising anyway, while DiD returns about plus 3. Mention the ways to strengthen the assumption, covariate-conditional trends or a comparison group chosen on pre-trends, and move to event studies as the probe.</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cut this slide. The event study replaces one before and after contrast with a coefficient for each period relative to adoption, with the period just before adoption, t equals minus 1, omitted as the reference. Teach them to read the plot: pre-period coefficients hovering near zero, then a clear jump after adoption, is the signature of a credible dynamic effect. Pre-period coefficients that drift are the assumption failing in front of you. Say that every pair must produce this plot in Lab 3 and that it is the credibility exhibit they will need in the capstone. Pre-empt the common bug now: forgetting to omit t equals minus 1 leaves the model unidentified or centers the plot on the wrong period. Then flag the staggered adoption warning as the bridge to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this to two minutes if you are behind. The problem: with staggered timing, the classic two-way fixed-effects regression implicitly uses already-treated units as controls for later adopters. When effects grow over time or differ across groups, those forbidden comparisons can shrink the estimate or even flip its sign. Decompositions show how much weight comes from those bad contrasts. Name the fixes so they recognize them in papers and packages: Callaway and Sant'Anna, Sun and Abraham, de Chaisemartin and D'Haultfoeuille. Then explain why the lab still uses TWFE safely: it keeps never-treated and not-yet-treated regions as controls and the planted effect is homogeneous, so the forbidden comparisons do not bite. Say that in their own work they should check which comparisons their estimator is making.</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minutes if time is short. Synthetic control handles the case DiD struggles with: one treated unit and a pool of candidate controls. Choose non-negative weights on the donors so that the weighted blend tracks the treated unit's pre-treatment path, then read the post-treatment gap between the real unit and its synthetic twin as the effect. Inference comes from placebos: apply the same procedure to each untreated unit and ask whether the real gap is unusual relative to those. Give the use case in local terms: one province adopts a rule and the others do not. Ask the room what happens if no combination of donors matches the pre-period well, and land the answer that a poor pre-treatment fit means the method has nothing credible to say.</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Show of hands, then the form. Question 1: the key identifying assumption of DiD is parallel trends, answer B, because differencing only works if the control group's change is the treated group's counterfactual change. Question 2: near-zero pre-period event-study coefficients support parallel trends, answer B, because they show the groups moved together before treatment. Question 3: staggered two-way fixed effects can be biased because it uses already-treated units as controls, answer B, because those units carry treatment effects into the comparison. Then point to the QR code at the top right and give participants three minutes to scan and answer on the Google Form. If several hands went to C on question 2, restate that flat pre-trends say nothing about the size of the post-treatment effect. Break before Hour 4.</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last pair of designs with their shared logic: find a source of as-if-random variation and lean on it. An instrument is a variable that nudges treatment but touches the outcome only through treatment. A threshold is a rule that assigns treatment by whether a running variable crosses a cutoff, which creates a local experiment on either side. Say that both are powerful and fragile, and that the fragility is specific and diagnosable, which is why this hour spends as much time on validity checks as on estimators. Tell the room the Injaz example for IV will be distance to the nearest in-person service center as an instrument for filing channel, and ask them to start thinking now about whether distance could affect completion any other way.</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Give the three conditions and label each by testability. Relevance means the instrument actually moves treatment, and you can test it with the first-stage F. Exclusion means the instrument affects the outcome only through treatment, and that is an assumption you argue, never a fact you test. Independence means the instrument itself is as good as random. Then the mechanics: two-stage least squares regresses treatment on the instrument, then the outcome on predicted treatment, and the Wald ratio, covariance of Z and Y over covariance of Z and T, is the simplest form. Bring in Injaz: distance to the nearest service center shifts online versus in-person filing, which is relevance, and plausibly affects completion only through channel, which is exclusion to be argued from domain knowledge, not assumed.</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frequent exam point, so be explicit: LATE is not ATE. With imperfect compliance and monotonicity, IV identifies the effect for compliers only, the units whose treatment the instrument actually moves. Always-takers and never-takers are invisible to the estimate, and defiers are ruled out by assumption. Walk the Day 4 worked numbers: a reduced-form effect of 0.9 points divided by a first stage of 0.30 gives a LATE of 3.0. Then land the interpretive consequence: a different instrument nudges a different set of compliers and can give a different, equally valid LATE. Ask the room who the compliers are for the distance instrument, and steer them to people who would file in person if a center were near and online if it were far.</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Name the two failure modes and how to defend against each. A weak instrument, a first-stage F below roughly 10, biases two-stage least squares toward ordinary least squares and makes the interval unreliable even when it looks precise. An exclusion violation, any direct path from the instrument to the outcome however small, contaminates the estimate and cannot be detected from the data alone. The defense is a reporting discipline: always show the first-stage strength, argue exclusion from domain knowledge in writing, and probe robustness with alternative specifications. Pre-empt the pitfall of a weak instrument reported with a confident 2SLS number. Ask the room: could distance to a service center affect completion through anything other than channel, for example through general access to help, and what would that do to the estimate?</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Set up the intuition first. When treatment is assigned by a running variable crossing a cutoff, the units just above and just below are essentially interchangeable, because which side they landed on was close to chance. The jump in the outcome at the cutoff is the local effect. Distinguish sharp from fuzzy: sharp means crossing the cutoff determines treatment, fuzzy means it only changes the probability, which makes it an instrument at the boundary. Use the Day 4 worked numbers: predicted outcome just above 70 is 44, just below is 40, so the local effect is plus 4. Then the estimand warning: this is the effect at the cutoff, not for everyone. Bandwidth trades bias against variance, wide is biased and narrow is noisy, so robustness across bandwidths is part of the report.</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design is only credible if units cannot precisely control their side of the cutoff, so teach the three checks as a routine. First, a density test for bunching of the running variable at the threshold; a spike just above the cutoff suggests people are gaming the score. Second, covariate continuity: pre-treatment covariates should pass smoothly through the cutoff, and a jump means something else changed at the same threshold. Third, stability across sensible bandwidths and polynomial orders, shown rather than asserted. Ask the room for a Saudi or Injaz example where a cutoff could be gamed, for instance an eligibility score that applicants can see and revise, and let them explain what the density plot would look like. Then transition to the side-by-side comparison.</a:t>
            </a:r>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as a quick recap before the check. Instrumental variables exploit a nudge; they need a variable that shifts treatment only, estimate a LATE for compliers, and are fragile to weak instruments and exclusion violations. Regression discontinuity exploits a threshold; it needs a real cutoff on a running variable, estimates a local effect at that cutoff, and is fragile to manipulation and bandwidth choice. Both are highly credible when the source of variation is genuine and unforeseeable. Pose the transition question: for the channel-choice question at Injaz, when would you prefer IV over matching, and what makes distance a defensible instrument? Take two answers, and steer toward the point that matching assumes no unmeasured confounding while IV replaces that with exclusion, so the choice depends on which assumption is less implausible.</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Show of hands, one question at a time. Question 1: a first-stage F of 3 indicates a weak instrument, answer B, because it is well below the rule of thumb of about 10. Question 2: IV with imperfect compliance and monotonicity identifies the LATE, answer C, because only compliers contribute to the estimate. Question 3: a spike in the running-variable density at the cutoff suggests manipulation or sorting, answer B, because units are bunching on the favorable side. Then point to the QR code at the top right and give participants three minutes to scan and answer on the Google Form. While they answer, remind them the lab is next and that it is the overrun-prone one, so they should open the starter notebook as soon as the form is submitted.</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Set up the lab in one minute. Pairs, 40 minutes, notebook starter lab3_four_estimators. The job is to estimate the same treatment effect four ways on one observational dataset with known ground truth, add one quasi-experimental design, and then write a reconciliation explaining why the numbers differ. Tell the room the ground truth file stays with you until the final step, so they must commit to their estimates before they see it. Say that if time runs short you will run the DiD section as a guided demo and keep the estimators hands-on, because the estimators are what the capstone reuses most. Ask them to keep the Hour 2 checklist open and to follow its order: estimand, adjustment set from the DAG, overlap, balance, then estimation.</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six steps, then circulate with these expected numbers, holding ground truth back until step 6. Adjustment set: age, digital literacy, prior completions, and region code, with support calls excluded. Naive gap about plus 0.121; g-formula about plus 0.040; the wrong mediator-controlled model about plus 0.022. Common support keeps about 94 percent of units; stabilized IPW about plus 0.045 with maximum weight near 2.9. Cross-fit AIPW about plus 0.045 with interval 0.030 to 0.060, against a true ATT near plus 0.045. On the panel, naive before and after is plus 0.068 while DiD gives plus 0.030 with interval 0.024 to 0.036 against a planted plus 0.032, flat pre-period coefficients, and a placebo effect near plus 0.004 with p about 0.5. Watch for raw region codes, untrimmed IPW, a missing t equals minus 1 reference, and placebos using post-period rows. The QR code top right opens the Submission Form; remind participants to run the notebook top to bottom, save it as &lt;national ID&gt;_LabN.ipynb and upload it before leaving.</a:t>
            </a:r>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Bring the room back and put the comparison table on the screen. The message is that disagreement between methods is information. Where overlap is thin, weighting and matching diverge, and the doubly robust estimate is usually the most stable; in this data the g-formula came in near 0.040 while IPW and AIPW landed near the true 0.045, and the mediator-controlled model at 0.022 was wrong for a structural reason, not a statistical one. On the panel, the naive before and after at 0.068 more than doubled the true reminder effect, and DiD recovered it. Because each method leans on a different assumption, agreement across them is genuine evidence of robustness. Land the reporting rule: present the ensemble with its assumptions rather than one confident number. Ask which pair's reconciliation named the assumption behind every gap.</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Ten minutes, groups, using the scenario cards in the handout. Each group takes a scenario and argues for the most credible identification strategy by walking the four questions on the slide: is there a threshold rule, is there a variable that shifts uptake without touching the outcome, did treatment switch on at a known time for some units, and are the covariates rich enough for unconfoundedness to be plausible. Insist that every group finish by naming the assumption they would probe and how. Use the transition prompt if energy is low: your matched ATT survives every refuter, but a reviewer says you never measured motivation. What do you say? The answer you want is a sensitivity analysis, which is tomorrow. Give a two-minute warning, then take one report-out per group.</a:t>
            </a:r>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the four ideas in your own words. Structure before statistics: the DAG and the backdoor criterion choose the adjustment set, and fit never does. Adjust robustly: propensity, IPW, and above all doubly robust estimation with cross-fitting are the modern default. Borrow randomization's logic: DiD, synthetic control, IV, and RDD each find a source of as-if-random variation. Every design has one weak point, parallel trends, exclusion, or no manipulation, and the job is to name it, probe it, and report it. Preview Day 4: uncertainty done right, the bias taxonomy, sensitivity and external validity, real cases, and the capstone. Collect the Lab 3 notebooks. Tell them to re-read Lab 2 and Lab 3 tonight because the capstone reuses both, and that the capstone brief is in tomorrow's handout for anyone who wants an early look.</a:t>
            </a:r>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to the last day. Open by saying that today is deliberately light on new theory, roughly thirty percent teaching and seventy percent building, because the capstone must start on time at Hour 4 and we will cut discussion before we cut build time. Frame the day around one question: once you have an estimate, how much should anyone trust it, and how do you say so honestly? Remind the room that the Injaz thread continues with two linked decisions, shipping the AI form autofill feature nationally and scaling the regional reminder program from Day 3. Both decisions will be settled in the capstone this afternoon. Spend about three minutes here, then move to the overview.</a:t>
            </a:r>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the five hours briefly. Hour 1 is about getting the standard error right, which sounds small but is where most applied causal work quietly fails. Hour 2 gives a vocabulary for bias and validity and a way to stress test a claim. Hour 3 is three facilitated cases, ten minutes each, where the room proposes the design before I reveal it. Hour 4 is the capstone on the Injaz autofill test and the reminder pilot, and Hour 5 is defenses, the twenty question exit exam, and the close. Ask the room which hour they expect to be hardest, then say the honest answer is Hour 4, because judgment is harder than method. Keep this to two minutes.</a:t>
            </a:r>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trap for the whole day, so slow down here. A standard error only answers one question: would the number move under a different random sample or a different randomization? It says nothing about whether the design was valid in the first place. Identification uncertainty asks what happens if the assumptions are slightly wrong, and for observational work that doubt usually dominates. A tight interval around a poorly identified estimate is false precision, and it is the most common way an analysis misleads a decision maker. Ask the room: when you last reported an interval, which of the two layers did it describe? Almost always only the first. Transition: we fix the first layer this hour and the second layer next hour.</a:t>
            </a:r>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rule is that the standard error must match how the data were generated and assigned. Classical homoskedastic errors are rarely defensible and usually too optimistic. Robust HC2 or HC3 is the sensible default for cross sectional regression, and it is what the labs used for user level tests. Clustered errors belong wherever assignment or the shock happened at a group level, which is why the Day 3 DiD clustered by region. Design based errors come straight from the assignment mechanism and are the natural choice for experiments. Point back to the labs explicitly so this feels like a summary of what they already did rather than a new menu. One idea to land: the choice is dictated by the design, not by taste.</a:t>
            </a:r>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plainly that clustering at the wrong level, or not at all, is the single most common uncertainty error in applied causal work. Cluster at the level where treatment is assigned or the shock occurs, never finer. Give the benchmark from the instructor package: a session level analysis of a user randomized test gives a confidence interval from 0.014 to 0.028, while the correctly clustered analysis gives 0.007 to 0.035. The narrow one is simply wrong, because correlated sessions were counted as independent users. Then the second problem: with few clusters, such as thirteen regions, standard asymptotics fail, so use the wild cluster bootstrap or randomization inference. Ask the room what the cluster is in the reminder pilot they will analyze today. The answer is region.</a:t>
            </a:r>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bootstrap as the tool for when an analytic standard error is hard to derive: resample with replacement, recompute the estimate each time, and read the uncertainty from the spread. The point to land is that the bootstrap must respect the design. Resample at the unit of independence, so blocks for time series and whole clusters for grouped data, otherwise you reproduce exactly the clustering mistake from the previous slide. Also warn that the naive bootstrap is not universal. It can fail for matching estimators and for extreme quantiles, so the method has to be matched to the estimator. This is a short slide, about two minutes, and it sets up the third quiz question.</a:t>
            </a:r>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Correct the most common misreading of a confidence interval. The ninety five percent is a property of the procedure over many repetitions, not a probability that this particular interval holds the truth. What matters practically is the width. A wide interval that spans zero means underpowered or uncertain, and it never means no effect. Offer the compatibility framing as the phrase to use with stakeholders: the range of effect sizes reasonably compatible with the data and the model. Ask the room how they would explain an interval from minus 0.2 to 3.4 to a director who asks whether the feature worked. The honest answer is that the data cannot rule out a wide range, which is exactly quiz question two.</a:t>
            </a:r>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 this as the list to run before any effect leaves your hands. Does the standard error match the assignment mechanism? Is clustering at the right level with enough clusters for the method? Did you report an interval and not just a point and a p value? Did you separate sampling uncertainty from identification uncertainty? And for a decision, did you translate the interval into expected value and downside risk? Say that the last item is the one people skip and the one the capstone memo will be scored on. Tell them this checklist appears again as the self audit at the end of the capstone notebook. Transition directly into the knowledge check.</a:t>
            </a:r>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Point to the QR code top right and give participants three minutes to scan and answer the Day 4 Check 1 form on their own devices. While they work, do not discuss. Then reveal. Question one: regional policy with person level data, cluster at region, answer B, because treatment was assigned at the region and finer clustering pretends people within a region are independent. Question two: an interval from minus 0.2 to 3.4 means the data cannot rule out a wide range, answer C, because a wide interval spanning zero signals uncertainty, not a null. Question three: the naive bootstrap for a matching estimator is potentially invalid, answer B, because matching breaks the smoothness the naive bootstrap relies on. Take a short break, then start Hour 2.</a:t>
            </a:r>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Hour 2 by connecting it to the last hour. We fixed the sampling layer of uncertainty; now we deal with the identification layer, which is where the bigger doubts live. The plan is a taxonomy of bias so that you can name what is wrong precisely, a clean separation of internal and external validity, a look at who is actually in the data, and then two families of stress tests: sensitivity analysis for unmeasured confounding and placebo or negative control checks. Tell the room that the threats to validity review at the end of this hour is literally the diagnostics section of their capstone memo, so they should treat this hour as preparation, not theory. About one minute here.</a:t>
            </a:r>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one idea: name the bias precisely and you know where in the pipeline to fix it. Walk the four with an Injaz example each. Confounding: digital literacy drives both who tries the new uploader and who completes, fixed by design or valid adjustment. Selection: analyzing only completed sessions conditions on a collider, and attrition belongs here too. Measurement: a completion flag logged differently on the new uploader is differential measurement across arms, and no estimator repairs it. Interference: shared household devices mean one person's treatment changes another's outcome, breaking SUTVA. Ask the room which of the four they think is most often missed. Usually measurement, because it looks like an engineering detail rather than a statistical one.</a:t>
            </a:r>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Separate two questions that get blurred. Internal validity asks whether the estimate is right for this sample, and it is threatened by confounding, attrition, and noncompliance. External validity asks whether the effect transfers to other populations, settings, times, or versions of the treatment, and that is a separate and often harder claim. Make the tension explicit: RCTs and RDD buy internal validity and can narrow external validity. An RDD effect at the cutoff or an IV effect for compliers can be exactly right and still fail to answer the population question the decision needs. Ask the room to name the population the Day 3 RDD estimate applied to. Just firms near the threshold. Transition: so who is in the data matters.</a:t>
            </a:r>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Who is in your data determines who your conclusion is about. Coverage first: opt in panels, convenience samples, and platform logs systematically exclude people a public policy must serve. Injaz example: an effect estimated on app users does not transport to citizens who file at a service center, and those citizens may be exactly the ones the reminder program targets. Then effect transport: if the effect varies with covariates and the target population's mix differs, the sample average effect will not carry over. The repair is to post stratify or reweight to the target population's covariate distribution, and to state the assumption that licenses it, namely that the covariates capture the variation. Ask what covariate they would reweight on for Injaz. Region and channel are good answers.</a:t>
            </a:r>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Because unconfoundedness cannot be tested, the honest move is to quantify how strong a hidden confounder would need to be to explain the effect away. That is a bound, not a point. Name the tools: E values, Rosenbaum bounds, and the Cinelli and Hazlett partial R squared benchmarks against observed covariates. The reporting pattern is the important part: state the tipping point and then benchmark it against the strongest measured confounder, so the sentence reads that a confounder as strong as X would be needed and nothing that strong is plausible. Give the calibration: an E value of 1.1 is fragile, larger means more robust. Mention that e_value is already in causal_utils and will be used in the capstone.</a:t>
            </a:r>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Placebo tests and negative controls are falsification checks: they are designed to fail if the design is invalid. A negative control outcome is something the treatment cannot plausibly affect, so a detected effect there reveals residual confounding. A negative control exposure is a pseudo treatment that should do nothing. Placebo timing or placebo units apply the method where no effect can exist, in the pre period or on untreated units. Connect to Lab 3: the placebo timing test on the reminder DiD was exactly this, and today they should expect a placebo effect near 0.004 with p around 0.5. Ask the room to propose a negative control outcome for the autofill feature. Something like a metric on a form the feature never touches.</a:t>
            </a:r>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 this as the checklist to run on every causal claim before acting on it, and say directly that it is the diagnostics section of the capstone memo. Confounding: is every backdoor blocked and could an unmeasured one remain? Selection and attrition: who dropped out or was excluded and is that related to treatment? Measurement: are treatment, outcome, and covariates measured the same way across arms? Interference: could treated units affect controls? External validity: does the estimand match the population and setting of the decision? Robustness: do the sensitivity, placebo, and negative control checks hold? Suggest they keep this list open while they build. Transition into the second knowledge check.</a:t>
            </a:r>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Point to the QR code top right and give participants three minutes to scan and complete the Day 4 Check 2 form. Then reveal. Question one: an RDD estimate that is unbiased at the cutoff but may not generalize is a limit of external validity, answer B, because the estimate is internally correct and the question is whether it travels. Question two: a large E value means the finding is robust to confounding, answer B, because a hidden confounder would need to be very strong to overturn it. Question three: detecting an effect on a negative control outcome suggests residual confounding, answer B, because the treatment cannot have caused it. Take a short break and then move to the case studies, which are run as discussions.</a:t>
            </a:r>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Set the format before showing any case. Three cases, ten minutes each, run as facilitated discussion. For each one I will show only the context, and the room will propose the estimand, the threats, and the design before the slide reveals the answer. The cases span technology, public policy, and health on purpose, because the lesson is that method selection follows the data situation, not the domain. Also flag that after the cases I will write the method selection flow on the board, and they will use it in the capstone. Prompt to use across the cases: the board wants one number, what is the most honest single number you can give and what must come with it?</a:t>
            </a:r>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Show only the context first. Observational logs say plus nine percent session time for exposed users and leadership wants a global rollout. Ask the room: what is the estimand, and what is wrong with the nine percent? Draw out that the estimand is the average effect of the ranker on the eligible user base, not the gap between exposed and unexposed. Threats: exposure correlates with app version and power user status, and ranking changes what everyone else sees, so interference is live. Then reveal the design: randomize by user with a hold back, CUPED on the pre period metric to tighten the interval, and guardrails on latency and revenue. Ship only if the randomized lift is positive and survives the novelty window, which is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the randomized test is in hand: plus six percent in week one, decaying to plus one and a half by week four. Ask the room which number should govern the rollout. Let them argue for a moment, then land it: the steady state effect after the curve flattens, not the launch week peak that would justify shipping. This is the novelty or primacy effect, and it is a cousin of the winner's curse from Day 2, because the earliest and biggest read is the most misleading one. The design response is to run long enough to reach steady state, pre register the evaluation window, and consider a staged hold back to measure long run impact. One idea: time is part of the estimand.</a:t>
            </a:r>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Context: a training subsidy for firms above a headcount threshold, starting in a known year, and employment rose four points among adopters. Ask the room what identification strategies the setup offers. Two should surface. The headcount cutoff invites an RDD, with a check for bunching just above the cutoff and covariate continuity through it. The known start date with comparison regions invites DiD or synthetic control, with an event study for pre trends and staggered robust estimators if timing varies. The lesson to land is triangulation: report both designs, because agreement across independent assumptions is the strongest evidence you can get without an experiment. Ask what disagreement between the two would tell them. That one assumption is failing, and the memo must say which.</a:t>
            </a:r>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Context: a discharge protocol, treated patients readmit less, but sicker patients were less likely to receive it. Ask the room to name the threat. It is confounding by indication, where severity drives both who gets the protocol and the outcome, so the naive comparison is biased in the protocol's favor. If randomization is barred, use doubly robust adjustment on rich clinical covariates and check overlap and balance carefully. Better still, look for a natural experiment, a staggered ward rollout for DiD or a clinical eligibility threshold for RDD. Then the sensitivity rule: report an E value, and let a small one block the decision, because in a high stakes clinical setting a fragile estimate should not change practice.</a:t>
            </a:r>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Pull the cases together into the professional standard. The analyst's job ends at a defensible decision, not at an estimate. Combine the effect distribution with payoffs and costs to get expected value and downside risk, and when uncertainty matters for the decision, ask what a further experiment would be worth. A good report shows which assumption the recommendation rests on and how the call changes if it fails. Then point to the QR code top right and give participants three minutes to scan and complete the Day 4 Check 3 form on the cases. Answers: the ranker needs a randomized user level hold back with CUPED and guardrails, because the observational gap is confounded; the decaying effect is judged at steady state, because week one is novelty; the readmission threat is confounding by indication, because severity drives both.</a:t>
            </a:r>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five lessons as habits that recur in every domain. The naive observational number is almost always wrong and usually too large. The estimand includes time. When you cannot randomize, triangulate across designs with different assumptions. High stakes decisions demand sensitivity analysis, not merely a tight interval. The deliverable is a decision with owned risk, not a p value. Now write the method selection flow on the board for the capstone: can we randomize going forward, then A/B test; did treatment switch on at a known time for some units, then DiD; is there as good as random variation, then IV; is there a threshold rule, then RDD; only cross sectional data with measured confounders, then doubly robust adjustment with sensitivity; no way to close the backdoors, then declare it not identifiable. Start the capstone on time.</a:t>
            </a:r>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the capstone exactly on time; this is the hard rule of the day. Frame it as the integration of the whole course on the Injaz thread: two decisions, whether to ship AI form autofill nationally based on the randomized test of seventy thousand users, and whether to scale the regional reminder program using the DiD from Day 3. The ship threshold for autofill is plus one and a half points with no guardrail regression. Say explicitly that a correct, well justified hold or not identifiable earns full marks, and that ship because p is small does not. Open starter/lab4_capstone.ipynb together and tell them it scaffolds every step on the next slide. Remind them of the milestones: plan frozen at minute ten.</a:t>
            </a:r>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the six steps as the structure of both the notebook and the memo. State the decision and turn it into a precise estimand and target population. Draw the DAG and justify the identification strategy. Run overlap, balance, and pre trend or placebo diagnostics that fit the design. Estimate with a design matched standard error, so HC3 with the pre period covariate for the user level test and region clusters for the DiD. Do a sensitivity analysis and one robustness check. Write the memo with the recommendation, the key assumption, and how the call changes if it fails. Note the notebook's Engagement dataclass refuses to record results before the plan is frozen, which is deliberate. Call milestones aloud: minute 10 plan frozen, minute 25 A/B analyzed with integrity checks, minute 40 pilot evaluated, minute 50 memo drafted. The QR code top right opens the Submission Form; remind participants to run the notebook top to bottom, save it as &lt;national ID&gt;_LabN.ipynb and upload it before leaving.</a:t>
            </a:r>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Give the weights so they allocate effort correctly. Estimand and question fifteen, identification and design twenty five, estimation and inference twenty five, diagnostics and sensitivity twenty, communication and decision fifteen. Pass at seventy, distinction at ninety. Say the point of the weighting out loud: the memo and the diagnostics carry as much as the estimate, so a beautiful point estimate with no balance table and no sensitivity bound cannot pass. Then share the expected numbers so pairs can self check: baseline 0.53, about 17,300 per arm needed against roughly 35,000 available, SRM p near 0.57, standardized differences around 0.01, autofill lift about plus 0.012 with an interval from roughly 0.005 to 0.018, form error up about 0.013 with a Bonferroni adjusted p near zero, reminder DiD about plus 0.030, placebo near 0.004.</a:t>
            </a:r>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these as the flags that cap a criterion at seventy percent, because that is what they are in the rubric. Reporting a naive comparison without naming the identifying assumption. Adjusting for a post treatment variable, a mediator or collider. A standard error that ignores grouped assignment. A confident recommendation with no sensitivity analysis behind it. An estimand that quietly differs from the decision the stakeholder must make. Add the ones not on the slide: metrics chosen after seeing the data, peeking driven stopping, bare p values sent to leadership, writing ship on an interval that does not clear the threshold, and writing no effect when the result is only not significant. The autofill test tempts the last two, since the lift is real but below threshold and the guardrail regresses. Spot check two or three frozen plans now.</a:t>
            </a:r>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the deliverable a skeptical reviewer cannot dismiss. Transparent: the DAG, the assumptions, and the code are visible. Diagnosed: overlap, balance, SRM, and pre trends are shown, not asserted. Honest about uncertainty: both layers, sampling and identification, with a sensitivity bound. Actionable: it ends in a decision whose risk the reader owns. For this dataset the great memo says hold on autofill, because the lift of about 0.012 is real but under the 0.015 threshold and the form error guardrail regressed, and scale the reminders, about plus 0.030 with flat pre trends and a null placebo. Ask each pair which single unmeasured variable would break their reminder estimate, since I will ask that in the defense. Collect notebooks and memos at the end of the hour.</a:t>
            </a:r>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the last hour with the sequence: defenses first, then the twenty question post test, then the close. Explain that the defense mirrors a real stakeholder review, so the goal is high signal in a short time rather than a full walkthrough. Remind them their notebooks and memos are already collected, so the defense is about judgment, not polish. Say that I will score the rubric live during each defense and that one claim per pair will be verified on the spot. If the cohort is larger than ten pairs, announce now that we will run two parallel panels or cut to three minutes plus one question, so nobody is surprised. About one minute here.</a:t>
            </a:r>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Set the format precisely. Five minutes per pair: question, estimand, design, estimate, decision, in that order. Then one challenge from me or a peer: which assumption is doing the work, and how do you know? For every pair, ask them to state the identifying assumption behind their causal estimate and the single unmeasured variable that would break it, and score that answer live against the rubric. Then they defend the sensitivity analysis and reflect on what they would measure next to reduce the residual uncertainty. Coach the audience to challenge the assumption, not the code. Use the transition prompt: when is a correct hold and keep running more valuable than a fast ship? With ten pairs this takes fifty minutes, so keep time strictly.</a:t>
            </a:r>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Point to the QR code top right and give participants three minutes to scan and answer the three sample items; they match the style of the exam. Then reveal. Question one: grouped assignment, thin overlap, and a threshold rule call for RDD at the threshold, answer B, because the threshold provides identification that adjustment cannot. Question two: an E value of 1.1 means fragile to confounding, answer B, because a very weak hidden confounder would erase the effect. Question three: the best summary of the craft is design and identify before you estimate, answer B, because no estimator repairs a bad design. Then announce the exit exam: twenty questions, twenty minutes, closed book, link shared in class, submitted on their own devices. After the last submission, export results for the organizer.</a:t>
            </a:r>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the course on one slide. Potential outcomes: every effect is a contrast of counterfactuals and the missing one is the whole problem. Design and identification first: randomize when you can, and when you cannot, borrow its logic and name the assumption. Estimate and then stress test, matching the estimator and the standard error to the design and reporting both layers of uncertainty. Decide honestly, with the risk visible to the reader. Map the rubric to the days: estimand from Day 1, design from Day 2, adjustment and quasi experiments from Day 3, uncertainty and sensitivity from Day 4. Point forward to Decision Science, which consumes exactly these estimates, with the decision memo as the interface. Thank the room, read the closing standard on the slide, and stop.</a:t>
            </a:r>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closing quote is the stance the whole course rests on, so read it aloud slowly rather than paraphrasing it. The idea it adds is a ranking: design and identification decide whether a number can be believed, and estimation only turns a believable design into a figure. Tie it back to Day 1 potential outcomes and Day 2 randomization, where credibility came from how units were assigned, not from the model. Use this slide to close Day 4, or return to it whenever a participant asks whether a fancier estimator can rescue a weak design. The honest answer is no, and this slide says why in two sentences.</a:t>
            </a:r>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Tell the room that the scheduled curriculum is finished and that nothing after this slide is required to pass the assessment. The idea it adds is a change of mode: from here the deck is a menu, not a sequence. Explain the two kinds of material that follow. The Advanced Topics are short deep-dives that extend Day 2 experimentation, Day 3 identification, and Day 4 sensitivity thinking. The Reference section is a toolkit of worked examples, cheat sheets, checklists, and a glossary meant to be kept after the course. Show this slide when you have spare time at the end of Day 4, or when handing the reference pack to participants.</a:t>
            </a:r>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section divider for the Advanced Topics. Describe the three clusters in one sentence each: adaptive and interference-aware experimentation, which extends the Day 2 A/B material; advanced identification, which extends the Day 3 DAG and backdoor work; and long-run effects and measurement, which extends the Day 4 discussion of what an estimate is worth over time. Point out that facilitators may pull single slides from here into the core days as answers to questions, or run them as an extension session for a strong cohort. Show it only as a signpost; do not linger. Ask the room which cluster they would most like to see so you can jump directly there.</a:t>
            </a:r>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divider opens the experimentation deep-dives. Remind participants that the core Day 2 A/B test assumed fixed allocation, a fixed horizon, independent units, and a single look at the data. Each slide in this cluster relaxes one of those assumptions: adaptive designs relax fixed allocation, switchback and cluster designs relax independence, sequential testing relaxes the single look, and the winner's curse and Simpson's paradox expose traps that survive even a clean design. Show this slide when a participant says their production tests do not look like the textbook version. It gives you a map for choosing which of the next nine slides answers their situation.</a:t>
            </a:r>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Simpson's paradox is the case where a pooled effect has one sign while every subgroup effect has the opposite sign. The idea beyond Day 2 is that randomization protects you only in expectation, not in every realized sample. Walk through the three panels: the mechanism is a different mix of a strong covariate across arms; experiments are not immune because ramped rollouts, imbalanced assignment, or mid-test traffic shifts can create that mix; and the guard is to stratify or block, verify balance, and check effects within strata before pooling. Show this when someone asks why a sanity check on balance matters after randomizing. Connect it to CUPED and covariate adjustment, which also use pre-treatment structure to stabilize the estimate.</a:t>
            </a:r>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 A/A test assigns users to two identical arms and looks for a difference that should not exist. The idea it adds beyond the core Day 2 material is that the significance procedure itself needs calibrating before you trust it on a real test. Cover the three panels: what it validates, which is assignment fairness, logging, and the false-positive rate of your method; what failure means, which is a broken pipeline, a sample-ratio problem, or an invalid variance estimate; and cadence, meaning keep one running continuously as a canary. Show this when a participant asks how to know whether their platform's p-values are trustworthy, or when the pre-flight checklist later mentions an A/A pass.</a:t>
            </a:r>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comparison sets fixed A/B testing against multi-armed bandits. The idea it adds is that there are two different goals: learning a defensible effect size, or earning reward while you learn. Read the left column: fixed allocation, unbiased estimates for every arm, best when you need a causal number, at the cost of traffic on losing arms. Then the right column: allocation adapts toward better arms, regret is minimized, it suits many variants and continuous optimization, but adaptive allocation complicates unbiased inference. Show this when someone asks whether bandits make A/B testing obsolete. The answer is that they answer a different question, and the next slide explains the inference cost.</a:t>
            </a:r>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states the price of adaptivity. The idea beyond Day 2 Neyman inference is that when allocation depends on interim outcomes, the sampling distribution of the estimator changes, so fixed-horizon standard errors and even point estimates are no longer valid. Walk through the benefit, which is cheaper exploration and faster identification of the best arm; the catch, which is that estimates need adaptive-aware corrections; and the remedy, which is inference built for adaptivity such as adaptively weighted estimators. Emphasize the rule of thumb at the bottom: bandits optimize a decision, fixed A/B reports a trustworthy effect, and bandit data must never be fed into fixed-horizon formulas. Show this together with the previous slide.</a:t>
            </a:r>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Interference is the failure of SUTVA, the stable unit treatment value assumption introduced with potential outcomes on Day 1. The idea this slide adds is that when treating one unit changes the environment for others, the fix belongs in the design, not the analysis. Cover the three responses: switchback designs alternate the whole system between arms over time windows so the unit becomes a time slice; cluster or ego-network designs randomize connected groups together so spillover stays inside an arm; and exposure modeling defines how much treatment each unit effectively received and estimates against that. Show this when a participant works on a marketplace, a ride-hailing platform, a social network, or any shared-supply system.</a:t>
            </a:r>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puts numbers on the peeking problem from Day 2. The one figure on the slide is that checking a nominal five percent test daily for a month can push the true false-positive rate toward twenty to thirty percent. Then present the two remedies. Alpha spending through group-sequential boundaries divides the five percent budget across planned looks, and O'Brien-Fleming boundaries are strict early and generous late. Always-valid methods, meaning confidence sequences and e-values, hold at every sample size and any stopping time, so looking as often as you like is allowed. Show this when someone asks how bad peeking really is, or which sequential method to adopt on their platform.</a:t>
            </a:r>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Bayesian A/B testing reports the probability that a variant is better, the posterior distribution of the effect, and the expected loss from shipping the wrong arm. The idea beyond the frequentist Day 2 material is that these outputs speak directly to a decision maker, and that early stopping through expected loss can be coherent. Then deliver the caution: priors and the decision rule must be fixed in advance, and calling an analysis Bayesian is not a license to peek without a plan. Connect this to the peeking discussion and to pre-registration in the Reference section. Show this when a participant's organization uses a Bayesian testing tool and wants to know what changes and what does not.</a:t>
            </a:r>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winner's curse is selection acting on the estimate itself. Among many tested ideas, those that clear the significance bar are disproportionately those whose noise happened to point upward, so the shipped estimate is biased high. The idea beyond Day 2 is that a single unbiased estimator becomes biased once you choose which results to act on. Walk through why it happens, the consequence that realized production lift underperforms the test estimate, and the fix, which is shrinkage toward a prior mean through empirical-Bayes or hierarchical models across many experiments. Show this when someone asks why launches never deliver the lift the test promised. Stress the expectation-management note: report a shrunk estimate for planning.</a:t>
            </a:r>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Guardrails are the metrics that must not regress for a win to be shippable. The idea beyond the Day 2 single-primary-metric discipline is that a positive primary metric is necessary but not sufficient. Walk through the four families: quality guardrails such as latency, error rate, and crash rate; business guardrails such as revenue, cost, and unit economics; trust and safety guardrails such as complaints, policy violations, and fairness metrics; and counter-metrics, which are the metrics that would move if the primary metric were being gamed rather than improved. Show this when a participant is drafting a test plan, and ask them to name at least one guardrail from each family for their own product.</a:t>
            </a:r>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divider opens the advanced identification cluster. Remind participants that Day 3 identified effects with the backdoor criterion on a DAG and estimated them with IPW and AIPW. The slides that follow go beyond backdoor adjustment in four directions: the front-door criterion, which identifies an effect despite an unmeasured confounder; mediation, which splits an effect into direct and indirect parts; g-methods, which handle treatments and confounders that change over time; and the machine-learning toolkit, meaning double machine learning and causal forests. Show this only as a signpost, and pick the slide that matches the question in the room rather than presenting all of them in order.</a:t>
            </a:r>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front-door criterion identifies a causal effect when the confounder is unmeasured but a fully mediating mechanism is observed. The idea beyond Day 3 backdoor adjustment is that identification does not always require closing backdoor paths; sometimes you can route around them. Describe the structure: T causes M causes Y, an unmeasured U confounds T and Y, and U affects M only through T. Then the two-step logic: estimate T to M, which is unconfounded, estimate M to Y adjusting for T, and chain them to recover the total effect. Be honest that full mediation is a strong claim. Show this when someone asks what to do when a key confounder is not in the data.</a:t>
            </a:r>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Mediation analysis asks how an effect works, not only whether it works. The idea beyond Day 3 is that the total effect splits into a direct effect and an indirect effect that runs through the mediator, and that this decomposition needs stronger assumptions than the total effect did. The mediator-to-outcome link must itself be unconfounded, which is often untestable. Then give the warning: simply adding the mediator as a control does not yield a direct effect, because conditioning on a post-treatment variable can reintroduce bias, which links to the collider discussion on Day 3. Show this when a stakeholder asks what share of an effect runs through a mechanism.</a:t>
            </a:r>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covers treatments and confounders that evolve over time and affect each other. The idea beyond Day 3 is that a variable can be a confounder for the next treatment decision and a mediator of the previous one at the same time, so ordinary regression is biased whether you adjust for it or not. Name the tools: g-computation, marginal structural models fitted with inverse-probability weights, and g-estimation. Link marginal structural models to the IPW logic from Day 3, since the weights are the same idea applied at each time point. Show this when a participant works with repeated interventions, dynamic treatment regimes, or longitudinal policy data, and point them to Hernan and Robins in the further reading.</a:t>
            </a:r>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Double or debiased machine learning lets you use flexible models for the nuisance functions without biasing the effect. The idea beyond the Day 3 AIPW estimator is a pair of safeguards. Neyman orthogonality builds the estimating equation so that small errors in the outcome model and the propensity model do not bias the effect to first order. Cross-fitting estimates the nuisances on one fold and the effect on another, so overfitting in the nuisance models does not leak into the effect. The payoff is that boosting, forests, or neural networks can model the outcome and the propensity while confidence intervals remain valid. Show this when someone asks whether they can put a gradient-boosting model inside a causal estimate.</a:t>
            </a:r>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Causal forests estimate how the treatment effect tau of x varies across units, with an honest uncertainty statement for each region of covariate space. The idea beyond the Day 2 subgroup analysis is that heterogeneity can be learned from data rather than pre-specified, provided the learning is disciplined. Explain honest splitting: the data that choose the tree splits are separated from the data that estimate effects within leaves, which prevents overfit conditional effects. Each leaf then behaves like a small, locally near-randomized comparison. Uses include targeting, identifying who benefits or is harmed, and surfacing effect modifiers for the next experiment. Show this when a participant asks how to find subgroups without fishing.</a:t>
            </a:r>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turns heterogeneous effects into a decision rule. The idea beyond the previous slide is that estimating tau of x is only a means; the end is choosing whom to treat. Walk through the three steps: policy learning converts tau of x into a rule that maximizes total benefit under budget or fairness constraints; uplift targeting selects the units whose outcome the treatment changes, not the units with high outcomes regardless; and the learned policy must be evaluated on held-out data or a follow-up experiment before deployment. Stress the targeting insight: ranking by predicted outcome and by predicted uplift give different lists, and only the uplift list improves the decision. Show this when targeting comes up.</a:t>
            </a:r>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divider opens the measurement cluster. Explain that the previous clusters were about getting an unbiased estimate; this one is about whether the estimate measures the thing the decision needs, and whether it holds up over time and across studies. The four topics are surrogate metrics, novelty and primacy effects, regression to the mean, and combining evidence across experiments, followed by a catalogue of fallacies and a slide on communicating results. Point out the link to Day 1, where the estimand was defined before anything else, and to Day 4 sensitivity thinking. Show this as a signpost when a participant's question is about the metric or the time horizon rather than the estimator.</a:t>
            </a:r>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Surrogate metrics are fast-moving proxies used to stand in for slow outcomes such as retention or lifetime value. The idea beyond the core days is the surrogacy condition: a valid surrogate must fully mediate the treatment's effect on the true outcome, which links back to the mediation slide. Walk through the temptation, meaning using clicks to predict retention; the condition, which is strong and only partly checkable; and the risk, which is proxy gaming, where the proxy moves while the real goal is harmed. Show this when a participant's primary metric is an early engagement signal and ask whether they have ever validated it against the long-run outcome in a past experiment.</a:t>
            </a:r>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Novelty and primacy effects are reactions to change itself rather than to the treatment. A novelty effect is a transient boost that decays toward the steady-state effect; a primacy effect is a transient dip while users adjust. The idea beyond Day 2 is that the estimand includes a time index, so the effect at week one and the effect at steady state are different quantities. Cover the design response: run to steady state, pre-register the evaluation window, and consider a long-run holdback to measure durable impact. Show this when someone reports an effect that shrank after launch, or when a test plan has no stated evaluation window. It pairs with the checklist item about effect stability past the novelty window.</a:t>
            </a:r>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Regression to the mean is the apparent improvement you get by selecting units for being extreme and then measuring them again. The mechanism is that extreme observations contain extreme noise, and on re-measurement the noise averages out. The idea beyond Day 1 is a concrete threat to before-and-after comparisons: targeting the worst performers and seeing them improve proves nothing by itself. The remedy is the randomized control group, which experiences the same regression, so the between-arm difference stays a valid effect. This also motivates difference-in-differences, where the control group's change absorbs the same drift. Show this when a participant describes an intervention aimed at the bottom decile of any metric.</a:t>
            </a:r>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is about learning from a portfolio of experiments instead of one. The idea beyond the core days is that individual estimates are noisy data points and that correct pooling turns them into knowledge. Cover meta-analysis, which pools effects with proper weights and models between-study heterogeneity rather than assuming one true effect; hierarchical shrinkage, which partially pools noisy estimates and tempers the winner's curse discussed earlier; and institutional memory, meaning a searchable experiment repository. Show this when a participant leads an experimentation program rather than a single test, or when someone asks how to set a realistic prior for an expected lift. It closes the loop with the shrinkage slide.</a:t>
            </a:r>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named catalogue of causal fallacies for use in reviews. Read each one with its one-line definition: post hoc ergo propter hoc, sequence mistaken for cause; confounding by indication, where the risk that drives treatment also drives the outcome; collider or selection bias, conditioning on a common effect; survivorship bias, analyzing only units that remained; immortal time bias, misclassifying a period in which the outcome could not occur; and the ecological fallacy, inferring individual effects from group-level correlations. The idea it adds is that naming an error makes it easier to catch. Map collider bias back to the Day 3 DAG material. Hand this out as reference and use it as a review checklist for the capstone.</a:t>
            </a:r>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is about the last mile: turning a defensible estimate into a decision a stakeholder can own. The idea beyond Day 4 is a report structure. Lead with the decision and the effect in real units before any methodology. Pair the estimate with its interval and the single load-bearing assumption in plain language. Make the risk visible by saying how the decision would change if that assumption failed, which is exactly what an E-value or a sensitivity analysis quantifies. Use the test at the bottom: a skeptical reader should find the estimand, the interval, the key assumption, and the sensitivity in under a minute. Show this before the capstone write-up.</a:t>
            </a:r>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closing quote for the advanced section restates the through-line: every method is a way of seeing the outcome that did not happen. Read it aloud and then connect it explicitly. Randomization makes the missing potential outcome exchangeable with the observed one in the other arm. Backdoor adjustment, IPW, and AIPW reconstruct it from measured covariates. Difference-in-differences borrows it from a control group's trend, IV from compliers moved by an instrument, RDD from units just across a cutoff. Sensitivity analysis asks how wrong the reconstruction could be. Use this to close an extension session, or as a one-slide review whenever participants are losing sight of why the methods belong together.</a:t>
            </a:r>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divider opens Part 5, the reference toolkit. Tell participants that this part is theirs to keep and that it is designed to be used at a desk after the course, not presented. List what it contains: six extended numerical walkthroughs matching the estimators from the labs, one-glance cheat sheets for estimands, assumptions, estimators, standard errors, and design selection, pre-flight checklists and a pitfalls list, a sensitivity toolkit, professional-practice notes on reproducibility, ethics, and tooling, a notation reference and glossary, and facilitator materials. Show this briefly when handing out the pack, and point to the worked examples as the best place to start if someone wants to reproduce the lab numbers.</a:t>
            </a:r>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divider introduces the six worked examples. Explain that each one carries a single estimator through concrete numbers that participants can reproduce in the lab notebooks: propensity matching, inverse-probability weights, a two-by-two difference-in-differences table, the Wald instrumental-variables estimator, a regression-discontinuity jump, and a sample-size calculation. The idea it adds is that every abstract estimator from Days 2 through 4 reduces to arithmetic once the design is clear, which reinforces the message that estimation is bookkeeping. Show this when a participant asks for a small example to check their code against, then jump directly to the relevant slide rather than presenting all six in sequence.</a:t>
            </a:r>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walkthrough estimates the ATT by nearest-neighbor propensity matching, extending the Day 3 propensity-score material. Step one fits e of x, the probability of treatment given pre-treatment covariates, with logistic regression or gradient boosting. Step two matches each treated unit to the control with the closest estimated score, within a caliper such as 0.2 times the standard deviation of the logit. Step three checks balance with standardized mean differences, all of which should fall below 0.1. Step four averages the within-pair outcome differences and uses a matching-appropriate standard error, not the naive bootstrap. Stress the balance target: matching is judged by the balance it achieves, not by the propensity model's accuracy, so report a love plot before and after.</a:t>
            </a:r>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makes IPW concrete by turning propensity scores into weights, extending the Day 3 IPW estimator. A treated unit with an estimated score of 0.8 gets weight one over 0.8, which is 1.25, a modest weight because it looks treated. A treated unit with a score of 0.05 gets weight one over 0.05, which is 20, and a single unit with that weight can dominate the estimate. A control unit with a score of 0.9 gets weight one over 0.1, which is 10. Then cover stabilization: multiply by the marginal treatment probability, or trim or winsorize the tail. Finish with the diagnostic: print the maximum and 99th-percentile weight, and treat weights above roughly 10 as an overlap problem.</a:t>
            </a:r>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whole DiD estimator in four numbers, extending Day 4. The treated group moves from 40 before to 52 after; the control group moves from 38 to 44. The treated change is 52 minus 40, which is 12. The control change is 44 minus 38, which is 6. The double difference is 12 minus 6, which is plus 6, the effect net of a common time trend of plus 6. This is causal only if, absent treatment, the treated group would also have risen by 6, which is parallel trends. Note that the treated group started higher, 40 versus 38, and that DiD tolerates a level difference but not a trend difference.</a:t>
            </a:r>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walkthrough shows the Wald estimator, the simplest form of the Day 4 instrumental-variables estimate. A random encouragement Z raises uptake of treatment T, and the target is the effect of T on Y among compliers. The reduced form, the effect of Z on Y, is 0.9 percentage points, which is the intention-to-treat effect on the outcome. The first stage, the effect of Z on T, is 0.30, meaning the encouragement raised uptake by 30 points. The Wald ratio is 0.9 divided by 0.30, which equals 3.0, the local average treatment effect for compliers, obtained by scaling the ITT up by the compliance rate. A small first stage makes the ratio explode, so always report first-stage strength.</a:t>
            </a:r>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walkthrough estimates a sharp RDD effect, extending Day 4. Firms with a score of 70 or above receive a subsidy and firms below 70 do not; the score is the running variable and 70 is the cutoff. Fit a local regression on each side of 70 within a chosen bandwidth. The estimate is the predicted outcome just above 70 minus the predicted outcome just below it; the slide's illustration is 44 versus 40, giving a local effect of plus 4. Then cover robustness: re-estimate across bandwidths and polynomial orders, and run a McCrary density test for manipulation at 70. RDD identifies the effect only for units at the cutoff and rests on smoothness of everything else through the threshold.</a:t>
            </a:r>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walkthrough sizes an A/B test for a conversion metric, extending Day 2 power. Baseline conversion is 10 percent, the target is a 5 percent relative lift, or 0.5 points absolute, at alpha 0.05 and power 0.8. The per-arm formula is the squared sum of the two z values times two p times one minus p, divided by delta squared, with p about 0.10 and delta 0.005. Plugging in gives 1.96 plus 0.84 squared, times two times 0.09, divided by 0.000025, about 56,400 per arm, or about 113 thousand total. The lever: n scales with one over delta squared and with residual variance, so CUPED or a larger MDE changes it sharply. Use the sanity check when runtime looks impractical.</a:t>
            </a:r>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divider introduces the cheat sheets. Explain that the next six slides compress the course into one-glance tables: a design-selection decision path, an estimand sheet, an assumptions sheet, an estimator sheet, a standard-error selection sheet, and a DAG pattern library. The idea it adds is retrieval: the core days built understanding, and these tables are for the moment a participant sits at their desk and needs to recall which assumption goes with which estimator. Do not present these as lecture material. Hand them out as reference, and point to the design-selection path first because it is the one participants will use most often when a new question arrives.</a:t>
            </a:r>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decision path takes a participant from constraints to a credible design, and it summarizes Days 2 through 4 in five questions. If you can randomize, run an experiment. If there is a threshold rule on a running variable, use regression discontinuity, sharp or fuzzy. If there is a nudge that shifts uptake only, use a valid instrument with IV or two-stage least squares, estimating the LATE for compliers. If there is a known switch-on time plus comparison units, use difference-in-differences or synthetic control after checking pre-trends. If you have rich covariates and plausibly no hidden confounder, use doubly robust adjustment with cross-fitting plus a sensitivity analysis. Show this whenever a participant brings a new question.</a:t>
            </a:r>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cheat sheet is a table of estimands. If shown, use it to remind participants of the Day 1 message that the estimand is chosen before the data are touched. Walk down the table and, for each estimand, say who it describes and which design naturally delivers it: the ATE for the whole population from a randomized experiment or adjustment, the ATT for treated units from matching, the LATE for compliers from an instrument, the local effect at a cutoff from RDD, and conditional effects tau of x from heterogeneity methods. The idea it adds is that the same data can support different estimands and that mismatch between estimand and decision is a listed pitfall. Hand out as reference.</a:t>
            </a:r>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cheat sheet lists the identifying assumption behind each method. If shown, frame it with the course throughline, which assumption is doing the work, and go down the table naming one assumption per method: exchangeability from randomization for experiments, SUTVA for any design with possible interference, conditional exchangeability and overlap for backdoor adjustment with IPW or AIPW, parallel trends for difference-in-differences, instrument relevance and the exclusion restriction for IV, and continuity of potential outcomes at the cutoff for RDD. The idea it adds is that assumptions are the part of an analysis that cannot be outsourced to software. Hand out as reference, and suggest participants write the load-bearing assumption at the top of every report.</a:t>
            </a:r>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cheat sheet maps each estimator to what it computes and when it is appropriate. If shown, go down the table quickly: the difference in means for a randomized experiment, with CUPED as its variance-reduced version; regression adjustment, IPW, and AIPW for backdoor adjustment, with AIPW the doubly robust choice; matching for the ATT; two-way fixed effects or the two-by-two table for DiD; two-stage least squares or the Wald ratio for IV; local linear regression for RDD; and double machine learning and causal forests when nuisance functions need flexible models. The idea it adds is that estimators are tools chosen after the design is fixed. Hand out as reference.</a:t>
            </a:r>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cheat sheet is about choosing the standard error to match the design, which extends the Day 2 Neyman inference discussion. If shown, make the single point that the standard error must reflect how units were assigned and how they are correlated. Go through the rows: the Neyman variance for a simple randomized experiment, cluster-robust errors when randomization or interference operates at the group level, a matching-appropriate variance rather than the naive bootstrap after matching, sandwich or bootstrap errors with the weights included for IPW, clustered errors by group and time for DiD, and always-valid sequences when the test is monitored continuously. Unclustered errors on grouped data is a listed pitfall. Hand out as reference.</a:t>
            </a:r>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DAG pattern library summarizes the Day 3 backdoor material in four recurring structures. The confounder, or fork, is T caused by X which also causes Y; adjust for X to close the backdoor path. The mediator, or chain, is T to M to Y; do not adjust for M if you want the total effect. The collider is T to C from Y; never condition on C or its descendants. M-bias is the subtle case where conditioning on a pre-treatment collider opens a path, so not every pre-treatment control is safe. The idea it adds is that the choice of adjustment set follows from structure, not from model fit. Show this when someone proposes controlling for everything.</a:t>
            </a:r>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divider introduces the checklists and the pitfalls catalogue. Tell participants that the next five slides are the operational form of the course: a pre-flight list for A/B tests, an ordered checklist for observational studies, a two-part master list of pitfalls, and a sensitivity and falsification toolkit. The idea it adds is that good practice is a repeatable routine to run on every analysis, not a memory of principles. Recommend that participants keep the two checklists open while doing the capstone and use the pitfalls list when reviewing a colleague's work. Show this only as a signpost and then move to whichever list matches the question in the room.</a:t>
            </a:r>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checklist covers an A/B test at three moments: before launch, at analysis, and before shipping. Read the pre-launch items, which are a single primary metric, named guardrails, a computed power and MDE, a fixed horizon, and a chosen randomization unit. The sanity items are an A/A pass and a sample ratio that matches the intended split. The analysis items are a design-matched standard error, CUPED or covariate adjustment, and only pre-registered subgroups. The integrity items are no peeking unless a valid sequential method is used, and multiplicity control. The ship rule is a positive primary metric and all guardrails held and stability past the novelty window. Every item maps to a Day 2 concept. Hand out as reference.</a:t>
            </a:r>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checklist gives the order of an observational study, and the order matters. Define the estimand, ATE or ATT, and the target population first. Draw the DAG and choose the adjustment set by the backdoor criterion, not by model fit. Confirm every confounder in that set is measured and flag plausible unmeasured ones. Check overlap and trim or restrict to common support. Verify post-adjustment balance with standardized mean differences below 0.1. Estimate with a doubly robust, cross-fit method and report a proper interval. Run a sensitivity analysis with an E-value or bounds plus placebo and negative-control checks. The idea it adds is sequencing: identification steps come before any estimation. Hand out for the capstone.</a:t>
            </a:r>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first half of the pitfalls list, covering design and identification failures. Read each item and name the core-day concept it violates: interpreting a conditional comparison as causal, which ignores confounding; adjusting for a post-treatment variable, which is mediator or collider bias from Day 3; controlling for everything to look thorough, which risks conditioning on colliders; assuming randomization guarantees balance in every sample, which the Simpson's paradox slide addressed; randomizing at the wrong level relative to interference, which breaks SUTVA; and ignoring an unmeasured confounder because the model fits well, which is why sensitivity analysis exists. Use this as a review rubric for the capstone or hand it out as reference.</a:t>
            </a:r>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second half of the pitfalls list, covering estimation, inference, and communication failures. Read each item with its remedy: peeking at a fixed-horizon test and stopping on the first significant look, cured by sequential methods; unclustered standard errors on grouped data, cured by design-matched errors; extreme IPW weights left untrimmed, cured by the weight diagnostics from the worked example; reporting the most significant of many unplanned subgroups, cured by pre-registration; a tight confidence interval presented as if identification were certain, cured by stating the load-bearing assumption; and an estimand that quietly differs from the decision, cured by defining it first. Hand out together with the previous slide.</a:t>
            </a:r>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toolkit collects four ways to stress-test a causal claim, extending the Day 4 sensitivity material. The E-value is the minimum strength of confounding, with both treatment and outcome, needed to explain away the estimate, and bigger is more robust. Rosenbaum bounds ask how large a hidden bias in assignment odds would overturn a matched result. Partial R-squared benchmarks, from Cinelli and Hazlett, compare a hypothetical unobserved confounder against observed covariates. Negative controls and placebos use outcomes, exposures, or periods where no effect can exist, so a detected effect exposes bias. The right tool depends on the design. Show this when someone asks what to run after an observational estimate.</a:t>
            </a:r>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divider introduces the professional-practice section. Explain that the three slides that follow are about standards rather than methods: pre-registration and reproducibility, the ethics of experimentation, and a Python toolkit for the labs and for production. The idea it adds is that a defensible analysis is distinguished from a plausible-looking one by process, meaning commitments made before the data are seen, protections for the people in the experiment, and code a reviewer can re-run. Show this briefly when moving into these topics, or when a participant asks how their team should institutionalize what the course taught rather than how to run one analysis.</a:t>
            </a:r>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Pre-registration is the commitment to the analysis before seeing outcomes, and it is the strongest defense against p-hacking and hindsight. The idea beyond the core days is that the peeking, multiplicity, and subgroup problems from Day 2 all share one cure, which is deciding in advance. Cover the three practices: pre-register the primary metric, the estimand, the analysis, and the stopping rule before data collection ends; separate exploration from confirmation by labeling exploratory findings and confirming them on fresh data; and build reproducible pipelines with versioned data and code, seeded randomness, and a scripted analysis a reviewer can re-run. Show this when a participant asks how to make a testing culture trustworthy.</a:t>
            </a:r>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addresses the ethics of experimenting on real people. The idea it adds is that credibility and responsibility are inseparable. Cover the three principles: do no harm, meaning guardrails protect users from a harmful variant and some interventions must never be randomized; equipoise and consent, meaning randomize only under genuine uncertainty about which arm is better and respect consent and regulation; and fairness of effects, meaning check that a positive average effect is not achieved by harming a subgroup and report distributional impact. Read the governance note about aligning experimentation with data-protection rules and an ethics-review process in a national and enterprise context. Show this whenever a public-sector or high-stakes application comes up.</a:t>
            </a:r>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lists the Python stack used in the labs and suitable for production. If shown, walk down the table and connect each library to the day where its method was taught: standard data and statistics libraries for the Day 2 experiment analysis, causal-inference packages for propensity scores, IPW, AIPW, and double machine learning from Day 3, econometric packages for DiD, IV, and RDD from Day 4, and heterogeneity libraries for causal forests from the advanced section. The idea it adds is that every method in the course has an open-source implementation, so the barrier is understanding, not tooling. Hand out as reference, and remind participants that the lab notebooks already import everything on the list.</a:t>
            </a:r>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notation reference. If shown, use it to resolve symbol questions rather than to teach. Walk through the core symbols in the order they appeared: the treatment T, the outcome Y, the potential outcomes Y of one and Y of zero from Day 1, the covariates X, the propensity score e of x from Day 3, the conditional effect tau of x, the instrument Z from Day 4, and the running variable and cutoff from RDD. The idea it adds is consistency: the same letters mean the same things across the deck, the labs, and the worked examples, so participants can move between them without translation. Hand out as reference alongside the glossary.</a:t>
            </a:r>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first of three glossary slides. Do not read it aloud. If a participant asks for the meaning of a term during discussion, jump here and read the definition on the slide, then return. The idea it adds is a shared vocabulary that participants can consult after the course, covering the foundational terms from Day 1 and Day 2 such as potential outcomes, estimand, exchangeability, SUTVA, randomization, and the vocabulary of A/B testing including power, MDE, CUPED, and peeking. Recommend that participants use the three glossary slides as a self-test before the assessment by covering the definitions and trying to state each one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second glossary slide. As with the first, use it as a lookup rather than a presentation. The idea it adds is the vocabulary of identification from Day 3 and Day 4: DAG terms such as backdoor path, collider, and mediator, the estimation terms IPW, AIPW, doubly robust, and overlap, and the quasi-experimental terms difference-in-differences, parallel trends, instrument, exclusion restriction, LATE, and regression discontinuity. When a participant confuses two neighboring terms, for example ATT and ATE or mediator and collider, showing the two definitions side by side is usually faster than re-explaining. Hand out with the rest of the reference pack.</a:t>
            </a:r>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third and final glossary slide. Use it as a lookup. The idea it adds is the vocabulary of sensitivity, advanced methods, and practice: E-value, Rosenbaum bounds, and negative controls from Day 4; front-door, mediation, g-methods, double machine learning, causal forests, and uplift from the advanced section; and process terms such as pre-registration, guardrail, surrogate, novelty effect, and winner's curse. Tell participants that the three glossary slides together cover every term used in the assessment, so any unfamiliar word in a question can be resolved here. Hand out with the notation reference as the last section of the participant pack.</a:t>
            </a:r>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divider opens the facilitator materials. These slides are for instructors and are not normally shown to participants. They contain the mapping from learning outcomes to the DSC-C04 competency and the day that delivers each, the assessment blueprint, the master timetable for all four days, delivery notes on how to run the deck, logistics for materials and environment, and canonical references for further study. The idea it adds is traceability: every hour of the course can be justified against a stated outcome. Use this section when preparing to deliver the course, when onboarding a co-facilitator, or when a participant asks how the assessment is weighted.</a:t>
            </a:r>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mapping table traces each learning outcome to its DSC-C04 competency and to the day that delivers it. If shown, read the table row by row and confirm that the four days cover the outcomes in order: formalizing causal questions with potential outcomes on Day 1, designing and analyzing experiments on Day 2, drawing effects from observational data on Day 3, and quantifying uncertainty and communicating a decision on Day 4. The idea it adds is that nothing in the core days is decorative; each block serves a listed outcome. Use this when a participant asks why a topic is included, or when adapting the timetable and needing to know what cannot be cut.</a:t>
            </a:r>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assessment blueprint. If shown, explain how the assessment is structured and how it weights the outcomes from the mapping slide, and read the rows of the table as they appear rather than adding weights from memory. The idea it adds is alignment: the assessment items are drawn from the same outcomes that the timetable delivers, so a participant who has completed the labs and the capstone has already practiced every assessed skill. Use this when participants ask what to expect from the assessment, and point them to the worked examples, cheat sheets, and glossary as the most efficient revision material. Do not present this on Day 1; it belongs at the end of Day 4.</a:t>
            </a:r>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master timetable for Days 1 and 2. If shown, read the blocks as they appear on the slide and note the rhythm: a short framing, a method, a lab, and a discussion in each hour. Day 1 builds the potential-outcomes framework and the estimand; Day 2 covers randomization, Neyman inference, power, CUPED, peeking, and the A/B testing workflow. The idea it adds is timing discipline, since expert cohorts drift into long discussions and the labs are where retention happens. Use this slide when planning delivery, when a session runs over and you need to decide what to compress, and when telling participants what the next day will cover.</a:t>
            </a:r>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master timetable for Days 3 and 4. If shown, read the blocks as they appear on the slide. Day 3 covers DAGs, the backdoor criterion, propensity scores, IPW, and AIPW; Day 4 covers difference-in-differences, instrumental variables, regression discontinuity, sensitivity analysis and E-values, communication, and the capstone. The idea it adds is the same timing discipline as the previous slide, with one extra point: the advanced topics and the reference section are not scheduled, so any time gained by moving quickly can be spent on the advanced slides the cohort asks for. Use this for planning and for deciding, on the morning of Day 4, whether an extension session is feasible.</a:t>
            </a:r>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delivery notes for running the deck with an expert audience. Lead with the failure: open each method by showing where the naive approach breaks, so the fix feels necessary. Code every concept: move to the notebook within minutes of each idea, because abstract discussion loses practitioners fast. Make assumptions the star by returning relentlessly to which assumption is doing the work, which is the course throughline. Debate rather than lecture, using discussions to surface disagreement, because expert cohorts learn by defending design choices. The idea it adds is a teaching method matched to the audience. Read this before Day 1, and share it with any co-facilitator so both instructors run the room the same way.</a:t>
            </a:r>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lists what must be in place before Day 1. Read the five items: compute, meaning Python 3.11 or later with the toolkit libraries or a hosted notebook environment such as Colab or JupyterHub; datasets, meaning four lab datasets plus one capstone dataset with a data dictionary and known ground truth where used; access, meaning the pre-test link, daily-check forms, starter and solution lab notebooks, and the capstone rubric; delivery, which is remote-friendly with discussions in breakout groups and a shared review at the end of each hour; and pre-work, meaning confirming the SF-3 and DS-1 prerequisites and sharing a 30-minute refresher for borderline learners. Use this as a logistics checklist one week before delivery.</a:t>
            </a:r>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gives author-level pointers for deeper study, organized by theme; none of it is required reading. For foundations and potential outcomes, Imbens and Rubin, and Hernan and Robins, whose book is called What If and which also covers the g-methods from the advanced section. For graphical models, Pearl, and the Pearl, Glymour, and Jewell primer, which extend the Day 3 DAG material. For applied econometric designs including DiD, IV, and RDD, Angrist and Pischke, and Cunningham's Mixtape. For experimentation, Gerber and Green on field experiments and Kohavi, Tang, and Xu on online experiments. For modern machine learning, Chernozhukov and colleagues on double machine learning and Athey and Wager on causal forests. Hand out as reference.</a:t>
            </a:r>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final slide. Thank the participants and then read the closing sentence, which is also the list of outcomes they have now achieved: formalizing causal questions, designing and analyzing experiments, drawing effects from observational data, quantifying uncertainty at both layers, and communicating a decision whose risk is owned. Point out that these five map directly to the four days and to the DSC-C04 competency. Remind them that the reference pack, the worked examples, the checklists, and the glossary are theirs to keep, and that the advanced topics are available if they want to go further. Close by inviting final questions and pointing to the further-study slide for next steps.</a:t>
            </a:r>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9.png"/><Relationship Id="rId4" Type="http://schemas.openxmlformats.org/officeDocument/2006/relationships/image" Target="../media/image2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9.png"/><Relationship Id="rId4" Type="http://schemas.openxmlformats.org/officeDocument/2006/relationships/image" Target="../media/image2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9.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19.png"/><Relationship Id="rId4" Type="http://schemas.openxmlformats.org/officeDocument/2006/relationships/image" Target="../media/image20.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1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3" Type="http://schemas.openxmlformats.org/officeDocument/2006/relationships/image" Target="../media/image1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1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3" Type="http://schemas.openxmlformats.org/officeDocument/2006/relationships/image" Target="../media/image13.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 Id="rId3" Type="http://schemas.openxmlformats.org/officeDocument/2006/relationships/image" Target="../media/image19.png"/><Relationship Id="rId4" Type="http://schemas.openxmlformats.org/officeDocument/2006/relationships/image" Target="../media/image20.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 Id="rId3" Type="http://schemas.openxmlformats.org/officeDocument/2006/relationships/image" Target="../media/image14.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 Id="rId3" Type="http://schemas.openxmlformats.org/officeDocument/2006/relationships/image" Target="../media/image15.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 Id="rId3" Type="http://schemas.openxmlformats.org/officeDocument/2006/relationships/image" Target="../media/image16.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 Id="rId3" Type="http://schemas.openxmlformats.org/officeDocument/2006/relationships/image" Target="../media/image19.png"/><Relationship Id="rId4" Type="http://schemas.openxmlformats.org/officeDocument/2006/relationships/image" Target="../media/image20.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 Id="rId3" Type="http://schemas.openxmlformats.org/officeDocument/2006/relationships/image" Target="../media/image17.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1234440"/>
            <a:ext cx="11057839" cy="365760"/>
          </a:xfrm>
          <a:prstGeom prst="rect">
            <a:avLst/>
          </a:prstGeom>
          <a:noFill/>
          <a:ln/>
        </p:spPr>
        <p:txBody>
          <a:bodyPr wrap="square" lIns="0" tIns="0" rIns="0" bIns="0" rtlCol="0" anchor="ctr"/>
          <a:lstStyle/>
          <a:p>
            <a:pPr marL="0" indent="0">
              <a:buNone/>
            </a:pPr>
            <a:r>
              <a:rPr lang="en-US" sz="1400" b="1" kern="0" spc="500" dirty="0">
                <a:solidFill>
                  <a:srgbClr val="3FA9E0"/>
                </a:solidFill>
                <a:latin typeface="Calibri" pitchFamily="34" charset="0"/>
                <a:ea typeface="Calibri" pitchFamily="34" charset="-122"/>
                <a:cs typeface="Calibri" pitchFamily="34" charset="-120"/>
              </a:rPr>
              <a:t>SDAIA ACADEMY</a:t>
            </a:r>
            <a:endParaRPr lang="en-US" sz="1400" dirty="0"/>
          </a:p>
        </p:txBody>
      </p:sp>
      <p:sp>
        <p:nvSpPr>
          <p:cNvPr id="3" name="Text 1"/>
          <p:cNvSpPr/>
          <p:nvPr/>
        </p:nvSpPr>
        <p:spPr>
          <a:xfrm>
            <a:off x="566928" y="1874520"/>
            <a:ext cx="10424160" cy="1920240"/>
          </a:xfrm>
          <a:prstGeom prst="rect">
            <a:avLst/>
          </a:prstGeom>
          <a:noFill/>
          <a:ln/>
        </p:spPr>
        <p:txBody>
          <a:bodyPr wrap="square" lIns="0" tIns="0" rIns="0" bIns="0" rtlCol="0" anchor="t"/>
          <a:lstStyle/>
          <a:p>
            <a:pPr marL="0" indent="0">
              <a:lnSpc>
                <a:spcPct val="102000"/>
              </a:lnSpc>
              <a:buNone/>
            </a:pPr>
            <a:r>
              <a:rPr lang="en-US" sz="4600" b="1" dirty="0">
                <a:solidFill>
                  <a:srgbClr val="FFFFFF"/>
                </a:solidFill>
                <a:latin typeface="Cambria" pitchFamily="34" charset="0"/>
                <a:ea typeface="Cambria" pitchFamily="34" charset="-122"/>
                <a:cs typeface="Cambria" pitchFamily="34" charset="-120"/>
              </a:rPr>
              <a:t>Experimentation and Causal Inference</a:t>
            </a:r>
            <a:endParaRPr lang="en-US" sz="4600" dirty="0"/>
          </a:p>
        </p:txBody>
      </p:sp>
      <p:sp>
        <p:nvSpPr>
          <p:cNvPr id="4" name="Text 2"/>
          <p:cNvSpPr/>
          <p:nvPr/>
        </p:nvSpPr>
        <p:spPr>
          <a:xfrm>
            <a:off x="566928" y="3977640"/>
            <a:ext cx="9692640" cy="914400"/>
          </a:xfrm>
          <a:prstGeom prst="rect">
            <a:avLst/>
          </a:prstGeom>
          <a:noFill/>
          <a:ln/>
        </p:spPr>
        <p:txBody>
          <a:bodyPr wrap="square" lIns="0" tIns="0" rIns="0" bIns="0" rtlCol="0" anchor="ctr"/>
          <a:lstStyle/>
          <a:p>
            <a:pPr marL="0" indent="0">
              <a:lnSpc>
                <a:spcPct val="120000"/>
              </a:lnSpc>
              <a:buNone/>
            </a:pPr>
            <a:r>
              <a:rPr lang="en-US" sz="1600" dirty="0">
                <a:solidFill>
                  <a:srgbClr val="C9DAF0"/>
                </a:solidFill>
                <a:latin typeface="Calibri" pitchFamily="34" charset="0"/>
                <a:ea typeface="Calibri" pitchFamily="34" charset="-122"/>
                <a:cs typeface="Calibri" pitchFamily="34" charset="-120"/>
              </a:rPr>
              <a:t>Expert Track · Science Portfolio · P6.1.04 · Competency DSC-C04 · 4 Days / 20 Training Hours</a:t>
            </a:r>
            <a:endParaRPr lang="en-US" sz="1600" dirty="0"/>
          </a:p>
        </p:txBody>
      </p:sp>
      <p:sp>
        <p:nvSpPr>
          <p:cNvPr id="5" name="Shape 3"/>
          <p:cNvSpPr/>
          <p:nvPr/>
        </p:nvSpPr>
        <p:spPr>
          <a:xfrm>
            <a:off x="566928" y="5257800"/>
            <a:ext cx="201168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5440680"/>
            <a:ext cx="11057839" cy="256032"/>
          </a:xfrm>
          <a:prstGeom prst="rect">
            <a:avLst/>
          </a:prstGeom>
          <a:noFill/>
          <a:ln/>
        </p:spPr>
        <p:txBody>
          <a:bodyPr wrap="square" lIns="0" tIns="0" rIns="0" bIns="0" rtlCol="0" anchor="ctr"/>
          <a:lstStyle/>
          <a:p>
            <a:pPr marL="0" indent="0">
              <a:buNone/>
            </a:pPr>
            <a:r>
              <a:rPr lang="en-US" sz="1100" b="1" kern="0" spc="300" dirty="0">
                <a:solidFill>
                  <a:srgbClr val="9FB0C8"/>
                </a:solidFill>
                <a:latin typeface="Calibri" pitchFamily="34" charset="0"/>
                <a:ea typeface="Calibri" pitchFamily="34" charset="-122"/>
                <a:cs typeface="Calibri" pitchFamily="34" charset="-120"/>
              </a:rPr>
              <a:t>PRESENTED BY</a:t>
            </a:r>
            <a:endParaRPr lang="en-US" sz="1100" dirty="0"/>
          </a:p>
        </p:txBody>
      </p:sp>
      <p:sp>
        <p:nvSpPr>
          <p:cNvPr id="7" name="Text 5"/>
          <p:cNvSpPr/>
          <p:nvPr/>
        </p:nvSpPr>
        <p:spPr>
          <a:xfrm>
            <a:off x="566928" y="5760720"/>
            <a:ext cx="11057839"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SDAIA Academy · Capacity Building Sector ·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COURSE AT A GLANCE</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Programme Profile</a:t>
            </a:r>
            <a:endParaRPr lang="en-US" sz="3400" dirty="0"/>
          </a:p>
        </p:txBody>
      </p:sp>
      <p:sp>
        <p:nvSpPr>
          <p:cNvPr id="4" name="Shape 2"/>
          <p:cNvSpPr/>
          <p:nvPr/>
        </p:nvSpPr>
        <p:spPr>
          <a:xfrm>
            <a:off x="566928" y="1874520"/>
            <a:ext cx="3442106" cy="1600200"/>
          </a:xfrm>
          <a:prstGeom prst="roundRect">
            <a:avLst>
              <a:gd name="adj" fmla="val 5714"/>
            </a:avLst>
          </a:prstGeom>
          <a:solidFill>
            <a:srgbClr val="F4F7FB"/>
          </a:solidFill>
          <a:ln w="12700">
            <a:solidFill>
              <a:srgbClr val="D9E2F0"/>
            </a:solidFill>
            <a:prstDash val="solid"/>
          </a:ln>
        </p:spPr>
        <p:txBody>
          <a:bodyPr/>
          <a:lstStyle/>
          <a:p>
            <a:endParaRPr lang="en-SA"/>
          </a:p>
        </p:txBody>
      </p:sp>
      <p:sp>
        <p:nvSpPr>
          <p:cNvPr id="5" name="Text 3"/>
          <p:cNvSpPr/>
          <p:nvPr/>
        </p:nvSpPr>
        <p:spPr>
          <a:xfrm>
            <a:off x="749808" y="2075688"/>
            <a:ext cx="3076346" cy="777240"/>
          </a:xfrm>
          <a:prstGeom prst="rect">
            <a:avLst/>
          </a:prstGeom>
          <a:noFill/>
          <a:ln/>
        </p:spPr>
        <p:txBody>
          <a:bodyPr wrap="square" lIns="0" tIns="0" rIns="0" bIns="0" rtlCol="0" anchor="ctr"/>
          <a:lstStyle/>
          <a:p>
            <a:pPr marL="0" indent="0">
              <a:buNone/>
            </a:pPr>
            <a:r>
              <a:rPr lang="en-US" sz="4000" b="1" dirty="0">
                <a:solidFill>
                  <a:srgbClr val="3FA9E0"/>
                </a:solidFill>
                <a:latin typeface="Cambria" pitchFamily="34" charset="0"/>
                <a:ea typeface="Cambria" pitchFamily="34" charset="-122"/>
                <a:cs typeface="Cambria" pitchFamily="34" charset="-120"/>
              </a:rPr>
              <a:t>P6.1.04</a:t>
            </a:r>
            <a:endParaRPr lang="en-US" sz="4000" dirty="0"/>
          </a:p>
        </p:txBody>
      </p:sp>
      <p:sp>
        <p:nvSpPr>
          <p:cNvPr id="6" name="Text 4"/>
          <p:cNvSpPr/>
          <p:nvPr/>
        </p:nvSpPr>
        <p:spPr>
          <a:xfrm>
            <a:off x="749808" y="2807208"/>
            <a:ext cx="3076346" cy="548640"/>
          </a:xfrm>
          <a:prstGeom prst="rect">
            <a:avLst/>
          </a:prstGeom>
          <a:noFill/>
          <a:ln/>
        </p:spPr>
        <p:txBody>
          <a:bodyPr wrap="square" lIns="0" tIns="0" rIns="0" bIns="0" rtlCol="0" anchor="t"/>
          <a:lstStyle/>
          <a:p>
            <a:pPr marL="0" indent="0">
              <a:lnSpc>
                <a:spcPct val="105000"/>
              </a:lnSpc>
              <a:buNone/>
            </a:pPr>
            <a:r>
              <a:rPr lang="en-US" sz="1200" dirty="0">
                <a:solidFill>
                  <a:srgbClr val="566581"/>
                </a:solidFill>
                <a:latin typeface="Calibri" pitchFamily="34" charset="0"/>
                <a:ea typeface="Calibri" pitchFamily="34" charset="-122"/>
                <a:cs typeface="Calibri" pitchFamily="34" charset="-120"/>
              </a:rPr>
              <a:t>Course code · Science Portfolio</a:t>
            </a:r>
            <a:endParaRPr lang="en-US" sz="1200" dirty="0"/>
          </a:p>
        </p:txBody>
      </p:sp>
      <p:sp>
        <p:nvSpPr>
          <p:cNvPr id="7" name="Shape 5"/>
          <p:cNvSpPr/>
          <p:nvPr/>
        </p:nvSpPr>
        <p:spPr>
          <a:xfrm>
            <a:off x="4374794" y="1874520"/>
            <a:ext cx="3442106" cy="1600200"/>
          </a:xfrm>
          <a:prstGeom prst="roundRect">
            <a:avLst>
              <a:gd name="adj" fmla="val 5714"/>
            </a:avLst>
          </a:prstGeom>
          <a:solidFill>
            <a:srgbClr val="F4F7FB"/>
          </a:solidFill>
          <a:ln w="12700">
            <a:solidFill>
              <a:srgbClr val="D9E2F0"/>
            </a:solidFill>
            <a:prstDash val="solid"/>
          </a:ln>
        </p:spPr>
        <p:txBody>
          <a:bodyPr/>
          <a:lstStyle/>
          <a:p>
            <a:endParaRPr lang="en-SA"/>
          </a:p>
        </p:txBody>
      </p:sp>
      <p:sp>
        <p:nvSpPr>
          <p:cNvPr id="8" name="Text 6"/>
          <p:cNvSpPr/>
          <p:nvPr/>
        </p:nvSpPr>
        <p:spPr>
          <a:xfrm>
            <a:off x="4557674" y="2075688"/>
            <a:ext cx="3076346" cy="777240"/>
          </a:xfrm>
          <a:prstGeom prst="rect">
            <a:avLst/>
          </a:prstGeom>
          <a:noFill/>
          <a:ln/>
        </p:spPr>
        <p:txBody>
          <a:bodyPr wrap="square" lIns="0" tIns="0" rIns="0" bIns="0" rtlCol="0" anchor="ctr"/>
          <a:lstStyle/>
          <a:p>
            <a:pPr marL="0" indent="0">
              <a:buNone/>
            </a:pPr>
            <a:r>
              <a:rPr lang="en-US" sz="4000" b="1" dirty="0">
                <a:solidFill>
                  <a:srgbClr val="5A5BA6"/>
                </a:solidFill>
                <a:latin typeface="Cambria" pitchFamily="34" charset="0"/>
                <a:ea typeface="Cambria" pitchFamily="34" charset="-122"/>
                <a:cs typeface="Cambria" pitchFamily="34" charset="-120"/>
              </a:rPr>
              <a:t>Expert</a:t>
            </a:r>
            <a:endParaRPr lang="en-US" sz="4000" dirty="0"/>
          </a:p>
        </p:txBody>
      </p:sp>
      <p:sp>
        <p:nvSpPr>
          <p:cNvPr id="9" name="Text 7"/>
          <p:cNvSpPr/>
          <p:nvPr/>
        </p:nvSpPr>
        <p:spPr>
          <a:xfrm>
            <a:off x="4557674" y="2807208"/>
            <a:ext cx="3076346" cy="548640"/>
          </a:xfrm>
          <a:prstGeom prst="rect">
            <a:avLst/>
          </a:prstGeom>
          <a:noFill/>
          <a:ln/>
        </p:spPr>
        <p:txBody>
          <a:bodyPr wrap="square" lIns="0" tIns="0" rIns="0" bIns="0" rtlCol="0" anchor="t"/>
          <a:lstStyle/>
          <a:p>
            <a:pPr marL="0" indent="0">
              <a:lnSpc>
                <a:spcPct val="105000"/>
              </a:lnSpc>
              <a:buNone/>
            </a:pPr>
            <a:r>
              <a:rPr lang="en-US" sz="1200" dirty="0">
                <a:solidFill>
                  <a:srgbClr val="566581"/>
                </a:solidFill>
                <a:latin typeface="Calibri" pitchFamily="34" charset="0"/>
                <a:ea typeface="Calibri" pitchFamily="34" charset="-122"/>
                <a:cs typeface="Calibri" pitchFamily="34" charset="-120"/>
              </a:rPr>
              <a:t>Level · Professional persona</a:t>
            </a:r>
            <a:endParaRPr lang="en-US" sz="1200" dirty="0"/>
          </a:p>
        </p:txBody>
      </p:sp>
      <p:sp>
        <p:nvSpPr>
          <p:cNvPr id="10" name="Shape 8"/>
          <p:cNvSpPr/>
          <p:nvPr/>
        </p:nvSpPr>
        <p:spPr>
          <a:xfrm>
            <a:off x="8182661" y="1874520"/>
            <a:ext cx="3442106" cy="1600200"/>
          </a:xfrm>
          <a:prstGeom prst="roundRect">
            <a:avLst>
              <a:gd name="adj" fmla="val 5714"/>
            </a:avLst>
          </a:prstGeom>
          <a:solidFill>
            <a:srgbClr val="F4F7FB"/>
          </a:solidFill>
          <a:ln w="12700">
            <a:solidFill>
              <a:srgbClr val="D9E2F0"/>
            </a:solidFill>
            <a:prstDash val="solid"/>
          </a:ln>
        </p:spPr>
        <p:txBody>
          <a:bodyPr/>
          <a:lstStyle/>
          <a:p>
            <a:endParaRPr lang="en-SA"/>
          </a:p>
        </p:txBody>
      </p:sp>
      <p:sp>
        <p:nvSpPr>
          <p:cNvPr id="11" name="Text 9"/>
          <p:cNvSpPr/>
          <p:nvPr/>
        </p:nvSpPr>
        <p:spPr>
          <a:xfrm>
            <a:off x="8365541" y="2075688"/>
            <a:ext cx="3076346" cy="777240"/>
          </a:xfrm>
          <a:prstGeom prst="rect">
            <a:avLst/>
          </a:prstGeom>
          <a:noFill/>
          <a:ln/>
        </p:spPr>
        <p:txBody>
          <a:bodyPr wrap="square" lIns="0" tIns="0" rIns="0" bIns="0" rtlCol="0" anchor="ctr"/>
          <a:lstStyle/>
          <a:p>
            <a:pPr marL="0" indent="0">
              <a:buNone/>
            </a:pPr>
            <a:r>
              <a:rPr lang="en-US" sz="4000" b="1" dirty="0">
                <a:solidFill>
                  <a:srgbClr val="EA7B38"/>
                </a:solidFill>
                <a:latin typeface="Cambria" pitchFamily="34" charset="0"/>
                <a:ea typeface="Cambria" pitchFamily="34" charset="-122"/>
                <a:cs typeface="Cambria" pitchFamily="34" charset="-120"/>
              </a:rPr>
              <a:t>20 hrs</a:t>
            </a:r>
            <a:endParaRPr lang="en-US" sz="4000" dirty="0"/>
          </a:p>
        </p:txBody>
      </p:sp>
      <p:sp>
        <p:nvSpPr>
          <p:cNvPr id="12" name="Text 10"/>
          <p:cNvSpPr/>
          <p:nvPr/>
        </p:nvSpPr>
        <p:spPr>
          <a:xfrm>
            <a:off x="8365541" y="2807208"/>
            <a:ext cx="3076346" cy="548640"/>
          </a:xfrm>
          <a:prstGeom prst="rect">
            <a:avLst/>
          </a:prstGeom>
          <a:noFill/>
          <a:ln/>
        </p:spPr>
        <p:txBody>
          <a:bodyPr wrap="square" lIns="0" tIns="0" rIns="0" bIns="0" rtlCol="0" anchor="t"/>
          <a:lstStyle/>
          <a:p>
            <a:pPr marL="0" indent="0">
              <a:lnSpc>
                <a:spcPct val="105000"/>
              </a:lnSpc>
              <a:buNone/>
            </a:pPr>
            <a:r>
              <a:rPr lang="en-US" sz="1200" dirty="0">
                <a:solidFill>
                  <a:srgbClr val="566581"/>
                </a:solidFill>
                <a:latin typeface="Calibri" pitchFamily="34" charset="0"/>
                <a:ea typeface="Calibri" pitchFamily="34" charset="-122"/>
                <a:cs typeface="Calibri" pitchFamily="34" charset="-120"/>
              </a:rPr>
              <a:t>4 days × 5 hours</a:t>
            </a:r>
            <a:endParaRPr lang="en-US" sz="1200" dirty="0"/>
          </a:p>
        </p:txBody>
      </p:sp>
      <p:sp>
        <p:nvSpPr>
          <p:cNvPr id="13" name="Shape 11"/>
          <p:cNvSpPr/>
          <p:nvPr/>
        </p:nvSpPr>
        <p:spPr>
          <a:xfrm>
            <a:off x="566928" y="3749040"/>
            <a:ext cx="3442106" cy="1600200"/>
          </a:xfrm>
          <a:prstGeom prst="roundRect">
            <a:avLst>
              <a:gd name="adj" fmla="val 5714"/>
            </a:avLst>
          </a:prstGeom>
          <a:solidFill>
            <a:srgbClr val="F4F7FB"/>
          </a:solidFill>
          <a:ln w="12700">
            <a:solidFill>
              <a:srgbClr val="D9E2F0"/>
            </a:solidFill>
            <a:prstDash val="solid"/>
          </a:ln>
        </p:spPr>
        <p:txBody>
          <a:bodyPr/>
          <a:lstStyle/>
          <a:p>
            <a:endParaRPr lang="en-SA"/>
          </a:p>
        </p:txBody>
      </p:sp>
      <p:sp>
        <p:nvSpPr>
          <p:cNvPr id="14" name="Text 12"/>
          <p:cNvSpPr/>
          <p:nvPr/>
        </p:nvSpPr>
        <p:spPr>
          <a:xfrm>
            <a:off x="749808" y="3950208"/>
            <a:ext cx="3076346" cy="777240"/>
          </a:xfrm>
          <a:prstGeom prst="rect">
            <a:avLst/>
          </a:prstGeom>
          <a:noFill/>
          <a:ln/>
        </p:spPr>
        <p:txBody>
          <a:bodyPr wrap="square" lIns="0" tIns="0" rIns="0" bIns="0" rtlCol="0" anchor="ctr"/>
          <a:lstStyle/>
          <a:p>
            <a:pPr marL="0" indent="0">
              <a:buNone/>
            </a:pPr>
            <a:r>
              <a:rPr lang="en-US" sz="4000" b="1" dirty="0">
                <a:solidFill>
                  <a:srgbClr val="3E9B90"/>
                </a:solidFill>
                <a:latin typeface="Cambria" pitchFamily="34" charset="0"/>
                <a:ea typeface="Cambria" pitchFamily="34" charset="-122"/>
                <a:cs typeface="Cambria" pitchFamily="34" charset="-120"/>
              </a:rPr>
              <a:t>DSC-C04</a:t>
            </a:r>
            <a:endParaRPr lang="en-US" sz="4000" dirty="0"/>
          </a:p>
        </p:txBody>
      </p:sp>
      <p:sp>
        <p:nvSpPr>
          <p:cNvPr id="15" name="Text 13"/>
          <p:cNvSpPr/>
          <p:nvPr/>
        </p:nvSpPr>
        <p:spPr>
          <a:xfrm>
            <a:off x="749808" y="4681728"/>
            <a:ext cx="3076346" cy="548640"/>
          </a:xfrm>
          <a:prstGeom prst="rect">
            <a:avLst/>
          </a:prstGeom>
          <a:noFill/>
          <a:ln/>
        </p:spPr>
        <p:txBody>
          <a:bodyPr wrap="square" lIns="0" tIns="0" rIns="0" bIns="0" rtlCol="0" anchor="t"/>
          <a:lstStyle/>
          <a:p>
            <a:pPr marL="0" indent="0">
              <a:lnSpc>
                <a:spcPct val="105000"/>
              </a:lnSpc>
              <a:buNone/>
            </a:pPr>
            <a:r>
              <a:rPr lang="en-US" sz="1200" dirty="0">
                <a:solidFill>
                  <a:srgbClr val="566581"/>
                </a:solidFill>
                <a:latin typeface="Calibri" pitchFamily="34" charset="0"/>
                <a:ea typeface="Calibri" pitchFamily="34" charset="-122"/>
                <a:cs typeface="Calibri" pitchFamily="34" charset="-120"/>
              </a:rPr>
              <a:t>Experimentation &amp; Causal competency</a:t>
            </a:r>
            <a:endParaRPr lang="en-US" sz="1200" dirty="0"/>
          </a:p>
        </p:txBody>
      </p:sp>
      <p:sp>
        <p:nvSpPr>
          <p:cNvPr id="16" name="Shape 14"/>
          <p:cNvSpPr/>
          <p:nvPr/>
        </p:nvSpPr>
        <p:spPr>
          <a:xfrm>
            <a:off x="4374794" y="3749040"/>
            <a:ext cx="3442106" cy="1600200"/>
          </a:xfrm>
          <a:prstGeom prst="roundRect">
            <a:avLst>
              <a:gd name="adj" fmla="val 5714"/>
            </a:avLst>
          </a:prstGeom>
          <a:solidFill>
            <a:srgbClr val="F4F7FB"/>
          </a:solidFill>
          <a:ln w="12700">
            <a:solidFill>
              <a:srgbClr val="D9E2F0"/>
            </a:solidFill>
            <a:prstDash val="solid"/>
          </a:ln>
        </p:spPr>
        <p:txBody>
          <a:bodyPr/>
          <a:lstStyle/>
          <a:p>
            <a:endParaRPr lang="en-SA"/>
          </a:p>
        </p:txBody>
      </p:sp>
      <p:sp>
        <p:nvSpPr>
          <p:cNvPr id="17" name="Text 15"/>
          <p:cNvSpPr/>
          <p:nvPr/>
        </p:nvSpPr>
        <p:spPr>
          <a:xfrm>
            <a:off x="4557674" y="3950208"/>
            <a:ext cx="3076346" cy="777240"/>
          </a:xfrm>
          <a:prstGeom prst="rect">
            <a:avLst/>
          </a:prstGeom>
          <a:noFill/>
          <a:ln/>
        </p:spPr>
        <p:txBody>
          <a:bodyPr wrap="square" lIns="0" tIns="0" rIns="0" bIns="0" rtlCol="0" anchor="ctr"/>
          <a:lstStyle/>
          <a:p>
            <a:pPr marL="0" indent="0">
              <a:buNone/>
            </a:pPr>
            <a:r>
              <a:rPr lang="en-US" sz="4000" b="1" dirty="0">
                <a:solidFill>
                  <a:srgbClr val="73BB59"/>
                </a:solidFill>
                <a:latin typeface="Cambria" pitchFamily="34" charset="0"/>
                <a:ea typeface="Cambria" pitchFamily="34" charset="-122"/>
                <a:cs typeface="Cambria" pitchFamily="34" charset="-120"/>
              </a:rPr>
              <a:t>SF-3, DS-1</a:t>
            </a:r>
            <a:endParaRPr lang="en-US" sz="4000" dirty="0"/>
          </a:p>
        </p:txBody>
      </p:sp>
      <p:sp>
        <p:nvSpPr>
          <p:cNvPr id="18" name="Text 16"/>
          <p:cNvSpPr/>
          <p:nvPr/>
        </p:nvSpPr>
        <p:spPr>
          <a:xfrm>
            <a:off x="4557674" y="4681728"/>
            <a:ext cx="3076346" cy="548640"/>
          </a:xfrm>
          <a:prstGeom prst="rect">
            <a:avLst/>
          </a:prstGeom>
          <a:noFill/>
          <a:ln/>
        </p:spPr>
        <p:txBody>
          <a:bodyPr wrap="square" lIns="0" tIns="0" rIns="0" bIns="0" rtlCol="0" anchor="t"/>
          <a:lstStyle/>
          <a:p>
            <a:pPr marL="0" indent="0">
              <a:lnSpc>
                <a:spcPct val="105000"/>
              </a:lnSpc>
              <a:buNone/>
            </a:pPr>
            <a:r>
              <a:rPr lang="en-US" sz="1200" dirty="0">
                <a:solidFill>
                  <a:srgbClr val="566581"/>
                </a:solidFill>
                <a:latin typeface="Calibri" pitchFamily="34" charset="0"/>
                <a:ea typeface="Calibri" pitchFamily="34" charset="-122"/>
                <a:cs typeface="Calibri" pitchFamily="34" charset="-120"/>
              </a:rPr>
              <a:t>Prerequisites required</a:t>
            </a:r>
            <a:endParaRPr lang="en-US" sz="1200" dirty="0"/>
          </a:p>
        </p:txBody>
      </p:sp>
      <p:sp>
        <p:nvSpPr>
          <p:cNvPr id="19" name="Shape 17"/>
          <p:cNvSpPr/>
          <p:nvPr/>
        </p:nvSpPr>
        <p:spPr>
          <a:xfrm>
            <a:off x="8182661" y="3749040"/>
            <a:ext cx="3442106" cy="1600200"/>
          </a:xfrm>
          <a:prstGeom prst="roundRect">
            <a:avLst>
              <a:gd name="adj" fmla="val 5714"/>
            </a:avLst>
          </a:prstGeom>
          <a:solidFill>
            <a:srgbClr val="F4F7FB"/>
          </a:solidFill>
          <a:ln w="12700">
            <a:solidFill>
              <a:srgbClr val="D9E2F0"/>
            </a:solidFill>
            <a:prstDash val="solid"/>
          </a:ln>
        </p:spPr>
        <p:txBody>
          <a:bodyPr/>
          <a:lstStyle/>
          <a:p>
            <a:endParaRPr lang="en-SA"/>
          </a:p>
        </p:txBody>
      </p:sp>
      <p:sp>
        <p:nvSpPr>
          <p:cNvPr id="20" name="Text 18"/>
          <p:cNvSpPr/>
          <p:nvPr/>
        </p:nvSpPr>
        <p:spPr>
          <a:xfrm>
            <a:off x="8365541" y="3950208"/>
            <a:ext cx="3076346" cy="777240"/>
          </a:xfrm>
          <a:prstGeom prst="rect">
            <a:avLst/>
          </a:prstGeom>
          <a:noFill/>
          <a:ln/>
        </p:spPr>
        <p:txBody>
          <a:bodyPr wrap="square" lIns="0" tIns="0" rIns="0" bIns="0" rtlCol="0" anchor="ctr"/>
          <a:lstStyle/>
          <a:p>
            <a:pPr marL="0" indent="0">
              <a:buNone/>
            </a:pPr>
            <a:r>
              <a:rPr lang="en-US" sz="4000" b="1" dirty="0">
                <a:solidFill>
                  <a:srgbClr val="3FA9E0"/>
                </a:solidFill>
                <a:latin typeface="Cambria" pitchFamily="34" charset="0"/>
                <a:ea typeface="Cambria" pitchFamily="34" charset="-122"/>
                <a:cs typeface="Cambria" pitchFamily="34" charset="-120"/>
              </a:rPr>
              <a:t>5 Labs</a:t>
            </a:r>
            <a:endParaRPr lang="en-US" sz="4000" dirty="0"/>
          </a:p>
        </p:txBody>
      </p:sp>
      <p:sp>
        <p:nvSpPr>
          <p:cNvPr id="21" name="Text 19"/>
          <p:cNvSpPr/>
          <p:nvPr/>
        </p:nvSpPr>
        <p:spPr>
          <a:xfrm>
            <a:off x="8365541" y="4681728"/>
            <a:ext cx="3076346" cy="548640"/>
          </a:xfrm>
          <a:prstGeom prst="rect">
            <a:avLst/>
          </a:prstGeom>
          <a:noFill/>
          <a:ln/>
        </p:spPr>
        <p:txBody>
          <a:bodyPr wrap="square" lIns="0" tIns="0" rIns="0" bIns="0" rtlCol="0" anchor="t"/>
          <a:lstStyle/>
          <a:p>
            <a:pPr marL="0" indent="0">
              <a:lnSpc>
                <a:spcPct val="105000"/>
              </a:lnSpc>
              <a:buNone/>
            </a:pPr>
            <a:r>
              <a:rPr lang="en-US" sz="1200" dirty="0">
                <a:solidFill>
                  <a:srgbClr val="566581"/>
                </a:solidFill>
                <a:latin typeface="Calibri" pitchFamily="34" charset="0"/>
                <a:ea typeface="Calibri" pitchFamily="34" charset="-122"/>
                <a:cs typeface="Calibri" pitchFamily="34" charset="-120"/>
              </a:rPr>
              <a:t>Hands-on + capstone project</a:t>
            </a:r>
            <a:endParaRPr lang="en-US" sz="1200" dirty="0"/>
          </a:p>
        </p:txBody>
      </p:sp>
      <p:sp>
        <p:nvSpPr>
          <p:cNvPr id="22" name="Text 20"/>
          <p:cNvSpPr/>
          <p:nvPr/>
        </p:nvSpPr>
        <p:spPr>
          <a:xfrm>
            <a:off x="566928" y="5623560"/>
            <a:ext cx="11057839" cy="640080"/>
          </a:xfrm>
          <a:prstGeom prst="rect">
            <a:avLst/>
          </a:prstGeom>
          <a:noFill/>
          <a:ln/>
        </p:spPr>
        <p:txBody>
          <a:bodyPr wrap="square" lIns="0" tIns="0" rIns="0" bIns="0" rtlCol="0" anchor="t"/>
          <a:lstStyle/>
          <a:p>
            <a:pPr marL="0" indent="0">
              <a:lnSpc>
                <a:spcPct val="115000"/>
              </a:lnSpc>
              <a:buNone/>
            </a:pPr>
            <a:r>
              <a:rPr lang="en-US" sz="1300" b="1" dirty="0">
                <a:solidFill>
                  <a:srgbClr val="3FA9E0"/>
                </a:solidFill>
                <a:latin typeface="Calibri" pitchFamily="34" charset="0"/>
                <a:ea typeface="Calibri" pitchFamily="34" charset="-122"/>
                <a:cs typeface="Calibri" pitchFamily="34" charset="-120"/>
              </a:rPr>
              <a:t>INSIGHT   </a:t>
            </a:r>
            <a:r>
              <a:rPr lang="en-US" sz="1300" dirty="0">
                <a:solidFill>
                  <a:srgbClr val="566581"/>
                </a:solidFill>
                <a:latin typeface="Calibri" pitchFamily="34" charset="0"/>
                <a:ea typeface="Calibri" pitchFamily="34" charset="-122"/>
                <a:cs typeface="Calibri" pitchFamily="34" charset="-120"/>
              </a:rPr>
              <a:t>This is an applied, code-forward course. Roughly 45% of contact time is spent in labs, discussions, and a capstone that produces a defensible causal analysis.</a:t>
            </a:r>
            <a:endParaRPr lang="en-US" sz="1300" dirty="0"/>
          </a:p>
        </p:txBody>
      </p:sp>
      <p:sp>
        <p:nvSpPr>
          <p:cNvPr id="23" name="Text 21"/>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OVERVIEW</a:t>
            </a:r>
            <a:endParaRPr lang="en-US" sz="900" dirty="0"/>
          </a:p>
        </p:txBody>
      </p:sp>
      <p:sp>
        <p:nvSpPr>
          <p:cNvPr id="24" name="Text 22"/>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01  /  221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WELCOME</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From Correlation to Credible Causes</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Most data science answers “what is associated with what.” This course teaches you to answer the harder, higher-value question: “what happens if we intervene?”</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business stakes</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Pricing, product, policy, and health decisions all hinge on causal claims. Getting them wrong is expensive and, sometimes, harmful.</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scientific core</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We ground every method in the potential-outcomes framework so estimates carry an explicit, testable interpretation.</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practitioner's craft</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Design first, estimate second, quantify uncertainty always — and know exactly which assumption each conclusion rests on.</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DESIGN DISCIPLINE</a:t>
            </a:r>
            <a:endParaRPr lang="en-US" sz="1100" dirty="0"/>
          </a:p>
        </p:txBody>
      </p:sp>
      <p:sp>
        <p:nvSpPr>
          <p:cNvPr id="16" name="Text 14"/>
          <p:cNvSpPr/>
          <p:nvPr/>
        </p:nvSpPr>
        <p:spPr>
          <a:xfrm>
            <a:off x="7744968" y="2331720"/>
            <a:ext cx="3605479" cy="1097280"/>
          </a:xfrm>
          <a:prstGeom prst="rect">
            <a:avLst/>
          </a:prstGeom>
          <a:noFill/>
          <a:ln/>
        </p:spPr>
        <p:txBody>
          <a:bodyPr wrap="square" lIns="0" tIns="0" rIns="0" bIns="0" rtlCol="0" anchor="t"/>
          <a:lstStyle/>
          <a:p>
            <a:pPr marL="0" indent="0">
              <a:buNone/>
            </a:pPr>
            <a:r>
              <a:rPr lang="en-US" sz="5400" b="1" dirty="0">
                <a:solidFill>
                  <a:srgbClr val="16233F"/>
                </a:solidFill>
                <a:latin typeface="Cambria" pitchFamily="34" charset="0"/>
                <a:ea typeface="Cambria" pitchFamily="34" charset="-122"/>
                <a:cs typeface="Cambria" pitchFamily="34" charset="-120"/>
              </a:rPr>
              <a:t>80/20</a:t>
            </a:r>
            <a:endParaRPr lang="en-US" sz="5400" dirty="0"/>
          </a:p>
        </p:txBody>
      </p:sp>
      <p:sp>
        <p:nvSpPr>
          <p:cNvPr id="17" name="Text 15"/>
          <p:cNvSpPr/>
          <p:nvPr/>
        </p:nvSpPr>
        <p:spPr>
          <a:xfrm>
            <a:off x="7744968" y="3520440"/>
            <a:ext cx="3605479" cy="2103120"/>
          </a:xfrm>
          <a:prstGeom prst="rect">
            <a:avLst/>
          </a:prstGeom>
          <a:noFill/>
          <a:ln/>
        </p:spPr>
        <p:txBody>
          <a:bodyPr wrap="square" lIns="0" tIns="0" rIns="0" bIns="0" rtlCol="0" anchor="t"/>
          <a:lstStyle/>
          <a:p>
            <a:pPr marL="0" indent="0">
              <a:lnSpc>
                <a:spcPct val="120000"/>
              </a:lnSpc>
              <a:buNone/>
            </a:pPr>
            <a:r>
              <a:rPr lang="en-US" sz="1300" dirty="0">
                <a:solidFill>
                  <a:srgbClr val="566581"/>
                </a:solidFill>
                <a:latin typeface="Calibri" pitchFamily="34" charset="0"/>
                <a:ea typeface="Calibri" pitchFamily="34" charset="-122"/>
                <a:cs typeface="Calibri" pitchFamily="34" charset="-120"/>
              </a:rPr>
              <a:t>Roughly 80% of the credibility of a causal estimate is decided by design and identification — before any model is fit. This course front-loads that 80%.</a:t>
            </a:r>
            <a:endParaRPr lang="en-US" sz="1300" dirty="0"/>
          </a:p>
        </p:txBody>
      </p:sp>
      <p:sp>
        <p:nvSpPr>
          <p:cNvPr id="18" name="Text 1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OVERVIEW</a:t>
            </a:r>
            <a:endParaRPr lang="en-US" sz="900" dirty="0"/>
          </a:p>
        </p:txBody>
      </p:sp>
      <p:sp>
        <p:nvSpPr>
          <p:cNvPr id="19" name="Text 1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02  /  221</a:t>
            </a:r>
            <a:endParaRPr lang="en-US" sz="900" dirty="0"/>
          </a:p>
        </p:txBody>
      </p:sp>
      <p:pic>
        <p:nvPicPr>
          <p:cNvPr id="20" name="Picture 19" descr="GitHub_Repo.png"/>
          <p:cNvPicPr>
            <a:picLocks noChangeAspect="1"/>
          </p:cNvPicPr>
          <p:nvPr/>
        </p:nvPicPr>
        <p:blipFill>
          <a:blip r:embed="rId3"/>
          <a:stretch>
            <a:fillRect/>
          </a:stretch>
        </p:blipFill>
        <p:spPr>
          <a:xfrm>
            <a:off x="10637520" y="320040"/>
            <a:ext cx="1143000" cy="1143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LEARNING OUTCOMES</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What You Will Be Able to Do (1 of 2)</a:t>
            </a:r>
            <a:endParaRPr lang="en-US" sz="3400" dirty="0"/>
          </a:p>
        </p:txBody>
      </p:sp>
      <p:sp>
        <p:nvSpPr>
          <p:cNvPr id="4" name="Text 2"/>
          <p:cNvSpPr/>
          <p:nvPr/>
        </p:nvSpPr>
        <p:spPr>
          <a:xfrm>
            <a:off x="566928" y="1783080"/>
            <a:ext cx="11057839" cy="548640"/>
          </a:xfrm>
          <a:prstGeom prst="rect">
            <a:avLst/>
          </a:prstGeom>
          <a:noFill/>
          <a:ln/>
        </p:spPr>
        <p:txBody>
          <a:bodyPr wrap="square" lIns="0" tIns="0" rIns="0" bIns="0" rtlCol="0" anchor="t"/>
          <a:lstStyle/>
          <a:p>
            <a:pPr marL="0" indent="0">
              <a:lnSpc>
                <a:spcPct val="115000"/>
              </a:lnSpc>
              <a:buNone/>
            </a:pPr>
            <a:r>
              <a:rPr lang="en-US" sz="1400" dirty="0">
                <a:solidFill>
                  <a:srgbClr val="566581"/>
                </a:solidFill>
                <a:latin typeface="Calibri" pitchFamily="34" charset="0"/>
                <a:ea typeface="Calibri" pitchFamily="34" charset="-122"/>
                <a:cs typeface="Calibri" pitchFamily="34" charset="-120"/>
              </a:rPr>
              <a:t>On completion, participants will be able to:</a:t>
            </a:r>
            <a:endParaRPr lang="en-US" sz="1400" dirty="0"/>
          </a:p>
        </p:txBody>
      </p:sp>
      <p:sp>
        <p:nvSpPr>
          <p:cNvPr id="5" name="Shape 3"/>
          <p:cNvSpPr/>
          <p:nvPr/>
        </p:nvSpPr>
        <p:spPr>
          <a:xfrm>
            <a:off x="566928" y="2468880"/>
            <a:ext cx="502920" cy="502920"/>
          </a:xfrm>
          <a:prstGeom prst="ellipse">
            <a:avLst/>
          </a:prstGeom>
          <a:solidFill>
            <a:srgbClr val="3FA9E0"/>
          </a:solidFill>
          <a:ln/>
        </p:spPr>
        <p:txBody>
          <a:bodyPr/>
          <a:lstStyle/>
          <a:p>
            <a:endParaRPr lang="en-SA"/>
          </a:p>
        </p:txBody>
      </p:sp>
      <p:sp>
        <p:nvSpPr>
          <p:cNvPr id="6" name="Text 4"/>
          <p:cNvSpPr/>
          <p:nvPr/>
        </p:nvSpPr>
        <p:spPr>
          <a:xfrm>
            <a:off x="566928" y="246888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LO1</a:t>
            </a:r>
            <a:endParaRPr lang="en-US" sz="1300" dirty="0"/>
          </a:p>
        </p:txBody>
      </p:sp>
      <p:sp>
        <p:nvSpPr>
          <p:cNvPr id="7" name="Text 5"/>
          <p:cNvSpPr/>
          <p:nvPr/>
        </p:nvSpPr>
        <p:spPr>
          <a:xfrm>
            <a:off x="1298448" y="242316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Formalise causal questions</a:t>
            </a:r>
            <a:endParaRPr lang="en-US" sz="1600" dirty="0"/>
          </a:p>
        </p:txBody>
      </p:sp>
      <p:sp>
        <p:nvSpPr>
          <p:cNvPr id="8" name="Text 6"/>
          <p:cNvSpPr/>
          <p:nvPr/>
        </p:nvSpPr>
        <p:spPr>
          <a:xfrm>
            <a:off x="1298448" y="273405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Express a decision as an estimand in the potential-outcomes framework and distinguish ATE, ATT, ITT, LATE, and CATE.</a:t>
            </a:r>
            <a:endParaRPr lang="en-US" sz="1250" dirty="0"/>
          </a:p>
        </p:txBody>
      </p:sp>
      <p:sp>
        <p:nvSpPr>
          <p:cNvPr id="9" name="Shape 7"/>
          <p:cNvSpPr/>
          <p:nvPr/>
        </p:nvSpPr>
        <p:spPr>
          <a:xfrm>
            <a:off x="566928" y="3394710"/>
            <a:ext cx="502920" cy="502920"/>
          </a:xfrm>
          <a:prstGeom prst="ellipse">
            <a:avLst/>
          </a:prstGeom>
          <a:solidFill>
            <a:srgbClr val="5A5BA6"/>
          </a:solidFill>
          <a:ln/>
        </p:spPr>
        <p:txBody>
          <a:bodyPr/>
          <a:lstStyle/>
          <a:p>
            <a:endParaRPr lang="en-SA"/>
          </a:p>
        </p:txBody>
      </p:sp>
      <p:sp>
        <p:nvSpPr>
          <p:cNvPr id="10" name="Text 8"/>
          <p:cNvSpPr/>
          <p:nvPr/>
        </p:nvSpPr>
        <p:spPr>
          <a:xfrm>
            <a:off x="566928" y="339471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LO2</a:t>
            </a:r>
            <a:endParaRPr lang="en-US" sz="1300" dirty="0"/>
          </a:p>
        </p:txBody>
      </p:sp>
      <p:sp>
        <p:nvSpPr>
          <p:cNvPr id="11" name="Text 9"/>
          <p:cNvSpPr/>
          <p:nvPr/>
        </p:nvSpPr>
        <p:spPr>
          <a:xfrm>
            <a:off x="1298448" y="334899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State and defend identification assumptions</a:t>
            </a:r>
            <a:endParaRPr lang="en-US" sz="1600" dirty="0"/>
          </a:p>
        </p:txBody>
      </p:sp>
      <p:sp>
        <p:nvSpPr>
          <p:cNvPr id="12" name="Text 10"/>
          <p:cNvSpPr/>
          <p:nvPr/>
        </p:nvSpPr>
        <p:spPr>
          <a:xfrm>
            <a:off x="1298448" y="365988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Articulate SUTVA, ignorability, positivity, and exclusion, and test or probe each against data and domain knowledge.</a:t>
            </a:r>
            <a:endParaRPr lang="en-US" sz="1250" dirty="0"/>
          </a:p>
        </p:txBody>
      </p:sp>
      <p:sp>
        <p:nvSpPr>
          <p:cNvPr id="13" name="Shape 11"/>
          <p:cNvSpPr/>
          <p:nvPr/>
        </p:nvSpPr>
        <p:spPr>
          <a:xfrm>
            <a:off x="566928" y="4320540"/>
            <a:ext cx="502920" cy="502920"/>
          </a:xfrm>
          <a:prstGeom prst="ellipse">
            <a:avLst/>
          </a:prstGeom>
          <a:solidFill>
            <a:srgbClr val="EA7B38"/>
          </a:solidFill>
          <a:ln/>
        </p:spPr>
        <p:txBody>
          <a:bodyPr/>
          <a:lstStyle/>
          <a:p>
            <a:endParaRPr lang="en-SA"/>
          </a:p>
        </p:txBody>
      </p:sp>
      <p:sp>
        <p:nvSpPr>
          <p:cNvPr id="14" name="Text 12"/>
          <p:cNvSpPr/>
          <p:nvPr/>
        </p:nvSpPr>
        <p:spPr>
          <a:xfrm>
            <a:off x="566928" y="43205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LO3</a:t>
            </a:r>
            <a:endParaRPr lang="en-US" sz="1300" dirty="0"/>
          </a:p>
        </p:txBody>
      </p:sp>
      <p:sp>
        <p:nvSpPr>
          <p:cNvPr id="15" name="Text 13"/>
          <p:cNvSpPr/>
          <p:nvPr/>
        </p:nvSpPr>
        <p:spPr>
          <a:xfrm>
            <a:off x="1298448" y="427482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Design randomized experiments</a:t>
            </a:r>
            <a:endParaRPr lang="en-US" sz="1600" dirty="0"/>
          </a:p>
        </p:txBody>
      </p:sp>
      <p:sp>
        <p:nvSpPr>
          <p:cNvPr id="16" name="Text 14"/>
          <p:cNvSpPr/>
          <p:nvPr/>
        </p:nvSpPr>
        <p:spPr>
          <a:xfrm>
            <a:off x="1298448" y="458571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Select and justify a randomization scheme, compute power and minimum detectable effect, and pre-register an analysis plan.</a:t>
            </a:r>
            <a:endParaRPr lang="en-US" sz="1250" dirty="0"/>
          </a:p>
        </p:txBody>
      </p:sp>
      <p:sp>
        <p:nvSpPr>
          <p:cNvPr id="17" name="Shape 15"/>
          <p:cNvSpPr/>
          <p:nvPr/>
        </p:nvSpPr>
        <p:spPr>
          <a:xfrm>
            <a:off x="566928" y="5246370"/>
            <a:ext cx="502920" cy="502920"/>
          </a:xfrm>
          <a:prstGeom prst="ellipse">
            <a:avLst/>
          </a:prstGeom>
          <a:solidFill>
            <a:srgbClr val="3E9B90"/>
          </a:solidFill>
          <a:ln/>
        </p:spPr>
        <p:txBody>
          <a:bodyPr/>
          <a:lstStyle/>
          <a:p>
            <a:endParaRPr lang="en-SA"/>
          </a:p>
        </p:txBody>
      </p:sp>
      <p:sp>
        <p:nvSpPr>
          <p:cNvPr id="18" name="Text 16"/>
          <p:cNvSpPr/>
          <p:nvPr/>
        </p:nvSpPr>
        <p:spPr>
          <a:xfrm>
            <a:off x="566928" y="524637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LO4</a:t>
            </a:r>
            <a:endParaRPr lang="en-US" sz="1300" dirty="0"/>
          </a:p>
        </p:txBody>
      </p:sp>
      <p:sp>
        <p:nvSpPr>
          <p:cNvPr id="19" name="Text 17"/>
          <p:cNvSpPr/>
          <p:nvPr/>
        </p:nvSpPr>
        <p:spPr>
          <a:xfrm>
            <a:off x="1298448" y="520065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Run and analyse A/B tests end-to-end</a:t>
            </a:r>
            <a:endParaRPr lang="en-US" sz="1600" dirty="0"/>
          </a:p>
        </p:txBody>
      </p:sp>
      <p:sp>
        <p:nvSpPr>
          <p:cNvPr id="20" name="Text 18"/>
          <p:cNvSpPr/>
          <p:nvPr/>
        </p:nvSpPr>
        <p:spPr>
          <a:xfrm>
            <a:off x="1298448" y="551154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Estimate effects with valid inference, handle peeking, multiple testing, and guardrail metrics in a production-style workflow.</a:t>
            </a:r>
            <a:endParaRPr lang="en-US" sz="1250" dirty="0"/>
          </a:p>
        </p:txBody>
      </p:sp>
      <p:sp>
        <p:nvSpPr>
          <p:cNvPr id="21" name="Text 19"/>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OVERVIEW</a:t>
            </a:r>
            <a:endParaRPr lang="en-US" sz="900" dirty="0"/>
          </a:p>
        </p:txBody>
      </p:sp>
      <p:sp>
        <p:nvSpPr>
          <p:cNvPr id="22" name="Text 20"/>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03  /  221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LEARNING OUTCOMES</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What You Will Be Able to Do (2 of 2)</a:t>
            </a:r>
            <a:endParaRPr lang="en-US" sz="3400" dirty="0"/>
          </a:p>
        </p:txBody>
      </p:sp>
      <p:sp>
        <p:nvSpPr>
          <p:cNvPr id="4" name="Shape 2"/>
          <p:cNvSpPr/>
          <p:nvPr/>
        </p:nvSpPr>
        <p:spPr>
          <a:xfrm>
            <a:off x="566928" y="1828800"/>
            <a:ext cx="502920" cy="502920"/>
          </a:xfrm>
          <a:prstGeom prst="ellipse">
            <a:avLst/>
          </a:prstGeom>
          <a:solidFill>
            <a:srgbClr val="3FA9E0"/>
          </a:solidFill>
          <a:ln/>
        </p:spPr>
        <p:txBody>
          <a:bodyPr/>
          <a:lstStyle/>
          <a:p>
            <a:endParaRPr lang="en-SA"/>
          </a:p>
        </p:txBody>
      </p:sp>
      <p:sp>
        <p:nvSpPr>
          <p:cNvPr id="5" name="Text 3"/>
          <p:cNvSpPr/>
          <p:nvPr/>
        </p:nvSpPr>
        <p:spPr>
          <a:xfrm>
            <a:off x="566928" y="182880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LO5</a:t>
            </a:r>
            <a:endParaRPr lang="en-US" sz="1300" dirty="0"/>
          </a:p>
        </p:txBody>
      </p:sp>
      <p:sp>
        <p:nvSpPr>
          <p:cNvPr id="6" name="Text 4"/>
          <p:cNvSpPr/>
          <p:nvPr/>
        </p:nvSpPr>
        <p:spPr>
          <a:xfrm>
            <a:off x="1298448" y="178308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Estimate effects from observational data</a:t>
            </a:r>
            <a:endParaRPr lang="en-US" sz="1600" dirty="0"/>
          </a:p>
        </p:txBody>
      </p:sp>
      <p:sp>
        <p:nvSpPr>
          <p:cNvPr id="7" name="Text 5"/>
          <p:cNvSpPr/>
          <p:nvPr/>
        </p:nvSpPr>
        <p:spPr>
          <a:xfrm>
            <a:off x="1298448" y="2093976"/>
            <a:ext cx="10234879" cy="68580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Apply regression, matching, propensity-score, IPW, and doubly-robust estimators, reasoning about confounding with DAGs.</a:t>
            </a:r>
            <a:endParaRPr lang="en-US" sz="1250" dirty="0"/>
          </a:p>
        </p:txBody>
      </p:sp>
      <p:sp>
        <p:nvSpPr>
          <p:cNvPr id="8" name="Shape 6"/>
          <p:cNvSpPr/>
          <p:nvPr/>
        </p:nvSpPr>
        <p:spPr>
          <a:xfrm>
            <a:off x="566928" y="2880360"/>
            <a:ext cx="502920" cy="502920"/>
          </a:xfrm>
          <a:prstGeom prst="ellipse">
            <a:avLst/>
          </a:prstGeom>
          <a:solidFill>
            <a:srgbClr val="5A5BA6"/>
          </a:solidFill>
          <a:ln/>
        </p:spPr>
        <p:txBody>
          <a:bodyPr/>
          <a:lstStyle/>
          <a:p>
            <a:endParaRPr lang="en-SA"/>
          </a:p>
        </p:txBody>
      </p:sp>
      <p:sp>
        <p:nvSpPr>
          <p:cNvPr id="9" name="Text 7"/>
          <p:cNvSpPr/>
          <p:nvPr/>
        </p:nvSpPr>
        <p:spPr>
          <a:xfrm>
            <a:off x="566928" y="288036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LO6</a:t>
            </a:r>
            <a:endParaRPr lang="en-US" sz="1300" dirty="0"/>
          </a:p>
        </p:txBody>
      </p:sp>
      <p:sp>
        <p:nvSpPr>
          <p:cNvPr id="10" name="Text 8"/>
          <p:cNvSpPr/>
          <p:nvPr/>
        </p:nvSpPr>
        <p:spPr>
          <a:xfrm>
            <a:off x="1298448" y="283464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Apply quasi-experimental designs</a:t>
            </a:r>
            <a:endParaRPr lang="en-US" sz="1600" dirty="0"/>
          </a:p>
        </p:txBody>
      </p:sp>
      <p:sp>
        <p:nvSpPr>
          <p:cNvPr id="11" name="Text 9"/>
          <p:cNvSpPr/>
          <p:nvPr/>
        </p:nvSpPr>
        <p:spPr>
          <a:xfrm>
            <a:off x="1298448" y="3145536"/>
            <a:ext cx="10234879" cy="68580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Use difference-in-differences, synthetic control, instrumental variables, and regression discontinuity, checking each design's assumptions.</a:t>
            </a:r>
            <a:endParaRPr lang="en-US" sz="1250" dirty="0"/>
          </a:p>
        </p:txBody>
      </p:sp>
      <p:sp>
        <p:nvSpPr>
          <p:cNvPr id="12" name="Shape 10"/>
          <p:cNvSpPr/>
          <p:nvPr/>
        </p:nvSpPr>
        <p:spPr>
          <a:xfrm>
            <a:off x="566928" y="3931920"/>
            <a:ext cx="502920" cy="502920"/>
          </a:xfrm>
          <a:prstGeom prst="ellipse">
            <a:avLst/>
          </a:prstGeom>
          <a:solidFill>
            <a:srgbClr val="EA7B38"/>
          </a:solidFill>
          <a:ln/>
        </p:spPr>
        <p:txBody>
          <a:bodyPr/>
          <a:lstStyle/>
          <a:p>
            <a:endParaRPr lang="en-SA"/>
          </a:p>
        </p:txBody>
      </p:sp>
      <p:sp>
        <p:nvSpPr>
          <p:cNvPr id="13" name="Text 11"/>
          <p:cNvSpPr/>
          <p:nvPr/>
        </p:nvSpPr>
        <p:spPr>
          <a:xfrm>
            <a:off x="566928" y="393192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LO7</a:t>
            </a:r>
            <a:endParaRPr lang="en-US" sz="1300" dirty="0"/>
          </a:p>
        </p:txBody>
      </p:sp>
      <p:sp>
        <p:nvSpPr>
          <p:cNvPr id="14" name="Text 12"/>
          <p:cNvSpPr/>
          <p:nvPr/>
        </p:nvSpPr>
        <p:spPr>
          <a:xfrm>
            <a:off x="1298448" y="388620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Quantify and communicate uncertainty</a:t>
            </a:r>
            <a:endParaRPr lang="en-US" sz="1600" dirty="0"/>
          </a:p>
        </p:txBody>
      </p:sp>
      <p:sp>
        <p:nvSpPr>
          <p:cNvPr id="15" name="Text 13"/>
          <p:cNvSpPr/>
          <p:nvPr/>
        </p:nvSpPr>
        <p:spPr>
          <a:xfrm>
            <a:off x="1298448" y="4197096"/>
            <a:ext cx="10234879" cy="68580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Produce valid standard errors and intervals (analytic, robust, clustered, bootstrap, randomization-based) and run sensitivity analysis.</a:t>
            </a:r>
            <a:endParaRPr lang="en-US" sz="1250" dirty="0"/>
          </a:p>
        </p:txBody>
      </p:sp>
      <p:sp>
        <p:nvSpPr>
          <p:cNvPr id="16" name="Shape 14"/>
          <p:cNvSpPr/>
          <p:nvPr/>
        </p:nvSpPr>
        <p:spPr>
          <a:xfrm>
            <a:off x="566928" y="4983480"/>
            <a:ext cx="502920" cy="502920"/>
          </a:xfrm>
          <a:prstGeom prst="ellipse">
            <a:avLst/>
          </a:prstGeom>
          <a:solidFill>
            <a:srgbClr val="3E9B90"/>
          </a:solidFill>
          <a:ln/>
        </p:spPr>
        <p:txBody>
          <a:bodyPr/>
          <a:lstStyle/>
          <a:p>
            <a:endParaRPr lang="en-SA"/>
          </a:p>
        </p:txBody>
      </p:sp>
      <p:sp>
        <p:nvSpPr>
          <p:cNvPr id="17" name="Text 15"/>
          <p:cNvSpPr/>
          <p:nvPr/>
        </p:nvSpPr>
        <p:spPr>
          <a:xfrm>
            <a:off x="566928" y="498348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LO8</a:t>
            </a:r>
            <a:endParaRPr lang="en-US" sz="1300" dirty="0"/>
          </a:p>
        </p:txBody>
      </p:sp>
      <p:sp>
        <p:nvSpPr>
          <p:cNvPr id="18" name="Text 16"/>
          <p:cNvSpPr/>
          <p:nvPr/>
        </p:nvSpPr>
        <p:spPr>
          <a:xfrm>
            <a:off x="1298448" y="493776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Diagnose bias and limits of generalisation</a:t>
            </a:r>
            <a:endParaRPr lang="en-US" sz="1600" dirty="0"/>
          </a:p>
        </p:txBody>
      </p:sp>
      <p:sp>
        <p:nvSpPr>
          <p:cNvPr id="19" name="Text 17"/>
          <p:cNvSpPr/>
          <p:nvPr/>
        </p:nvSpPr>
        <p:spPr>
          <a:xfrm>
            <a:off x="1298448" y="5248656"/>
            <a:ext cx="10234879" cy="68580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Identify threats to internal and external validity, and judge when sampling and design limitations make a claim unsafe to act on.</a:t>
            </a:r>
            <a:endParaRPr lang="en-US" sz="1250" dirty="0"/>
          </a:p>
        </p:txBody>
      </p:sp>
      <p:sp>
        <p:nvSpPr>
          <p:cNvPr id="20" name="Text 18"/>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OVERVIEW</a:t>
            </a:r>
            <a:endParaRPr lang="en-US" sz="900" dirty="0"/>
          </a:p>
        </p:txBody>
      </p:sp>
      <p:sp>
        <p:nvSpPr>
          <p:cNvPr id="21" name="Text 19"/>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04  /  221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PREREQUISITES &amp; AUDIENCE</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Who This Course Is For</a:t>
            </a:r>
            <a:endParaRPr lang="en-US" sz="3400" dirty="0"/>
          </a:p>
        </p:txBody>
      </p:sp>
      <p:sp>
        <p:nvSpPr>
          <p:cNvPr id="4" name="Shape 2"/>
          <p:cNvSpPr/>
          <p:nvPr/>
        </p:nvSpPr>
        <p:spPr>
          <a:xfrm>
            <a:off x="566928" y="1828800"/>
            <a:ext cx="5254600" cy="4160520"/>
          </a:xfrm>
          <a:prstGeom prst="roundRect">
            <a:avLst>
              <a:gd name="adj" fmla="val 2198"/>
            </a:avLst>
          </a:prstGeom>
          <a:solidFill>
            <a:srgbClr val="F4F7FB"/>
          </a:solidFill>
          <a:ln w="12700">
            <a:solidFill>
              <a:srgbClr val="D9E2F0"/>
            </a:solidFill>
            <a:prstDash val="solid"/>
          </a:ln>
        </p:spPr>
        <p:txBody>
          <a:bodyPr/>
          <a:lstStyle/>
          <a:p>
            <a:endParaRPr lang="en-SA"/>
          </a:p>
        </p:txBody>
      </p:sp>
      <p:sp>
        <p:nvSpPr>
          <p:cNvPr id="5" name="Text 3"/>
          <p:cNvSpPr/>
          <p:nvPr/>
        </p:nvSpPr>
        <p:spPr>
          <a:xfrm>
            <a:off x="859536" y="2084832"/>
            <a:ext cx="4669384"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PREREQUISITES</a:t>
            </a:r>
            <a:endParaRPr lang="en-US" sz="1100" dirty="0"/>
          </a:p>
        </p:txBody>
      </p:sp>
      <p:sp>
        <p:nvSpPr>
          <p:cNvPr id="6" name="Text 4"/>
          <p:cNvSpPr/>
          <p:nvPr/>
        </p:nvSpPr>
        <p:spPr>
          <a:xfrm>
            <a:off x="859536" y="2377440"/>
            <a:ext cx="4669384" cy="411480"/>
          </a:xfrm>
          <a:prstGeom prst="rect">
            <a:avLst/>
          </a:prstGeom>
          <a:noFill/>
          <a:ln/>
        </p:spPr>
        <p:txBody>
          <a:bodyPr wrap="square" lIns="0" tIns="0" rIns="0" bIns="0" rtlCol="0" anchor="ctr"/>
          <a:lstStyle/>
          <a:p>
            <a:pPr marL="0" indent="0">
              <a:buNone/>
            </a:pPr>
            <a:r>
              <a:rPr lang="en-US" sz="1900" b="1" dirty="0">
                <a:solidFill>
                  <a:srgbClr val="16233F"/>
                </a:solidFill>
                <a:latin typeface="Cambria" pitchFamily="34" charset="0"/>
                <a:ea typeface="Cambria" pitchFamily="34" charset="-122"/>
                <a:cs typeface="Cambria" pitchFamily="34" charset="-120"/>
              </a:rPr>
              <a:t>Assumed Foundations</a:t>
            </a:r>
            <a:endParaRPr lang="en-US" sz="1900" dirty="0"/>
          </a:p>
        </p:txBody>
      </p:sp>
      <p:sp>
        <p:nvSpPr>
          <p:cNvPr id="7" name="Shape 5"/>
          <p:cNvSpPr/>
          <p:nvPr/>
        </p:nvSpPr>
        <p:spPr>
          <a:xfrm>
            <a:off x="877824" y="3026664"/>
            <a:ext cx="118872" cy="118872"/>
          </a:xfrm>
          <a:prstGeom prst="ellipse">
            <a:avLst/>
          </a:prstGeom>
          <a:solidFill>
            <a:srgbClr val="3FA9E0"/>
          </a:solidFill>
          <a:ln/>
        </p:spPr>
        <p:txBody>
          <a:bodyPr/>
          <a:lstStyle/>
          <a:p>
            <a:endParaRPr lang="en-SA"/>
          </a:p>
        </p:txBody>
      </p:sp>
      <p:sp>
        <p:nvSpPr>
          <p:cNvPr id="8" name="Text 6"/>
          <p:cNvSpPr/>
          <p:nvPr/>
        </p:nvSpPr>
        <p:spPr>
          <a:xfrm>
            <a:off x="1115568" y="2971800"/>
            <a:ext cx="4431640" cy="658368"/>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SF-3 — Statistical foundations: probability, distributions, estimation, hypothesis testing, confidence intervals.</a:t>
            </a:r>
            <a:endParaRPr lang="en-US" sz="1250" dirty="0"/>
          </a:p>
        </p:txBody>
      </p:sp>
      <p:sp>
        <p:nvSpPr>
          <p:cNvPr id="9" name="Shape 7"/>
          <p:cNvSpPr/>
          <p:nvPr/>
        </p:nvSpPr>
        <p:spPr>
          <a:xfrm>
            <a:off x="877824" y="3685032"/>
            <a:ext cx="118872" cy="118872"/>
          </a:xfrm>
          <a:prstGeom prst="ellipse">
            <a:avLst/>
          </a:prstGeom>
          <a:solidFill>
            <a:srgbClr val="3FA9E0"/>
          </a:solidFill>
          <a:ln/>
        </p:spPr>
        <p:txBody>
          <a:bodyPr/>
          <a:lstStyle/>
          <a:p>
            <a:endParaRPr lang="en-SA"/>
          </a:p>
        </p:txBody>
      </p:sp>
      <p:sp>
        <p:nvSpPr>
          <p:cNvPr id="10" name="Text 8"/>
          <p:cNvSpPr/>
          <p:nvPr/>
        </p:nvSpPr>
        <p:spPr>
          <a:xfrm>
            <a:off x="1115568" y="3630168"/>
            <a:ext cx="4431640" cy="658368"/>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DS-1 — Applied data science: Python, pandas/NumPy, data wrangling, and fitting basic regression models.</a:t>
            </a:r>
            <a:endParaRPr lang="en-US" sz="1250" dirty="0"/>
          </a:p>
        </p:txBody>
      </p:sp>
      <p:sp>
        <p:nvSpPr>
          <p:cNvPr id="11" name="Shape 9"/>
          <p:cNvSpPr/>
          <p:nvPr/>
        </p:nvSpPr>
        <p:spPr>
          <a:xfrm>
            <a:off x="877824" y="4343400"/>
            <a:ext cx="118872" cy="118872"/>
          </a:xfrm>
          <a:prstGeom prst="ellipse">
            <a:avLst/>
          </a:prstGeom>
          <a:solidFill>
            <a:srgbClr val="3FA9E0"/>
          </a:solidFill>
          <a:ln/>
        </p:spPr>
        <p:txBody>
          <a:bodyPr/>
          <a:lstStyle/>
          <a:p>
            <a:endParaRPr lang="en-SA"/>
          </a:p>
        </p:txBody>
      </p:sp>
      <p:sp>
        <p:nvSpPr>
          <p:cNvPr id="12" name="Text 10"/>
          <p:cNvSpPr/>
          <p:nvPr/>
        </p:nvSpPr>
        <p:spPr>
          <a:xfrm>
            <a:off x="1115568" y="4288536"/>
            <a:ext cx="4431640" cy="658368"/>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Comfort reading mathematical notation (expectations, conditional probability).</a:t>
            </a:r>
            <a:endParaRPr lang="en-US" sz="1250" dirty="0"/>
          </a:p>
        </p:txBody>
      </p:sp>
      <p:sp>
        <p:nvSpPr>
          <p:cNvPr id="13" name="Shape 11"/>
          <p:cNvSpPr/>
          <p:nvPr/>
        </p:nvSpPr>
        <p:spPr>
          <a:xfrm>
            <a:off x="877824" y="5001768"/>
            <a:ext cx="118872" cy="118872"/>
          </a:xfrm>
          <a:prstGeom prst="ellipse">
            <a:avLst/>
          </a:prstGeom>
          <a:solidFill>
            <a:srgbClr val="3FA9E0"/>
          </a:solidFill>
          <a:ln/>
        </p:spPr>
        <p:txBody>
          <a:bodyPr/>
          <a:lstStyle/>
          <a:p>
            <a:endParaRPr lang="en-SA"/>
          </a:p>
        </p:txBody>
      </p:sp>
      <p:sp>
        <p:nvSpPr>
          <p:cNvPr id="14" name="Text 12"/>
          <p:cNvSpPr/>
          <p:nvPr/>
        </p:nvSpPr>
        <p:spPr>
          <a:xfrm>
            <a:off x="1115568" y="4946904"/>
            <a:ext cx="4431640" cy="658368"/>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Ability to run a Jupyter/Colab notebook and interpret model output.</a:t>
            </a:r>
            <a:endParaRPr lang="en-US" sz="1250" dirty="0"/>
          </a:p>
        </p:txBody>
      </p:sp>
      <p:sp>
        <p:nvSpPr>
          <p:cNvPr id="15" name="Shape 13"/>
          <p:cNvSpPr/>
          <p:nvPr/>
        </p:nvSpPr>
        <p:spPr>
          <a:xfrm>
            <a:off x="6370168" y="1828800"/>
            <a:ext cx="5254600" cy="4160520"/>
          </a:xfrm>
          <a:prstGeom prst="roundRect">
            <a:avLst>
              <a:gd name="adj" fmla="val 2198"/>
            </a:avLst>
          </a:prstGeom>
          <a:solidFill>
            <a:srgbClr val="E4EAF3"/>
          </a:solidFill>
          <a:ln w="12700">
            <a:solidFill>
              <a:srgbClr val="D9E2F0"/>
            </a:solidFill>
            <a:prstDash val="solid"/>
          </a:ln>
        </p:spPr>
        <p:txBody>
          <a:bodyPr/>
          <a:lstStyle/>
          <a:p>
            <a:endParaRPr lang="en-SA"/>
          </a:p>
        </p:txBody>
      </p:sp>
      <p:sp>
        <p:nvSpPr>
          <p:cNvPr id="16" name="Text 14"/>
          <p:cNvSpPr/>
          <p:nvPr/>
        </p:nvSpPr>
        <p:spPr>
          <a:xfrm>
            <a:off x="6662776" y="2084832"/>
            <a:ext cx="4669384" cy="274320"/>
          </a:xfrm>
          <a:prstGeom prst="rect">
            <a:avLst/>
          </a:prstGeom>
          <a:noFill/>
          <a:ln/>
        </p:spPr>
        <p:txBody>
          <a:bodyPr wrap="square" lIns="0" tIns="0" rIns="0" bIns="0" rtlCol="0" anchor="ctr"/>
          <a:lstStyle/>
          <a:p>
            <a:pPr marL="0" indent="0">
              <a:buNone/>
            </a:pPr>
            <a:r>
              <a:rPr lang="en-US" sz="1100" b="1" kern="0" spc="200" dirty="0">
                <a:solidFill>
                  <a:srgbClr val="EA7B38"/>
                </a:solidFill>
                <a:latin typeface="Calibri" pitchFamily="34" charset="0"/>
                <a:ea typeface="Calibri" pitchFamily="34" charset="-122"/>
                <a:cs typeface="Calibri" pitchFamily="34" charset="-120"/>
              </a:rPr>
              <a:t>TARGET AUDIENCE</a:t>
            </a:r>
            <a:endParaRPr lang="en-US" sz="1100" dirty="0"/>
          </a:p>
        </p:txBody>
      </p:sp>
      <p:sp>
        <p:nvSpPr>
          <p:cNvPr id="17" name="Text 15"/>
          <p:cNvSpPr/>
          <p:nvPr/>
        </p:nvSpPr>
        <p:spPr>
          <a:xfrm>
            <a:off x="6662776" y="2377440"/>
            <a:ext cx="4669384" cy="411480"/>
          </a:xfrm>
          <a:prstGeom prst="rect">
            <a:avLst/>
          </a:prstGeom>
          <a:noFill/>
          <a:ln/>
        </p:spPr>
        <p:txBody>
          <a:bodyPr wrap="square" lIns="0" tIns="0" rIns="0" bIns="0" rtlCol="0" anchor="ctr"/>
          <a:lstStyle/>
          <a:p>
            <a:pPr marL="0" indent="0">
              <a:buNone/>
            </a:pPr>
            <a:r>
              <a:rPr lang="en-US" sz="1900" b="1" dirty="0">
                <a:solidFill>
                  <a:srgbClr val="16233F"/>
                </a:solidFill>
                <a:latin typeface="Cambria" pitchFamily="34" charset="0"/>
                <a:ea typeface="Cambria" pitchFamily="34" charset="-122"/>
                <a:cs typeface="Cambria" pitchFamily="34" charset="-120"/>
              </a:rPr>
              <a:t>Ideal Participants</a:t>
            </a:r>
            <a:endParaRPr lang="en-US" sz="1900" dirty="0"/>
          </a:p>
        </p:txBody>
      </p:sp>
      <p:sp>
        <p:nvSpPr>
          <p:cNvPr id="18" name="Shape 16"/>
          <p:cNvSpPr/>
          <p:nvPr/>
        </p:nvSpPr>
        <p:spPr>
          <a:xfrm>
            <a:off x="6681064" y="3026664"/>
            <a:ext cx="118872" cy="118872"/>
          </a:xfrm>
          <a:prstGeom prst="ellipse">
            <a:avLst/>
          </a:prstGeom>
          <a:solidFill>
            <a:srgbClr val="EA7B38"/>
          </a:solidFill>
          <a:ln/>
        </p:spPr>
        <p:txBody>
          <a:bodyPr/>
          <a:lstStyle/>
          <a:p>
            <a:endParaRPr lang="en-SA"/>
          </a:p>
        </p:txBody>
      </p:sp>
      <p:sp>
        <p:nvSpPr>
          <p:cNvPr id="19" name="Text 17"/>
          <p:cNvSpPr/>
          <p:nvPr/>
        </p:nvSpPr>
        <p:spPr>
          <a:xfrm>
            <a:off x="6918808" y="2971800"/>
            <a:ext cx="4431640" cy="658368"/>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Data scientists and ML practitioners moving from prediction to decision-making.</a:t>
            </a:r>
            <a:endParaRPr lang="en-US" sz="1250" dirty="0"/>
          </a:p>
        </p:txBody>
      </p:sp>
      <p:sp>
        <p:nvSpPr>
          <p:cNvPr id="20" name="Shape 18"/>
          <p:cNvSpPr/>
          <p:nvPr/>
        </p:nvSpPr>
        <p:spPr>
          <a:xfrm>
            <a:off x="6681064" y="3685032"/>
            <a:ext cx="118872" cy="118872"/>
          </a:xfrm>
          <a:prstGeom prst="ellipse">
            <a:avLst/>
          </a:prstGeom>
          <a:solidFill>
            <a:srgbClr val="EA7B38"/>
          </a:solidFill>
          <a:ln/>
        </p:spPr>
        <p:txBody>
          <a:bodyPr/>
          <a:lstStyle/>
          <a:p>
            <a:endParaRPr lang="en-SA"/>
          </a:p>
        </p:txBody>
      </p:sp>
      <p:sp>
        <p:nvSpPr>
          <p:cNvPr id="21" name="Text 19"/>
          <p:cNvSpPr/>
          <p:nvPr/>
        </p:nvSpPr>
        <p:spPr>
          <a:xfrm>
            <a:off x="6918808" y="3630168"/>
            <a:ext cx="4431640" cy="658368"/>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Experimentation / growth analysts owning A/B testing platforms.</a:t>
            </a:r>
            <a:endParaRPr lang="en-US" sz="1250" dirty="0"/>
          </a:p>
        </p:txBody>
      </p:sp>
      <p:sp>
        <p:nvSpPr>
          <p:cNvPr id="22" name="Shape 20"/>
          <p:cNvSpPr/>
          <p:nvPr/>
        </p:nvSpPr>
        <p:spPr>
          <a:xfrm>
            <a:off x="6681064" y="4343400"/>
            <a:ext cx="118872" cy="118872"/>
          </a:xfrm>
          <a:prstGeom prst="ellipse">
            <a:avLst/>
          </a:prstGeom>
          <a:solidFill>
            <a:srgbClr val="EA7B38"/>
          </a:solidFill>
          <a:ln/>
        </p:spPr>
        <p:txBody>
          <a:bodyPr/>
          <a:lstStyle/>
          <a:p>
            <a:endParaRPr lang="en-SA"/>
          </a:p>
        </p:txBody>
      </p:sp>
      <p:sp>
        <p:nvSpPr>
          <p:cNvPr id="23" name="Text 21"/>
          <p:cNvSpPr/>
          <p:nvPr/>
        </p:nvSpPr>
        <p:spPr>
          <a:xfrm>
            <a:off x="6918808" y="4288536"/>
            <a:ext cx="4431640" cy="658368"/>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Research and policy analysts working with observational and administrative data.</a:t>
            </a:r>
            <a:endParaRPr lang="en-US" sz="1250" dirty="0"/>
          </a:p>
        </p:txBody>
      </p:sp>
      <p:sp>
        <p:nvSpPr>
          <p:cNvPr id="24" name="Shape 22"/>
          <p:cNvSpPr/>
          <p:nvPr/>
        </p:nvSpPr>
        <p:spPr>
          <a:xfrm>
            <a:off x="6681064" y="5001768"/>
            <a:ext cx="118872" cy="118872"/>
          </a:xfrm>
          <a:prstGeom prst="ellipse">
            <a:avLst/>
          </a:prstGeom>
          <a:solidFill>
            <a:srgbClr val="EA7B38"/>
          </a:solidFill>
          <a:ln/>
        </p:spPr>
        <p:txBody>
          <a:bodyPr/>
          <a:lstStyle/>
          <a:p>
            <a:endParaRPr lang="en-SA"/>
          </a:p>
        </p:txBody>
      </p:sp>
      <p:sp>
        <p:nvSpPr>
          <p:cNvPr id="25" name="Text 23"/>
          <p:cNvSpPr/>
          <p:nvPr/>
        </p:nvSpPr>
        <p:spPr>
          <a:xfrm>
            <a:off x="6918808" y="4946904"/>
            <a:ext cx="4431640" cy="658368"/>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Applied economists and quantitative researchers in enterprise settings.</a:t>
            </a:r>
            <a:endParaRPr lang="en-US" sz="1250" dirty="0"/>
          </a:p>
        </p:txBody>
      </p:sp>
      <p:sp>
        <p:nvSpPr>
          <p:cNvPr id="26" name="Text 2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OVERVIEW</a:t>
            </a:r>
            <a:endParaRPr lang="en-US" sz="900" dirty="0"/>
          </a:p>
        </p:txBody>
      </p:sp>
      <p:sp>
        <p:nvSpPr>
          <p:cNvPr id="27" name="Text 2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05  /  221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OVERVIEW</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Four-Day Roadmap</a:t>
            </a:r>
            <a:endParaRPr lang="en-US" sz="3400" dirty="0"/>
          </a:p>
        </p:txBody>
      </p:sp>
      <p:sp>
        <p:nvSpPr>
          <p:cNvPr id="4" name="Text 2"/>
          <p:cNvSpPr/>
          <p:nvPr/>
        </p:nvSpPr>
        <p:spPr>
          <a:xfrm>
            <a:off x="566928" y="1783080"/>
            <a:ext cx="822960" cy="548640"/>
          </a:xfrm>
          <a:prstGeom prst="rect">
            <a:avLst/>
          </a:prstGeom>
          <a:noFill/>
          <a:ln/>
        </p:spPr>
        <p:txBody>
          <a:bodyPr wrap="square" lIns="0" tIns="0" rIns="0" bIns="0" rtlCol="0" anchor="t"/>
          <a:lstStyle/>
          <a:p>
            <a:pPr marL="0" indent="0">
              <a:buNone/>
            </a:pPr>
            <a:r>
              <a:rPr lang="en-US" sz="3000" b="1" dirty="0">
                <a:solidFill>
                  <a:srgbClr val="3FA9E0"/>
                </a:solidFill>
                <a:latin typeface="Cambria" pitchFamily="34" charset="0"/>
                <a:ea typeface="Cambria" pitchFamily="34" charset="-122"/>
                <a:cs typeface="Cambria" pitchFamily="34" charset="-120"/>
              </a:rPr>
              <a:t>01</a:t>
            </a:r>
            <a:endParaRPr lang="en-US" sz="3000" dirty="0"/>
          </a:p>
        </p:txBody>
      </p:sp>
      <p:sp>
        <p:nvSpPr>
          <p:cNvPr id="5" name="Text 3"/>
          <p:cNvSpPr/>
          <p:nvPr/>
        </p:nvSpPr>
        <p:spPr>
          <a:xfrm>
            <a:off x="1435608" y="1783080"/>
            <a:ext cx="4385920"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Day 1 — Foundations &amp; Potential Outcomes</a:t>
            </a:r>
            <a:endParaRPr lang="en-US" sz="1600" dirty="0"/>
          </a:p>
        </p:txBody>
      </p:sp>
      <p:sp>
        <p:nvSpPr>
          <p:cNvPr id="6" name="Text 4"/>
          <p:cNvSpPr/>
          <p:nvPr/>
        </p:nvSpPr>
        <p:spPr>
          <a:xfrm>
            <a:off x="1435608" y="2093976"/>
            <a:ext cx="4385920" cy="713232"/>
          </a:xfrm>
          <a:prstGeom prst="rect">
            <a:avLst/>
          </a:prstGeom>
          <a:noFill/>
          <a:ln/>
        </p:spPr>
        <p:txBody>
          <a:bodyPr wrap="square" lIns="0" tIns="0" rIns="0" bIns="0" rtlCol="0" anchor="t"/>
          <a:lstStyle/>
          <a:p>
            <a:pPr marL="0" indent="0">
              <a:lnSpc>
                <a:spcPct val="108000"/>
              </a:lnSpc>
              <a:buNone/>
            </a:pPr>
            <a:r>
              <a:rPr lang="en-US" sz="1150" dirty="0">
                <a:solidFill>
                  <a:srgbClr val="566581"/>
                </a:solidFill>
                <a:latin typeface="Calibri" pitchFamily="34" charset="0"/>
                <a:ea typeface="Calibri" pitchFamily="34" charset="-122"/>
                <a:cs typeface="Calibri" pitchFamily="34" charset="-120"/>
              </a:rPr>
              <a:t>Causal thinking, the Neyman–Rubin model, estimands, identification assumptions, and why randomization works.</a:t>
            </a:r>
            <a:endParaRPr lang="en-US" sz="1150" dirty="0"/>
          </a:p>
        </p:txBody>
      </p:sp>
      <p:sp>
        <p:nvSpPr>
          <p:cNvPr id="7" name="Text 5"/>
          <p:cNvSpPr/>
          <p:nvPr/>
        </p:nvSpPr>
        <p:spPr>
          <a:xfrm>
            <a:off x="6324448" y="1783080"/>
            <a:ext cx="822960" cy="548640"/>
          </a:xfrm>
          <a:prstGeom prst="rect">
            <a:avLst/>
          </a:prstGeom>
          <a:noFill/>
          <a:ln/>
        </p:spPr>
        <p:txBody>
          <a:bodyPr wrap="square" lIns="0" tIns="0" rIns="0" bIns="0" rtlCol="0" anchor="t"/>
          <a:lstStyle/>
          <a:p>
            <a:pPr marL="0" indent="0">
              <a:buNone/>
            </a:pPr>
            <a:r>
              <a:rPr lang="en-US" sz="3000" b="1" dirty="0">
                <a:solidFill>
                  <a:srgbClr val="5A5BA6"/>
                </a:solidFill>
                <a:latin typeface="Cambria" pitchFamily="34" charset="0"/>
                <a:ea typeface="Cambria" pitchFamily="34" charset="-122"/>
                <a:cs typeface="Cambria" pitchFamily="34" charset="-120"/>
              </a:rPr>
              <a:t>02</a:t>
            </a:r>
            <a:endParaRPr lang="en-US" sz="3000" dirty="0"/>
          </a:p>
        </p:txBody>
      </p:sp>
      <p:sp>
        <p:nvSpPr>
          <p:cNvPr id="8" name="Text 6"/>
          <p:cNvSpPr/>
          <p:nvPr/>
        </p:nvSpPr>
        <p:spPr>
          <a:xfrm>
            <a:off x="7193128" y="1783080"/>
            <a:ext cx="4640284"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Day 2 — Randomized Experiments &amp; A/B Testing</a:t>
            </a:r>
            <a:endParaRPr lang="en-US" sz="1600" dirty="0"/>
          </a:p>
        </p:txBody>
      </p:sp>
      <p:sp>
        <p:nvSpPr>
          <p:cNvPr id="9" name="Text 7"/>
          <p:cNvSpPr/>
          <p:nvPr/>
        </p:nvSpPr>
        <p:spPr>
          <a:xfrm>
            <a:off x="7193128" y="2093976"/>
            <a:ext cx="4385920" cy="713232"/>
          </a:xfrm>
          <a:prstGeom prst="rect">
            <a:avLst/>
          </a:prstGeom>
          <a:noFill/>
          <a:ln/>
        </p:spPr>
        <p:txBody>
          <a:bodyPr wrap="square" lIns="0" tIns="0" rIns="0" bIns="0" rtlCol="0" anchor="t"/>
          <a:lstStyle/>
          <a:p>
            <a:pPr marL="0" indent="0">
              <a:lnSpc>
                <a:spcPct val="108000"/>
              </a:lnSpc>
              <a:buNone/>
            </a:pPr>
            <a:r>
              <a:rPr lang="en-US" sz="1150" dirty="0">
                <a:solidFill>
                  <a:srgbClr val="566581"/>
                </a:solidFill>
                <a:latin typeface="Calibri" pitchFamily="34" charset="0"/>
                <a:ea typeface="Calibri" pitchFamily="34" charset="-122"/>
                <a:cs typeface="Calibri" pitchFamily="34" charset="-120"/>
              </a:rPr>
              <a:t>Design of experiments, randomization vs. design-based inference, regression estimation, power, and production A/B testing.</a:t>
            </a:r>
            <a:endParaRPr lang="en-US" sz="1150" dirty="0"/>
          </a:p>
        </p:txBody>
      </p:sp>
      <p:sp>
        <p:nvSpPr>
          <p:cNvPr id="10" name="Text 8"/>
          <p:cNvSpPr/>
          <p:nvPr/>
        </p:nvSpPr>
        <p:spPr>
          <a:xfrm>
            <a:off x="566928" y="2880360"/>
            <a:ext cx="822960" cy="548640"/>
          </a:xfrm>
          <a:prstGeom prst="rect">
            <a:avLst/>
          </a:prstGeom>
          <a:noFill/>
          <a:ln/>
        </p:spPr>
        <p:txBody>
          <a:bodyPr wrap="square" lIns="0" tIns="0" rIns="0" bIns="0" rtlCol="0" anchor="t"/>
          <a:lstStyle/>
          <a:p>
            <a:pPr marL="0" indent="0">
              <a:buNone/>
            </a:pPr>
            <a:r>
              <a:rPr lang="en-US" sz="3000" b="1" dirty="0">
                <a:solidFill>
                  <a:srgbClr val="EA7B38"/>
                </a:solidFill>
                <a:latin typeface="Cambria" pitchFamily="34" charset="0"/>
                <a:ea typeface="Cambria" pitchFamily="34" charset="-122"/>
                <a:cs typeface="Cambria" pitchFamily="34" charset="-120"/>
              </a:rPr>
              <a:t>03</a:t>
            </a:r>
            <a:endParaRPr lang="en-US" sz="3000" dirty="0"/>
          </a:p>
        </p:txBody>
      </p:sp>
      <p:sp>
        <p:nvSpPr>
          <p:cNvPr id="11" name="Text 9"/>
          <p:cNvSpPr/>
          <p:nvPr/>
        </p:nvSpPr>
        <p:spPr>
          <a:xfrm>
            <a:off x="1435608" y="2880360"/>
            <a:ext cx="4385920"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Day 3 — Observational &amp; Quasi-Experiments</a:t>
            </a:r>
            <a:endParaRPr lang="en-US" sz="1600" dirty="0"/>
          </a:p>
        </p:txBody>
      </p:sp>
      <p:sp>
        <p:nvSpPr>
          <p:cNvPr id="12" name="Text 10"/>
          <p:cNvSpPr/>
          <p:nvPr/>
        </p:nvSpPr>
        <p:spPr>
          <a:xfrm>
            <a:off x="1435608" y="3191256"/>
            <a:ext cx="4385920" cy="713232"/>
          </a:xfrm>
          <a:prstGeom prst="rect">
            <a:avLst/>
          </a:prstGeom>
          <a:noFill/>
          <a:ln/>
        </p:spPr>
        <p:txBody>
          <a:bodyPr wrap="square" lIns="0" tIns="0" rIns="0" bIns="0" rtlCol="0" anchor="t"/>
          <a:lstStyle/>
          <a:p>
            <a:pPr marL="0" indent="0">
              <a:lnSpc>
                <a:spcPct val="108000"/>
              </a:lnSpc>
              <a:buNone/>
            </a:pPr>
            <a:r>
              <a:rPr lang="en-US" sz="1150" dirty="0">
                <a:solidFill>
                  <a:srgbClr val="566581"/>
                </a:solidFill>
                <a:latin typeface="Calibri" pitchFamily="34" charset="0"/>
                <a:ea typeface="Calibri" pitchFamily="34" charset="-122"/>
                <a:cs typeface="Calibri" pitchFamily="34" charset="-120"/>
              </a:rPr>
              <a:t>Confounding and DAGs, matching / propensity / IPW / doubly-robust, DiD, synthetic control, IV, and RDD.</a:t>
            </a:r>
            <a:endParaRPr lang="en-US" sz="1150" dirty="0"/>
          </a:p>
        </p:txBody>
      </p:sp>
      <p:sp>
        <p:nvSpPr>
          <p:cNvPr id="13" name="Text 11"/>
          <p:cNvSpPr/>
          <p:nvPr/>
        </p:nvSpPr>
        <p:spPr>
          <a:xfrm>
            <a:off x="6324448" y="2880360"/>
            <a:ext cx="822960" cy="548640"/>
          </a:xfrm>
          <a:prstGeom prst="rect">
            <a:avLst/>
          </a:prstGeom>
          <a:noFill/>
          <a:ln/>
        </p:spPr>
        <p:txBody>
          <a:bodyPr wrap="square" lIns="0" tIns="0" rIns="0" bIns="0" rtlCol="0" anchor="t"/>
          <a:lstStyle/>
          <a:p>
            <a:pPr marL="0" indent="0">
              <a:buNone/>
            </a:pPr>
            <a:r>
              <a:rPr lang="en-US" sz="3000" b="1" dirty="0">
                <a:solidFill>
                  <a:srgbClr val="3E9B90"/>
                </a:solidFill>
                <a:latin typeface="Cambria" pitchFamily="34" charset="0"/>
                <a:ea typeface="Cambria" pitchFamily="34" charset="-122"/>
                <a:cs typeface="Cambria" pitchFamily="34" charset="-120"/>
              </a:rPr>
              <a:t>04</a:t>
            </a:r>
            <a:endParaRPr lang="en-US" sz="3000" dirty="0"/>
          </a:p>
        </p:txBody>
      </p:sp>
      <p:sp>
        <p:nvSpPr>
          <p:cNvPr id="14" name="Text 12"/>
          <p:cNvSpPr/>
          <p:nvPr/>
        </p:nvSpPr>
        <p:spPr>
          <a:xfrm>
            <a:off x="7193128" y="2880360"/>
            <a:ext cx="4385920"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Day 4 — Uncertainty, Bias &amp; Capstone</a:t>
            </a:r>
            <a:endParaRPr lang="en-US" sz="1600" dirty="0"/>
          </a:p>
        </p:txBody>
      </p:sp>
      <p:sp>
        <p:nvSpPr>
          <p:cNvPr id="15" name="Text 13"/>
          <p:cNvSpPr/>
          <p:nvPr/>
        </p:nvSpPr>
        <p:spPr>
          <a:xfrm>
            <a:off x="7193128" y="3191256"/>
            <a:ext cx="4385920" cy="713232"/>
          </a:xfrm>
          <a:prstGeom prst="rect">
            <a:avLst/>
          </a:prstGeom>
          <a:noFill/>
          <a:ln/>
        </p:spPr>
        <p:txBody>
          <a:bodyPr wrap="square" lIns="0" tIns="0" rIns="0" bIns="0" rtlCol="0" anchor="t"/>
          <a:lstStyle/>
          <a:p>
            <a:pPr marL="0" indent="0">
              <a:lnSpc>
                <a:spcPct val="108000"/>
              </a:lnSpc>
              <a:buNone/>
            </a:pPr>
            <a:r>
              <a:rPr lang="en-US" sz="1150" dirty="0">
                <a:solidFill>
                  <a:srgbClr val="566581"/>
                </a:solidFill>
                <a:latin typeface="Calibri" pitchFamily="34" charset="0"/>
                <a:ea typeface="Calibri" pitchFamily="34" charset="-122"/>
                <a:cs typeface="Calibri" pitchFamily="34" charset="-120"/>
              </a:rPr>
              <a:t>Uncertainty quantification, bias taxonomy, sensitivity and external validity, real-world cases, and the capstone.</a:t>
            </a:r>
            <a:endParaRPr lang="en-US" sz="1150" dirty="0"/>
          </a:p>
        </p:txBody>
      </p:sp>
      <p:sp>
        <p:nvSpPr>
          <p:cNvPr id="16" name="Text 1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OVERVIEW</a:t>
            </a:r>
            <a:endParaRPr lang="en-US" sz="900" dirty="0"/>
          </a:p>
        </p:txBody>
      </p:sp>
      <p:sp>
        <p:nvSpPr>
          <p:cNvPr id="17" name="Text 1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06  /  221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HOW WE WORK</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Learning Model &amp; Cadence</a:t>
            </a:r>
            <a:endParaRPr lang="en-US" sz="3400" dirty="0"/>
          </a:p>
        </p:txBody>
      </p:sp>
      <p:sp>
        <p:nvSpPr>
          <p:cNvPr id="4" name="Text 2"/>
          <p:cNvSpPr/>
          <p:nvPr/>
        </p:nvSpPr>
        <p:spPr>
          <a:xfrm>
            <a:off x="566928" y="1783080"/>
            <a:ext cx="11057839" cy="548640"/>
          </a:xfrm>
          <a:prstGeom prst="rect">
            <a:avLst/>
          </a:prstGeom>
          <a:noFill/>
          <a:ln/>
        </p:spPr>
        <p:txBody>
          <a:bodyPr wrap="square" lIns="0" tIns="0" rIns="0" bIns="0" rtlCol="0" anchor="t"/>
          <a:lstStyle/>
          <a:p>
            <a:pPr marL="0" indent="0">
              <a:lnSpc>
                <a:spcPct val="115000"/>
              </a:lnSpc>
              <a:buNone/>
            </a:pPr>
            <a:r>
              <a:rPr lang="en-US" sz="1400" dirty="0">
                <a:solidFill>
                  <a:srgbClr val="566581"/>
                </a:solidFill>
                <a:latin typeface="Calibri" pitchFamily="34" charset="0"/>
                <a:ea typeface="Calibri" pitchFamily="34" charset="-122"/>
                <a:cs typeface="Calibri" pitchFamily="34" charset="-120"/>
              </a:rPr>
              <a:t>Each 5-hour day mixes concept, worked examples, and hands-on practice on a roughly 55/45 split.</a:t>
            </a:r>
            <a:endParaRPr lang="en-US" sz="1400" dirty="0"/>
          </a:p>
        </p:txBody>
      </p:sp>
      <p:sp>
        <p:nvSpPr>
          <p:cNvPr id="5" name="Shape 3"/>
          <p:cNvSpPr/>
          <p:nvPr/>
        </p:nvSpPr>
        <p:spPr>
          <a:xfrm>
            <a:off x="566928" y="2468880"/>
            <a:ext cx="502920" cy="502920"/>
          </a:xfrm>
          <a:prstGeom prst="ellipse">
            <a:avLst/>
          </a:prstGeom>
          <a:solidFill>
            <a:srgbClr val="3FA9E0"/>
          </a:solidFill>
          <a:ln/>
        </p:spPr>
        <p:txBody>
          <a:bodyPr/>
          <a:lstStyle/>
          <a:p>
            <a:endParaRPr lang="en-SA"/>
          </a:p>
        </p:txBody>
      </p:sp>
      <p:sp>
        <p:nvSpPr>
          <p:cNvPr id="6" name="Text 4"/>
          <p:cNvSpPr/>
          <p:nvPr/>
        </p:nvSpPr>
        <p:spPr>
          <a:xfrm>
            <a:off x="566928" y="246888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7" name="Text 5"/>
          <p:cNvSpPr/>
          <p:nvPr/>
        </p:nvSpPr>
        <p:spPr>
          <a:xfrm>
            <a:off x="1298448" y="242316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Concept blocks</a:t>
            </a:r>
            <a:endParaRPr lang="en-US" sz="1600" dirty="0"/>
          </a:p>
        </p:txBody>
      </p:sp>
      <p:sp>
        <p:nvSpPr>
          <p:cNvPr id="8" name="Text 6"/>
          <p:cNvSpPr/>
          <p:nvPr/>
        </p:nvSpPr>
        <p:spPr>
          <a:xfrm>
            <a:off x="1298448" y="273405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Short, rigorous segments that introduce a framework and immediately anchor it in a worked numerical or code example.</a:t>
            </a:r>
            <a:endParaRPr lang="en-US" sz="1250" dirty="0"/>
          </a:p>
        </p:txBody>
      </p:sp>
      <p:sp>
        <p:nvSpPr>
          <p:cNvPr id="9" name="Shape 7"/>
          <p:cNvSpPr/>
          <p:nvPr/>
        </p:nvSpPr>
        <p:spPr>
          <a:xfrm>
            <a:off x="566928" y="3394710"/>
            <a:ext cx="502920" cy="502920"/>
          </a:xfrm>
          <a:prstGeom prst="ellipse">
            <a:avLst/>
          </a:prstGeom>
          <a:solidFill>
            <a:srgbClr val="5A5BA6"/>
          </a:solidFill>
          <a:ln/>
        </p:spPr>
        <p:txBody>
          <a:bodyPr/>
          <a:lstStyle/>
          <a:p>
            <a:endParaRPr lang="en-SA"/>
          </a:p>
        </p:txBody>
      </p:sp>
      <p:sp>
        <p:nvSpPr>
          <p:cNvPr id="10" name="Text 8"/>
          <p:cNvSpPr/>
          <p:nvPr/>
        </p:nvSpPr>
        <p:spPr>
          <a:xfrm>
            <a:off x="566928" y="339471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1" name="Text 9"/>
          <p:cNvSpPr/>
          <p:nvPr/>
        </p:nvSpPr>
        <p:spPr>
          <a:xfrm>
            <a:off x="1298448" y="334899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Hands-on labs</a:t>
            </a:r>
            <a:endParaRPr lang="en-US" sz="1600" dirty="0"/>
          </a:p>
        </p:txBody>
      </p:sp>
      <p:sp>
        <p:nvSpPr>
          <p:cNvPr id="12" name="Text 10"/>
          <p:cNvSpPr/>
          <p:nvPr/>
        </p:nvSpPr>
        <p:spPr>
          <a:xfrm>
            <a:off x="1298448" y="365988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One substantial Python lab per day plus a final capstone; you leave with runnable notebooks and reusable code.</a:t>
            </a:r>
            <a:endParaRPr lang="en-US" sz="1250" dirty="0"/>
          </a:p>
        </p:txBody>
      </p:sp>
      <p:sp>
        <p:nvSpPr>
          <p:cNvPr id="13" name="Shape 11"/>
          <p:cNvSpPr/>
          <p:nvPr/>
        </p:nvSpPr>
        <p:spPr>
          <a:xfrm>
            <a:off x="566928" y="4320540"/>
            <a:ext cx="502920" cy="502920"/>
          </a:xfrm>
          <a:prstGeom prst="ellipse">
            <a:avLst/>
          </a:prstGeom>
          <a:solidFill>
            <a:srgbClr val="EA7B38"/>
          </a:solidFill>
          <a:ln/>
        </p:spPr>
        <p:txBody>
          <a:bodyPr/>
          <a:lstStyle/>
          <a:p>
            <a:endParaRPr lang="en-SA"/>
          </a:p>
        </p:txBody>
      </p:sp>
      <p:sp>
        <p:nvSpPr>
          <p:cNvPr id="14" name="Text 12"/>
          <p:cNvSpPr/>
          <p:nvPr/>
        </p:nvSpPr>
        <p:spPr>
          <a:xfrm>
            <a:off x="566928" y="43205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15" name="Text 13"/>
          <p:cNvSpPr/>
          <p:nvPr/>
        </p:nvSpPr>
        <p:spPr>
          <a:xfrm>
            <a:off x="1298448" y="427482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Structured discussions</a:t>
            </a:r>
            <a:endParaRPr lang="en-US" sz="1600" dirty="0"/>
          </a:p>
        </p:txBody>
      </p:sp>
      <p:sp>
        <p:nvSpPr>
          <p:cNvPr id="16" name="Text 14"/>
          <p:cNvSpPr/>
          <p:nvPr/>
        </p:nvSpPr>
        <p:spPr>
          <a:xfrm>
            <a:off x="1298448" y="458571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Facilitated critique of designs and results — ‘which assumption breaks here?’ — to build professional judgment.</a:t>
            </a:r>
            <a:endParaRPr lang="en-US" sz="1250" dirty="0"/>
          </a:p>
        </p:txBody>
      </p:sp>
      <p:sp>
        <p:nvSpPr>
          <p:cNvPr id="17" name="Shape 15"/>
          <p:cNvSpPr/>
          <p:nvPr/>
        </p:nvSpPr>
        <p:spPr>
          <a:xfrm>
            <a:off x="566928" y="5246370"/>
            <a:ext cx="502920" cy="502920"/>
          </a:xfrm>
          <a:prstGeom prst="ellipse">
            <a:avLst/>
          </a:prstGeom>
          <a:solidFill>
            <a:srgbClr val="3E9B90"/>
          </a:solidFill>
          <a:ln/>
        </p:spPr>
        <p:txBody>
          <a:bodyPr/>
          <a:lstStyle/>
          <a:p>
            <a:endParaRPr lang="en-SA"/>
          </a:p>
        </p:txBody>
      </p:sp>
      <p:sp>
        <p:nvSpPr>
          <p:cNvPr id="18" name="Text 16"/>
          <p:cNvSpPr/>
          <p:nvPr/>
        </p:nvSpPr>
        <p:spPr>
          <a:xfrm>
            <a:off x="566928" y="524637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04</a:t>
            </a:r>
            <a:endParaRPr lang="en-US" sz="1300" dirty="0"/>
          </a:p>
        </p:txBody>
      </p:sp>
      <p:sp>
        <p:nvSpPr>
          <p:cNvPr id="19" name="Text 17"/>
          <p:cNvSpPr/>
          <p:nvPr/>
        </p:nvSpPr>
        <p:spPr>
          <a:xfrm>
            <a:off x="1298448" y="520065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Checks &amp; assessment</a:t>
            </a:r>
            <a:endParaRPr lang="en-US" sz="1600" dirty="0"/>
          </a:p>
        </p:txBody>
      </p:sp>
      <p:sp>
        <p:nvSpPr>
          <p:cNvPr id="20" name="Text 18"/>
          <p:cNvSpPr/>
          <p:nvPr/>
        </p:nvSpPr>
        <p:spPr>
          <a:xfrm>
            <a:off x="1298448" y="551154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Pre-test, daily knowledge checks, and a post-test, plus a rubric-scored capstone deliverable.</a:t>
            </a:r>
            <a:endParaRPr lang="en-US" sz="1250" dirty="0"/>
          </a:p>
        </p:txBody>
      </p:sp>
      <p:sp>
        <p:nvSpPr>
          <p:cNvPr id="21" name="Text 19"/>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OVERVIEW</a:t>
            </a:r>
            <a:endParaRPr lang="en-US" sz="900" dirty="0"/>
          </a:p>
        </p:txBody>
      </p:sp>
      <p:sp>
        <p:nvSpPr>
          <p:cNvPr id="22" name="Text 20"/>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07  /  221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ASSESSMENT &amp; CERTIFICATION</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How You Are Evaluated</a:t>
            </a:r>
            <a:endParaRPr lang="en-US" sz="3400" dirty="0"/>
          </a:p>
        </p:txBody>
      </p:sp>
      <p:sp>
        <p:nvSpPr>
          <p:cNvPr id="4" name="Text 2"/>
          <p:cNvSpPr/>
          <p:nvPr/>
        </p:nvSpPr>
        <p:spPr>
          <a:xfrm>
            <a:off x="566928" y="1783080"/>
            <a:ext cx="11057839" cy="457200"/>
          </a:xfrm>
          <a:prstGeom prst="rect">
            <a:avLst/>
          </a:prstGeom>
          <a:noFill/>
          <a:ln/>
        </p:spPr>
        <p:txBody>
          <a:bodyPr wrap="square" lIns="0" tIns="0" rIns="0" bIns="0" rtlCol="0" anchor="t"/>
          <a:lstStyle/>
          <a:p>
            <a:pPr marL="0" indent="0">
              <a:lnSpc>
                <a:spcPct val="112000"/>
              </a:lnSpc>
              <a:buNone/>
            </a:pPr>
            <a:r>
              <a:rPr lang="en-US" sz="1350" dirty="0">
                <a:solidFill>
                  <a:srgbClr val="566581"/>
                </a:solidFill>
                <a:latin typeface="Calibri" pitchFamily="34" charset="0"/>
                <a:ea typeface="Calibri" pitchFamily="34" charset="-122"/>
                <a:cs typeface="Calibri" pitchFamily="34" charset="-120"/>
              </a:rPr>
              <a:t>Certification requires a passing composite score and the minimum attendance threshold.</a:t>
            </a:r>
            <a:endParaRPr lang="en-US" sz="13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2331720"/>
          <a:ext cx="11073384" cy="3291840"/>
        </p:xfrm>
        <a:graphic>
          <a:graphicData uri="http://schemas.openxmlformats.org/drawingml/2006/table">
            <a:tbl>
              <a:tblPr/>
              <a:tblGrid>
                <a:gridCol w="29260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3026664">
                  <a:extLst>
                    <a:ext uri="{9D8B030D-6E8A-4147-A177-3AD203B41FA5}">
                      <a16:colId xmlns:a16="http://schemas.microsoft.com/office/drawing/2014/main" val="20003"/>
                    </a:ext>
                  </a:extLst>
                </a:gridCol>
              </a:tblGrid>
              <a:tr h="54864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Component</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Format</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Weight</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Purpose</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extLst>
                  <a:ext uri="{0D108BD9-81ED-4DB2-BD59-A6C34878D82A}">
                    <a16:rowId xmlns:a16="http://schemas.microsoft.com/office/drawing/2014/main" val="10000"/>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Pre-test</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10 MCQ, diagnostic (ungraded)</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Baseline &amp; pacing</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Daily knowledge checks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4 × short MCQ / applied items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Formative, per-day mastery</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Labs 1–4</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Notebook submissions, rubric-scored</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Applied skill</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Capstone project</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Design + estimate + report + defense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40%</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Integrated competency</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Post-test</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20 MCQ, summative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Knowledge gain</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OVERVIEW</a:t>
            </a:r>
            <a:endParaRPr lang="en-US" sz="900" dirty="0"/>
          </a:p>
        </p:txBody>
      </p:sp>
      <p:sp>
        <p:nvSpPr>
          <p:cNvPr id="7" name="Text 4"/>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08  /  221</a:t>
            </a:r>
            <a:endParaRPr lang="en-US" sz="900" dirty="0"/>
          </a:p>
        </p:txBody>
      </p:sp>
      <p:pic>
        <p:nvPicPr>
          <p:cNvPr id="11" name="Picture 10" descr="Entrance_Exam.png"/>
          <p:cNvPicPr>
            <a:picLocks noChangeAspect="1"/>
          </p:cNvPicPr>
          <p:nvPr/>
        </p:nvPicPr>
        <p:blipFill>
          <a:blip r:embed="rId3"/>
          <a:stretch>
            <a:fillRect/>
          </a:stretch>
        </p:blipFill>
        <p:spPr>
          <a:xfrm>
            <a:off x="10637520" y="320040"/>
            <a:ext cx="1143000" cy="1143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DAY 1</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Foundations &amp; the Potential Outcomes Framework</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Causal thinking, counterfactuals, the Neyman–Rubin model, estimands and identification, and the logic of randomization.</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DAY 1</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09  /  221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Three Kinds of Questions</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Pearl's ‘ladder of causation’ separates three rungs. Data science lives mostly on the first; decisions demand the second and third.</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Association — seeing</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P(Y | X): what does observing X tell me about Y? Prediction, correlation, and most supervised ML live here.</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Intervention — doing</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P(Y | do(X)): what happens to Y if I set X? This is the language of experiments and policy.</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Counterfactual — imagining</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What would this unit's Y have been had X been different? The deepest rung, and the basis of individual effects.</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KEY DISTINCTION</a:t>
            </a:r>
            <a:endParaRPr lang="en-US" sz="1100" dirty="0"/>
          </a:p>
        </p:txBody>
      </p:sp>
      <p:sp>
        <p:nvSpPr>
          <p:cNvPr id="16" name="Text 14"/>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i="1" dirty="0">
                <a:solidFill>
                  <a:srgbClr val="16233F"/>
                </a:solidFill>
                <a:latin typeface="Calibri" pitchFamily="34" charset="0"/>
                <a:ea typeface="Calibri" pitchFamily="34" charset="-122"/>
                <a:cs typeface="Calibri" pitchFamily="34" charset="-120"/>
              </a:rPr>
              <a:t>Conditioning (seeing) filters the world as it is. Intervening (doing) changes the world. Confusing the two is the root of most causal errors in analytics.</a:t>
            </a:r>
            <a:endParaRPr lang="en-US" sz="13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FOUNDATIONS</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10  /  221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Why Correlation Is Not Causation</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An observed association between treatment and outcome can arise from several distinct data-generating stories — only one of which is a causal effect.</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Reverse causation</a:t>
            </a:r>
            <a:endParaRPr lang="en-US" sz="1500" dirty="0"/>
          </a:p>
        </p:txBody>
      </p:sp>
      <p:sp>
        <p:nvSpPr>
          <p:cNvPr id="7" name="Text 5"/>
          <p:cNvSpPr/>
          <p:nvPr/>
        </p:nvSpPr>
        <p:spPr>
          <a:xfrm>
            <a:off x="859536" y="2834640"/>
            <a:ext cx="10692079"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Y may cause X rather than the reverse (e.g. sicker patients receive more treatment).</a:t>
            </a:r>
            <a:endParaRPr lang="en-US" sz="1250" dirty="0"/>
          </a:p>
        </p:txBody>
      </p:sp>
      <p:sp>
        <p:nvSpPr>
          <p:cNvPr id="8" name="Shape 6"/>
          <p:cNvSpPr/>
          <p:nvPr/>
        </p:nvSpPr>
        <p:spPr>
          <a:xfrm>
            <a:off x="566928" y="3506724"/>
            <a:ext cx="146304" cy="146304"/>
          </a:xfrm>
          <a:prstGeom prst="ellipse">
            <a:avLst/>
          </a:prstGeom>
          <a:solidFill>
            <a:srgbClr val="5A5BA6"/>
          </a:solidFill>
          <a:ln/>
        </p:spPr>
        <p:txBody>
          <a:bodyPr/>
          <a:lstStyle/>
          <a:p>
            <a:endParaRPr lang="en-SA"/>
          </a:p>
        </p:txBody>
      </p:sp>
      <p:sp>
        <p:nvSpPr>
          <p:cNvPr id="9" name="Text 7"/>
          <p:cNvSpPr/>
          <p:nvPr/>
        </p:nvSpPr>
        <p:spPr>
          <a:xfrm>
            <a:off x="859536" y="345186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Confounding</a:t>
            </a:r>
            <a:endParaRPr lang="en-US" sz="1500" dirty="0"/>
          </a:p>
        </p:txBody>
      </p:sp>
      <p:sp>
        <p:nvSpPr>
          <p:cNvPr id="10" name="Text 8"/>
          <p:cNvSpPr/>
          <p:nvPr/>
        </p:nvSpPr>
        <p:spPr>
          <a:xfrm>
            <a:off x="859536" y="3726180"/>
            <a:ext cx="10692079"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 common cause drives both X and Y, manufacturing association without any direct effect.</a:t>
            </a:r>
            <a:endParaRPr lang="en-US" sz="1250" dirty="0"/>
          </a:p>
        </p:txBody>
      </p:sp>
      <p:sp>
        <p:nvSpPr>
          <p:cNvPr id="11" name="Shape 9"/>
          <p:cNvSpPr/>
          <p:nvPr/>
        </p:nvSpPr>
        <p:spPr>
          <a:xfrm>
            <a:off x="566928" y="4398264"/>
            <a:ext cx="146304" cy="146304"/>
          </a:xfrm>
          <a:prstGeom prst="ellipse">
            <a:avLst/>
          </a:prstGeom>
          <a:solidFill>
            <a:srgbClr val="EA7B38"/>
          </a:solidFill>
          <a:ln/>
        </p:spPr>
        <p:txBody>
          <a:bodyPr/>
          <a:lstStyle/>
          <a:p>
            <a:endParaRPr lang="en-SA"/>
          </a:p>
        </p:txBody>
      </p:sp>
      <p:sp>
        <p:nvSpPr>
          <p:cNvPr id="12" name="Text 10"/>
          <p:cNvSpPr/>
          <p:nvPr/>
        </p:nvSpPr>
        <p:spPr>
          <a:xfrm>
            <a:off x="859536" y="434340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Selection</a:t>
            </a:r>
            <a:endParaRPr lang="en-US" sz="1500" dirty="0"/>
          </a:p>
        </p:txBody>
      </p:sp>
      <p:sp>
        <p:nvSpPr>
          <p:cNvPr id="13" name="Text 11"/>
          <p:cNvSpPr/>
          <p:nvPr/>
        </p:nvSpPr>
        <p:spPr>
          <a:xfrm>
            <a:off x="859536" y="4617720"/>
            <a:ext cx="10692079"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Conditioning on how units entered the sample can create or distort association (collider bias).</a:t>
            </a:r>
            <a:endParaRPr lang="en-US" sz="1250" dirty="0"/>
          </a:p>
        </p:txBody>
      </p:sp>
      <p:sp>
        <p:nvSpPr>
          <p:cNvPr id="14" name="Shape 12"/>
          <p:cNvSpPr/>
          <p:nvPr/>
        </p:nvSpPr>
        <p:spPr>
          <a:xfrm>
            <a:off x="566928" y="5289804"/>
            <a:ext cx="146304" cy="146304"/>
          </a:xfrm>
          <a:prstGeom prst="ellipse">
            <a:avLst/>
          </a:prstGeom>
          <a:solidFill>
            <a:srgbClr val="3E9B90"/>
          </a:solidFill>
          <a:ln/>
        </p:spPr>
        <p:txBody>
          <a:bodyPr/>
          <a:lstStyle/>
          <a:p>
            <a:endParaRPr lang="en-SA"/>
          </a:p>
        </p:txBody>
      </p:sp>
      <p:sp>
        <p:nvSpPr>
          <p:cNvPr id="15" name="Text 13"/>
          <p:cNvSpPr/>
          <p:nvPr/>
        </p:nvSpPr>
        <p:spPr>
          <a:xfrm>
            <a:off x="859536" y="523494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Chance</a:t>
            </a:r>
            <a:endParaRPr lang="en-US" sz="1500" dirty="0"/>
          </a:p>
        </p:txBody>
      </p:sp>
      <p:sp>
        <p:nvSpPr>
          <p:cNvPr id="16" name="Text 14"/>
          <p:cNvSpPr/>
          <p:nvPr/>
        </p:nvSpPr>
        <p:spPr>
          <a:xfrm>
            <a:off x="859536" y="5509260"/>
            <a:ext cx="10692079"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Finite samples produce spurious associations; more data narrows, but never removes, this on its own.</a:t>
            </a:r>
            <a:endParaRPr lang="en-US" sz="12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FOUNDATIONS</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11  /  221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The Cost of Getting It Wrong</a:t>
            </a:r>
            <a:endParaRPr lang="en-US" sz="3400" dirty="0"/>
          </a:p>
        </p:txBody>
      </p:sp>
      <p:sp>
        <p:nvSpPr>
          <p:cNvPr id="4" name="Shape 2"/>
          <p:cNvSpPr/>
          <p:nvPr/>
        </p:nvSpPr>
        <p:spPr>
          <a:xfrm>
            <a:off x="566928" y="1874520"/>
            <a:ext cx="3442106" cy="1600200"/>
          </a:xfrm>
          <a:prstGeom prst="roundRect">
            <a:avLst>
              <a:gd name="adj" fmla="val 5714"/>
            </a:avLst>
          </a:prstGeom>
          <a:solidFill>
            <a:srgbClr val="F4F7FB"/>
          </a:solidFill>
          <a:ln w="12700">
            <a:solidFill>
              <a:srgbClr val="D9E2F0"/>
            </a:solidFill>
            <a:prstDash val="solid"/>
          </a:ln>
        </p:spPr>
        <p:txBody>
          <a:bodyPr/>
          <a:lstStyle/>
          <a:p>
            <a:endParaRPr lang="en-SA"/>
          </a:p>
        </p:txBody>
      </p:sp>
      <p:sp>
        <p:nvSpPr>
          <p:cNvPr id="5" name="Text 3"/>
          <p:cNvSpPr/>
          <p:nvPr/>
        </p:nvSpPr>
        <p:spPr>
          <a:xfrm>
            <a:off x="749808" y="2075688"/>
            <a:ext cx="3076346" cy="777240"/>
          </a:xfrm>
          <a:prstGeom prst="rect">
            <a:avLst/>
          </a:prstGeom>
          <a:noFill/>
          <a:ln/>
        </p:spPr>
        <p:txBody>
          <a:bodyPr wrap="square" lIns="0" tIns="0" rIns="0" bIns="0" rtlCol="0" anchor="ctr"/>
          <a:lstStyle/>
          <a:p>
            <a:pPr marL="0" indent="0">
              <a:buNone/>
            </a:pPr>
            <a:r>
              <a:rPr lang="en-US" sz="4000" b="1" dirty="0">
                <a:solidFill>
                  <a:srgbClr val="3FA9E0"/>
                </a:solidFill>
                <a:latin typeface="Cambria" pitchFamily="34" charset="0"/>
                <a:ea typeface="Cambria" pitchFamily="34" charset="-122"/>
                <a:cs typeface="Cambria" pitchFamily="34" charset="-120"/>
              </a:rPr>
              <a:t>~50%</a:t>
            </a:r>
            <a:endParaRPr lang="en-US" sz="4000" dirty="0"/>
          </a:p>
        </p:txBody>
      </p:sp>
      <p:sp>
        <p:nvSpPr>
          <p:cNvPr id="6" name="Text 4"/>
          <p:cNvSpPr/>
          <p:nvPr/>
        </p:nvSpPr>
        <p:spPr>
          <a:xfrm>
            <a:off x="749808" y="2807208"/>
            <a:ext cx="3076346" cy="548640"/>
          </a:xfrm>
          <a:prstGeom prst="rect">
            <a:avLst/>
          </a:prstGeom>
          <a:noFill/>
          <a:ln/>
        </p:spPr>
        <p:txBody>
          <a:bodyPr wrap="square" lIns="0" tIns="0" rIns="0" bIns="0" rtlCol="0" anchor="t"/>
          <a:lstStyle/>
          <a:p>
            <a:pPr marL="0" indent="0">
              <a:lnSpc>
                <a:spcPct val="105000"/>
              </a:lnSpc>
              <a:buNone/>
            </a:pPr>
            <a:r>
              <a:rPr lang="en-US" sz="1200" dirty="0">
                <a:solidFill>
                  <a:srgbClr val="566581"/>
                </a:solidFill>
                <a:latin typeface="Calibri" pitchFamily="34" charset="0"/>
                <a:ea typeface="Calibri" pitchFamily="34" charset="-122"/>
                <a:cs typeface="Calibri" pitchFamily="34" charset="-120"/>
              </a:rPr>
              <a:t>of naive observational ‘effects’ that fail to replicate in later randomized trials, across several review studies</a:t>
            </a:r>
            <a:endParaRPr lang="en-US" sz="1200" dirty="0"/>
          </a:p>
        </p:txBody>
      </p:sp>
      <p:sp>
        <p:nvSpPr>
          <p:cNvPr id="7" name="Shape 5"/>
          <p:cNvSpPr/>
          <p:nvPr/>
        </p:nvSpPr>
        <p:spPr>
          <a:xfrm>
            <a:off x="4374794" y="1874520"/>
            <a:ext cx="3442106" cy="1600200"/>
          </a:xfrm>
          <a:prstGeom prst="roundRect">
            <a:avLst>
              <a:gd name="adj" fmla="val 5714"/>
            </a:avLst>
          </a:prstGeom>
          <a:solidFill>
            <a:srgbClr val="F4F7FB"/>
          </a:solidFill>
          <a:ln w="12700">
            <a:solidFill>
              <a:srgbClr val="D9E2F0"/>
            </a:solidFill>
            <a:prstDash val="solid"/>
          </a:ln>
        </p:spPr>
        <p:txBody>
          <a:bodyPr/>
          <a:lstStyle/>
          <a:p>
            <a:endParaRPr lang="en-SA"/>
          </a:p>
        </p:txBody>
      </p:sp>
      <p:sp>
        <p:nvSpPr>
          <p:cNvPr id="8" name="Text 6"/>
          <p:cNvSpPr/>
          <p:nvPr/>
        </p:nvSpPr>
        <p:spPr>
          <a:xfrm>
            <a:off x="4557674" y="2075688"/>
            <a:ext cx="3076346" cy="777240"/>
          </a:xfrm>
          <a:prstGeom prst="rect">
            <a:avLst/>
          </a:prstGeom>
          <a:noFill/>
          <a:ln/>
        </p:spPr>
        <p:txBody>
          <a:bodyPr wrap="square" lIns="0" tIns="0" rIns="0" bIns="0" rtlCol="0" anchor="ctr"/>
          <a:lstStyle/>
          <a:p>
            <a:pPr marL="0" indent="0">
              <a:buNone/>
            </a:pPr>
            <a:r>
              <a:rPr lang="en-US" sz="4000" b="1" dirty="0">
                <a:solidFill>
                  <a:srgbClr val="5A5BA6"/>
                </a:solidFill>
                <a:latin typeface="Cambria" pitchFamily="34" charset="0"/>
                <a:ea typeface="Cambria" pitchFamily="34" charset="-122"/>
                <a:cs typeface="Cambria" pitchFamily="34" charset="-120"/>
              </a:rPr>
              <a:t>10×</a:t>
            </a:r>
            <a:endParaRPr lang="en-US" sz="4000" dirty="0"/>
          </a:p>
        </p:txBody>
      </p:sp>
      <p:sp>
        <p:nvSpPr>
          <p:cNvPr id="9" name="Text 7"/>
          <p:cNvSpPr/>
          <p:nvPr/>
        </p:nvSpPr>
        <p:spPr>
          <a:xfrm>
            <a:off x="4557674" y="2807208"/>
            <a:ext cx="3076346" cy="548640"/>
          </a:xfrm>
          <a:prstGeom prst="rect">
            <a:avLst/>
          </a:prstGeom>
          <a:noFill/>
          <a:ln/>
        </p:spPr>
        <p:txBody>
          <a:bodyPr wrap="square" lIns="0" tIns="0" rIns="0" bIns="0" rtlCol="0" anchor="t"/>
          <a:lstStyle/>
          <a:p>
            <a:pPr marL="0" indent="0">
              <a:lnSpc>
                <a:spcPct val="105000"/>
              </a:lnSpc>
              <a:buNone/>
            </a:pPr>
            <a:r>
              <a:rPr lang="en-US" sz="1200" dirty="0">
                <a:solidFill>
                  <a:srgbClr val="566581"/>
                </a:solidFill>
                <a:latin typeface="Calibri" pitchFamily="34" charset="0"/>
                <a:ea typeface="Calibri" pitchFamily="34" charset="-122"/>
                <a:cs typeface="Calibri" pitchFamily="34" charset="-120"/>
              </a:rPr>
              <a:t>typical gap between a headline A/B lift and its true effect when peeking and multiple testing go unmanaged</a:t>
            </a:r>
            <a:endParaRPr lang="en-US" sz="1200" dirty="0"/>
          </a:p>
        </p:txBody>
      </p:sp>
      <p:sp>
        <p:nvSpPr>
          <p:cNvPr id="10" name="Shape 8"/>
          <p:cNvSpPr/>
          <p:nvPr/>
        </p:nvSpPr>
        <p:spPr>
          <a:xfrm>
            <a:off x="8182661" y="1874520"/>
            <a:ext cx="3442106" cy="1600200"/>
          </a:xfrm>
          <a:prstGeom prst="roundRect">
            <a:avLst>
              <a:gd name="adj" fmla="val 5714"/>
            </a:avLst>
          </a:prstGeom>
          <a:solidFill>
            <a:srgbClr val="F4F7FB"/>
          </a:solidFill>
          <a:ln w="12700">
            <a:solidFill>
              <a:srgbClr val="D9E2F0"/>
            </a:solidFill>
            <a:prstDash val="solid"/>
          </a:ln>
        </p:spPr>
        <p:txBody>
          <a:bodyPr/>
          <a:lstStyle/>
          <a:p>
            <a:endParaRPr lang="en-SA"/>
          </a:p>
        </p:txBody>
      </p:sp>
      <p:sp>
        <p:nvSpPr>
          <p:cNvPr id="11" name="Text 9"/>
          <p:cNvSpPr/>
          <p:nvPr/>
        </p:nvSpPr>
        <p:spPr>
          <a:xfrm>
            <a:off x="8365541" y="2075688"/>
            <a:ext cx="3076346" cy="777240"/>
          </a:xfrm>
          <a:prstGeom prst="rect">
            <a:avLst/>
          </a:prstGeom>
          <a:noFill/>
          <a:ln/>
        </p:spPr>
        <p:txBody>
          <a:bodyPr wrap="square" lIns="0" tIns="0" rIns="0" bIns="0" rtlCol="0" anchor="ctr"/>
          <a:lstStyle/>
          <a:p>
            <a:pPr marL="0" indent="0">
              <a:buNone/>
            </a:pPr>
            <a:r>
              <a:rPr lang="en-US" sz="4000" b="1" dirty="0">
                <a:solidFill>
                  <a:srgbClr val="EA7B38"/>
                </a:solidFill>
                <a:latin typeface="Cambria" pitchFamily="34" charset="0"/>
                <a:ea typeface="Cambria" pitchFamily="34" charset="-122"/>
                <a:cs typeface="Cambria" pitchFamily="34" charset="-120"/>
              </a:rPr>
              <a:t>∞</a:t>
            </a:r>
            <a:endParaRPr lang="en-US" sz="4000" dirty="0"/>
          </a:p>
        </p:txBody>
      </p:sp>
      <p:sp>
        <p:nvSpPr>
          <p:cNvPr id="12" name="Text 10"/>
          <p:cNvSpPr/>
          <p:nvPr/>
        </p:nvSpPr>
        <p:spPr>
          <a:xfrm>
            <a:off x="8365541" y="2807208"/>
            <a:ext cx="3076346" cy="548640"/>
          </a:xfrm>
          <a:prstGeom prst="rect">
            <a:avLst/>
          </a:prstGeom>
          <a:noFill/>
          <a:ln/>
        </p:spPr>
        <p:txBody>
          <a:bodyPr wrap="square" lIns="0" tIns="0" rIns="0" bIns="0" rtlCol="0" anchor="t"/>
          <a:lstStyle/>
          <a:p>
            <a:pPr marL="0" indent="0">
              <a:lnSpc>
                <a:spcPct val="105000"/>
              </a:lnSpc>
              <a:buNone/>
            </a:pPr>
            <a:r>
              <a:rPr lang="en-US" sz="1200" dirty="0">
                <a:solidFill>
                  <a:srgbClr val="566581"/>
                </a:solidFill>
                <a:latin typeface="Calibri" pitchFamily="34" charset="0"/>
                <a:ea typeface="Calibri" pitchFamily="34" charset="-122"/>
                <a:cs typeface="Calibri" pitchFamily="34" charset="-120"/>
              </a:rPr>
              <a:t>bias that no sample size can fix if the design is confounded — more data converges to the wrong number</a:t>
            </a:r>
            <a:endParaRPr lang="en-US" sz="1200" dirty="0"/>
          </a:p>
        </p:txBody>
      </p:sp>
      <p:sp>
        <p:nvSpPr>
          <p:cNvPr id="13" name="Text 11"/>
          <p:cNvSpPr/>
          <p:nvPr/>
        </p:nvSpPr>
        <p:spPr>
          <a:xfrm>
            <a:off x="566928" y="3749040"/>
            <a:ext cx="11057839" cy="640080"/>
          </a:xfrm>
          <a:prstGeom prst="rect">
            <a:avLst/>
          </a:prstGeom>
          <a:noFill/>
          <a:ln/>
        </p:spPr>
        <p:txBody>
          <a:bodyPr wrap="square" lIns="0" tIns="0" rIns="0" bIns="0" rtlCol="0" anchor="t"/>
          <a:lstStyle/>
          <a:p>
            <a:pPr marL="0" indent="0">
              <a:lnSpc>
                <a:spcPct val="115000"/>
              </a:lnSpc>
              <a:buNone/>
            </a:pPr>
            <a:r>
              <a:rPr lang="en-US" sz="1300" b="1" dirty="0">
                <a:solidFill>
                  <a:srgbClr val="3FA9E0"/>
                </a:solidFill>
                <a:latin typeface="Calibri" pitchFamily="34" charset="0"/>
                <a:ea typeface="Calibri" pitchFamily="34" charset="-122"/>
                <a:cs typeface="Calibri" pitchFamily="34" charset="-120"/>
              </a:rPr>
              <a:t>INSIGHT   </a:t>
            </a:r>
            <a:r>
              <a:rPr lang="en-US" sz="1300" dirty="0">
                <a:solidFill>
                  <a:srgbClr val="566581"/>
                </a:solidFill>
                <a:latin typeface="Calibri" pitchFamily="34" charset="0"/>
                <a:ea typeface="Calibri" pitchFamily="34" charset="-122"/>
                <a:cs typeface="Calibri" pitchFamily="34" charset="-120"/>
              </a:rPr>
              <a:t>Bias is a property of design and identification, not of sample size. This is why we spend Day 1 on design before touching estimation.</a:t>
            </a:r>
            <a:endParaRPr lang="en-US" sz="130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FOUNDATIONS</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12  /  221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A Motivating Example: Does the Feature Help?</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A product team ships a new onboarding flow. Users who saw it retain at 62%; users who didn't, 48%. Is the flow worth +14 points?</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tempting read</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‘The flow raises retention by 14 points’ — a causal claim from a purely observational comparison.</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lurking problem</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Who saw the new flow? Newer cohorts, power users, or a specific platform? Any of these confounds the comparison.</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disciplined move</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Define the target quantity precisely, list what must be true to identify it, then choose a design that makes it credible.</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WE WILL RETURN TO THIS</a:t>
            </a:r>
            <a:endParaRPr lang="en-US" sz="1100" dirty="0"/>
          </a:p>
        </p:txBody>
      </p:sp>
      <p:sp>
        <p:nvSpPr>
          <p:cNvPr id="16" name="Text 14"/>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dirty="0">
                <a:solidFill>
                  <a:srgbClr val="16233F"/>
                </a:solidFill>
                <a:latin typeface="Calibri" pitchFamily="34" charset="0"/>
                <a:ea typeface="Calibri" pitchFamily="34" charset="-122"/>
                <a:cs typeface="Calibri" pitchFamily="34" charset="-120"/>
              </a:rPr>
              <a:t>By end of Day 2 you will estimate this effect from a randomized test; by Day 3, from observational data when a test is impossible.</a:t>
            </a:r>
            <a:endParaRPr lang="en-US" sz="13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FOUNDATIONS</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13  /  221</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The Causal Inference Workflow</a:t>
            </a:r>
            <a:endParaRPr lang="en-US" sz="3400" dirty="0"/>
          </a:p>
        </p:txBody>
      </p:sp>
      <p:sp>
        <p:nvSpPr>
          <p:cNvPr id="4" name="Text 2"/>
          <p:cNvSpPr/>
          <p:nvPr/>
        </p:nvSpPr>
        <p:spPr>
          <a:xfrm>
            <a:off x="566928" y="1783080"/>
            <a:ext cx="11057839" cy="548640"/>
          </a:xfrm>
          <a:prstGeom prst="rect">
            <a:avLst/>
          </a:prstGeom>
          <a:noFill/>
          <a:ln/>
        </p:spPr>
        <p:txBody>
          <a:bodyPr wrap="square" lIns="0" tIns="0" rIns="0" bIns="0" rtlCol="0" anchor="t"/>
          <a:lstStyle/>
          <a:p>
            <a:pPr marL="0" indent="0">
              <a:lnSpc>
                <a:spcPct val="115000"/>
              </a:lnSpc>
              <a:buNone/>
            </a:pPr>
            <a:r>
              <a:rPr lang="en-US" sz="1400" dirty="0">
                <a:solidFill>
                  <a:srgbClr val="566581"/>
                </a:solidFill>
                <a:latin typeface="Calibri" pitchFamily="34" charset="0"/>
                <a:ea typeface="Calibri" pitchFamily="34" charset="-122"/>
                <a:cs typeface="Calibri" pitchFamily="34" charset="-120"/>
              </a:rPr>
              <a:t>Every credible analysis in this course follows the same five-step spine.</a:t>
            </a:r>
            <a:endParaRPr lang="en-US" sz="1400" dirty="0"/>
          </a:p>
        </p:txBody>
      </p:sp>
      <p:sp>
        <p:nvSpPr>
          <p:cNvPr id="5" name="Shape 3"/>
          <p:cNvSpPr/>
          <p:nvPr/>
        </p:nvSpPr>
        <p:spPr>
          <a:xfrm>
            <a:off x="566928" y="2468880"/>
            <a:ext cx="502920" cy="502920"/>
          </a:xfrm>
          <a:prstGeom prst="ellipse">
            <a:avLst/>
          </a:prstGeom>
          <a:solidFill>
            <a:srgbClr val="3FA9E0"/>
          </a:solidFill>
          <a:ln/>
        </p:spPr>
        <p:txBody>
          <a:bodyPr/>
          <a:lstStyle/>
          <a:p>
            <a:endParaRPr lang="en-SA"/>
          </a:p>
        </p:txBody>
      </p:sp>
      <p:sp>
        <p:nvSpPr>
          <p:cNvPr id="6" name="Text 4"/>
          <p:cNvSpPr/>
          <p:nvPr/>
        </p:nvSpPr>
        <p:spPr>
          <a:xfrm>
            <a:off x="566928" y="246888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p:nvPr/>
        </p:nvSpPr>
        <p:spPr>
          <a:xfrm>
            <a:off x="1298448" y="242316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Question → estimand</a:t>
            </a:r>
            <a:endParaRPr lang="en-US" sz="1600" dirty="0"/>
          </a:p>
        </p:txBody>
      </p:sp>
      <p:sp>
        <p:nvSpPr>
          <p:cNvPr id="8" name="Text 6"/>
          <p:cNvSpPr/>
          <p:nvPr/>
        </p:nvSpPr>
        <p:spPr>
          <a:xfrm>
            <a:off x="1298448" y="2734056"/>
            <a:ext cx="10234879" cy="374904"/>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Translate the decision into a precisely defined causal quantity (whose effect, of what, on whom, on which outcome).</a:t>
            </a:r>
            <a:endParaRPr lang="en-US" sz="1250" dirty="0"/>
          </a:p>
        </p:txBody>
      </p:sp>
      <p:sp>
        <p:nvSpPr>
          <p:cNvPr id="9" name="Shape 7"/>
          <p:cNvSpPr/>
          <p:nvPr/>
        </p:nvSpPr>
        <p:spPr>
          <a:xfrm>
            <a:off x="566928" y="3209544"/>
            <a:ext cx="502920" cy="502920"/>
          </a:xfrm>
          <a:prstGeom prst="ellipse">
            <a:avLst/>
          </a:prstGeom>
          <a:solidFill>
            <a:srgbClr val="5A5BA6"/>
          </a:solidFill>
          <a:ln/>
        </p:spPr>
        <p:txBody>
          <a:bodyPr/>
          <a:lstStyle/>
          <a:p>
            <a:endParaRPr lang="en-SA"/>
          </a:p>
        </p:txBody>
      </p:sp>
      <p:sp>
        <p:nvSpPr>
          <p:cNvPr id="10" name="Text 8"/>
          <p:cNvSpPr/>
          <p:nvPr/>
        </p:nvSpPr>
        <p:spPr>
          <a:xfrm>
            <a:off x="566928" y="3209544"/>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1" name="Text 9"/>
          <p:cNvSpPr/>
          <p:nvPr/>
        </p:nvSpPr>
        <p:spPr>
          <a:xfrm>
            <a:off x="1298448" y="3163824"/>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Identification</a:t>
            </a:r>
            <a:endParaRPr lang="en-US" sz="1600" dirty="0"/>
          </a:p>
        </p:txBody>
      </p:sp>
      <p:sp>
        <p:nvSpPr>
          <p:cNvPr id="12" name="Text 10"/>
          <p:cNvSpPr/>
          <p:nvPr/>
        </p:nvSpPr>
        <p:spPr>
          <a:xfrm>
            <a:off x="1298448" y="3474720"/>
            <a:ext cx="10234879" cy="374904"/>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State the assumptions under which that estimand equals something computable from observed data.</a:t>
            </a:r>
            <a:endParaRPr lang="en-US" sz="1250" dirty="0"/>
          </a:p>
        </p:txBody>
      </p:sp>
      <p:sp>
        <p:nvSpPr>
          <p:cNvPr id="13" name="Shape 11"/>
          <p:cNvSpPr/>
          <p:nvPr/>
        </p:nvSpPr>
        <p:spPr>
          <a:xfrm>
            <a:off x="566928" y="3950208"/>
            <a:ext cx="502920" cy="502920"/>
          </a:xfrm>
          <a:prstGeom prst="ellipse">
            <a:avLst/>
          </a:prstGeom>
          <a:solidFill>
            <a:srgbClr val="EA7B38"/>
          </a:solidFill>
          <a:ln/>
        </p:spPr>
        <p:txBody>
          <a:bodyPr/>
          <a:lstStyle/>
          <a:p>
            <a:endParaRPr lang="en-SA"/>
          </a:p>
        </p:txBody>
      </p:sp>
      <p:sp>
        <p:nvSpPr>
          <p:cNvPr id="14" name="Text 12"/>
          <p:cNvSpPr/>
          <p:nvPr/>
        </p:nvSpPr>
        <p:spPr>
          <a:xfrm>
            <a:off x="566928" y="3950208"/>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5" name="Text 13"/>
          <p:cNvSpPr/>
          <p:nvPr/>
        </p:nvSpPr>
        <p:spPr>
          <a:xfrm>
            <a:off x="1298448" y="3904488"/>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Estimation</a:t>
            </a:r>
            <a:endParaRPr lang="en-US" sz="1600" dirty="0"/>
          </a:p>
        </p:txBody>
      </p:sp>
      <p:sp>
        <p:nvSpPr>
          <p:cNvPr id="16" name="Text 14"/>
          <p:cNvSpPr/>
          <p:nvPr/>
        </p:nvSpPr>
        <p:spPr>
          <a:xfrm>
            <a:off x="1298448" y="4215384"/>
            <a:ext cx="10234879" cy="374904"/>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Choose an estimator; fit it; the estimator is only as good as the identification behind it.</a:t>
            </a:r>
            <a:endParaRPr lang="en-US" sz="1250" dirty="0"/>
          </a:p>
        </p:txBody>
      </p:sp>
      <p:sp>
        <p:nvSpPr>
          <p:cNvPr id="17" name="Shape 15"/>
          <p:cNvSpPr/>
          <p:nvPr/>
        </p:nvSpPr>
        <p:spPr>
          <a:xfrm>
            <a:off x="566928" y="4690872"/>
            <a:ext cx="502920" cy="502920"/>
          </a:xfrm>
          <a:prstGeom prst="ellipse">
            <a:avLst/>
          </a:prstGeom>
          <a:solidFill>
            <a:srgbClr val="3E9B90"/>
          </a:solidFill>
          <a:ln/>
        </p:spPr>
        <p:txBody>
          <a:bodyPr/>
          <a:lstStyle/>
          <a:p>
            <a:endParaRPr lang="en-SA"/>
          </a:p>
        </p:txBody>
      </p:sp>
      <p:sp>
        <p:nvSpPr>
          <p:cNvPr id="18" name="Text 16"/>
          <p:cNvSpPr/>
          <p:nvPr/>
        </p:nvSpPr>
        <p:spPr>
          <a:xfrm>
            <a:off x="566928" y="4690872"/>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9" name="Text 17"/>
          <p:cNvSpPr/>
          <p:nvPr/>
        </p:nvSpPr>
        <p:spPr>
          <a:xfrm>
            <a:off x="1298448" y="4645152"/>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Inference</a:t>
            </a:r>
            <a:endParaRPr lang="en-US" sz="1600" dirty="0"/>
          </a:p>
        </p:txBody>
      </p:sp>
      <p:sp>
        <p:nvSpPr>
          <p:cNvPr id="20" name="Text 18"/>
          <p:cNvSpPr/>
          <p:nvPr/>
        </p:nvSpPr>
        <p:spPr>
          <a:xfrm>
            <a:off x="1298448" y="4956048"/>
            <a:ext cx="10234879" cy="374904"/>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Quantify uncertainty honestly — the right standard error for the design, not a default.</a:t>
            </a:r>
            <a:endParaRPr lang="en-US" sz="1250" dirty="0"/>
          </a:p>
        </p:txBody>
      </p:sp>
      <p:sp>
        <p:nvSpPr>
          <p:cNvPr id="21" name="Shape 19"/>
          <p:cNvSpPr/>
          <p:nvPr/>
        </p:nvSpPr>
        <p:spPr>
          <a:xfrm>
            <a:off x="566928" y="5431536"/>
            <a:ext cx="502920" cy="502920"/>
          </a:xfrm>
          <a:prstGeom prst="ellipse">
            <a:avLst/>
          </a:prstGeom>
          <a:solidFill>
            <a:srgbClr val="73BB59"/>
          </a:solidFill>
          <a:ln/>
        </p:spPr>
        <p:txBody>
          <a:bodyPr/>
          <a:lstStyle/>
          <a:p>
            <a:endParaRPr lang="en-SA"/>
          </a:p>
        </p:txBody>
      </p:sp>
      <p:sp>
        <p:nvSpPr>
          <p:cNvPr id="22" name="Text 20"/>
          <p:cNvSpPr/>
          <p:nvPr/>
        </p:nvSpPr>
        <p:spPr>
          <a:xfrm>
            <a:off x="566928" y="5431536"/>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3" name="Text 21"/>
          <p:cNvSpPr/>
          <p:nvPr/>
        </p:nvSpPr>
        <p:spPr>
          <a:xfrm>
            <a:off x="1298448" y="5385816"/>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Sensitivity</a:t>
            </a:r>
            <a:endParaRPr lang="en-US" sz="1600" dirty="0"/>
          </a:p>
        </p:txBody>
      </p:sp>
      <p:sp>
        <p:nvSpPr>
          <p:cNvPr id="24" name="Text 22"/>
          <p:cNvSpPr/>
          <p:nvPr/>
        </p:nvSpPr>
        <p:spPr>
          <a:xfrm>
            <a:off x="1298448" y="5696712"/>
            <a:ext cx="10234879" cy="374904"/>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Ask how far the assumptions could be wrong before the conclusion flips; report it.</a:t>
            </a:r>
            <a:endParaRPr lang="en-US" sz="1250" dirty="0"/>
          </a:p>
        </p:txBody>
      </p:sp>
      <p:sp>
        <p:nvSpPr>
          <p:cNvPr id="25" name="Text 23"/>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FOUNDATIONS</a:t>
            </a:r>
            <a:endParaRPr lang="en-US" sz="900" dirty="0"/>
          </a:p>
        </p:txBody>
      </p:sp>
      <p:sp>
        <p:nvSpPr>
          <p:cNvPr id="26" name="Text 24"/>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14  /  221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Terminology We Will Use Precisely</a:t>
            </a:r>
            <a:endParaRPr lang="en-US" sz="3400" dirty="0"/>
          </a:p>
        </p:txBody>
      </p:sp>
      <p:sp>
        <p:nvSpPr>
          <p:cNvPr id="4" name="Text 2"/>
          <p:cNvSpPr/>
          <p:nvPr/>
        </p:nvSpPr>
        <p:spPr>
          <a:xfrm>
            <a:off x="566928" y="1737360"/>
            <a:ext cx="11057839" cy="64008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Sloppy vocabulary produces sloppy causal claims. We fix definitions now.</a:t>
            </a:r>
            <a:endParaRPr lang="en-US" sz="1450" dirty="0"/>
          </a:p>
        </p:txBody>
      </p:sp>
      <p:sp>
        <p:nvSpPr>
          <p:cNvPr id="5" name="Shape 3"/>
          <p:cNvSpPr/>
          <p:nvPr/>
        </p:nvSpPr>
        <p:spPr>
          <a:xfrm>
            <a:off x="566928" y="2578608"/>
            <a:ext cx="137160" cy="137160"/>
          </a:xfrm>
          <a:prstGeom prst="ellipse">
            <a:avLst/>
          </a:prstGeom>
          <a:solidFill>
            <a:srgbClr val="3FA9E0"/>
          </a:solidFill>
          <a:ln/>
        </p:spPr>
        <p:txBody>
          <a:bodyPr/>
          <a:lstStyle/>
          <a:p>
            <a:endParaRPr lang="en-SA"/>
          </a:p>
        </p:txBody>
      </p:sp>
      <p:sp>
        <p:nvSpPr>
          <p:cNvPr id="6" name="Text 4"/>
          <p:cNvSpPr/>
          <p:nvPr/>
        </p:nvSpPr>
        <p:spPr>
          <a:xfrm>
            <a:off x="841248" y="2514600"/>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Unit — the entity that may receive treatment (user, patient, store, region).</a:t>
            </a:r>
            <a:endParaRPr lang="en-US" sz="1400" dirty="0"/>
          </a:p>
        </p:txBody>
      </p:sp>
      <p:sp>
        <p:nvSpPr>
          <p:cNvPr id="7" name="Shape 5"/>
          <p:cNvSpPr/>
          <p:nvPr/>
        </p:nvSpPr>
        <p:spPr>
          <a:xfrm>
            <a:off x="566928" y="3300984"/>
            <a:ext cx="137160" cy="137160"/>
          </a:xfrm>
          <a:prstGeom prst="ellipse">
            <a:avLst/>
          </a:prstGeom>
          <a:solidFill>
            <a:srgbClr val="5A5BA6"/>
          </a:solidFill>
          <a:ln/>
        </p:spPr>
        <p:txBody>
          <a:bodyPr/>
          <a:lstStyle/>
          <a:p>
            <a:endParaRPr lang="en-SA"/>
          </a:p>
        </p:txBody>
      </p:sp>
      <p:sp>
        <p:nvSpPr>
          <p:cNvPr id="8" name="Text 6"/>
          <p:cNvSpPr/>
          <p:nvPr/>
        </p:nvSpPr>
        <p:spPr>
          <a:xfrm>
            <a:off x="841248" y="3236976"/>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Treatment / exposure (T or D) — the intervention whose effect we want; often binary but can be multi-valued or continuous.</a:t>
            </a:r>
            <a:endParaRPr lang="en-US" sz="1400" dirty="0"/>
          </a:p>
        </p:txBody>
      </p:sp>
      <p:sp>
        <p:nvSpPr>
          <p:cNvPr id="9" name="Shape 7"/>
          <p:cNvSpPr/>
          <p:nvPr/>
        </p:nvSpPr>
        <p:spPr>
          <a:xfrm>
            <a:off x="566928" y="4023360"/>
            <a:ext cx="137160" cy="137160"/>
          </a:xfrm>
          <a:prstGeom prst="ellipse">
            <a:avLst/>
          </a:prstGeom>
          <a:solidFill>
            <a:srgbClr val="EA7B38"/>
          </a:solidFill>
          <a:ln/>
        </p:spPr>
        <p:txBody>
          <a:bodyPr/>
          <a:lstStyle/>
          <a:p>
            <a:endParaRPr lang="en-SA"/>
          </a:p>
        </p:txBody>
      </p:sp>
      <p:sp>
        <p:nvSpPr>
          <p:cNvPr id="10" name="Text 8"/>
          <p:cNvSpPr/>
          <p:nvPr/>
        </p:nvSpPr>
        <p:spPr>
          <a:xfrm>
            <a:off x="841248" y="3959352"/>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Outcome (Y) — the measured result we care about after treatment.</a:t>
            </a:r>
            <a:endParaRPr lang="en-US" sz="1400" dirty="0"/>
          </a:p>
        </p:txBody>
      </p:sp>
      <p:sp>
        <p:nvSpPr>
          <p:cNvPr id="11" name="Shape 9"/>
          <p:cNvSpPr/>
          <p:nvPr/>
        </p:nvSpPr>
        <p:spPr>
          <a:xfrm>
            <a:off x="566928" y="4745736"/>
            <a:ext cx="137160" cy="137160"/>
          </a:xfrm>
          <a:prstGeom prst="ellipse">
            <a:avLst/>
          </a:prstGeom>
          <a:solidFill>
            <a:srgbClr val="3E9B90"/>
          </a:solidFill>
          <a:ln/>
        </p:spPr>
        <p:txBody>
          <a:bodyPr/>
          <a:lstStyle/>
          <a:p>
            <a:endParaRPr lang="en-SA"/>
          </a:p>
        </p:txBody>
      </p:sp>
      <p:sp>
        <p:nvSpPr>
          <p:cNvPr id="12" name="Text 10"/>
          <p:cNvSpPr/>
          <p:nvPr/>
        </p:nvSpPr>
        <p:spPr>
          <a:xfrm>
            <a:off x="841248" y="4681728"/>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Covariates (X) — pre-treatment characteristics; never post-treatment variables in the adjustment set.</a:t>
            </a:r>
            <a:endParaRPr lang="en-US" sz="1400" dirty="0"/>
          </a:p>
        </p:txBody>
      </p:sp>
      <p:sp>
        <p:nvSpPr>
          <p:cNvPr id="13" name="Shape 11"/>
          <p:cNvSpPr/>
          <p:nvPr/>
        </p:nvSpPr>
        <p:spPr>
          <a:xfrm>
            <a:off x="566928" y="5468112"/>
            <a:ext cx="137160" cy="137160"/>
          </a:xfrm>
          <a:prstGeom prst="ellipse">
            <a:avLst/>
          </a:prstGeom>
          <a:solidFill>
            <a:srgbClr val="73BB59"/>
          </a:solidFill>
          <a:ln/>
        </p:spPr>
        <p:txBody>
          <a:bodyPr/>
          <a:lstStyle/>
          <a:p>
            <a:endParaRPr lang="en-SA"/>
          </a:p>
        </p:txBody>
      </p:sp>
      <p:sp>
        <p:nvSpPr>
          <p:cNvPr id="14" name="Text 12"/>
          <p:cNvSpPr/>
          <p:nvPr/>
        </p:nvSpPr>
        <p:spPr>
          <a:xfrm>
            <a:off x="841248" y="5404104"/>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Estimand — the true quantity we target; Estimator — the procedure; Estimate — the number it returns.</a:t>
            </a:r>
            <a:endParaRPr lang="en-US" sz="1400" dirty="0"/>
          </a:p>
        </p:txBody>
      </p:sp>
      <p:sp>
        <p:nvSpPr>
          <p:cNvPr id="15" name="Text 13"/>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FOUNDATIONS</a:t>
            </a:r>
            <a:endParaRPr lang="en-US" sz="900" dirty="0"/>
          </a:p>
        </p:txBody>
      </p:sp>
      <p:sp>
        <p:nvSpPr>
          <p:cNvPr id="16" name="Text 14"/>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15  /  221</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914400"/>
            <a:ext cx="1828800" cy="1371600"/>
          </a:xfrm>
          <a:prstGeom prst="rect">
            <a:avLst/>
          </a:prstGeom>
          <a:noFill/>
          <a:ln/>
        </p:spPr>
        <p:txBody>
          <a:bodyPr wrap="square" lIns="0" tIns="0" rIns="0" bIns="0" rtlCol="0" anchor="ctr"/>
          <a:lstStyle/>
          <a:p>
            <a:pPr marL="0" indent="0">
              <a:buNone/>
            </a:pPr>
            <a:r>
              <a:rPr lang="en-US" sz="12000" b="1" dirty="0">
                <a:solidFill>
                  <a:srgbClr val="3FA9E0"/>
                </a:solidFill>
                <a:latin typeface="Cambria" pitchFamily="34" charset="0"/>
                <a:ea typeface="Cambria" pitchFamily="34" charset="-122"/>
                <a:cs typeface="Cambria" pitchFamily="34" charset="-120"/>
              </a:rPr>
              <a:t>“</a:t>
            </a:r>
            <a:endParaRPr lang="en-US" sz="12000" dirty="0"/>
          </a:p>
        </p:txBody>
      </p:sp>
      <p:sp>
        <p:nvSpPr>
          <p:cNvPr id="3" name="Text 1"/>
          <p:cNvSpPr/>
          <p:nvPr/>
        </p:nvSpPr>
        <p:spPr>
          <a:xfrm>
            <a:off x="749808" y="2194560"/>
            <a:ext cx="10515600" cy="2377440"/>
          </a:xfrm>
          <a:prstGeom prst="rect">
            <a:avLst/>
          </a:prstGeom>
          <a:noFill/>
          <a:ln/>
        </p:spPr>
        <p:txBody>
          <a:bodyPr wrap="square" lIns="0" tIns="0" rIns="0" bIns="0" rtlCol="0" anchor="t"/>
          <a:lstStyle/>
          <a:p>
            <a:pPr marL="0" indent="0">
              <a:lnSpc>
                <a:spcPct val="112000"/>
              </a:lnSpc>
              <a:buNone/>
            </a:pPr>
            <a:r>
              <a:rPr lang="en-US" sz="3000" i="1" dirty="0">
                <a:solidFill>
                  <a:srgbClr val="FFFFFF"/>
                </a:solidFill>
                <a:latin typeface="Cambria" pitchFamily="34" charset="0"/>
                <a:ea typeface="Cambria" pitchFamily="34" charset="-122"/>
                <a:cs typeface="Cambria" pitchFamily="34" charset="-120"/>
              </a:rPr>
              <a:t>No causes in, no causes out. You cannot extract a causal conclusion from data without a causal assumption you brought to it.</a:t>
            </a:r>
            <a:endParaRPr lang="en-US" sz="3000" dirty="0"/>
          </a:p>
        </p:txBody>
      </p:sp>
      <p:sp>
        <p:nvSpPr>
          <p:cNvPr id="4" name="Shape 2"/>
          <p:cNvSpPr/>
          <p:nvPr/>
        </p:nvSpPr>
        <p:spPr>
          <a:xfrm>
            <a:off x="749808" y="4846320"/>
            <a:ext cx="1371600" cy="0"/>
          </a:xfrm>
          <a:prstGeom prst="line">
            <a:avLst/>
          </a:prstGeom>
          <a:noFill/>
          <a:ln w="25400">
            <a:solidFill>
              <a:srgbClr val="3FA9E0"/>
            </a:solidFill>
            <a:prstDash val="solid"/>
          </a:ln>
        </p:spPr>
        <p:txBody>
          <a:bodyPr/>
          <a:lstStyle/>
          <a:p>
            <a:endParaRPr lang="en-SA"/>
          </a:p>
        </p:txBody>
      </p:sp>
      <p:sp>
        <p:nvSpPr>
          <p:cNvPr id="5" name="Text 3"/>
          <p:cNvSpPr/>
          <p:nvPr/>
        </p:nvSpPr>
        <p:spPr>
          <a:xfrm>
            <a:off x="749808" y="5029200"/>
            <a:ext cx="9144000" cy="365760"/>
          </a:xfrm>
          <a:prstGeom prst="rect">
            <a:avLst/>
          </a:prstGeom>
          <a:noFill/>
          <a:ln/>
        </p:spPr>
        <p:txBody>
          <a:bodyPr wrap="square" lIns="0" tIns="0" rIns="0" bIns="0" rtlCol="0" anchor="ctr"/>
          <a:lstStyle/>
          <a:p>
            <a:pPr marL="0" indent="0">
              <a:buNone/>
            </a:pPr>
            <a:r>
              <a:rPr lang="en-US" sz="1500" b="1" dirty="0">
                <a:solidFill>
                  <a:srgbClr val="C9DAF0"/>
                </a:solidFill>
                <a:latin typeface="Calibri" pitchFamily="34" charset="0"/>
                <a:ea typeface="Calibri" pitchFamily="34" charset="-122"/>
                <a:cs typeface="Calibri" pitchFamily="34" charset="-120"/>
              </a:rPr>
              <a:t>The identification principle</a:t>
            </a:r>
            <a:endParaRPr lang="en-US" sz="1500" dirty="0"/>
          </a:p>
        </p:txBody>
      </p:sp>
      <p:sp>
        <p:nvSpPr>
          <p:cNvPr id="6" name="Text 4"/>
          <p:cNvSpPr/>
          <p:nvPr/>
        </p:nvSpPr>
        <p:spPr>
          <a:xfrm>
            <a:off x="749808" y="5394960"/>
            <a:ext cx="9144000" cy="365760"/>
          </a:xfrm>
          <a:prstGeom prst="rect">
            <a:avLst/>
          </a:prstGeom>
          <a:noFill/>
          <a:ln/>
        </p:spPr>
        <p:txBody>
          <a:bodyPr wrap="square" lIns="0" tIns="0" rIns="0" bIns="0" rtlCol="0" anchor="ctr"/>
          <a:lstStyle/>
          <a:p>
            <a:pPr marL="0" indent="0">
              <a:buNone/>
            </a:pPr>
            <a:r>
              <a:rPr lang="en-US" sz="1250" dirty="0">
                <a:solidFill>
                  <a:srgbClr val="9FB0C8"/>
                </a:solidFill>
                <a:latin typeface="Calibri" pitchFamily="34" charset="0"/>
                <a:ea typeface="Calibri" pitchFamily="34" charset="-122"/>
                <a:cs typeface="Calibri" pitchFamily="34" charset="-120"/>
              </a:rPr>
              <a:t>A recurring theme throughout this course</a:t>
            </a:r>
            <a:endParaRPr lang="en-US" sz="1250" dirty="0"/>
          </a:p>
        </p:txBody>
      </p:sp>
      <p:sp>
        <p:nvSpPr>
          <p:cNvPr id="7" name="Text 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DAY 1 · FOUNDATIONS</a:t>
            </a:r>
            <a:endParaRPr lang="en-US" sz="900" dirty="0"/>
          </a:p>
        </p:txBody>
      </p:sp>
      <p:sp>
        <p:nvSpPr>
          <p:cNvPr id="8" name="Text 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16  /  221</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What Makes a Question Causal</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A causal question always implies a hypothetical manipulation — even when we can only observe.</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manipulation test</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If you cannot describe how, in principle, treatment could be set, the causal question is ill-posed (‘the effect of race’ vs. ‘the effect of a name on a résumé’).</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Well-defined interventions</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Precisely specifying the intervention removes ambiguity in the estimand and its interpretation.</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Consistency with SUTVA</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One version of treatment, no interference — both introduced formally in Hour 3.</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FOUNDATIONS</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17  /  221</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Prediction vs. Causation: A Working Contrast</a:t>
            </a:r>
            <a:endParaRPr lang="en-US" sz="3400" dirty="0"/>
          </a:p>
        </p:txBody>
      </p:sp>
      <p:sp>
        <p:nvSpPr>
          <p:cNvPr id="4" name="Shape 2"/>
          <p:cNvSpPr/>
          <p:nvPr/>
        </p:nvSpPr>
        <p:spPr>
          <a:xfrm>
            <a:off x="566928" y="1828800"/>
            <a:ext cx="5254600" cy="4160520"/>
          </a:xfrm>
          <a:prstGeom prst="roundRect">
            <a:avLst>
              <a:gd name="adj" fmla="val 2198"/>
            </a:avLst>
          </a:prstGeom>
          <a:solidFill>
            <a:srgbClr val="F4F7FB"/>
          </a:solidFill>
          <a:ln w="12700">
            <a:solidFill>
              <a:srgbClr val="D9E2F0"/>
            </a:solidFill>
            <a:prstDash val="solid"/>
          </a:ln>
        </p:spPr>
        <p:txBody>
          <a:bodyPr/>
          <a:lstStyle/>
          <a:p>
            <a:endParaRPr lang="en-SA"/>
          </a:p>
        </p:txBody>
      </p:sp>
      <p:sp>
        <p:nvSpPr>
          <p:cNvPr id="5" name="Text 3"/>
          <p:cNvSpPr/>
          <p:nvPr/>
        </p:nvSpPr>
        <p:spPr>
          <a:xfrm>
            <a:off x="859536" y="2084832"/>
            <a:ext cx="4669384"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PREDICTIVE MODELLING</a:t>
            </a:r>
            <a:endParaRPr lang="en-US" sz="1100" dirty="0"/>
          </a:p>
        </p:txBody>
      </p:sp>
      <p:sp>
        <p:nvSpPr>
          <p:cNvPr id="6" name="Text 4"/>
          <p:cNvSpPr/>
          <p:nvPr/>
        </p:nvSpPr>
        <p:spPr>
          <a:xfrm>
            <a:off x="859536" y="2377440"/>
            <a:ext cx="4669384" cy="411480"/>
          </a:xfrm>
          <a:prstGeom prst="rect">
            <a:avLst/>
          </a:prstGeom>
          <a:noFill/>
          <a:ln/>
        </p:spPr>
        <p:txBody>
          <a:bodyPr wrap="square" lIns="0" tIns="0" rIns="0" bIns="0" rtlCol="0" anchor="ctr"/>
          <a:lstStyle/>
          <a:p>
            <a:pPr marL="0" indent="0">
              <a:buNone/>
            </a:pPr>
            <a:r>
              <a:rPr lang="en-US" sz="1900" b="1" dirty="0">
                <a:solidFill>
                  <a:srgbClr val="16233F"/>
                </a:solidFill>
                <a:latin typeface="Cambria" pitchFamily="34" charset="0"/>
                <a:ea typeface="Cambria" pitchFamily="34" charset="-122"/>
                <a:cs typeface="Cambria" pitchFamily="34" charset="-120"/>
              </a:rPr>
              <a:t>Optimises Fit</a:t>
            </a:r>
            <a:endParaRPr lang="en-US" sz="1900" dirty="0"/>
          </a:p>
        </p:txBody>
      </p:sp>
      <p:sp>
        <p:nvSpPr>
          <p:cNvPr id="7" name="Shape 5"/>
          <p:cNvSpPr/>
          <p:nvPr/>
        </p:nvSpPr>
        <p:spPr>
          <a:xfrm>
            <a:off x="877824" y="3026664"/>
            <a:ext cx="118872" cy="118872"/>
          </a:xfrm>
          <a:prstGeom prst="ellipse">
            <a:avLst/>
          </a:prstGeom>
          <a:solidFill>
            <a:srgbClr val="3FA9E0"/>
          </a:solidFill>
          <a:ln/>
        </p:spPr>
        <p:txBody>
          <a:bodyPr/>
          <a:lstStyle/>
          <a:p>
            <a:endParaRPr lang="en-SA"/>
          </a:p>
        </p:txBody>
      </p:sp>
      <p:sp>
        <p:nvSpPr>
          <p:cNvPr id="8" name="Text 6"/>
          <p:cNvSpPr/>
          <p:nvPr/>
        </p:nvSpPr>
        <p:spPr>
          <a:xfrm>
            <a:off x="1115568" y="2971800"/>
            <a:ext cx="4431640" cy="658368"/>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Goal: minimise out-of-sample loss on Y.</a:t>
            </a:r>
            <a:endParaRPr lang="en-US" sz="1250" dirty="0"/>
          </a:p>
        </p:txBody>
      </p:sp>
      <p:sp>
        <p:nvSpPr>
          <p:cNvPr id="9" name="Shape 7"/>
          <p:cNvSpPr/>
          <p:nvPr/>
        </p:nvSpPr>
        <p:spPr>
          <a:xfrm>
            <a:off x="877824" y="3685032"/>
            <a:ext cx="118872" cy="118872"/>
          </a:xfrm>
          <a:prstGeom prst="ellipse">
            <a:avLst/>
          </a:prstGeom>
          <a:solidFill>
            <a:srgbClr val="3FA9E0"/>
          </a:solidFill>
          <a:ln/>
        </p:spPr>
        <p:txBody>
          <a:bodyPr/>
          <a:lstStyle/>
          <a:p>
            <a:endParaRPr lang="en-SA"/>
          </a:p>
        </p:txBody>
      </p:sp>
      <p:sp>
        <p:nvSpPr>
          <p:cNvPr id="10" name="Text 8"/>
          <p:cNvSpPr/>
          <p:nvPr/>
        </p:nvSpPr>
        <p:spPr>
          <a:xfrm>
            <a:off x="1115568" y="3630168"/>
            <a:ext cx="4431640" cy="658368"/>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Any feature that improves prediction is welcome — including post-treatment ones.</a:t>
            </a:r>
            <a:endParaRPr lang="en-US" sz="1250" dirty="0"/>
          </a:p>
        </p:txBody>
      </p:sp>
      <p:sp>
        <p:nvSpPr>
          <p:cNvPr id="11" name="Shape 9"/>
          <p:cNvSpPr/>
          <p:nvPr/>
        </p:nvSpPr>
        <p:spPr>
          <a:xfrm>
            <a:off x="877824" y="4343400"/>
            <a:ext cx="118872" cy="118872"/>
          </a:xfrm>
          <a:prstGeom prst="ellipse">
            <a:avLst/>
          </a:prstGeom>
          <a:solidFill>
            <a:srgbClr val="3FA9E0"/>
          </a:solidFill>
          <a:ln/>
        </p:spPr>
        <p:txBody>
          <a:bodyPr/>
          <a:lstStyle/>
          <a:p>
            <a:endParaRPr lang="en-SA"/>
          </a:p>
        </p:txBody>
      </p:sp>
      <p:sp>
        <p:nvSpPr>
          <p:cNvPr id="12" name="Text 10"/>
          <p:cNvSpPr/>
          <p:nvPr/>
        </p:nvSpPr>
        <p:spPr>
          <a:xfrm>
            <a:off x="1115568" y="4288536"/>
            <a:ext cx="4431640" cy="658368"/>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Success = accuracy / AUC / calibration.</a:t>
            </a:r>
            <a:endParaRPr lang="en-US" sz="1250" dirty="0"/>
          </a:p>
        </p:txBody>
      </p:sp>
      <p:sp>
        <p:nvSpPr>
          <p:cNvPr id="13" name="Shape 11"/>
          <p:cNvSpPr/>
          <p:nvPr/>
        </p:nvSpPr>
        <p:spPr>
          <a:xfrm>
            <a:off x="877824" y="5001768"/>
            <a:ext cx="118872" cy="118872"/>
          </a:xfrm>
          <a:prstGeom prst="ellipse">
            <a:avLst/>
          </a:prstGeom>
          <a:solidFill>
            <a:srgbClr val="3FA9E0"/>
          </a:solidFill>
          <a:ln/>
        </p:spPr>
        <p:txBody>
          <a:bodyPr/>
          <a:lstStyle/>
          <a:p>
            <a:endParaRPr lang="en-SA"/>
          </a:p>
        </p:txBody>
      </p:sp>
      <p:sp>
        <p:nvSpPr>
          <p:cNvPr id="14" name="Text 12"/>
          <p:cNvSpPr/>
          <p:nvPr/>
        </p:nvSpPr>
        <p:spPr>
          <a:xfrm>
            <a:off x="1115568" y="4946904"/>
            <a:ext cx="4431640" cy="658368"/>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A great predictor can be a terrible basis for a decision.</a:t>
            </a:r>
            <a:endParaRPr lang="en-US" sz="1250" dirty="0"/>
          </a:p>
        </p:txBody>
      </p:sp>
      <p:sp>
        <p:nvSpPr>
          <p:cNvPr id="15" name="Shape 13"/>
          <p:cNvSpPr/>
          <p:nvPr/>
        </p:nvSpPr>
        <p:spPr>
          <a:xfrm>
            <a:off x="6370168" y="1828800"/>
            <a:ext cx="5254600" cy="4160520"/>
          </a:xfrm>
          <a:prstGeom prst="roundRect">
            <a:avLst>
              <a:gd name="adj" fmla="val 2198"/>
            </a:avLst>
          </a:prstGeom>
          <a:solidFill>
            <a:srgbClr val="E4EAF3"/>
          </a:solidFill>
          <a:ln w="12700">
            <a:solidFill>
              <a:srgbClr val="D9E2F0"/>
            </a:solidFill>
            <a:prstDash val="solid"/>
          </a:ln>
        </p:spPr>
        <p:txBody>
          <a:bodyPr/>
          <a:lstStyle/>
          <a:p>
            <a:endParaRPr lang="en-SA"/>
          </a:p>
        </p:txBody>
      </p:sp>
      <p:sp>
        <p:nvSpPr>
          <p:cNvPr id="16" name="Text 14"/>
          <p:cNvSpPr/>
          <p:nvPr/>
        </p:nvSpPr>
        <p:spPr>
          <a:xfrm>
            <a:off x="6662776" y="2084832"/>
            <a:ext cx="4669384" cy="274320"/>
          </a:xfrm>
          <a:prstGeom prst="rect">
            <a:avLst/>
          </a:prstGeom>
          <a:noFill/>
          <a:ln/>
        </p:spPr>
        <p:txBody>
          <a:bodyPr wrap="square" lIns="0" tIns="0" rIns="0" bIns="0" rtlCol="0" anchor="ctr"/>
          <a:lstStyle/>
          <a:p>
            <a:pPr marL="0" indent="0">
              <a:buNone/>
            </a:pPr>
            <a:r>
              <a:rPr lang="en-US" sz="1100" b="1" kern="0" spc="200" dirty="0">
                <a:solidFill>
                  <a:srgbClr val="EA7B38"/>
                </a:solidFill>
                <a:latin typeface="Calibri" pitchFamily="34" charset="0"/>
                <a:ea typeface="Calibri" pitchFamily="34" charset="-122"/>
                <a:cs typeface="Calibri" pitchFamily="34" charset="-120"/>
              </a:rPr>
              <a:t>CAUSAL MODELLING</a:t>
            </a:r>
            <a:endParaRPr lang="en-US" sz="1100" dirty="0"/>
          </a:p>
        </p:txBody>
      </p:sp>
      <p:sp>
        <p:nvSpPr>
          <p:cNvPr id="17" name="Text 15"/>
          <p:cNvSpPr/>
          <p:nvPr/>
        </p:nvSpPr>
        <p:spPr>
          <a:xfrm>
            <a:off x="6662776" y="2377440"/>
            <a:ext cx="4669384" cy="411480"/>
          </a:xfrm>
          <a:prstGeom prst="rect">
            <a:avLst/>
          </a:prstGeom>
          <a:noFill/>
          <a:ln/>
        </p:spPr>
        <p:txBody>
          <a:bodyPr wrap="square" lIns="0" tIns="0" rIns="0" bIns="0" rtlCol="0" anchor="ctr"/>
          <a:lstStyle/>
          <a:p>
            <a:pPr marL="0" indent="0">
              <a:buNone/>
            </a:pPr>
            <a:r>
              <a:rPr lang="en-US" sz="1900" b="1" dirty="0">
                <a:solidFill>
                  <a:srgbClr val="16233F"/>
                </a:solidFill>
                <a:latin typeface="Cambria" pitchFamily="34" charset="0"/>
                <a:ea typeface="Cambria" pitchFamily="34" charset="-122"/>
                <a:cs typeface="Cambria" pitchFamily="34" charset="-120"/>
              </a:rPr>
              <a:t>Optimises Interpretation</a:t>
            </a:r>
            <a:endParaRPr lang="en-US" sz="1900" dirty="0"/>
          </a:p>
        </p:txBody>
      </p:sp>
      <p:sp>
        <p:nvSpPr>
          <p:cNvPr id="18" name="Shape 16"/>
          <p:cNvSpPr/>
          <p:nvPr/>
        </p:nvSpPr>
        <p:spPr>
          <a:xfrm>
            <a:off x="6681064" y="3026664"/>
            <a:ext cx="118872" cy="118872"/>
          </a:xfrm>
          <a:prstGeom prst="ellipse">
            <a:avLst/>
          </a:prstGeom>
          <a:solidFill>
            <a:srgbClr val="EA7B38"/>
          </a:solidFill>
          <a:ln/>
        </p:spPr>
        <p:txBody>
          <a:bodyPr/>
          <a:lstStyle/>
          <a:p>
            <a:endParaRPr lang="en-SA"/>
          </a:p>
        </p:txBody>
      </p:sp>
      <p:sp>
        <p:nvSpPr>
          <p:cNvPr id="19" name="Text 17"/>
          <p:cNvSpPr/>
          <p:nvPr/>
        </p:nvSpPr>
        <p:spPr>
          <a:xfrm>
            <a:off x="6918808" y="2971800"/>
            <a:ext cx="4431640" cy="658368"/>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Goal: recover the effect of intervening on T.</a:t>
            </a:r>
            <a:endParaRPr lang="en-US" sz="1250" dirty="0"/>
          </a:p>
        </p:txBody>
      </p:sp>
      <p:sp>
        <p:nvSpPr>
          <p:cNvPr id="20" name="Shape 18"/>
          <p:cNvSpPr/>
          <p:nvPr/>
        </p:nvSpPr>
        <p:spPr>
          <a:xfrm>
            <a:off x="6681064" y="3685032"/>
            <a:ext cx="118872" cy="118872"/>
          </a:xfrm>
          <a:prstGeom prst="ellipse">
            <a:avLst/>
          </a:prstGeom>
          <a:solidFill>
            <a:srgbClr val="EA7B38"/>
          </a:solidFill>
          <a:ln/>
        </p:spPr>
        <p:txBody>
          <a:bodyPr/>
          <a:lstStyle/>
          <a:p>
            <a:endParaRPr lang="en-SA"/>
          </a:p>
        </p:txBody>
      </p:sp>
      <p:sp>
        <p:nvSpPr>
          <p:cNvPr id="21" name="Text 19"/>
          <p:cNvSpPr/>
          <p:nvPr/>
        </p:nvSpPr>
        <p:spPr>
          <a:xfrm>
            <a:off x="6918808" y="3630168"/>
            <a:ext cx="4431640" cy="658368"/>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Adjustment set is chosen by causal structure, not by fit.</a:t>
            </a:r>
            <a:endParaRPr lang="en-US" sz="1250" dirty="0"/>
          </a:p>
        </p:txBody>
      </p:sp>
      <p:sp>
        <p:nvSpPr>
          <p:cNvPr id="22" name="Shape 20"/>
          <p:cNvSpPr/>
          <p:nvPr/>
        </p:nvSpPr>
        <p:spPr>
          <a:xfrm>
            <a:off x="6681064" y="4343400"/>
            <a:ext cx="118872" cy="118872"/>
          </a:xfrm>
          <a:prstGeom prst="ellipse">
            <a:avLst/>
          </a:prstGeom>
          <a:solidFill>
            <a:srgbClr val="EA7B38"/>
          </a:solidFill>
          <a:ln/>
        </p:spPr>
        <p:txBody>
          <a:bodyPr/>
          <a:lstStyle/>
          <a:p>
            <a:endParaRPr lang="en-SA"/>
          </a:p>
        </p:txBody>
      </p:sp>
      <p:sp>
        <p:nvSpPr>
          <p:cNvPr id="23" name="Text 21"/>
          <p:cNvSpPr/>
          <p:nvPr/>
        </p:nvSpPr>
        <p:spPr>
          <a:xfrm>
            <a:off x="6918808" y="4288536"/>
            <a:ext cx="4431640" cy="658368"/>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Success = unbiased, correctly-uncertain effect.</a:t>
            </a:r>
            <a:endParaRPr lang="en-US" sz="1250" dirty="0"/>
          </a:p>
        </p:txBody>
      </p:sp>
      <p:sp>
        <p:nvSpPr>
          <p:cNvPr id="24" name="Shape 22"/>
          <p:cNvSpPr/>
          <p:nvPr/>
        </p:nvSpPr>
        <p:spPr>
          <a:xfrm>
            <a:off x="6681064" y="5001768"/>
            <a:ext cx="118872" cy="118872"/>
          </a:xfrm>
          <a:prstGeom prst="ellipse">
            <a:avLst/>
          </a:prstGeom>
          <a:solidFill>
            <a:srgbClr val="EA7B38"/>
          </a:solidFill>
          <a:ln/>
        </p:spPr>
        <p:txBody>
          <a:bodyPr/>
          <a:lstStyle/>
          <a:p>
            <a:endParaRPr lang="en-SA"/>
          </a:p>
        </p:txBody>
      </p:sp>
      <p:sp>
        <p:nvSpPr>
          <p:cNvPr id="25" name="Text 23"/>
          <p:cNvSpPr/>
          <p:nvPr/>
        </p:nvSpPr>
        <p:spPr>
          <a:xfrm>
            <a:off x="6918808" y="4946904"/>
            <a:ext cx="4431640" cy="658368"/>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Adding the ‘wrong’ control can inject bias, not reduce it.</a:t>
            </a:r>
            <a:endParaRPr lang="en-US" sz="1250" dirty="0"/>
          </a:p>
        </p:txBody>
      </p:sp>
      <p:sp>
        <p:nvSpPr>
          <p:cNvPr id="26" name="Text 2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FOUNDATIONS</a:t>
            </a:r>
            <a:endParaRPr lang="en-US" sz="900" dirty="0"/>
          </a:p>
        </p:txBody>
      </p:sp>
      <p:sp>
        <p:nvSpPr>
          <p:cNvPr id="27" name="Text 2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18  /  221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Quick Check: Causal or Predictive?</a:t>
            </a:r>
            <a:endParaRPr lang="en-US" sz="3400" dirty="0"/>
          </a:p>
        </p:txBody>
      </p:sp>
      <p:sp>
        <p:nvSpPr>
          <p:cNvPr id="4" name="Text 2"/>
          <p:cNvSpPr/>
          <p:nvPr/>
        </p:nvSpPr>
        <p:spPr>
          <a:xfrm>
            <a:off x="566928" y="1783080"/>
            <a:ext cx="11057839" cy="457200"/>
          </a:xfrm>
          <a:prstGeom prst="rect">
            <a:avLst/>
          </a:prstGeom>
          <a:noFill/>
          <a:ln/>
        </p:spPr>
        <p:txBody>
          <a:bodyPr wrap="square" lIns="0" tIns="0" rIns="0" bIns="0" rtlCol="0" anchor="t"/>
          <a:lstStyle/>
          <a:p>
            <a:pPr marL="0" indent="0">
              <a:lnSpc>
                <a:spcPct val="112000"/>
              </a:lnSpc>
              <a:buNone/>
            </a:pPr>
            <a:r>
              <a:rPr lang="en-US" sz="1350" dirty="0">
                <a:solidFill>
                  <a:srgbClr val="566581"/>
                </a:solidFill>
                <a:latin typeface="Calibri" pitchFamily="34" charset="0"/>
                <a:ea typeface="Calibri" pitchFamily="34" charset="-122"/>
                <a:cs typeface="Calibri" pitchFamily="34" charset="-120"/>
              </a:rPr>
              <a:t>Classify each. We debrief live before moving to potential outcomes.</a:t>
            </a:r>
            <a:endParaRPr lang="en-US" sz="1350" dirty="0"/>
          </a:p>
        </p:txBody>
      </p:sp>
      <p:sp>
        <p:nvSpPr>
          <p:cNvPr id="5" name="Shape 3"/>
          <p:cNvSpPr/>
          <p:nvPr/>
        </p:nvSpPr>
        <p:spPr>
          <a:xfrm>
            <a:off x="566928" y="2331720"/>
            <a:ext cx="11057839" cy="1100328"/>
          </a:xfrm>
          <a:prstGeom prst="roundRect">
            <a:avLst>
              <a:gd name="adj" fmla="val 6648"/>
            </a:avLst>
          </a:prstGeom>
          <a:solidFill>
            <a:srgbClr val="F4F7FB"/>
          </a:solidFill>
          <a:ln w="12700">
            <a:solidFill>
              <a:srgbClr val="D9E2F0"/>
            </a:solidFill>
            <a:prstDash val="solid"/>
          </a:ln>
        </p:spPr>
        <p:txBody>
          <a:bodyPr/>
          <a:lstStyle/>
          <a:p>
            <a:endParaRPr lang="en-SA"/>
          </a:p>
        </p:txBody>
      </p:sp>
      <p:sp>
        <p:nvSpPr>
          <p:cNvPr id="6" name="Shape 4"/>
          <p:cNvSpPr/>
          <p:nvPr/>
        </p:nvSpPr>
        <p:spPr>
          <a:xfrm>
            <a:off x="768096" y="2514600"/>
            <a:ext cx="384048" cy="384048"/>
          </a:xfrm>
          <a:prstGeom prst="ellipse">
            <a:avLst/>
          </a:prstGeom>
          <a:solidFill>
            <a:srgbClr val="3FA9E0"/>
          </a:solidFill>
          <a:ln/>
        </p:spPr>
        <p:txBody>
          <a:bodyPr/>
          <a:lstStyle/>
          <a:p>
            <a:endParaRPr lang="en-SA"/>
          </a:p>
        </p:txBody>
      </p:sp>
      <p:sp>
        <p:nvSpPr>
          <p:cNvPr id="7" name="Text 5"/>
          <p:cNvSpPr/>
          <p:nvPr/>
        </p:nvSpPr>
        <p:spPr>
          <a:xfrm>
            <a:off x="768096" y="25146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Q1</a:t>
            </a:r>
            <a:endParaRPr lang="en-US" sz="1300" dirty="0"/>
          </a:p>
        </p:txBody>
      </p:sp>
      <p:sp>
        <p:nvSpPr>
          <p:cNvPr id="8" name="Text 6"/>
          <p:cNvSpPr/>
          <p:nvPr/>
        </p:nvSpPr>
        <p:spPr>
          <a:xfrm>
            <a:off x="1344168" y="247802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‘Which customers are most likely to churn next month?’</a:t>
            </a:r>
            <a:endParaRPr lang="en-US" sz="1400" dirty="0"/>
          </a:p>
        </p:txBody>
      </p:sp>
      <p:sp>
        <p:nvSpPr>
          <p:cNvPr id="9" name="Text 7"/>
          <p:cNvSpPr/>
          <p:nvPr/>
        </p:nvSpPr>
        <p:spPr>
          <a:xfrm>
            <a:off x="1344168" y="2935224"/>
            <a:ext cx="10051999" cy="44196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Predictive      B) Causal</a:t>
            </a:r>
            <a:endParaRPr lang="en-US" sz="1200" dirty="0"/>
          </a:p>
        </p:txBody>
      </p:sp>
      <p:sp>
        <p:nvSpPr>
          <p:cNvPr id="10" name="Shape 8"/>
          <p:cNvSpPr/>
          <p:nvPr/>
        </p:nvSpPr>
        <p:spPr>
          <a:xfrm>
            <a:off x="566928" y="3596640"/>
            <a:ext cx="11057839" cy="1100328"/>
          </a:xfrm>
          <a:prstGeom prst="roundRect">
            <a:avLst>
              <a:gd name="adj" fmla="val 6648"/>
            </a:avLst>
          </a:prstGeom>
          <a:solidFill>
            <a:srgbClr val="F4F7FB"/>
          </a:solidFill>
          <a:ln w="12700">
            <a:solidFill>
              <a:srgbClr val="D9E2F0"/>
            </a:solidFill>
            <a:prstDash val="solid"/>
          </a:ln>
        </p:spPr>
        <p:txBody>
          <a:bodyPr/>
          <a:lstStyle/>
          <a:p>
            <a:endParaRPr lang="en-SA"/>
          </a:p>
        </p:txBody>
      </p:sp>
      <p:sp>
        <p:nvSpPr>
          <p:cNvPr id="11" name="Shape 9"/>
          <p:cNvSpPr/>
          <p:nvPr/>
        </p:nvSpPr>
        <p:spPr>
          <a:xfrm>
            <a:off x="768096" y="3779520"/>
            <a:ext cx="384048" cy="384048"/>
          </a:xfrm>
          <a:prstGeom prst="ellipse">
            <a:avLst/>
          </a:prstGeom>
          <a:solidFill>
            <a:srgbClr val="5A5BA6"/>
          </a:solidFill>
          <a:ln/>
        </p:spPr>
        <p:txBody>
          <a:bodyPr/>
          <a:lstStyle/>
          <a:p>
            <a:endParaRPr lang="en-SA"/>
          </a:p>
        </p:txBody>
      </p:sp>
      <p:sp>
        <p:nvSpPr>
          <p:cNvPr id="12" name="Text 10"/>
          <p:cNvSpPr/>
          <p:nvPr/>
        </p:nvSpPr>
        <p:spPr>
          <a:xfrm>
            <a:off x="768096" y="37795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Q2</a:t>
            </a:r>
            <a:endParaRPr lang="en-US" sz="1300" dirty="0"/>
          </a:p>
        </p:txBody>
      </p:sp>
      <p:sp>
        <p:nvSpPr>
          <p:cNvPr id="13" name="Text 11"/>
          <p:cNvSpPr/>
          <p:nvPr/>
        </p:nvSpPr>
        <p:spPr>
          <a:xfrm>
            <a:off x="1344168" y="374294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‘Will offering this discount reduce churn?’</a:t>
            </a:r>
            <a:endParaRPr lang="en-US" sz="1400" dirty="0"/>
          </a:p>
        </p:txBody>
      </p:sp>
      <p:sp>
        <p:nvSpPr>
          <p:cNvPr id="14" name="Text 12"/>
          <p:cNvSpPr/>
          <p:nvPr/>
        </p:nvSpPr>
        <p:spPr>
          <a:xfrm>
            <a:off x="1344168" y="4200144"/>
            <a:ext cx="10051999" cy="44196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Predictive      B) Causal</a:t>
            </a:r>
            <a:endParaRPr lang="en-US" sz="1200" dirty="0"/>
          </a:p>
        </p:txBody>
      </p:sp>
      <p:sp>
        <p:nvSpPr>
          <p:cNvPr id="15" name="Shape 13"/>
          <p:cNvSpPr/>
          <p:nvPr/>
        </p:nvSpPr>
        <p:spPr>
          <a:xfrm>
            <a:off x="566928" y="4861560"/>
            <a:ext cx="11057839" cy="1100328"/>
          </a:xfrm>
          <a:prstGeom prst="roundRect">
            <a:avLst>
              <a:gd name="adj" fmla="val 6648"/>
            </a:avLst>
          </a:prstGeom>
          <a:solidFill>
            <a:srgbClr val="F4F7FB"/>
          </a:solidFill>
          <a:ln w="12700">
            <a:solidFill>
              <a:srgbClr val="D9E2F0"/>
            </a:solidFill>
            <a:prstDash val="solid"/>
          </a:ln>
        </p:spPr>
        <p:txBody>
          <a:bodyPr/>
          <a:lstStyle/>
          <a:p>
            <a:endParaRPr lang="en-SA"/>
          </a:p>
        </p:txBody>
      </p:sp>
      <p:sp>
        <p:nvSpPr>
          <p:cNvPr id="16" name="Shape 14"/>
          <p:cNvSpPr/>
          <p:nvPr/>
        </p:nvSpPr>
        <p:spPr>
          <a:xfrm>
            <a:off x="768096" y="5044440"/>
            <a:ext cx="384048" cy="384048"/>
          </a:xfrm>
          <a:prstGeom prst="ellipse">
            <a:avLst/>
          </a:prstGeom>
          <a:solidFill>
            <a:srgbClr val="EA7B38"/>
          </a:solidFill>
          <a:ln/>
        </p:spPr>
        <p:txBody>
          <a:bodyPr/>
          <a:lstStyle/>
          <a:p>
            <a:endParaRPr lang="en-SA"/>
          </a:p>
        </p:txBody>
      </p:sp>
      <p:sp>
        <p:nvSpPr>
          <p:cNvPr id="17" name="Text 15"/>
          <p:cNvSpPr/>
          <p:nvPr/>
        </p:nvSpPr>
        <p:spPr>
          <a:xfrm>
            <a:off x="768096" y="504444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Q3</a:t>
            </a:r>
            <a:endParaRPr lang="en-US" sz="1300" dirty="0"/>
          </a:p>
        </p:txBody>
      </p:sp>
      <p:sp>
        <p:nvSpPr>
          <p:cNvPr id="18" name="Text 16"/>
          <p:cNvSpPr/>
          <p:nvPr/>
        </p:nvSpPr>
        <p:spPr>
          <a:xfrm>
            <a:off x="1344168" y="500786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‘What retention would we see if we had never launched the flow?’</a:t>
            </a:r>
            <a:endParaRPr lang="en-US" sz="1400" dirty="0"/>
          </a:p>
        </p:txBody>
      </p:sp>
      <p:sp>
        <p:nvSpPr>
          <p:cNvPr id="19" name="Text 17"/>
          <p:cNvSpPr/>
          <p:nvPr/>
        </p:nvSpPr>
        <p:spPr>
          <a:xfrm>
            <a:off x="1344168" y="5465064"/>
            <a:ext cx="10051999" cy="44196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Predictive      B) Counterfactual</a:t>
            </a:r>
            <a:endParaRPr lang="en-US" sz="1200" dirty="0"/>
          </a:p>
        </p:txBody>
      </p:sp>
      <p:sp>
        <p:nvSpPr>
          <p:cNvPr id="20" name="Text 18"/>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FOUNDATIONS</a:t>
            </a:r>
            <a:endParaRPr lang="en-US" sz="900" dirty="0"/>
          </a:p>
        </p:txBody>
      </p:sp>
      <p:sp>
        <p:nvSpPr>
          <p:cNvPr id="21" name="Text 19"/>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19  /  221</a:t>
            </a:r>
            <a:endParaRPr lang="en-US" sz="900" dirty="0"/>
          </a:p>
        </p:txBody>
      </p:sp>
      <p:pic>
        <p:nvPicPr>
          <p:cNvPr id="22" name="Picture 21" descr="Day1_Check1.png"/>
          <p:cNvPicPr>
            <a:picLocks noChangeAspect="1"/>
          </p:cNvPicPr>
          <p:nvPr/>
        </p:nvPicPr>
        <p:blipFill>
          <a:blip r:embed="rId3"/>
          <a:stretch>
            <a:fillRect/>
          </a:stretch>
        </p:blipFill>
        <p:spPr>
          <a:xfrm>
            <a:off x="10637520" y="320040"/>
            <a:ext cx="1143000" cy="1143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DAY 1 · HOUR 2</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The Potential Outcomes Framework</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The Neyman–Rubin causal model: counterfactual outcomes, individual and average effects, and the fundamental problem.</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DAY 1</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20  /  221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2</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Potential Outcomes: The Core Idea</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Each unit i carries two potential outcomes: Yᵢ(1) if treated and Yᵢ(0) if not. Both exist in principle; we observe only one.</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Individual treatment effect</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τᵢ = Yᵢ(1) − Yᵢ(0). The causal effect for unit i is a contrast between two states of the same unit.</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observed outcome</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Yᵢ = Tᵢ·Yᵢ(1) + (1−Tᵢ)·Yᵢ(0). Treatment selects which potential outcome we get to see.</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Counterfactual = missing data</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The unobserved potential outcome is a missing value; causal inference is, formally, a missing-data problem.</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THE UNIT TABLE</a:t>
            </a:r>
            <a:endParaRPr lang="en-US" sz="1100" dirty="0"/>
          </a:p>
        </p:txBody>
      </p:sp>
      <p:sp>
        <p:nvSpPr>
          <p:cNvPr id="16" name="Text 14"/>
          <p:cNvSpPr/>
          <p:nvPr/>
        </p:nvSpPr>
        <p:spPr>
          <a:xfrm>
            <a:off x="7744968" y="2331720"/>
            <a:ext cx="3605479" cy="1097280"/>
          </a:xfrm>
          <a:prstGeom prst="rect">
            <a:avLst/>
          </a:prstGeom>
          <a:noFill/>
          <a:ln/>
        </p:spPr>
        <p:txBody>
          <a:bodyPr wrap="square" lIns="0" tIns="0" rIns="0" bIns="0" rtlCol="0" anchor="t"/>
          <a:lstStyle/>
          <a:p>
            <a:pPr marL="0" indent="0">
              <a:buNone/>
            </a:pPr>
            <a:r>
              <a:rPr lang="en-US" sz="5400" b="1" dirty="0">
                <a:solidFill>
                  <a:srgbClr val="16233F"/>
                </a:solidFill>
                <a:latin typeface="Cambria" pitchFamily="34" charset="0"/>
                <a:ea typeface="Cambria" pitchFamily="34" charset="-122"/>
                <a:cs typeface="Cambria" pitchFamily="34" charset="-120"/>
              </a:rPr>
              <a:t>Y(1),Y(0)</a:t>
            </a:r>
            <a:endParaRPr lang="en-US" sz="5400" dirty="0"/>
          </a:p>
        </p:txBody>
      </p:sp>
      <p:sp>
        <p:nvSpPr>
          <p:cNvPr id="17" name="Text 15"/>
          <p:cNvSpPr/>
          <p:nvPr/>
        </p:nvSpPr>
        <p:spPr>
          <a:xfrm>
            <a:off x="7744968" y="3520440"/>
            <a:ext cx="3605479" cy="2103120"/>
          </a:xfrm>
          <a:prstGeom prst="rect">
            <a:avLst/>
          </a:prstGeom>
          <a:noFill/>
          <a:ln/>
        </p:spPr>
        <p:txBody>
          <a:bodyPr wrap="square" lIns="0" tIns="0" rIns="0" bIns="0" rtlCol="0" anchor="t"/>
          <a:lstStyle/>
          <a:p>
            <a:pPr marL="0" indent="0">
              <a:lnSpc>
                <a:spcPct val="120000"/>
              </a:lnSpc>
              <a:buNone/>
            </a:pPr>
            <a:r>
              <a:rPr lang="en-US" sz="1300" dirty="0">
                <a:solidFill>
                  <a:srgbClr val="566581"/>
                </a:solidFill>
                <a:latin typeface="Calibri" pitchFamily="34" charset="0"/>
                <a:ea typeface="Calibri" pitchFamily="34" charset="-122"/>
                <a:cs typeface="Calibri" pitchFamily="34" charset="-120"/>
              </a:rPr>
              <a:t>Imagine a spreadsheet with both columns filled in. Reality hands you one cell per row and hides the other. Every method is a strategy for the hidden column.</a:t>
            </a:r>
            <a:endParaRPr lang="en-US" sz="1300" dirty="0"/>
          </a:p>
        </p:txBody>
      </p:sp>
      <p:sp>
        <p:nvSpPr>
          <p:cNvPr id="18" name="Text 1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POTENTIAL OUTCOMES</a:t>
            </a:r>
            <a:endParaRPr lang="en-US" sz="900" dirty="0"/>
          </a:p>
        </p:txBody>
      </p:sp>
      <p:sp>
        <p:nvSpPr>
          <p:cNvPr id="19" name="Text 1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21  /  221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2</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The Fundamental Problem of Causal Inference</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We can never observe both Yᵢ(1) and Yᵢ(0) for the same unit at the same time. Individual effects are, in general, unobservable.</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Holland's statement</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For any unit we see the factual outcome and lose the counterfactual — so τᵢ is never directly measured.</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Why averages rescue us</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While τᵢ is hidden, the average effect over a population can be identified under the right design.</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switch of target</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We shift from the impossible (individual) to the feasible (population or subgroup) causal quantity.</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CONSEQUENCE</a:t>
            </a:r>
            <a:endParaRPr lang="en-US" sz="1100" dirty="0"/>
          </a:p>
        </p:txBody>
      </p:sp>
      <p:sp>
        <p:nvSpPr>
          <p:cNvPr id="16" name="Text 14"/>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dirty="0">
                <a:solidFill>
                  <a:srgbClr val="16233F"/>
                </a:solidFill>
                <a:latin typeface="Calibri" pitchFamily="34" charset="0"/>
                <a:ea typeface="Calibri" pitchFamily="34" charset="-122"/>
                <a:cs typeface="Calibri" pitchFamily="34" charset="-120"/>
              </a:rPr>
              <a:t>Everything that follows — randomization, matching, DiD, IV — is a device for filling in the missing counterfactual, on average, credibly.</a:t>
            </a:r>
            <a:endParaRPr lang="en-US" sz="13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POTENTIAL OUTCOMES</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22  /  221</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2</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A Family of Causal Estimands</a:t>
            </a:r>
            <a:endParaRPr lang="en-US" sz="3400" dirty="0"/>
          </a:p>
        </p:txBody>
      </p:sp>
      <p:sp>
        <p:nvSpPr>
          <p:cNvPr id="4" name="Text 2"/>
          <p:cNvSpPr/>
          <p:nvPr/>
        </p:nvSpPr>
        <p:spPr>
          <a:xfrm>
            <a:off x="566928" y="1783080"/>
            <a:ext cx="11057839" cy="548640"/>
          </a:xfrm>
          <a:prstGeom prst="rect">
            <a:avLst/>
          </a:prstGeom>
          <a:noFill/>
          <a:ln/>
        </p:spPr>
        <p:txBody>
          <a:bodyPr wrap="square" lIns="0" tIns="0" rIns="0" bIns="0" rtlCol="0" anchor="t"/>
          <a:lstStyle/>
          <a:p>
            <a:pPr marL="0" indent="0">
              <a:lnSpc>
                <a:spcPct val="115000"/>
              </a:lnSpc>
              <a:buNone/>
            </a:pPr>
            <a:r>
              <a:rPr lang="en-US" sz="1400" dirty="0">
                <a:solidFill>
                  <a:srgbClr val="566581"/>
                </a:solidFill>
                <a:latin typeface="Calibri" pitchFamily="34" charset="0"/>
                <a:ea typeface="Calibri" pitchFamily="34" charset="-122"/>
                <a:cs typeface="Calibri" pitchFamily="34" charset="-120"/>
              </a:rPr>
              <a:t>Different decisions target different averages. Naming the estimand is step one.</a:t>
            </a:r>
            <a:endParaRPr lang="en-US" sz="1400" dirty="0"/>
          </a:p>
        </p:txBody>
      </p:sp>
      <p:sp>
        <p:nvSpPr>
          <p:cNvPr id="5" name="Shape 3"/>
          <p:cNvSpPr/>
          <p:nvPr/>
        </p:nvSpPr>
        <p:spPr>
          <a:xfrm>
            <a:off x="566928" y="2468880"/>
            <a:ext cx="502920" cy="502920"/>
          </a:xfrm>
          <a:prstGeom prst="ellipse">
            <a:avLst/>
          </a:prstGeom>
          <a:solidFill>
            <a:srgbClr val="3FA9E0"/>
          </a:solidFill>
          <a:ln/>
        </p:spPr>
        <p:txBody>
          <a:bodyPr/>
          <a:lstStyle/>
          <a:p>
            <a:endParaRPr lang="en-SA"/>
          </a:p>
        </p:txBody>
      </p:sp>
      <p:sp>
        <p:nvSpPr>
          <p:cNvPr id="6" name="Text 4"/>
          <p:cNvSpPr/>
          <p:nvPr/>
        </p:nvSpPr>
        <p:spPr>
          <a:xfrm>
            <a:off x="566928" y="246888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ATE</a:t>
            </a:r>
            <a:endParaRPr lang="en-US" sz="1300" dirty="0"/>
          </a:p>
        </p:txBody>
      </p:sp>
      <p:sp>
        <p:nvSpPr>
          <p:cNvPr id="7" name="Text 5"/>
          <p:cNvSpPr/>
          <p:nvPr/>
        </p:nvSpPr>
        <p:spPr>
          <a:xfrm>
            <a:off x="1298448" y="242316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Average Treatment Effect</a:t>
            </a:r>
            <a:endParaRPr lang="en-US" sz="1600" dirty="0"/>
          </a:p>
        </p:txBody>
      </p:sp>
      <p:sp>
        <p:nvSpPr>
          <p:cNvPr id="8" name="Text 6"/>
          <p:cNvSpPr/>
          <p:nvPr/>
        </p:nvSpPr>
        <p:spPr>
          <a:xfrm>
            <a:off x="1298448" y="273405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E[Y(1) − Y(0)] over the whole population. ‘If everyone were treated vs. no one.’</a:t>
            </a:r>
            <a:endParaRPr lang="en-US" sz="1250" dirty="0"/>
          </a:p>
        </p:txBody>
      </p:sp>
      <p:sp>
        <p:nvSpPr>
          <p:cNvPr id="9" name="Shape 7"/>
          <p:cNvSpPr/>
          <p:nvPr/>
        </p:nvSpPr>
        <p:spPr>
          <a:xfrm>
            <a:off x="566928" y="3394710"/>
            <a:ext cx="502920" cy="502920"/>
          </a:xfrm>
          <a:prstGeom prst="ellipse">
            <a:avLst/>
          </a:prstGeom>
          <a:solidFill>
            <a:srgbClr val="5A5BA6"/>
          </a:solidFill>
          <a:ln/>
        </p:spPr>
        <p:txBody>
          <a:bodyPr/>
          <a:lstStyle/>
          <a:p>
            <a:endParaRPr lang="en-SA"/>
          </a:p>
        </p:txBody>
      </p:sp>
      <p:sp>
        <p:nvSpPr>
          <p:cNvPr id="10" name="Text 8"/>
          <p:cNvSpPr/>
          <p:nvPr/>
        </p:nvSpPr>
        <p:spPr>
          <a:xfrm>
            <a:off x="566928" y="339471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ATT</a:t>
            </a:r>
            <a:endParaRPr lang="en-US" sz="1300" dirty="0"/>
          </a:p>
        </p:txBody>
      </p:sp>
      <p:sp>
        <p:nvSpPr>
          <p:cNvPr id="11" name="Text 9"/>
          <p:cNvSpPr/>
          <p:nvPr/>
        </p:nvSpPr>
        <p:spPr>
          <a:xfrm>
            <a:off x="1298448" y="334899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Effect on the Treated</a:t>
            </a:r>
            <a:endParaRPr lang="en-US" sz="1600" dirty="0"/>
          </a:p>
        </p:txBody>
      </p:sp>
      <p:sp>
        <p:nvSpPr>
          <p:cNvPr id="12" name="Text 10"/>
          <p:cNvSpPr/>
          <p:nvPr/>
        </p:nvSpPr>
        <p:spPr>
          <a:xfrm>
            <a:off x="1298448" y="365988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E[Y(1) − Y(0) | T = 1]. ‘For those who actually got it, how much did it help?’ Often the policy-relevant one.</a:t>
            </a:r>
            <a:endParaRPr lang="en-US" sz="1250" dirty="0"/>
          </a:p>
        </p:txBody>
      </p:sp>
      <p:sp>
        <p:nvSpPr>
          <p:cNvPr id="13" name="Shape 11"/>
          <p:cNvSpPr/>
          <p:nvPr/>
        </p:nvSpPr>
        <p:spPr>
          <a:xfrm>
            <a:off x="566928" y="4320540"/>
            <a:ext cx="502920" cy="502920"/>
          </a:xfrm>
          <a:prstGeom prst="ellipse">
            <a:avLst/>
          </a:prstGeom>
          <a:solidFill>
            <a:srgbClr val="EA7B38"/>
          </a:solidFill>
          <a:ln/>
        </p:spPr>
        <p:txBody>
          <a:bodyPr/>
          <a:lstStyle/>
          <a:p>
            <a:endParaRPr lang="en-SA"/>
          </a:p>
        </p:txBody>
      </p:sp>
      <p:sp>
        <p:nvSpPr>
          <p:cNvPr id="14" name="Text 12"/>
          <p:cNvSpPr/>
          <p:nvPr/>
        </p:nvSpPr>
        <p:spPr>
          <a:xfrm>
            <a:off x="566928" y="43205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CATE</a:t>
            </a:r>
            <a:endParaRPr lang="en-US" sz="1300" dirty="0"/>
          </a:p>
        </p:txBody>
      </p:sp>
      <p:sp>
        <p:nvSpPr>
          <p:cNvPr id="15" name="Text 13"/>
          <p:cNvSpPr/>
          <p:nvPr/>
        </p:nvSpPr>
        <p:spPr>
          <a:xfrm>
            <a:off x="1298448" y="427482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Conditional / Heterogeneous</a:t>
            </a:r>
            <a:endParaRPr lang="en-US" sz="1600" dirty="0"/>
          </a:p>
        </p:txBody>
      </p:sp>
      <p:sp>
        <p:nvSpPr>
          <p:cNvPr id="16" name="Text 14"/>
          <p:cNvSpPr/>
          <p:nvPr/>
        </p:nvSpPr>
        <p:spPr>
          <a:xfrm>
            <a:off x="1298448" y="458571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τ(x) = E[Y(1) − Y(0) | X = x]. Effects that vary by subgroup — the basis of targeting and personalisation.</a:t>
            </a:r>
            <a:endParaRPr lang="en-US" sz="1250" dirty="0"/>
          </a:p>
        </p:txBody>
      </p:sp>
      <p:sp>
        <p:nvSpPr>
          <p:cNvPr id="17" name="Shape 15"/>
          <p:cNvSpPr/>
          <p:nvPr/>
        </p:nvSpPr>
        <p:spPr>
          <a:xfrm>
            <a:off x="566928" y="5246370"/>
            <a:ext cx="502920" cy="502920"/>
          </a:xfrm>
          <a:prstGeom prst="ellipse">
            <a:avLst/>
          </a:prstGeom>
          <a:solidFill>
            <a:srgbClr val="3E9B90"/>
          </a:solidFill>
          <a:ln/>
        </p:spPr>
        <p:txBody>
          <a:bodyPr/>
          <a:lstStyle/>
          <a:p>
            <a:endParaRPr lang="en-SA"/>
          </a:p>
        </p:txBody>
      </p:sp>
      <p:sp>
        <p:nvSpPr>
          <p:cNvPr id="18" name="Text 16"/>
          <p:cNvSpPr/>
          <p:nvPr/>
        </p:nvSpPr>
        <p:spPr>
          <a:xfrm>
            <a:off x="566928" y="524637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ITT</a:t>
            </a:r>
            <a:endParaRPr lang="en-US" sz="1300" dirty="0"/>
          </a:p>
        </p:txBody>
      </p:sp>
      <p:sp>
        <p:nvSpPr>
          <p:cNvPr id="19" name="Text 17"/>
          <p:cNvSpPr/>
          <p:nvPr/>
        </p:nvSpPr>
        <p:spPr>
          <a:xfrm>
            <a:off x="1298448" y="520065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Intention-to-Treat</a:t>
            </a:r>
            <a:endParaRPr lang="en-US" sz="1600" dirty="0"/>
          </a:p>
        </p:txBody>
      </p:sp>
      <p:sp>
        <p:nvSpPr>
          <p:cNvPr id="20" name="Text 18"/>
          <p:cNvSpPr/>
          <p:nvPr/>
        </p:nvSpPr>
        <p:spPr>
          <a:xfrm>
            <a:off x="1298448" y="551154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Effect of being assigned treatment, regardless of compliance. What a real rollout can actually deliver.</a:t>
            </a:r>
            <a:endParaRPr lang="en-US" sz="1250" dirty="0"/>
          </a:p>
        </p:txBody>
      </p:sp>
      <p:sp>
        <p:nvSpPr>
          <p:cNvPr id="21" name="Text 19"/>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POTENTIAL OUTCOMES</a:t>
            </a:r>
            <a:endParaRPr lang="en-US" sz="900" dirty="0"/>
          </a:p>
        </p:txBody>
      </p:sp>
      <p:sp>
        <p:nvSpPr>
          <p:cNvPr id="22" name="Text 20"/>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23  /  221</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2</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A Worked Numerical Example</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Six users, hypothetical full potential-outcomes table. Retention days under treatment Y(1) and control Y(0).</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full (oracle) table</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Y(1) = [30,25,40,22,35,28]; Y(0) = [24,26,31,20,27,25]. True ATE = mean(Y(1)−Y(0)) = +4.17 days.</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What we actually see</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If units 1,3,5 are treated and 2,4,6 control, we observe only [30,·,40,·,35,·] and [·,26,·,20,·,25].</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naive difference</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Mean(treated) − mean(control) = 35 − 23.7 = +11.3 — far above the true +4.17 because treated units were healthier to begin with.</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TRUE VS. NAIVE</a:t>
            </a:r>
            <a:endParaRPr lang="en-US" sz="1100" dirty="0"/>
          </a:p>
        </p:txBody>
      </p:sp>
      <p:sp>
        <p:nvSpPr>
          <p:cNvPr id="16" name="Text 14"/>
          <p:cNvSpPr/>
          <p:nvPr/>
        </p:nvSpPr>
        <p:spPr>
          <a:xfrm>
            <a:off x="7744968" y="2331720"/>
            <a:ext cx="3605479" cy="1097280"/>
          </a:xfrm>
          <a:prstGeom prst="rect">
            <a:avLst/>
          </a:prstGeom>
          <a:noFill/>
          <a:ln/>
        </p:spPr>
        <p:txBody>
          <a:bodyPr wrap="square" lIns="0" tIns="0" rIns="0" bIns="0" rtlCol="0" anchor="t"/>
          <a:lstStyle/>
          <a:p>
            <a:pPr marL="0" indent="0">
              <a:buNone/>
            </a:pPr>
            <a:r>
              <a:rPr lang="en-US" sz="5400" b="1" dirty="0">
                <a:solidFill>
                  <a:srgbClr val="16233F"/>
                </a:solidFill>
                <a:latin typeface="Cambria" pitchFamily="34" charset="0"/>
                <a:ea typeface="Cambria" pitchFamily="34" charset="-122"/>
                <a:cs typeface="Cambria" pitchFamily="34" charset="-120"/>
              </a:rPr>
              <a:t>4.2 vs 11.3</a:t>
            </a:r>
            <a:endParaRPr lang="en-US" sz="5400" dirty="0"/>
          </a:p>
        </p:txBody>
      </p:sp>
      <p:sp>
        <p:nvSpPr>
          <p:cNvPr id="17" name="Text 15"/>
          <p:cNvSpPr/>
          <p:nvPr/>
        </p:nvSpPr>
        <p:spPr>
          <a:xfrm>
            <a:off x="7744968" y="3520440"/>
            <a:ext cx="3605479" cy="2103120"/>
          </a:xfrm>
          <a:prstGeom prst="rect">
            <a:avLst/>
          </a:prstGeom>
          <a:noFill/>
          <a:ln/>
        </p:spPr>
        <p:txBody>
          <a:bodyPr wrap="square" lIns="0" tIns="0" rIns="0" bIns="0" rtlCol="0" anchor="t"/>
          <a:lstStyle/>
          <a:p>
            <a:pPr marL="0" indent="0">
              <a:lnSpc>
                <a:spcPct val="120000"/>
              </a:lnSpc>
              <a:buNone/>
            </a:pPr>
            <a:r>
              <a:rPr lang="en-US" sz="1300" dirty="0">
                <a:solidFill>
                  <a:srgbClr val="566581"/>
                </a:solidFill>
                <a:latin typeface="Calibri" pitchFamily="34" charset="0"/>
                <a:ea typeface="Calibri" pitchFamily="34" charset="-122"/>
                <a:cs typeface="Calibri" pitchFamily="34" charset="-120"/>
              </a:rPr>
              <a:t>Selection into treatment inflated the naive estimate 2.7×. Randomization is what would have made the naive difference honest.</a:t>
            </a:r>
            <a:endParaRPr lang="en-US" sz="1300" dirty="0"/>
          </a:p>
        </p:txBody>
      </p:sp>
      <p:sp>
        <p:nvSpPr>
          <p:cNvPr id="18" name="Text 1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POTENTIAL OUTCOMES</a:t>
            </a:r>
            <a:endParaRPr lang="en-US" sz="900" dirty="0"/>
          </a:p>
        </p:txBody>
      </p:sp>
      <p:sp>
        <p:nvSpPr>
          <p:cNvPr id="19" name="Text 1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24  /  221</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2</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Selection Bias, Made Precise</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The naive difference decomposes cleanly, exposing exactly what randomization removes.</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decomposition</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E[Y|T=1] − E[Y|T=0] = ATT + { E[Y(0)|T=1] − E[Y(0)|T=0] }.</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bias term</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The braces are baseline (selection) bias: how treated and control units would have differed even without treatment.</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escape</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If treatment is independent of potential outcomes, that term is zero and the naive difference equals the ATE.</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READ IT ALOUD</a:t>
            </a:r>
            <a:endParaRPr lang="en-US" sz="1100" dirty="0"/>
          </a:p>
        </p:txBody>
      </p:sp>
      <p:sp>
        <p:nvSpPr>
          <p:cNvPr id="16" name="Text 14"/>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i="1" dirty="0">
                <a:solidFill>
                  <a:srgbClr val="16233F"/>
                </a:solidFill>
                <a:latin typeface="Calibri" pitchFamily="34" charset="0"/>
                <a:ea typeface="Calibri" pitchFamily="34" charset="-122"/>
                <a:cs typeface="Calibri" pitchFamily="34" charset="-120"/>
              </a:rPr>
              <a:t>Observed gap = real effect on the treated + how different the groups already were. Design is the fight to zero out the second term.</a:t>
            </a:r>
            <a:endParaRPr lang="en-US" sz="13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POTENTIAL OUTCOMES</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25  /  221</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2</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Potential Outcomes: Common Misreadings</a:t>
            </a:r>
            <a:endParaRPr lang="en-US" sz="3400" dirty="0"/>
          </a:p>
        </p:txBody>
      </p:sp>
      <p:sp>
        <p:nvSpPr>
          <p:cNvPr id="4" name="Text 2"/>
          <p:cNvSpPr/>
          <p:nvPr/>
        </p:nvSpPr>
        <p:spPr>
          <a:xfrm>
            <a:off x="566928" y="1737360"/>
            <a:ext cx="11057839" cy="64008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Precision here prevents errors everywhere downstream.</a:t>
            </a:r>
            <a:endParaRPr lang="en-US" sz="1450" dirty="0"/>
          </a:p>
        </p:txBody>
      </p:sp>
      <p:sp>
        <p:nvSpPr>
          <p:cNvPr id="5" name="Shape 3"/>
          <p:cNvSpPr/>
          <p:nvPr/>
        </p:nvSpPr>
        <p:spPr>
          <a:xfrm>
            <a:off x="566928" y="2578608"/>
            <a:ext cx="137160" cy="137160"/>
          </a:xfrm>
          <a:prstGeom prst="ellipse">
            <a:avLst/>
          </a:prstGeom>
          <a:solidFill>
            <a:srgbClr val="3FA9E0"/>
          </a:solidFill>
          <a:ln/>
        </p:spPr>
        <p:txBody>
          <a:bodyPr/>
          <a:lstStyle/>
          <a:p>
            <a:endParaRPr lang="en-SA"/>
          </a:p>
        </p:txBody>
      </p:sp>
      <p:sp>
        <p:nvSpPr>
          <p:cNvPr id="6" name="Text 4"/>
          <p:cNvSpPr/>
          <p:nvPr/>
        </p:nvSpPr>
        <p:spPr>
          <a:xfrm>
            <a:off x="841248" y="2514600"/>
            <a:ext cx="10783519" cy="749808"/>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Y(1) and Y(0) are defined for every unit — including units that were never treated. They are not ‘the treated group’s outcome.’</a:t>
            </a:r>
            <a:endParaRPr lang="en-US" sz="1400" dirty="0"/>
          </a:p>
        </p:txBody>
      </p:sp>
      <p:sp>
        <p:nvSpPr>
          <p:cNvPr id="7" name="Shape 5"/>
          <p:cNvSpPr/>
          <p:nvPr/>
        </p:nvSpPr>
        <p:spPr>
          <a:xfrm>
            <a:off x="566928" y="3328416"/>
            <a:ext cx="137160" cy="137160"/>
          </a:xfrm>
          <a:prstGeom prst="ellipse">
            <a:avLst/>
          </a:prstGeom>
          <a:solidFill>
            <a:srgbClr val="5A5BA6"/>
          </a:solidFill>
          <a:ln/>
        </p:spPr>
        <p:txBody>
          <a:bodyPr/>
          <a:lstStyle/>
          <a:p>
            <a:endParaRPr lang="en-SA"/>
          </a:p>
        </p:txBody>
      </p:sp>
      <p:sp>
        <p:nvSpPr>
          <p:cNvPr id="8" name="Text 6"/>
          <p:cNvSpPr/>
          <p:nvPr/>
        </p:nvSpPr>
        <p:spPr>
          <a:xfrm>
            <a:off x="841248" y="3264408"/>
            <a:ext cx="10783519" cy="749808"/>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The effect τᵢ is a within-unit contrast, not a between-group difference.</a:t>
            </a:r>
            <a:endParaRPr lang="en-US" sz="1400" dirty="0"/>
          </a:p>
        </p:txBody>
      </p:sp>
      <p:sp>
        <p:nvSpPr>
          <p:cNvPr id="9" name="Shape 7"/>
          <p:cNvSpPr/>
          <p:nvPr/>
        </p:nvSpPr>
        <p:spPr>
          <a:xfrm>
            <a:off x="566928" y="4078224"/>
            <a:ext cx="137160" cy="137160"/>
          </a:xfrm>
          <a:prstGeom prst="ellipse">
            <a:avLst/>
          </a:prstGeom>
          <a:solidFill>
            <a:srgbClr val="EA7B38"/>
          </a:solidFill>
          <a:ln/>
        </p:spPr>
        <p:txBody>
          <a:bodyPr/>
          <a:lstStyle/>
          <a:p>
            <a:endParaRPr lang="en-SA"/>
          </a:p>
        </p:txBody>
      </p:sp>
      <p:sp>
        <p:nvSpPr>
          <p:cNvPr id="10" name="Text 8"/>
          <p:cNvSpPr/>
          <p:nvPr/>
        </p:nvSpPr>
        <p:spPr>
          <a:xfrm>
            <a:off x="841248" y="4014216"/>
            <a:ext cx="10783519" cy="749808"/>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‘No effect for the average’ (ATE = 0) does not mean ‘no effect for anyone’ — positive and negative CATEs can cancel.</a:t>
            </a:r>
            <a:endParaRPr lang="en-US" sz="1400" dirty="0"/>
          </a:p>
        </p:txBody>
      </p:sp>
      <p:sp>
        <p:nvSpPr>
          <p:cNvPr id="11" name="Shape 9"/>
          <p:cNvSpPr/>
          <p:nvPr/>
        </p:nvSpPr>
        <p:spPr>
          <a:xfrm>
            <a:off x="566928" y="4828032"/>
            <a:ext cx="137160" cy="137160"/>
          </a:xfrm>
          <a:prstGeom prst="ellipse">
            <a:avLst/>
          </a:prstGeom>
          <a:solidFill>
            <a:srgbClr val="3E9B90"/>
          </a:solidFill>
          <a:ln/>
        </p:spPr>
        <p:txBody>
          <a:bodyPr/>
          <a:lstStyle/>
          <a:p>
            <a:endParaRPr lang="en-SA"/>
          </a:p>
        </p:txBody>
      </p:sp>
      <p:sp>
        <p:nvSpPr>
          <p:cNvPr id="12" name="Text 10"/>
          <p:cNvSpPr/>
          <p:nvPr/>
        </p:nvSpPr>
        <p:spPr>
          <a:xfrm>
            <a:off x="841248" y="4764024"/>
            <a:ext cx="10783519" cy="749808"/>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Potential outcomes are fixed attributes of a unit under an intervention; randomness enters through which one we observe.</a:t>
            </a:r>
            <a:endParaRPr lang="en-US" sz="1400" dirty="0"/>
          </a:p>
        </p:txBody>
      </p:sp>
      <p:sp>
        <p:nvSpPr>
          <p:cNvPr id="13" name="Text 11"/>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POTENTIAL OUTCOMES</a:t>
            </a:r>
            <a:endParaRPr lang="en-US" sz="900" dirty="0"/>
          </a:p>
        </p:txBody>
      </p:sp>
      <p:sp>
        <p:nvSpPr>
          <p:cNvPr id="14" name="Text 12"/>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26  /  221</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2</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Knowledge Check: Estimands</a:t>
            </a:r>
            <a:endParaRPr lang="en-US" sz="3400" dirty="0"/>
          </a:p>
        </p:txBody>
      </p:sp>
      <p:sp>
        <p:nvSpPr>
          <p:cNvPr id="4" name="Shape 2"/>
          <p:cNvSpPr/>
          <p:nvPr/>
        </p:nvSpPr>
        <p:spPr>
          <a:xfrm>
            <a:off x="566928" y="178308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5" name="Shape 3"/>
          <p:cNvSpPr/>
          <p:nvPr/>
        </p:nvSpPr>
        <p:spPr>
          <a:xfrm>
            <a:off x="768096" y="1965960"/>
            <a:ext cx="384048" cy="384048"/>
          </a:xfrm>
          <a:prstGeom prst="ellipse">
            <a:avLst/>
          </a:prstGeom>
          <a:solidFill>
            <a:srgbClr val="3FA9E0"/>
          </a:solidFill>
          <a:ln/>
        </p:spPr>
        <p:txBody>
          <a:bodyPr/>
          <a:lstStyle/>
          <a:p>
            <a:endParaRPr lang="en-SA"/>
          </a:p>
        </p:txBody>
      </p:sp>
      <p:sp>
        <p:nvSpPr>
          <p:cNvPr id="6" name="Text 4"/>
          <p:cNvSpPr/>
          <p:nvPr/>
        </p:nvSpPr>
        <p:spPr>
          <a:xfrm>
            <a:off x="768096" y="19659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Q1</a:t>
            </a:r>
            <a:endParaRPr lang="en-US" sz="1300" dirty="0"/>
          </a:p>
        </p:txBody>
      </p:sp>
      <p:sp>
        <p:nvSpPr>
          <p:cNvPr id="7" name="Text 5"/>
          <p:cNvSpPr/>
          <p:nvPr/>
        </p:nvSpPr>
        <p:spPr>
          <a:xfrm>
            <a:off x="1344168" y="192938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A regulator asks: ‘Among firms that adopted the standard, how much did emissions fall because of it?’ Which estimand?</a:t>
            </a:r>
            <a:endParaRPr lang="en-US" sz="1400" dirty="0"/>
          </a:p>
        </p:txBody>
      </p:sp>
      <p:sp>
        <p:nvSpPr>
          <p:cNvPr id="8" name="Text 6"/>
          <p:cNvSpPr/>
          <p:nvPr/>
        </p:nvSpPr>
        <p:spPr>
          <a:xfrm>
            <a:off x="1344168" y="238658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ATE      B) ATT      C) CATE      D) ITT</a:t>
            </a:r>
            <a:endParaRPr lang="en-US" sz="1200" dirty="0"/>
          </a:p>
        </p:txBody>
      </p:sp>
      <p:sp>
        <p:nvSpPr>
          <p:cNvPr id="9" name="Shape 7"/>
          <p:cNvSpPr/>
          <p:nvPr/>
        </p:nvSpPr>
        <p:spPr>
          <a:xfrm>
            <a:off x="566928" y="306324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10" name="Shape 8"/>
          <p:cNvSpPr/>
          <p:nvPr/>
        </p:nvSpPr>
        <p:spPr>
          <a:xfrm>
            <a:off x="768096" y="3246120"/>
            <a:ext cx="384048" cy="384048"/>
          </a:xfrm>
          <a:prstGeom prst="ellipse">
            <a:avLst/>
          </a:prstGeom>
          <a:solidFill>
            <a:srgbClr val="5A5BA6"/>
          </a:solidFill>
          <a:ln/>
        </p:spPr>
        <p:txBody>
          <a:bodyPr/>
          <a:lstStyle/>
          <a:p>
            <a:endParaRPr lang="en-SA"/>
          </a:p>
        </p:txBody>
      </p:sp>
      <p:sp>
        <p:nvSpPr>
          <p:cNvPr id="11" name="Text 9"/>
          <p:cNvSpPr/>
          <p:nvPr/>
        </p:nvSpPr>
        <p:spPr>
          <a:xfrm>
            <a:off x="768096" y="32461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Q2</a:t>
            </a:r>
            <a:endParaRPr lang="en-US" sz="1300" dirty="0"/>
          </a:p>
        </p:txBody>
      </p:sp>
      <p:sp>
        <p:nvSpPr>
          <p:cNvPr id="12" name="Text 10"/>
          <p:cNvSpPr/>
          <p:nvPr/>
        </p:nvSpPr>
        <p:spPr>
          <a:xfrm>
            <a:off x="1344168" y="320954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You want to personalise a promotion by customer segment. Which estimand do you need?</a:t>
            </a:r>
            <a:endParaRPr lang="en-US" sz="1400" dirty="0"/>
          </a:p>
        </p:txBody>
      </p:sp>
      <p:sp>
        <p:nvSpPr>
          <p:cNvPr id="13" name="Text 11"/>
          <p:cNvSpPr/>
          <p:nvPr/>
        </p:nvSpPr>
        <p:spPr>
          <a:xfrm>
            <a:off x="1344168" y="366674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ATE      B) ATT      C) CATE      D) ITT</a:t>
            </a:r>
            <a:endParaRPr lang="en-US" sz="1200" dirty="0"/>
          </a:p>
        </p:txBody>
      </p:sp>
      <p:sp>
        <p:nvSpPr>
          <p:cNvPr id="14" name="Shape 12"/>
          <p:cNvSpPr/>
          <p:nvPr/>
        </p:nvSpPr>
        <p:spPr>
          <a:xfrm>
            <a:off x="566928" y="434340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15" name="Shape 13"/>
          <p:cNvSpPr/>
          <p:nvPr/>
        </p:nvSpPr>
        <p:spPr>
          <a:xfrm>
            <a:off x="768096" y="4526280"/>
            <a:ext cx="384048" cy="384048"/>
          </a:xfrm>
          <a:prstGeom prst="ellipse">
            <a:avLst/>
          </a:prstGeom>
          <a:solidFill>
            <a:srgbClr val="EA7B38"/>
          </a:solidFill>
          <a:ln/>
        </p:spPr>
        <p:txBody>
          <a:bodyPr/>
          <a:lstStyle/>
          <a:p>
            <a:endParaRPr lang="en-SA"/>
          </a:p>
        </p:txBody>
      </p:sp>
      <p:sp>
        <p:nvSpPr>
          <p:cNvPr id="16" name="Text 14"/>
          <p:cNvSpPr/>
          <p:nvPr/>
        </p:nvSpPr>
        <p:spPr>
          <a:xfrm>
            <a:off x="768096" y="45262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Q3</a:t>
            </a:r>
            <a:endParaRPr lang="en-US" sz="1300" dirty="0"/>
          </a:p>
        </p:txBody>
      </p:sp>
      <p:sp>
        <p:nvSpPr>
          <p:cNvPr id="17" name="Text 15"/>
          <p:cNvSpPr/>
          <p:nvPr/>
        </p:nvSpPr>
        <p:spPr>
          <a:xfrm>
            <a:off x="1344168" y="448970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In a trial with imperfect compliance, the effect of assignment (not uptake) is the:</a:t>
            </a:r>
            <a:endParaRPr lang="en-US" sz="1400" dirty="0"/>
          </a:p>
        </p:txBody>
      </p:sp>
      <p:sp>
        <p:nvSpPr>
          <p:cNvPr id="18" name="Text 16"/>
          <p:cNvSpPr/>
          <p:nvPr/>
        </p:nvSpPr>
        <p:spPr>
          <a:xfrm>
            <a:off x="1344168" y="494690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ATT      B) LATE      C) ITT      D) CATE</a:t>
            </a:r>
            <a:endParaRPr lang="en-US" sz="1200" dirty="0"/>
          </a:p>
        </p:txBody>
      </p:sp>
      <p:sp>
        <p:nvSpPr>
          <p:cNvPr id="19" name="Text 17"/>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POTENTIAL OUTCOMES</a:t>
            </a:r>
            <a:endParaRPr lang="en-US" sz="900" dirty="0"/>
          </a:p>
        </p:txBody>
      </p:sp>
      <p:sp>
        <p:nvSpPr>
          <p:cNvPr id="20" name="Text 18"/>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27  /  221</a:t>
            </a:r>
            <a:endParaRPr lang="en-US" sz="900" dirty="0"/>
          </a:p>
        </p:txBody>
      </p:sp>
      <p:pic>
        <p:nvPicPr>
          <p:cNvPr id="21" name="Picture 20" descr="Day1_Check2.png"/>
          <p:cNvPicPr>
            <a:picLocks noChangeAspect="1"/>
          </p:cNvPicPr>
          <p:nvPr/>
        </p:nvPicPr>
        <p:blipFill>
          <a:blip r:embed="rId3"/>
          <a:stretch>
            <a:fillRect/>
          </a:stretch>
        </p:blipFill>
        <p:spPr>
          <a:xfrm>
            <a:off x="10637520" y="320040"/>
            <a:ext cx="1143000" cy="1143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DAY 1 · HOUR 3</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Identification: The Assumptions That Do the Work</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SUTVA, ignorability / unconfoundedness, positivity / overlap, and consistency — what must hold for an estimand to be recoverable.</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DAY 1</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28  /  221</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3</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The Identification Assumptions</a:t>
            </a:r>
            <a:endParaRPr lang="en-US" sz="3400" dirty="0"/>
          </a:p>
        </p:txBody>
      </p:sp>
      <p:sp>
        <p:nvSpPr>
          <p:cNvPr id="4" name="Text 2"/>
          <p:cNvSpPr/>
          <p:nvPr/>
        </p:nvSpPr>
        <p:spPr>
          <a:xfrm>
            <a:off x="566928" y="1783080"/>
            <a:ext cx="11057839" cy="548640"/>
          </a:xfrm>
          <a:prstGeom prst="rect">
            <a:avLst/>
          </a:prstGeom>
          <a:noFill/>
          <a:ln/>
        </p:spPr>
        <p:txBody>
          <a:bodyPr wrap="square" lIns="0" tIns="0" rIns="0" bIns="0" rtlCol="0" anchor="t"/>
          <a:lstStyle/>
          <a:p>
            <a:pPr marL="0" indent="0">
              <a:lnSpc>
                <a:spcPct val="115000"/>
              </a:lnSpc>
              <a:buNone/>
            </a:pPr>
            <a:r>
              <a:rPr lang="en-US" sz="1400" dirty="0">
                <a:solidFill>
                  <a:srgbClr val="566581"/>
                </a:solidFill>
                <a:latin typeface="Calibri" pitchFamily="34" charset="0"/>
                <a:ea typeface="Calibri" pitchFamily="34" charset="-122"/>
                <a:cs typeface="Calibri" pitchFamily="34" charset="-120"/>
              </a:rPr>
              <a:t>An estimand is identified when it can be written as a function of the observed-data distribution. These are the standard sufficient conditions.</a:t>
            </a:r>
            <a:endParaRPr lang="en-US" sz="1400" dirty="0"/>
          </a:p>
        </p:txBody>
      </p:sp>
      <p:sp>
        <p:nvSpPr>
          <p:cNvPr id="5" name="Shape 3"/>
          <p:cNvSpPr/>
          <p:nvPr/>
        </p:nvSpPr>
        <p:spPr>
          <a:xfrm>
            <a:off x="566928" y="2468880"/>
            <a:ext cx="502920" cy="502920"/>
          </a:xfrm>
          <a:prstGeom prst="ellipse">
            <a:avLst/>
          </a:prstGeom>
          <a:solidFill>
            <a:srgbClr val="3FA9E0"/>
          </a:solidFill>
          <a:ln/>
        </p:spPr>
        <p:txBody>
          <a:bodyPr/>
          <a:lstStyle/>
          <a:p>
            <a:endParaRPr lang="en-SA"/>
          </a:p>
        </p:txBody>
      </p:sp>
      <p:sp>
        <p:nvSpPr>
          <p:cNvPr id="6" name="Text 4"/>
          <p:cNvSpPr/>
          <p:nvPr/>
        </p:nvSpPr>
        <p:spPr>
          <a:xfrm>
            <a:off x="566928" y="246888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A1</a:t>
            </a:r>
            <a:endParaRPr lang="en-US" sz="1300" dirty="0"/>
          </a:p>
        </p:txBody>
      </p:sp>
      <p:sp>
        <p:nvSpPr>
          <p:cNvPr id="7" name="Text 5"/>
          <p:cNvSpPr/>
          <p:nvPr/>
        </p:nvSpPr>
        <p:spPr>
          <a:xfrm>
            <a:off x="1298448" y="242316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SUTVA</a:t>
            </a:r>
            <a:endParaRPr lang="en-US" sz="1600" dirty="0"/>
          </a:p>
        </p:txBody>
      </p:sp>
      <p:sp>
        <p:nvSpPr>
          <p:cNvPr id="8" name="Text 6"/>
          <p:cNvSpPr/>
          <p:nvPr/>
        </p:nvSpPr>
        <p:spPr>
          <a:xfrm>
            <a:off x="1298448" y="273405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Stable Unit Treatment Value: no interference between units, and a single well-defined version of treatment.</a:t>
            </a:r>
            <a:endParaRPr lang="en-US" sz="1250" dirty="0"/>
          </a:p>
        </p:txBody>
      </p:sp>
      <p:sp>
        <p:nvSpPr>
          <p:cNvPr id="9" name="Shape 7"/>
          <p:cNvSpPr/>
          <p:nvPr/>
        </p:nvSpPr>
        <p:spPr>
          <a:xfrm>
            <a:off x="566928" y="3394710"/>
            <a:ext cx="502920" cy="502920"/>
          </a:xfrm>
          <a:prstGeom prst="ellipse">
            <a:avLst/>
          </a:prstGeom>
          <a:solidFill>
            <a:srgbClr val="5A5BA6"/>
          </a:solidFill>
          <a:ln/>
        </p:spPr>
        <p:txBody>
          <a:bodyPr/>
          <a:lstStyle/>
          <a:p>
            <a:endParaRPr lang="en-SA"/>
          </a:p>
        </p:txBody>
      </p:sp>
      <p:sp>
        <p:nvSpPr>
          <p:cNvPr id="10" name="Text 8"/>
          <p:cNvSpPr/>
          <p:nvPr/>
        </p:nvSpPr>
        <p:spPr>
          <a:xfrm>
            <a:off x="566928" y="339471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A2</a:t>
            </a:r>
            <a:endParaRPr lang="en-US" sz="1300" dirty="0"/>
          </a:p>
        </p:txBody>
      </p:sp>
      <p:sp>
        <p:nvSpPr>
          <p:cNvPr id="11" name="Text 9"/>
          <p:cNvSpPr/>
          <p:nvPr/>
        </p:nvSpPr>
        <p:spPr>
          <a:xfrm>
            <a:off x="1298448" y="334899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Ignorability / unconfoundedness</a:t>
            </a:r>
            <a:endParaRPr lang="en-US" sz="1600" dirty="0"/>
          </a:p>
        </p:txBody>
      </p:sp>
      <p:sp>
        <p:nvSpPr>
          <p:cNvPr id="12" name="Text 10"/>
          <p:cNvSpPr/>
          <p:nvPr/>
        </p:nvSpPr>
        <p:spPr>
          <a:xfrm>
            <a:off x="1298448" y="365988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{Y(1),Y(0)} ⊥ T | X. Given covariates, treatment is as-good-as-random.</a:t>
            </a:r>
            <a:endParaRPr lang="en-US" sz="1250" dirty="0"/>
          </a:p>
        </p:txBody>
      </p:sp>
      <p:sp>
        <p:nvSpPr>
          <p:cNvPr id="13" name="Shape 11"/>
          <p:cNvSpPr/>
          <p:nvPr/>
        </p:nvSpPr>
        <p:spPr>
          <a:xfrm>
            <a:off x="566928" y="4320540"/>
            <a:ext cx="502920" cy="502920"/>
          </a:xfrm>
          <a:prstGeom prst="ellipse">
            <a:avLst/>
          </a:prstGeom>
          <a:solidFill>
            <a:srgbClr val="EA7B38"/>
          </a:solidFill>
          <a:ln/>
        </p:spPr>
        <p:txBody>
          <a:bodyPr/>
          <a:lstStyle/>
          <a:p>
            <a:endParaRPr lang="en-SA"/>
          </a:p>
        </p:txBody>
      </p:sp>
      <p:sp>
        <p:nvSpPr>
          <p:cNvPr id="14" name="Text 12"/>
          <p:cNvSpPr/>
          <p:nvPr/>
        </p:nvSpPr>
        <p:spPr>
          <a:xfrm>
            <a:off x="566928" y="43205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A3</a:t>
            </a:r>
            <a:endParaRPr lang="en-US" sz="1300" dirty="0"/>
          </a:p>
        </p:txBody>
      </p:sp>
      <p:sp>
        <p:nvSpPr>
          <p:cNvPr id="15" name="Text 13"/>
          <p:cNvSpPr/>
          <p:nvPr/>
        </p:nvSpPr>
        <p:spPr>
          <a:xfrm>
            <a:off x="1298448" y="427482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Positivity / overlap</a:t>
            </a:r>
            <a:endParaRPr lang="en-US" sz="1600" dirty="0"/>
          </a:p>
        </p:txBody>
      </p:sp>
      <p:sp>
        <p:nvSpPr>
          <p:cNvPr id="16" name="Text 14"/>
          <p:cNvSpPr/>
          <p:nvPr/>
        </p:nvSpPr>
        <p:spPr>
          <a:xfrm>
            <a:off x="1298448" y="458571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0 &lt; P(T=1 | X=x) &lt; 1 for all x. Every covariate profile could, in principle, be in either arm.</a:t>
            </a:r>
            <a:endParaRPr lang="en-US" sz="1250" dirty="0"/>
          </a:p>
        </p:txBody>
      </p:sp>
      <p:sp>
        <p:nvSpPr>
          <p:cNvPr id="17" name="Shape 15"/>
          <p:cNvSpPr/>
          <p:nvPr/>
        </p:nvSpPr>
        <p:spPr>
          <a:xfrm>
            <a:off x="566928" y="5246370"/>
            <a:ext cx="502920" cy="502920"/>
          </a:xfrm>
          <a:prstGeom prst="ellipse">
            <a:avLst/>
          </a:prstGeom>
          <a:solidFill>
            <a:srgbClr val="3E9B90"/>
          </a:solidFill>
          <a:ln/>
        </p:spPr>
        <p:txBody>
          <a:bodyPr/>
          <a:lstStyle/>
          <a:p>
            <a:endParaRPr lang="en-SA"/>
          </a:p>
        </p:txBody>
      </p:sp>
      <p:sp>
        <p:nvSpPr>
          <p:cNvPr id="18" name="Text 16"/>
          <p:cNvSpPr/>
          <p:nvPr/>
        </p:nvSpPr>
        <p:spPr>
          <a:xfrm>
            <a:off x="566928" y="524637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A4</a:t>
            </a:r>
            <a:endParaRPr lang="en-US" sz="1300" dirty="0"/>
          </a:p>
        </p:txBody>
      </p:sp>
      <p:sp>
        <p:nvSpPr>
          <p:cNvPr id="19" name="Text 17"/>
          <p:cNvSpPr/>
          <p:nvPr/>
        </p:nvSpPr>
        <p:spPr>
          <a:xfrm>
            <a:off x="1298448" y="520065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Consistency</a:t>
            </a:r>
            <a:endParaRPr lang="en-US" sz="1600" dirty="0"/>
          </a:p>
        </p:txBody>
      </p:sp>
      <p:sp>
        <p:nvSpPr>
          <p:cNvPr id="20" name="Text 18"/>
          <p:cNvSpPr/>
          <p:nvPr/>
        </p:nvSpPr>
        <p:spPr>
          <a:xfrm>
            <a:off x="1298448" y="551154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The observed Y equals the potential outcome for the treatment actually received: Y = Y(T).</a:t>
            </a:r>
            <a:endParaRPr lang="en-US" sz="1250" dirty="0"/>
          </a:p>
        </p:txBody>
      </p:sp>
      <p:sp>
        <p:nvSpPr>
          <p:cNvPr id="21" name="Text 19"/>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IDENTIFICATION</a:t>
            </a:r>
            <a:endParaRPr lang="en-US" sz="900" dirty="0"/>
          </a:p>
        </p:txBody>
      </p:sp>
      <p:sp>
        <p:nvSpPr>
          <p:cNvPr id="22" name="Text 20"/>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29  /  221</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3</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SUTVA in Depth</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Two hidden clauses that quietly break many real analyses.</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No interference</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Unit i's outcome is unaffected by unit j's treatment. Violated by network effects, marketplaces, epidemics, and word-of-mouth.</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One version of treatment</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‘The’ treatment is well-defined; there are not hidden variants delivering different effects under the same label.</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When it breaks</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Cluster-randomize, or model spillovers explicitly (partial interference, exposure mapping). We treat this on Day 2 and Day 4.</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MARKETPLACE WARNING</a:t>
            </a:r>
            <a:endParaRPr lang="en-US" sz="1100" dirty="0"/>
          </a:p>
        </p:txBody>
      </p:sp>
      <p:sp>
        <p:nvSpPr>
          <p:cNvPr id="16" name="Text 14"/>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dirty="0">
                <a:solidFill>
                  <a:srgbClr val="16233F"/>
                </a:solidFill>
                <a:latin typeface="Calibri" pitchFamily="34" charset="0"/>
                <a:ea typeface="Calibri" pitchFamily="34" charset="-122"/>
                <a:cs typeface="Calibri" pitchFamily="34" charset="-120"/>
              </a:rPr>
              <a:t>In two-sided platforms, treating buyers changes the environment for control buyers. Naive user-level A/B tests can be badly biased by interference.</a:t>
            </a:r>
            <a:endParaRPr lang="en-US" sz="13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IDENTIFICATION</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30  /  221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3</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Ignorability: The Load-Bearing Wall</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Unconfoundedness says that, conditional on measured covariates, assignment carries no information about the potential outcomes.</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In randomized trials</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It holds by design and requires no covariates — randomization guarantees {Y(1),Y(0)} ⊥ T.</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In observational studies</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It is an assumption, not a fact. It holds only if X captures every common cause of T and Y (‘no unmeasured confounding’).</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Why it is untestable</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The data cannot reveal a confounder you never measured. This is why observational causal claims need sensitivity analysis (Day 4).</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IDENTIFICATION</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31  /  221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3</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Positivity / Overlap</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You cannot estimate a counterfactual for a covariate region where one arm never appears.</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Structural violation</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 rule forbids treatment for some group (e.g. under-18s never eligible). No data can fill that counterfactual.</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Practical violation</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Overlap is technically present but propensity scores near 0 or 1 create extreme weights and unstable estimates.</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Diagnostics</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Plot the propensity-score distributions by arm; trim, restrict to common support, or redefine the estimand (e.g. ATT, ATO).</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OVERLAP CHECK</a:t>
            </a:r>
            <a:endParaRPr lang="en-US" sz="1100" dirty="0"/>
          </a:p>
        </p:txBody>
      </p:sp>
      <p:sp>
        <p:nvSpPr>
          <p:cNvPr id="16" name="Text 14"/>
          <p:cNvSpPr/>
          <p:nvPr/>
        </p:nvSpPr>
        <p:spPr>
          <a:xfrm>
            <a:off x="7744968" y="2331720"/>
            <a:ext cx="3605479" cy="1097280"/>
          </a:xfrm>
          <a:prstGeom prst="rect">
            <a:avLst/>
          </a:prstGeom>
          <a:noFill/>
          <a:ln/>
        </p:spPr>
        <p:txBody>
          <a:bodyPr wrap="square" lIns="0" tIns="0" rIns="0" bIns="0" rtlCol="0" anchor="t"/>
          <a:lstStyle/>
          <a:p>
            <a:pPr marL="0" indent="0">
              <a:buNone/>
            </a:pPr>
            <a:r>
              <a:rPr lang="en-US" sz="5400" b="1" dirty="0">
                <a:solidFill>
                  <a:srgbClr val="16233F"/>
                </a:solidFill>
                <a:latin typeface="Cambria" pitchFamily="34" charset="0"/>
                <a:ea typeface="Cambria" pitchFamily="34" charset="-122"/>
                <a:cs typeface="Cambria" pitchFamily="34" charset="-120"/>
              </a:rPr>
              <a:t>0&lt;e(x)&lt;1</a:t>
            </a:r>
            <a:endParaRPr lang="en-US" sz="5400" dirty="0"/>
          </a:p>
        </p:txBody>
      </p:sp>
      <p:sp>
        <p:nvSpPr>
          <p:cNvPr id="17" name="Text 15"/>
          <p:cNvSpPr/>
          <p:nvPr/>
        </p:nvSpPr>
        <p:spPr>
          <a:xfrm>
            <a:off x="7744968" y="3520440"/>
            <a:ext cx="3605479" cy="2103120"/>
          </a:xfrm>
          <a:prstGeom prst="rect">
            <a:avLst/>
          </a:prstGeom>
          <a:noFill/>
          <a:ln/>
        </p:spPr>
        <p:txBody>
          <a:bodyPr wrap="square" lIns="0" tIns="0" rIns="0" bIns="0" rtlCol="0" anchor="t"/>
          <a:lstStyle/>
          <a:p>
            <a:pPr marL="0" indent="0">
              <a:lnSpc>
                <a:spcPct val="120000"/>
              </a:lnSpc>
              <a:buNone/>
            </a:pPr>
            <a:r>
              <a:rPr lang="en-US" sz="1300" dirty="0">
                <a:solidFill>
                  <a:srgbClr val="566581"/>
                </a:solidFill>
                <a:latin typeface="Calibri" pitchFamily="34" charset="0"/>
                <a:ea typeface="Calibri" pitchFamily="34" charset="-122"/>
                <a:cs typeface="Calibri" pitchFamily="34" charset="-120"/>
              </a:rPr>
              <a:t>The propensity score e(x)=P(T=1|X=x) must stay away from 0 and 1. Its distribution by arm is your first diagnostic in any observational study.</a:t>
            </a:r>
            <a:endParaRPr lang="en-US" sz="1300" dirty="0"/>
          </a:p>
        </p:txBody>
      </p:sp>
      <p:sp>
        <p:nvSpPr>
          <p:cNvPr id="18" name="Text 1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IDENTIFICATION</a:t>
            </a:r>
            <a:endParaRPr lang="en-US" sz="900" dirty="0"/>
          </a:p>
        </p:txBody>
      </p:sp>
      <p:sp>
        <p:nvSpPr>
          <p:cNvPr id="19" name="Text 1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32  /  221</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3</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Good Controls, Bad Controls</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‘Add more controls’ is not neutral. What you adjust for is a causal decision, and some adjustments create bias.</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Confounder — adjust</a:t>
            </a:r>
            <a:endParaRPr lang="en-US" sz="1500" dirty="0"/>
          </a:p>
        </p:txBody>
      </p:sp>
      <p:sp>
        <p:nvSpPr>
          <p:cNvPr id="7" name="Text 5"/>
          <p:cNvSpPr/>
          <p:nvPr/>
        </p:nvSpPr>
        <p:spPr>
          <a:xfrm>
            <a:off x="859536" y="2834640"/>
            <a:ext cx="10692079"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 common cause of T and Y. Adjusting removes backdoor bias. This is the good case.</a:t>
            </a:r>
            <a:endParaRPr lang="en-US" sz="1250" dirty="0"/>
          </a:p>
        </p:txBody>
      </p:sp>
      <p:sp>
        <p:nvSpPr>
          <p:cNvPr id="8" name="Shape 6"/>
          <p:cNvSpPr/>
          <p:nvPr/>
        </p:nvSpPr>
        <p:spPr>
          <a:xfrm>
            <a:off x="566928" y="3506724"/>
            <a:ext cx="146304" cy="146304"/>
          </a:xfrm>
          <a:prstGeom prst="ellipse">
            <a:avLst/>
          </a:prstGeom>
          <a:solidFill>
            <a:srgbClr val="5A5BA6"/>
          </a:solidFill>
          <a:ln/>
        </p:spPr>
        <p:txBody>
          <a:bodyPr/>
          <a:lstStyle/>
          <a:p>
            <a:endParaRPr lang="en-SA"/>
          </a:p>
        </p:txBody>
      </p:sp>
      <p:sp>
        <p:nvSpPr>
          <p:cNvPr id="9" name="Text 7"/>
          <p:cNvSpPr/>
          <p:nvPr/>
        </p:nvSpPr>
        <p:spPr>
          <a:xfrm>
            <a:off x="859536" y="345186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Mediator — do not adjust</a:t>
            </a:r>
            <a:endParaRPr lang="en-US" sz="1500" dirty="0"/>
          </a:p>
        </p:txBody>
      </p:sp>
      <p:sp>
        <p:nvSpPr>
          <p:cNvPr id="10" name="Text 8"/>
          <p:cNvSpPr/>
          <p:nvPr/>
        </p:nvSpPr>
        <p:spPr>
          <a:xfrm>
            <a:off x="859536" y="3726180"/>
            <a:ext cx="10692079"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On the causal path T → M → Y. Adjusting blocks part of the very effect you want to measure.</a:t>
            </a:r>
            <a:endParaRPr lang="en-US" sz="1250" dirty="0"/>
          </a:p>
        </p:txBody>
      </p:sp>
      <p:sp>
        <p:nvSpPr>
          <p:cNvPr id="11" name="Shape 9"/>
          <p:cNvSpPr/>
          <p:nvPr/>
        </p:nvSpPr>
        <p:spPr>
          <a:xfrm>
            <a:off x="566928" y="4398264"/>
            <a:ext cx="146304" cy="146304"/>
          </a:xfrm>
          <a:prstGeom prst="ellipse">
            <a:avLst/>
          </a:prstGeom>
          <a:solidFill>
            <a:srgbClr val="EA7B38"/>
          </a:solidFill>
          <a:ln/>
        </p:spPr>
        <p:txBody>
          <a:bodyPr/>
          <a:lstStyle/>
          <a:p>
            <a:endParaRPr lang="en-SA"/>
          </a:p>
        </p:txBody>
      </p:sp>
      <p:sp>
        <p:nvSpPr>
          <p:cNvPr id="12" name="Text 10"/>
          <p:cNvSpPr/>
          <p:nvPr/>
        </p:nvSpPr>
        <p:spPr>
          <a:xfrm>
            <a:off x="859536" y="434340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Collider — do not adjust</a:t>
            </a:r>
            <a:endParaRPr lang="en-US" sz="1500" dirty="0"/>
          </a:p>
        </p:txBody>
      </p:sp>
      <p:sp>
        <p:nvSpPr>
          <p:cNvPr id="13" name="Text 11"/>
          <p:cNvSpPr/>
          <p:nvPr/>
        </p:nvSpPr>
        <p:spPr>
          <a:xfrm>
            <a:off x="859536" y="4617720"/>
            <a:ext cx="10692079"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 common effect of two variables. Conditioning on it opens a spurious path (selection bias).</a:t>
            </a:r>
            <a:endParaRPr lang="en-US" sz="1250" dirty="0"/>
          </a:p>
        </p:txBody>
      </p:sp>
      <p:sp>
        <p:nvSpPr>
          <p:cNvPr id="14" name="Shape 12"/>
          <p:cNvSpPr/>
          <p:nvPr/>
        </p:nvSpPr>
        <p:spPr>
          <a:xfrm>
            <a:off x="566928" y="5289804"/>
            <a:ext cx="146304" cy="146304"/>
          </a:xfrm>
          <a:prstGeom prst="ellipse">
            <a:avLst/>
          </a:prstGeom>
          <a:solidFill>
            <a:srgbClr val="3E9B90"/>
          </a:solidFill>
          <a:ln/>
        </p:spPr>
        <p:txBody>
          <a:bodyPr/>
          <a:lstStyle/>
          <a:p>
            <a:endParaRPr lang="en-SA"/>
          </a:p>
        </p:txBody>
      </p:sp>
      <p:sp>
        <p:nvSpPr>
          <p:cNvPr id="15" name="Text 13"/>
          <p:cNvSpPr/>
          <p:nvPr/>
        </p:nvSpPr>
        <p:spPr>
          <a:xfrm>
            <a:off x="859536" y="523494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Post-treatment — never adjust</a:t>
            </a:r>
            <a:endParaRPr lang="en-US" sz="1500" dirty="0"/>
          </a:p>
        </p:txBody>
      </p:sp>
      <p:sp>
        <p:nvSpPr>
          <p:cNvPr id="16" name="Text 14"/>
          <p:cNvSpPr/>
          <p:nvPr/>
        </p:nvSpPr>
        <p:spPr>
          <a:xfrm>
            <a:off x="859536" y="5509260"/>
            <a:ext cx="10692079"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Anything measured after treatment risks being a mediator or collider. Keep the adjustment set pre-treatment.</a:t>
            </a:r>
            <a:endParaRPr lang="en-US" sz="12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IDENTIFICATION</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33  /  221</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3</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From Estimand to Estimator: The Bridge</a:t>
            </a:r>
            <a:endParaRPr lang="en-US" sz="3400" dirty="0"/>
          </a:p>
        </p:txBody>
      </p:sp>
      <p:sp>
        <p:nvSpPr>
          <p:cNvPr id="4" name="Text 2"/>
          <p:cNvSpPr/>
          <p:nvPr/>
        </p:nvSpPr>
        <p:spPr>
          <a:xfrm>
            <a:off x="566928" y="1737360"/>
            <a:ext cx="11057839" cy="64008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Under A1–A4, the ATE becomes computable from observed data.</a:t>
            </a:r>
            <a:endParaRPr lang="en-US" sz="1450" dirty="0"/>
          </a:p>
        </p:txBody>
      </p:sp>
      <p:sp>
        <p:nvSpPr>
          <p:cNvPr id="5" name="Shape 3"/>
          <p:cNvSpPr/>
          <p:nvPr/>
        </p:nvSpPr>
        <p:spPr>
          <a:xfrm>
            <a:off x="566928" y="2578608"/>
            <a:ext cx="137160" cy="137160"/>
          </a:xfrm>
          <a:prstGeom prst="ellipse">
            <a:avLst/>
          </a:prstGeom>
          <a:solidFill>
            <a:srgbClr val="3FA9E0"/>
          </a:solidFill>
          <a:ln/>
        </p:spPr>
        <p:txBody>
          <a:bodyPr/>
          <a:lstStyle/>
          <a:p>
            <a:endParaRPr lang="en-SA"/>
          </a:p>
        </p:txBody>
      </p:sp>
      <p:sp>
        <p:nvSpPr>
          <p:cNvPr id="6" name="Text 4"/>
          <p:cNvSpPr/>
          <p:nvPr/>
        </p:nvSpPr>
        <p:spPr>
          <a:xfrm>
            <a:off x="841248" y="2514600"/>
            <a:ext cx="10783519" cy="749808"/>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Adjustment (g-formula): ATE = Eₓ[ E[Y | T=1, X] − E[Y | T=0, X] ]. Average the covariate-specific gaps.</a:t>
            </a:r>
            <a:endParaRPr lang="en-US" sz="1400" dirty="0"/>
          </a:p>
        </p:txBody>
      </p:sp>
      <p:sp>
        <p:nvSpPr>
          <p:cNvPr id="7" name="Shape 5"/>
          <p:cNvSpPr/>
          <p:nvPr/>
        </p:nvSpPr>
        <p:spPr>
          <a:xfrm>
            <a:off x="566928" y="3328416"/>
            <a:ext cx="137160" cy="137160"/>
          </a:xfrm>
          <a:prstGeom prst="ellipse">
            <a:avLst/>
          </a:prstGeom>
          <a:solidFill>
            <a:srgbClr val="5A5BA6"/>
          </a:solidFill>
          <a:ln/>
        </p:spPr>
        <p:txBody>
          <a:bodyPr/>
          <a:lstStyle/>
          <a:p>
            <a:endParaRPr lang="en-SA"/>
          </a:p>
        </p:txBody>
      </p:sp>
      <p:sp>
        <p:nvSpPr>
          <p:cNvPr id="8" name="Text 6"/>
          <p:cNvSpPr/>
          <p:nvPr/>
        </p:nvSpPr>
        <p:spPr>
          <a:xfrm>
            <a:off x="841248" y="3264408"/>
            <a:ext cx="10783519" cy="749808"/>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Weighting (IPW): re-weight units by 1/P(T | X) to build a pseudo-population where T is independent of X.</a:t>
            </a:r>
            <a:endParaRPr lang="en-US" sz="1400" dirty="0"/>
          </a:p>
        </p:txBody>
      </p:sp>
      <p:sp>
        <p:nvSpPr>
          <p:cNvPr id="9" name="Shape 7"/>
          <p:cNvSpPr/>
          <p:nvPr/>
        </p:nvSpPr>
        <p:spPr>
          <a:xfrm>
            <a:off x="566928" y="4078224"/>
            <a:ext cx="137160" cy="137160"/>
          </a:xfrm>
          <a:prstGeom prst="ellipse">
            <a:avLst/>
          </a:prstGeom>
          <a:solidFill>
            <a:srgbClr val="EA7B38"/>
          </a:solidFill>
          <a:ln/>
        </p:spPr>
        <p:txBody>
          <a:bodyPr/>
          <a:lstStyle/>
          <a:p>
            <a:endParaRPr lang="en-SA"/>
          </a:p>
        </p:txBody>
      </p:sp>
      <p:sp>
        <p:nvSpPr>
          <p:cNvPr id="10" name="Text 8"/>
          <p:cNvSpPr/>
          <p:nvPr/>
        </p:nvSpPr>
        <p:spPr>
          <a:xfrm>
            <a:off x="841248" y="4014216"/>
            <a:ext cx="10783519" cy="749808"/>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Both are valid under the same assumptions; they differ in what they model (outcome vs. treatment).</a:t>
            </a:r>
            <a:endParaRPr lang="en-US" sz="1400" dirty="0"/>
          </a:p>
        </p:txBody>
      </p:sp>
      <p:sp>
        <p:nvSpPr>
          <p:cNvPr id="11" name="Shape 9"/>
          <p:cNvSpPr/>
          <p:nvPr/>
        </p:nvSpPr>
        <p:spPr>
          <a:xfrm>
            <a:off x="566928" y="4828032"/>
            <a:ext cx="137160" cy="137160"/>
          </a:xfrm>
          <a:prstGeom prst="ellipse">
            <a:avLst/>
          </a:prstGeom>
          <a:solidFill>
            <a:srgbClr val="3E9B90"/>
          </a:solidFill>
          <a:ln/>
        </p:spPr>
        <p:txBody>
          <a:bodyPr/>
          <a:lstStyle/>
          <a:p>
            <a:endParaRPr lang="en-SA"/>
          </a:p>
        </p:txBody>
      </p:sp>
      <p:sp>
        <p:nvSpPr>
          <p:cNvPr id="12" name="Text 10"/>
          <p:cNvSpPr/>
          <p:nvPr/>
        </p:nvSpPr>
        <p:spPr>
          <a:xfrm>
            <a:off x="841248" y="4764024"/>
            <a:ext cx="10783519" cy="749808"/>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Doubly-robust estimators combine them and stay consistent if either model is right — covered on Day 3.</a:t>
            </a:r>
            <a:endParaRPr lang="en-US" sz="1400" dirty="0"/>
          </a:p>
        </p:txBody>
      </p:sp>
      <p:sp>
        <p:nvSpPr>
          <p:cNvPr id="13" name="Text 11"/>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IDENTIFICATION</a:t>
            </a:r>
            <a:endParaRPr lang="en-US" sz="900" dirty="0"/>
          </a:p>
        </p:txBody>
      </p:sp>
      <p:sp>
        <p:nvSpPr>
          <p:cNvPr id="14" name="Text 12"/>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34  /  221</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3</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Knowledge Check: Assumptions</a:t>
            </a:r>
            <a:endParaRPr lang="en-US" sz="3400" dirty="0"/>
          </a:p>
        </p:txBody>
      </p:sp>
      <p:sp>
        <p:nvSpPr>
          <p:cNvPr id="4" name="Shape 2"/>
          <p:cNvSpPr/>
          <p:nvPr/>
        </p:nvSpPr>
        <p:spPr>
          <a:xfrm>
            <a:off x="566928" y="178308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5" name="Shape 3"/>
          <p:cNvSpPr/>
          <p:nvPr/>
        </p:nvSpPr>
        <p:spPr>
          <a:xfrm>
            <a:off x="768096" y="1965960"/>
            <a:ext cx="384048" cy="384048"/>
          </a:xfrm>
          <a:prstGeom prst="ellipse">
            <a:avLst/>
          </a:prstGeom>
          <a:solidFill>
            <a:srgbClr val="3FA9E0"/>
          </a:solidFill>
          <a:ln/>
        </p:spPr>
        <p:txBody>
          <a:bodyPr/>
          <a:lstStyle/>
          <a:p>
            <a:endParaRPr lang="en-SA"/>
          </a:p>
        </p:txBody>
      </p:sp>
      <p:sp>
        <p:nvSpPr>
          <p:cNvPr id="6" name="Text 4"/>
          <p:cNvSpPr/>
          <p:nvPr/>
        </p:nvSpPr>
        <p:spPr>
          <a:xfrm>
            <a:off x="768096" y="19659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Q1</a:t>
            </a:r>
            <a:endParaRPr lang="en-US" sz="1300" dirty="0"/>
          </a:p>
        </p:txBody>
      </p:sp>
      <p:sp>
        <p:nvSpPr>
          <p:cNvPr id="7" name="Text 5"/>
          <p:cNvSpPr/>
          <p:nvPr/>
        </p:nvSpPr>
        <p:spPr>
          <a:xfrm>
            <a:off x="1344168" y="192938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A viral referral program means treated users recruit control users. Which assumption is threatened?</a:t>
            </a:r>
            <a:endParaRPr lang="en-US" sz="1400" dirty="0"/>
          </a:p>
        </p:txBody>
      </p:sp>
      <p:sp>
        <p:nvSpPr>
          <p:cNvPr id="8" name="Text 6"/>
          <p:cNvSpPr/>
          <p:nvPr/>
        </p:nvSpPr>
        <p:spPr>
          <a:xfrm>
            <a:off x="1344168" y="238658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SUTVA      B) Positivity      C) Consistency      D) Ignorability</a:t>
            </a:r>
            <a:endParaRPr lang="en-US" sz="1200" dirty="0"/>
          </a:p>
        </p:txBody>
      </p:sp>
      <p:sp>
        <p:nvSpPr>
          <p:cNvPr id="9" name="Shape 7"/>
          <p:cNvSpPr/>
          <p:nvPr/>
        </p:nvSpPr>
        <p:spPr>
          <a:xfrm>
            <a:off x="566928" y="306324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10" name="Shape 8"/>
          <p:cNvSpPr/>
          <p:nvPr/>
        </p:nvSpPr>
        <p:spPr>
          <a:xfrm>
            <a:off x="768096" y="3246120"/>
            <a:ext cx="384048" cy="384048"/>
          </a:xfrm>
          <a:prstGeom prst="ellipse">
            <a:avLst/>
          </a:prstGeom>
          <a:solidFill>
            <a:srgbClr val="5A5BA6"/>
          </a:solidFill>
          <a:ln/>
        </p:spPr>
        <p:txBody>
          <a:bodyPr/>
          <a:lstStyle/>
          <a:p>
            <a:endParaRPr lang="en-SA"/>
          </a:p>
        </p:txBody>
      </p:sp>
      <p:sp>
        <p:nvSpPr>
          <p:cNvPr id="11" name="Text 9"/>
          <p:cNvSpPr/>
          <p:nvPr/>
        </p:nvSpPr>
        <p:spPr>
          <a:xfrm>
            <a:off x="768096" y="32461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Q2</a:t>
            </a:r>
            <a:endParaRPr lang="en-US" sz="1300" dirty="0"/>
          </a:p>
        </p:txBody>
      </p:sp>
      <p:sp>
        <p:nvSpPr>
          <p:cNvPr id="12" name="Text 10"/>
          <p:cNvSpPr/>
          <p:nvPr/>
        </p:nvSpPr>
        <p:spPr>
          <a:xfrm>
            <a:off x="1344168" y="320954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No one over age 65 was ever eligible for the treatment. This is a violation of:</a:t>
            </a:r>
            <a:endParaRPr lang="en-US" sz="1400" dirty="0"/>
          </a:p>
        </p:txBody>
      </p:sp>
      <p:sp>
        <p:nvSpPr>
          <p:cNvPr id="13" name="Text 11"/>
          <p:cNvSpPr/>
          <p:nvPr/>
        </p:nvSpPr>
        <p:spPr>
          <a:xfrm>
            <a:off x="1344168" y="366674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SUTVA      B) Positivity      C) Ignorability      D) Consistency</a:t>
            </a:r>
            <a:endParaRPr lang="en-US" sz="1200" dirty="0"/>
          </a:p>
        </p:txBody>
      </p:sp>
      <p:sp>
        <p:nvSpPr>
          <p:cNvPr id="14" name="Shape 12"/>
          <p:cNvSpPr/>
          <p:nvPr/>
        </p:nvSpPr>
        <p:spPr>
          <a:xfrm>
            <a:off x="566928" y="434340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15" name="Shape 13"/>
          <p:cNvSpPr/>
          <p:nvPr/>
        </p:nvSpPr>
        <p:spPr>
          <a:xfrm>
            <a:off x="768096" y="4526280"/>
            <a:ext cx="384048" cy="384048"/>
          </a:xfrm>
          <a:prstGeom prst="ellipse">
            <a:avLst/>
          </a:prstGeom>
          <a:solidFill>
            <a:srgbClr val="EA7B38"/>
          </a:solidFill>
          <a:ln/>
        </p:spPr>
        <p:txBody>
          <a:bodyPr/>
          <a:lstStyle/>
          <a:p>
            <a:endParaRPr lang="en-SA"/>
          </a:p>
        </p:txBody>
      </p:sp>
      <p:sp>
        <p:nvSpPr>
          <p:cNvPr id="16" name="Text 14"/>
          <p:cNvSpPr/>
          <p:nvPr/>
        </p:nvSpPr>
        <p:spPr>
          <a:xfrm>
            <a:off x="768096" y="45262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Q3</a:t>
            </a:r>
            <a:endParaRPr lang="en-US" sz="1300" dirty="0"/>
          </a:p>
        </p:txBody>
      </p:sp>
      <p:sp>
        <p:nvSpPr>
          <p:cNvPr id="17" name="Text 15"/>
          <p:cNvSpPr/>
          <p:nvPr/>
        </p:nvSpPr>
        <p:spPr>
          <a:xfrm>
            <a:off x="1344168" y="448970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You suspect an unmeasured driver of both uptake and outcome. Which assumption is at risk, and is it testable?</a:t>
            </a:r>
            <a:endParaRPr lang="en-US" sz="1400" dirty="0"/>
          </a:p>
        </p:txBody>
      </p:sp>
      <p:sp>
        <p:nvSpPr>
          <p:cNvPr id="18" name="Text 16"/>
          <p:cNvSpPr/>
          <p:nvPr/>
        </p:nvSpPr>
        <p:spPr>
          <a:xfrm>
            <a:off x="1344168" y="494690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Ignorability; untestable      B) Positivity; testable      C) SUTVA; testable      D) Consistency; untestable</a:t>
            </a:r>
            <a:endParaRPr lang="en-US" sz="1200" dirty="0"/>
          </a:p>
        </p:txBody>
      </p:sp>
      <p:sp>
        <p:nvSpPr>
          <p:cNvPr id="19" name="Text 17"/>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IDENTIFICATION</a:t>
            </a:r>
            <a:endParaRPr lang="en-US" sz="900" dirty="0"/>
          </a:p>
        </p:txBody>
      </p:sp>
      <p:sp>
        <p:nvSpPr>
          <p:cNvPr id="20" name="Text 18"/>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35  /  221</a:t>
            </a:r>
            <a:endParaRPr lang="en-US" sz="900" dirty="0"/>
          </a:p>
        </p:txBody>
      </p:sp>
      <p:pic>
        <p:nvPicPr>
          <p:cNvPr id="21" name="Picture 20" descr="Day1_Check3.png"/>
          <p:cNvPicPr>
            <a:picLocks noChangeAspect="1"/>
          </p:cNvPicPr>
          <p:nvPr/>
        </p:nvPicPr>
        <p:blipFill>
          <a:blip r:embed="rId3"/>
          <a:stretch>
            <a:fillRect/>
          </a:stretch>
        </p:blipFill>
        <p:spPr>
          <a:xfrm>
            <a:off x="10637520" y="320040"/>
            <a:ext cx="1143000" cy="1143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DAY 1 · HOUR 4</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Why Randomization Works</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Randomization as the mechanism that guarantees ignorability, balances all confounders in expectation, and licenses design-based inference.</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DAY 1</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36  /  221</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4</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What Randomization Buys You</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Random assignment is the single most powerful tool in the course because it makes the load-bearing assumptions true by construction.</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Ignorability for free</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Because assignment is independent of everything, {Y(1),Y(0)} ⊥ T holds without any covariates.</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Balance in expectation</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Measured and unmeasured covariates are balanced across arms on average — including confounders you never thought of.</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A valid comparison</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The control group becomes an unbiased stand-in for the treated group's missing Y(0), so the naive difference is the ATE.</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THE MAGIC</a:t>
            </a:r>
            <a:endParaRPr lang="en-US" sz="1100" dirty="0"/>
          </a:p>
        </p:txBody>
      </p:sp>
      <p:sp>
        <p:nvSpPr>
          <p:cNvPr id="16" name="Text 14"/>
          <p:cNvSpPr/>
          <p:nvPr/>
        </p:nvSpPr>
        <p:spPr>
          <a:xfrm>
            <a:off x="7744968" y="2331720"/>
            <a:ext cx="3605479" cy="1097280"/>
          </a:xfrm>
          <a:prstGeom prst="rect">
            <a:avLst/>
          </a:prstGeom>
          <a:noFill/>
          <a:ln/>
        </p:spPr>
        <p:txBody>
          <a:bodyPr wrap="square" lIns="0" tIns="0" rIns="0" bIns="0" rtlCol="0" anchor="t"/>
          <a:lstStyle/>
          <a:p>
            <a:pPr marL="0" indent="0">
              <a:buNone/>
            </a:pPr>
            <a:r>
              <a:rPr lang="en-US" sz="5400" b="1" dirty="0">
                <a:solidFill>
                  <a:srgbClr val="16233F"/>
                </a:solidFill>
                <a:latin typeface="Cambria" pitchFamily="34" charset="0"/>
                <a:ea typeface="Cambria" pitchFamily="34" charset="-122"/>
                <a:cs typeface="Cambria" pitchFamily="34" charset="-120"/>
              </a:rPr>
              <a:t>⊥</a:t>
            </a:r>
            <a:endParaRPr lang="en-US" sz="5400" dirty="0"/>
          </a:p>
        </p:txBody>
      </p:sp>
      <p:sp>
        <p:nvSpPr>
          <p:cNvPr id="17" name="Text 15"/>
          <p:cNvSpPr/>
          <p:nvPr/>
        </p:nvSpPr>
        <p:spPr>
          <a:xfrm>
            <a:off x="7744968" y="3520440"/>
            <a:ext cx="3605479" cy="2103120"/>
          </a:xfrm>
          <a:prstGeom prst="rect">
            <a:avLst/>
          </a:prstGeom>
          <a:noFill/>
          <a:ln/>
        </p:spPr>
        <p:txBody>
          <a:bodyPr wrap="square" lIns="0" tIns="0" rIns="0" bIns="0" rtlCol="0" anchor="t"/>
          <a:lstStyle/>
          <a:p>
            <a:pPr marL="0" indent="0">
              <a:lnSpc>
                <a:spcPct val="120000"/>
              </a:lnSpc>
              <a:buNone/>
            </a:pPr>
            <a:r>
              <a:rPr lang="en-US" sz="1300" dirty="0">
                <a:solidFill>
                  <a:srgbClr val="566581"/>
                </a:solidFill>
                <a:latin typeface="Calibri" pitchFamily="34" charset="0"/>
                <a:ea typeface="Calibri" pitchFamily="34" charset="-122"/>
                <a:cs typeface="Calibri" pitchFamily="34" charset="-120"/>
              </a:rPr>
              <a:t>Independence of assignment from potential outcomes is what turns an ordinary group difference into a causal effect. Everything else is bookkeeping.</a:t>
            </a:r>
            <a:endParaRPr lang="en-US" sz="1300" dirty="0"/>
          </a:p>
        </p:txBody>
      </p:sp>
      <p:sp>
        <p:nvSpPr>
          <p:cNvPr id="18" name="Text 1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RANDOMIZATION</a:t>
            </a:r>
            <a:endParaRPr lang="en-US" sz="900" dirty="0"/>
          </a:p>
        </p:txBody>
      </p:sp>
      <p:sp>
        <p:nvSpPr>
          <p:cNvPr id="19" name="Text 1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37  /  221</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4</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Balance: In Expectation, Not Every Time</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Randomization balances covariates on average across hypothetical repetitions — any single experiment can still show chance imbalance.</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Expected balance</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Over many re-randomizations, arm means of any covariate converge; there is no systematic difference.</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Realised imbalance</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In one draw, a covariate can differ by chance, especially in small samples.</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Remedies</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Stratify or block on strong predictors before randomizing; adjust for pre-treatment covariates in analysis (Day 2).</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DO NOT ‘FIX’ BY DISCARDING</a:t>
            </a:r>
            <a:endParaRPr lang="en-US" sz="1100" dirty="0"/>
          </a:p>
        </p:txBody>
      </p:sp>
      <p:sp>
        <p:nvSpPr>
          <p:cNvPr id="16" name="Text 14"/>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dirty="0">
                <a:solidFill>
                  <a:srgbClr val="16233F"/>
                </a:solidFill>
                <a:latin typeface="Calibri" pitchFamily="34" charset="0"/>
                <a:ea typeface="Calibri" pitchFamily="34" charset="-122"/>
                <a:cs typeface="Calibri" pitchFamily="34" charset="-120"/>
              </a:rPr>
              <a:t>Never drop units to force balance after the fact — that breaks randomization. Design balance in up front, or adjust with pre-treatment covariates.</a:t>
            </a:r>
            <a:endParaRPr lang="en-US" sz="13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RANDOMIZATION</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38  /  221</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4</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Design-Based vs. Model-Based Inference</a:t>
            </a:r>
            <a:endParaRPr lang="en-US" sz="3400" dirty="0"/>
          </a:p>
        </p:txBody>
      </p:sp>
      <p:sp>
        <p:nvSpPr>
          <p:cNvPr id="4" name="Text 2"/>
          <p:cNvSpPr/>
          <p:nvPr/>
        </p:nvSpPr>
        <p:spPr>
          <a:xfrm>
            <a:off x="566928" y="1783080"/>
            <a:ext cx="11057839" cy="548640"/>
          </a:xfrm>
          <a:prstGeom prst="rect">
            <a:avLst/>
          </a:prstGeom>
          <a:noFill/>
          <a:ln/>
        </p:spPr>
        <p:txBody>
          <a:bodyPr wrap="square" lIns="0" tIns="0" rIns="0" bIns="0" rtlCol="0" anchor="t"/>
          <a:lstStyle/>
          <a:p>
            <a:pPr marL="0" indent="0">
              <a:lnSpc>
                <a:spcPct val="115000"/>
              </a:lnSpc>
              <a:buNone/>
            </a:pPr>
            <a:r>
              <a:rPr lang="en-US" sz="1400" dirty="0">
                <a:solidFill>
                  <a:srgbClr val="566581"/>
                </a:solidFill>
                <a:latin typeface="Calibri" pitchFamily="34" charset="0"/>
                <a:ea typeface="Calibri" pitchFamily="34" charset="-122"/>
                <a:cs typeface="Calibri" pitchFamily="34" charset="-120"/>
              </a:rPr>
              <a:t>Two philosophies for where the randomness in your standard error comes from.</a:t>
            </a:r>
            <a:endParaRPr lang="en-US" sz="1400" dirty="0"/>
          </a:p>
        </p:txBody>
      </p:sp>
      <p:sp>
        <p:nvSpPr>
          <p:cNvPr id="5" name="Shape 3"/>
          <p:cNvSpPr/>
          <p:nvPr/>
        </p:nvSpPr>
        <p:spPr>
          <a:xfrm>
            <a:off x="566928" y="2468880"/>
            <a:ext cx="502920" cy="502920"/>
          </a:xfrm>
          <a:prstGeom prst="ellipse">
            <a:avLst/>
          </a:prstGeom>
          <a:solidFill>
            <a:srgbClr val="3FA9E0"/>
          </a:solidFill>
          <a:ln/>
        </p:spPr>
        <p:txBody>
          <a:bodyPr/>
          <a:lstStyle/>
          <a:p>
            <a:endParaRPr lang="en-SA"/>
          </a:p>
        </p:txBody>
      </p:sp>
      <p:sp>
        <p:nvSpPr>
          <p:cNvPr id="6" name="Text 4"/>
          <p:cNvSpPr/>
          <p:nvPr/>
        </p:nvSpPr>
        <p:spPr>
          <a:xfrm>
            <a:off x="566928" y="246888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7" name="Text 5"/>
          <p:cNvSpPr/>
          <p:nvPr/>
        </p:nvSpPr>
        <p:spPr>
          <a:xfrm>
            <a:off x="1298448" y="242316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Design-based (Neyman / Fisher)</a:t>
            </a:r>
            <a:endParaRPr lang="en-US" sz="1600" dirty="0"/>
          </a:p>
        </p:txBody>
      </p:sp>
      <p:sp>
        <p:nvSpPr>
          <p:cNvPr id="8" name="Text 6"/>
          <p:cNvSpPr/>
          <p:nvPr/>
        </p:nvSpPr>
        <p:spPr>
          <a:xfrm>
            <a:off x="1298448" y="2734056"/>
            <a:ext cx="10234879" cy="68580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Randomness is the assignment mechanism itself. Potential outcomes are fixed; only T is random. No outcome model required.</a:t>
            </a:r>
            <a:endParaRPr lang="en-US" sz="1250" dirty="0"/>
          </a:p>
        </p:txBody>
      </p:sp>
      <p:sp>
        <p:nvSpPr>
          <p:cNvPr id="9" name="Shape 7"/>
          <p:cNvSpPr/>
          <p:nvPr/>
        </p:nvSpPr>
        <p:spPr>
          <a:xfrm>
            <a:off x="566928" y="3520440"/>
            <a:ext cx="502920" cy="502920"/>
          </a:xfrm>
          <a:prstGeom prst="ellipse">
            <a:avLst/>
          </a:prstGeom>
          <a:solidFill>
            <a:srgbClr val="5A5BA6"/>
          </a:solidFill>
          <a:ln/>
        </p:spPr>
        <p:txBody>
          <a:bodyPr/>
          <a:lstStyle/>
          <a:p>
            <a:endParaRPr lang="en-SA"/>
          </a:p>
        </p:txBody>
      </p:sp>
      <p:sp>
        <p:nvSpPr>
          <p:cNvPr id="10" name="Text 8"/>
          <p:cNvSpPr/>
          <p:nvPr/>
        </p:nvSpPr>
        <p:spPr>
          <a:xfrm>
            <a:off x="566928" y="35204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1" name="Text 9"/>
          <p:cNvSpPr/>
          <p:nvPr/>
        </p:nvSpPr>
        <p:spPr>
          <a:xfrm>
            <a:off x="1298448" y="347472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Model-based (super-population)</a:t>
            </a:r>
            <a:endParaRPr lang="en-US" sz="1600" dirty="0"/>
          </a:p>
        </p:txBody>
      </p:sp>
      <p:sp>
        <p:nvSpPr>
          <p:cNvPr id="12" name="Text 10"/>
          <p:cNvSpPr/>
          <p:nvPr/>
        </p:nvSpPr>
        <p:spPr>
          <a:xfrm>
            <a:off x="1298448" y="3785616"/>
            <a:ext cx="10234879" cy="68580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Units are a random sample from a population; inference targets a population parameter through an assumed model.</a:t>
            </a:r>
            <a:endParaRPr lang="en-US" sz="1250" dirty="0"/>
          </a:p>
        </p:txBody>
      </p:sp>
      <p:sp>
        <p:nvSpPr>
          <p:cNvPr id="13" name="Shape 11"/>
          <p:cNvSpPr/>
          <p:nvPr/>
        </p:nvSpPr>
        <p:spPr>
          <a:xfrm>
            <a:off x="566928" y="4572000"/>
            <a:ext cx="502920" cy="502920"/>
          </a:xfrm>
          <a:prstGeom prst="ellipse">
            <a:avLst/>
          </a:prstGeom>
          <a:solidFill>
            <a:srgbClr val="EA7B38"/>
          </a:solidFill>
          <a:ln/>
        </p:spPr>
        <p:txBody>
          <a:bodyPr/>
          <a:lstStyle/>
          <a:p>
            <a:endParaRPr lang="en-SA"/>
          </a:p>
        </p:txBody>
      </p:sp>
      <p:sp>
        <p:nvSpPr>
          <p:cNvPr id="14" name="Text 12"/>
          <p:cNvSpPr/>
          <p:nvPr/>
        </p:nvSpPr>
        <p:spPr>
          <a:xfrm>
            <a:off x="566928" y="457200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15" name="Text 13"/>
          <p:cNvSpPr/>
          <p:nvPr/>
        </p:nvSpPr>
        <p:spPr>
          <a:xfrm>
            <a:off x="1298448" y="452628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Why it matters</a:t>
            </a:r>
            <a:endParaRPr lang="en-US" sz="1600" dirty="0"/>
          </a:p>
        </p:txBody>
      </p:sp>
      <p:sp>
        <p:nvSpPr>
          <p:cNvPr id="16" name="Text 14"/>
          <p:cNvSpPr/>
          <p:nvPr/>
        </p:nvSpPr>
        <p:spPr>
          <a:xfrm>
            <a:off x="1298448" y="4837176"/>
            <a:ext cx="10234879" cy="68580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The two can give different standard errors. Design-based inference is the most assumption-light and is our default for experiments.</a:t>
            </a:r>
            <a:endParaRPr lang="en-US" sz="12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RANDOMIZATION</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39  /  221</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4</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Fisher's Sharp Null &amp; Randomization Inference</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A test that needs no distributional assumptions — only the randomization you actually performed.</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sharp null</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H₀: Yᵢ(1) = Yᵢ(0) for every unit — zero effect for everyone, not just on average.</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trick</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Under the sharp null, both potential outcomes are known for all units, so we can recompute the statistic under every possible re-assignment.</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p-value</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It is the fraction of re-randomizations giving a statistic as extreme as observed — exact, finite-sample valid.</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EXACTNESS</a:t>
            </a:r>
            <a:endParaRPr lang="en-US" sz="1100" dirty="0"/>
          </a:p>
        </p:txBody>
      </p:sp>
      <p:sp>
        <p:nvSpPr>
          <p:cNvPr id="16" name="Text 14"/>
          <p:cNvSpPr/>
          <p:nvPr/>
        </p:nvSpPr>
        <p:spPr>
          <a:xfrm>
            <a:off x="7744968" y="2331720"/>
            <a:ext cx="3605479" cy="1097280"/>
          </a:xfrm>
          <a:prstGeom prst="rect">
            <a:avLst/>
          </a:prstGeom>
          <a:noFill/>
          <a:ln/>
        </p:spPr>
        <p:txBody>
          <a:bodyPr wrap="square" lIns="0" tIns="0" rIns="0" bIns="0" rtlCol="0" anchor="t"/>
          <a:lstStyle/>
          <a:p>
            <a:pPr marL="0" indent="0">
              <a:buNone/>
            </a:pPr>
            <a:r>
              <a:rPr lang="en-US" sz="5400" b="1" dirty="0">
                <a:solidFill>
                  <a:srgbClr val="16233F"/>
                </a:solidFill>
                <a:latin typeface="Cambria" pitchFamily="34" charset="0"/>
                <a:ea typeface="Cambria" pitchFamily="34" charset="-122"/>
                <a:cs typeface="Cambria" pitchFamily="34" charset="-120"/>
              </a:rPr>
              <a:t>Exact p</a:t>
            </a:r>
            <a:endParaRPr lang="en-US" sz="5400" dirty="0"/>
          </a:p>
        </p:txBody>
      </p:sp>
      <p:sp>
        <p:nvSpPr>
          <p:cNvPr id="17" name="Text 15"/>
          <p:cNvSpPr/>
          <p:nvPr/>
        </p:nvSpPr>
        <p:spPr>
          <a:xfrm>
            <a:off x="7744968" y="3520440"/>
            <a:ext cx="3605479" cy="2103120"/>
          </a:xfrm>
          <a:prstGeom prst="rect">
            <a:avLst/>
          </a:prstGeom>
          <a:noFill/>
          <a:ln/>
        </p:spPr>
        <p:txBody>
          <a:bodyPr wrap="square" lIns="0" tIns="0" rIns="0" bIns="0" rtlCol="0" anchor="t"/>
          <a:lstStyle/>
          <a:p>
            <a:pPr marL="0" indent="0">
              <a:lnSpc>
                <a:spcPct val="120000"/>
              </a:lnSpc>
              <a:buNone/>
            </a:pPr>
            <a:r>
              <a:rPr lang="en-US" sz="1300" dirty="0">
                <a:solidFill>
                  <a:srgbClr val="566581"/>
                </a:solidFill>
                <a:latin typeface="Calibri" pitchFamily="34" charset="0"/>
                <a:ea typeface="Calibri" pitchFamily="34" charset="-122"/>
                <a:cs typeface="Calibri" pitchFamily="34" charset="-120"/>
              </a:rPr>
              <a:t>No CLT, no normality, no large-n. The reference distribution is generated by permuting treatment labels — the same randomness you used to assign.</a:t>
            </a:r>
            <a:endParaRPr lang="en-US" sz="1300" dirty="0"/>
          </a:p>
        </p:txBody>
      </p:sp>
      <p:sp>
        <p:nvSpPr>
          <p:cNvPr id="18" name="Text 1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RANDOMIZATION</a:t>
            </a:r>
            <a:endParaRPr lang="en-US" sz="900" dirty="0"/>
          </a:p>
        </p:txBody>
      </p:sp>
      <p:sp>
        <p:nvSpPr>
          <p:cNvPr id="19" name="Text 1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40  /  221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4</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Neyman's Approach: Unbiased ATE &amp; Variance</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Where Fisher tests a sharp null, Neyman estimates the average effect and its sampling variance.</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Unbiased estimator</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The difference in arm means is an unbiased estimator of the (sample) ATE under complete randomization.</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Conservative variance</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The classic Neyman variance is conservative because the covariance of potential outcomes is unidentified.</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Practical upshot</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Report the difference in means with a design-based (often robust) standard error; it is honest and light on assumptions.</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RANDOMIZATION</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41  /  221</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4</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When You Cannot Randomize</a:t>
            </a:r>
            <a:endParaRPr lang="en-US" sz="3400" dirty="0"/>
          </a:p>
        </p:txBody>
      </p:sp>
      <p:sp>
        <p:nvSpPr>
          <p:cNvPr id="4" name="Text 2"/>
          <p:cNvSpPr/>
          <p:nvPr/>
        </p:nvSpPr>
        <p:spPr>
          <a:xfrm>
            <a:off x="566928" y="1737360"/>
            <a:ext cx="11057839" cy="64008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Randomization is the gold standard, but real constraints often forbid it. This is the entire motivation for Days 3–4.</a:t>
            </a:r>
            <a:endParaRPr lang="en-US" sz="1450" dirty="0"/>
          </a:p>
        </p:txBody>
      </p:sp>
      <p:sp>
        <p:nvSpPr>
          <p:cNvPr id="5" name="Shape 3"/>
          <p:cNvSpPr/>
          <p:nvPr/>
        </p:nvSpPr>
        <p:spPr>
          <a:xfrm>
            <a:off x="566928" y="2578608"/>
            <a:ext cx="137160" cy="137160"/>
          </a:xfrm>
          <a:prstGeom prst="ellipse">
            <a:avLst/>
          </a:prstGeom>
          <a:solidFill>
            <a:srgbClr val="3FA9E0"/>
          </a:solidFill>
          <a:ln/>
        </p:spPr>
        <p:txBody>
          <a:bodyPr/>
          <a:lstStyle/>
          <a:p>
            <a:endParaRPr lang="en-SA"/>
          </a:p>
        </p:txBody>
      </p:sp>
      <p:sp>
        <p:nvSpPr>
          <p:cNvPr id="6" name="Text 4"/>
          <p:cNvSpPr/>
          <p:nvPr/>
        </p:nvSpPr>
        <p:spPr>
          <a:xfrm>
            <a:off x="841248" y="2514600"/>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Ethics — you cannot randomly assign harmful exposures or withhold known benefits.</a:t>
            </a:r>
            <a:endParaRPr lang="en-US" sz="1400" dirty="0"/>
          </a:p>
        </p:txBody>
      </p:sp>
      <p:sp>
        <p:nvSpPr>
          <p:cNvPr id="7" name="Shape 5"/>
          <p:cNvSpPr/>
          <p:nvPr/>
        </p:nvSpPr>
        <p:spPr>
          <a:xfrm>
            <a:off x="566928" y="3300984"/>
            <a:ext cx="137160" cy="137160"/>
          </a:xfrm>
          <a:prstGeom prst="ellipse">
            <a:avLst/>
          </a:prstGeom>
          <a:solidFill>
            <a:srgbClr val="5A5BA6"/>
          </a:solidFill>
          <a:ln/>
        </p:spPr>
        <p:txBody>
          <a:bodyPr/>
          <a:lstStyle/>
          <a:p>
            <a:endParaRPr lang="en-SA"/>
          </a:p>
        </p:txBody>
      </p:sp>
      <p:sp>
        <p:nvSpPr>
          <p:cNvPr id="8" name="Text 6"/>
          <p:cNvSpPr/>
          <p:nvPr/>
        </p:nvSpPr>
        <p:spPr>
          <a:xfrm>
            <a:off x="841248" y="3236976"/>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Feasibility — some treatments cannot be manipulated at the unit level (macro policy, prices set market-wide).</a:t>
            </a:r>
            <a:endParaRPr lang="en-US" sz="1400" dirty="0"/>
          </a:p>
        </p:txBody>
      </p:sp>
      <p:sp>
        <p:nvSpPr>
          <p:cNvPr id="9" name="Shape 7"/>
          <p:cNvSpPr/>
          <p:nvPr/>
        </p:nvSpPr>
        <p:spPr>
          <a:xfrm>
            <a:off x="566928" y="4023360"/>
            <a:ext cx="137160" cy="137160"/>
          </a:xfrm>
          <a:prstGeom prst="ellipse">
            <a:avLst/>
          </a:prstGeom>
          <a:solidFill>
            <a:srgbClr val="EA7B38"/>
          </a:solidFill>
          <a:ln/>
        </p:spPr>
        <p:txBody>
          <a:bodyPr/>
          <a:lstStyle/>
          <a:p>
            <a:endParaRPr lang="en-SA"/>
          </a:p>
        </p:txBody>
      </p:sp>
      <p:sp>
        <p:nvSpPr>
          <p:cNvPr id="10" name="Text 8"/>
          <p:cNvSpPr/>
          <p:nvPr/>
        </p:nvSpPr>
        <p:spPr>
          <a:xfrm>
            <a:off x="841248" y="3959352"/>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Cost &amp; time — experiments can be slow or expensive relative to abundant observational data.</a:t>
            </a:r>
            <a:endParaRPr lang="en-US" sz="1400" dirty="0"/>
          </a:p>
        </p:txBody>
      </p:sp>
      <p:sp>
        <p:nvSpPr>
          <p:cNvPr id="11" name="Shape 9"/>
          <p:cNvSpPr/>
          <p:nvPr/>
        </p:nvSpPr>
        <p:spPr>
          <a:xfrm>
            <a:off x="566928" y="4745736"/>
            <a:ext cx="137160" cy="137160"/>
          </a:xfrm>
          <a:prstGeom prst="ellipse">
            <a:avLst/>
          </a:prstGeom>
          <a:solidFill>
            <a:srgbClr val="3E9B90"/>
          </a:solidFill>
          <a:ln/>
        </p:spPr>
        <p:txBody>
          <a:bodyPr/>
          <a:lstStyle/>
          <a:p>
            <a:endParaRPr lang="en-SA"/>
          </a:p>
        </p:txBody>
      </p:sp>
      <p:sp>
        <p:nvSpPr>
          <p:cNvPr id="12" name="Text 10"/>
          <p:cNvSpPr/>
          <p:nvPr/>
        </p:nvSpPr>
        <p:spPr>
          <a:xfrm>
            <a:off x="841248" y="4681728"/>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History — the question is about something that already happened and cannot be re-run.</a:t>
            </a:r>
            <a:endParaRPr lang="en-US" sz="1400" dirty="0"/>
          </a:p>
        </p:txBody>
      </p:sp>
      <p:sp>
        <p:nvSpPr>
          <p:cNvPr id="13" name="Shape 11"/>
          <p:cNvSpPr/>
          <p:nvPr/>
        </p:nvSpPr>
        <p:spPr>
          <a:xfrm>
            <a:off x="566928" y="5468112"/>
            <a:ext cx="137160" cy="137160"/>
          </a:xfrm>
          <a:prstGeom prst="ellipse">
            <a:avLst/>
          </a:prstGeom>
          <a:solidFill>
            <a:srgbClr val="73BB59"/>
          </a:solidFill>
          <a:ln/>
        </p:spPr>
        <p:txBody>
          <a:bodyPr/>
          <a:lstStyle/>
          <a:p>
            <a:endParaRPr lang="en-SA"/>
          </a:p>
        </p:txBody>
      </p:sp>
      <p:sp>
        <p:nvSpPr>
          <p:cNvPr id="14" name="Text 12"/>
          <p:cNvSpPr/>
          <p:nvPr/>
        </p:nvSpPr>
        <p:spPr>
          <a:xfrm>
            <a:off x="841248" y="5404104"/>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The response: quasi-experiments that borrow the logic of randomization from natural or as-if-random variation.</a:t>
            </a:r>
            <a:endParaRPr lang="en-US" sz="1400" dirty="0"/>
          </a:p>
        </p:txBody>
      </p:sp>
      <p:sp>
        <p:nvSpPr>
          <p:cNvPr id="15" name="Text 13"/>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RANDOMIZATION</a:t>
            </a:r>
            <a:endParaRPr lang="en-US" sz="900" dirty="0"/>
          </a:p>
        </p:txBody>
      </p:sp>
      <p:sp>
        <p:nvSpPr>
          <p:cNvPr id="16" name="Text 14"/>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42  /  221</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4</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Knowledge Check: Randomization</a:t>
            </a:r>
            <a:endParaRPr lang="en-US" sz="3400" dirty="0"/>
          </a:p>
        </p:txBody>
      </p:sp>
      <p:sp>
        <p:nvSpPr>
          <p:cNvPr id="4" name="Shape 2"/>
          <p:cNvSpPr/>
          <p:nvPr/>
        </p:nvSpPr>
        <p:spPr>
          <a:xfrm>
            <a:off x="566928" y="178308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5" name="Shape 3"/>
          <p:cNvSpPr/>
          <p:nvPr/>
        </p:nvSpPr>
        <p:spPr>
          <a:xfrm>
            <a:off x="768096" y="1965960"/>
            <a:ext cx="384048" cy="384048"/>
          </a:xfrm>
          <a:prstGeom prst="ellipse">
            <a:avLst/>
          </a:prstGeom>
          <a:solidFill>
            <a:srgbClr val="3FA9E0"/>
          </a:solidFill>
          <a:ln/>
        </p:spPr>
        <p:txBody>
          <a:bodyPr/>
          <a:lstStyle/>
          <a:p>
            <a:endParaRPr lang="en-SA"/>
          </a:p>
        </p:txBody>
      </p:sp>
      <p:sp>
        <p:nvSpPr>
          <p:cNvPr id="6" name="Text 4"/>
          <p:cNvSpPr/>
          <p:nvPr/>
        </p:nvSpPr>
        <p:spPr>
          <a:xfrm>
            <a:off x="768096" y="19659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Q1</a:t>
            </a:r>
            <a:endParaRPr lang="en-US" sz="1300" dirty="0"/>
          </a:p>
        </p:txBody>
      </p:sp>
      <p:sp>
        <p:nvSpPr>
          <p:cNvPr id="7" name="Text 5"/>
          <p:cNvSpPr/>
          <p:nvPr/>
        </p:nvSpPr>
        <p:spPr>
          <a:xfrm>
            <a:off x="1344168" y="192938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Randomization guarantees balance of unmeasured confounders …</a:t>
            </a:r>
            <a:endParaRPr lang="en-US" sz="1400" dirty="0"/>
          </a:p>
        </p:txBody>
      </p:sp>
      <p:sp>
        <p:nvSpPr>
          <p:cNvPr id="8" name="Text 6"/>
          <p:cNvSpPr/>
          <p:nvPr/>
        </p:nvSpPr>
        <p:spPr>
          <a:xfrm>
            <a:off x="1344168" y="238658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exactly, in every sample      B) in expectation, across repetitions      C) only if n is large      D) never</a:t>
            </a:r>
            <a:endParaRPr lang="en-US" sz="1200" dirty="0"/>
          </a:p>
        </p:txBody>
      </p:sp>
      <p:sp>
        <p:nvSpPr>
          <p:cNvPr id="9" name="Shape 7"/>
          <p:cNvSpPr/>
          <p:nvPr/>
        </p:nvSpPr>
        <p:spPr>
          <a:xfrm>
            <a:off x="566928" y="306324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10" name="Shape 8"/>
          <p:cNvSpPr/>
          <p:nvPr/>
        </p:nvSpPr>
        <p:spPr>
          <a:xfrm>
            <a:off x="768096" y="3246120"/>
            <a:ext cx="384048" cy="384048"/>
          </a:xfrm>
          <a:prstGeom prst="ellipse">
            <a:avLst/>
          </a:prstGeom>
          <a:solidFill>
            <a:srgbClr val="5A5BA6"/>
          </a:solidFill>
          <a:ln/>
        </p:spPr>
        <p:txBody>
          <a:bodyPr/>
          <a:lstStyle/>
          <a:p>
            <a:endParaRPr lang="en-SA"/>
          </a:p>
        </p:txBody>
      </p:sp>
      <p:sp>
        <p:nvSpPr>
          <p:cNvPr id="11" name="Text 9"/>
          <p:cNvSpPr/>
          <p:nvPr/>
        </p:nvSpPr>
        <p:spPr>
          <a:xfrm>
            <a:off x="768096" y="32461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Q2</a:t>
            </a:r>
            <a:endParaRPr lang="en-US" sz="1300" dirty="0"/>
          </a:p>
        </p:txBody>
      </p:sp>
      <p:sp>
        <p:nvSpPr>
          <p:cNvPr id="12" name="Text 10"/>
          <p:cNvSpPr/>
          <p:nvPr/>
        </p:nvSpPr>
        <p:spPr>
          <a:xfrm>
            <a:off x="1344168" y="320954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Fisher's randomization test is valid because it relies on:</a:t>
            </a:r>
            <a:endParaRPr lang="en-US" sz="1400" dirty="0"/>
          </a:p>
        </p:txBody>
      </p:sp>
      <p:sp>
        <p:nvSpPr>
          <p:cNvPr id="13" name="Text 11"/>
          <p:cNvSpPr/>
          <p:nvPr/>
        </p:nvSpPr>
        <p:spPr>
          <a:xfrm>
            <a:off x="1344168" y="366674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Normality of Y      B) The CLT      C) The assignment mechanism      D) A correct outcome model</a:t>
            </a:r>
            <a:endParaRPr lang="en-US" sz="1200" dirty="0"/>
          </a:p>
        </p:txBody>
      </p:sp>
      <p:sp>
        <p:nvSpPr>
          <p:cNvPr id="14" name="Shape 12"/>
          <p:cNvSpPr/>
          <p:nvPr/>
        </p:nvSpPr>
        <p:spPr>
          <a:xfrm>
            <a:off x="566928" y="434340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15" name="Shape 13"/>
          <p:cNvSpPr/>
          <p:nvPr/>
        </p:nvSpPr>
        <p:spPr>
          <a:xfrm>
            <a:off x="768096" y="4526280"/>
            <a:ext cx="384048" cy="384048"/>
          </a:xfrm>
          <a:prstGeom prst="ellipse">
            <a:avLst/>
          </a:prstGeom>
          <a:solidFill>
            <a:srgbClr val="EA7B38"/>
          </a:solidFill>
          <a:ln/>
        </p:spPr>
        <p:txBody>
          <a:bodyPr/>
          <a:lstStyle/>
          <a:p>
            <a:endParaRPr lang="en-SA"/>
          </a:p>
        </p:txBody>
      </p:sp>
      <p:sp>
        <p:nvSpPr>
          <p:cNvPr id="16" name="Text 14"/>
          <p:cNvSpPr/>
          <p:nvPr/>
        </p:nvSpPr>
        <p:spPr>
          <a:xfrm>
            <a:off x="768096" y="45262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Q3</a:t>
            </a:r>
            <a:endParaRPr lang="en-US" sz="1300" dirty="0"/>
          </a:p>
        </p:txBody>
      </p:sp>
      <p:sp>
        <p:nvSpPr>
          <p:cNvPr id="17" name="Text 15"/>
          <p:cNvSpPr/>
          <p:nvPr/>
        </p:nvSpPr>
        <p:spPr>
          <a:xfrm>
            <a:off x="1344168" y="448970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The sharp null hypothesis states that the treatment effect is zero for:</a:t>
            </a:r>
            <a:endParaRPr lang="en-US" sz="1400" dirty="0"/>
          </a:p>
        </p:txBody>
      </p:sp>
      <p:sp>
        <p:nvSpPr>
          <p:cNvPr id="18" name="Text 16"/>
          <p:cNvSpPr/>
          <p:nvPr/>
        </p:nvSpPr>
        <p:spPr>
          <a:xfrm>
            <a:off x="1344168" y="494690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the average unit      B) every unit      C) the treated only      D) large samples only</a:t>
            </a:r>
            <a:endParaRPr lang="en-US" sz="1200" dirty="0"/>
          </a:p>
        </p:txBody>
      </p:sp>
      <p:sp>
        <p:nvSpPr>
          <p:cNvPr id="19" name="Text 17"/>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RANDOMIZATION</a:t>
            </a:r>
            <a:endParaRPr lang="en-US" sz="900" dirty="0"/>
          </a:p>
        </p:txBody>
      </p:sp>
      <p:sp>
        <p:nvSpPr>
          <p:cNvPr id="20" name="Text 18"/>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43  /  221</a:t>
            </a:r>
            <a:endParaRPr lang="en-US" sz="900" dirty="0"/>
          </a:p>
        </p:txBody>
      </p:sp>
      <p:pic>
        <p:nvPicPr>
          <p:cNvPr id="21" name="Picture 20" descr="Day1_Check4.png"/>
          <p:cNvPicPr>
            <a:picLocks noChangeAspect="1"/>
          </p:cNvPicPr>
          <p:nvPr/>
        </p:nvPicPr>
        <p:blipFill>
          <a:blip r:embed="rId3"/>
          <a:stretch>
            <a:fillRect/>
          </a:stretch>
        </p:blipFill>
        <p:spPr>
          <a:xfrm>
            <a:off x="10637520" y="320040"/>
            <a:ext cx="1143000" cy="1143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DAY 1 · HOUR 5</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Lab 1 &amp; Consolidation</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Simulate potential outcomes, feel the fundamental problem, and see randomization repair selection bias — in code.</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DAY 1</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44  /  221</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502920"/>
            <a:ext cx="11057839" cy="292608"/>
          </a:xfrm>
          <a:prstGeom prst="rect">
            <a:avLst/>
          </a:prstGeom>
          <a:noFill/>
          <a:ln/>
        </p:spPr>
        <p:txBody>
          <a:bodyPr wrap="square" lIns="0" tIns="0" rIns="0" bIns="0" rtlCol="0" anchor="ctr"/>
          <a:lstStyle/>
          <a:p>
            <a:pPr marL="0" indent="0">
              <a:buNone/>
            </a:pPr>
            <a:r>
              <a:rPr lang="en-US" sz="1200" b="1" kern="0" spc="300" dirty="0">
                <a:solidFill>
                  <a:srgbClr val="70C8F2"/>
                </a:solidFill>
                <a:latin typeface="Calibri" pitchFamily="34" charset="0"/>
                <a:ea typeface="Calibri" pitchFamily="34" charset="-122"/>
                <a:cs typeface="Calibri" pitchFamily="34" charset="-120"/>
              </a:rPr>
              <a:t>DAY 1 · HANDS-ON LAB 1</a:t>
            </a:r>
            <a:endParaRPr lang="en-US" sz="1200" dirty="0"/>
          </a:p>
        </p:txBody>
      </p:sp>
      <p:sp>
        <p:nvSpPr>
          <p:cNvPr id="3" name="Text 1"/>
          <p:cNvSpPr/>
          <p:nvPr/>
        </p:nvSpPr>
        <p:spPr>
          <a:xfrm>
            <a:off x="566928" y="868680"/>
            <a:ext cx="11057839" cy="82296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Simulating the Counterfactual World</a:t>
            </a:r>
            <a:endParaRPr lang="en-US" sz="3000" dirty="0"/>
          </a:p>
        </p:txBody>
      </p:sp>
      <p:sp>
        <p:nvSpPr>
          <p:cNvPr id="4" name="Shape 2"/>
          <p:cNvSpPr/>
          <p:nvPr/>
        </p:nvSpPr>
        <p:spPr>
          <a:xfrm>
            <a:off x="566928" y="2011680"/>
            <a:ext cx="3931920" cy="3931920"/>
          </a:xfrm>
          <a:prstGeom prst="roundRect">
            <a:avLst>
              <a:gd name="adj" fmla="val 2326"/>
            </a:avLst>
          </a:prstGeom>
          <a:solidFill>
            <a:srgbClr val="1C2E4E"/>
          </a:solidFill>
          <a:ln w="12700">
            <a:solidFill>
              <a:srgbClr val="2A3E63"/>
            </a:solidFill>
            <a:prstDash val="solid"/>
          </a:ln>
        </p:spPr>
        <p:txBody>
          <a:bodyPr/>
          <a:lstStyle/>
          <a:p>
            <a:endParaRPr lang="en-SA"/>
          </a:p>
        </p:txBody>
      </p:sp>
      <p:sp>
        <p:nvSpPr>
          <p:cNvPr id="5" name="Text 3"/>
          <p:cNvSpPr/>
          <p:nvPr/>
        </p:nvSpPr>
        <p:spPr>
          <a:xfrm>
            <a:off x="841248" y="2240280"/>
            <a:ext cx="3383280" cy="274320"/>
          </a:xfrm>
          <a:prstGeom prst="rect">
            <a:avLst/>
          </a:prstGeom>
          <a:noFill/>
          <a:ln/>
        </p:spPr>
        <p:txBody>
          <a:bodyPr wrap="square" lIns="0" tIns="0" rIns="0" bIns="0" rtlCol="0" anchor="ctr"/>
          <a:lstStyle/>
          <a:p>
            <a:pPr marL="0" indent="0">
              <a:buNone/>
            </a:pPr>
            <a:r>
              <a:rPr lang="en-US" sz="1100" b="1" kern="0" spc="200" dirty="0">
                <a:solidFill>
                  <a:srgbClr val="70C8F2"/>
                </a:solidFill>
                <a:latin typeface="Calibri" pitchFamily="34" charset="0"/>
                <a:ea typeface="Calibri" pitchFamily="34" charset="-122"/>
                <a:cs typeface="Calibri" pitchFamily="34" charset="-120"/>
              </a:rPr>
              <a:t>OBJECTIVE</a:t>
            </a:r>
            <a:endParaRPr lang="en-US" sz="1100" dirty="0"/>
          </a:p>
        </p:txBody>
      </p:sp>
      <p:sp>
        <p:nvSpPr>
          <p:cNvPr id="6" name="Text 4"/>
          <p:cNvSpPr/>
          <p:nvPr/>
        </p:nvSpPr>
        <p:spPr>
          <a:xfrm>
            <a:off x="841248" y="2542032"/>
            <a:ext cx="3383280" cy="1280160"/>
          </a:xfrm>
          <a:prstGeom prst="rect">
            <a:avLst/>
          </a:prstGeom>
          <a:noFill/>
          <a:ln/>
        </p:spPr>
        <p:txBody>
          <a:bodyPr wrap="square" lIns="0" tIns="0" rIns="0" bIns="0" rtlCol="0" anchor="t"/>
          <a:lstStyle/>
          <a:p>
            <a:pPr marL="0" indent="0">
              <a:lnSpc>
                <a:spcPct val="122000"/>
              </a:lnSpc>
              <a:buNone/>
            </a:pPr>
            <a:r>
              <a:rPr lang="en-US" sz="1300" dirty="0">
                <a:solidFill>
                  <a:srgbClr val="C9DAF0"/>
                </a:solidFill>
                <a:latin typeface="Calibri" pitchFamily="34" charset="0"/>
                <a:ea typeface="Calibri" pitchFamily="34" charset="-122"/>
                <a:cs typeface="Calibri" pitchFamily="34" charset="-120"/>
              </a:rPr>
              <a:t>Build a synthetic population where you control the full potential-outcomes table, then experience why the naive estimate misleads and how randomization fixes it.</a:t>
            </a:r>
            <a:endParaRPr lang="en-US" sz="1300" dirty="0"/>
          </a:p>
        </p:txBody>
      </p:sp>
      <p:sp>
        <p:nvSpPr>
          <p:cNvPr id="7" name="Text 5"/>
          <p:cNvSpPr/>
          <p:nvPr/>
        </p:nvSpPr>
        <p:spPr>
          <a:xfrm>
            <a:off x="841248" y="4206240"/>
            <a:ext cx="3383280" cy="274320"/>
          </a:xfrm>
          <a:prstGeom prst="rect">
            <a:avLst/>
          </a:prstGeom>
          <a:noFill/>
          <a:ln/>
        </p:spPr>
        <p:txBody>
          <a:bodyPr wrap="square" lIns="0" tIns="0" rIns="0" bIns="0" rtlCol="0" anchor="ctr"/>
          <a:lstStyle/>
          <a:p>
            <a:pPr marL="0" indent="0">
              <a:buNone/>
            </a:pPr>
            <a:r>
              <a:rPr lang="en-US" sz="1100" b="1" kern="0" spc="200" dirty="0">
                <a:solidFill>
                  <a:srgbClr val="70C8F2"/>
                </a:solidFill>
                <a:latin typeface="Calibri" pitchFamily="34" charset="0"/>
                <a:ea typeface="Calibri" pitchFamily="34" charset="-122"/>
                <a:cs typeface="Calibri" pitchFamily="34" charset="-120"/>
              </a:rPr>
              <a:t>DELIVERABLE</a:t>
            </a:r>
            <a:endParaRPr lang="en-US" sz="1100" dirty="0"/>
          </a:p>
        </p:txBody>
      </p:sp>
      <p:sp>
        <p:nvSpPr>
          <p:cNvPr id="8" name="Text 6"/>
          <p:cNvSpPr/>
          <p:nvPr/>
        </p:nvSpPr>
        <p:spPr>
          <a:xfrm>
            <a:off x="841248" y="4498848"/>
            <a:ext cx="3383280" cy="1280160"/>
          </a:xfrm>
          <a:prstGeom prst="rect">
            <a:avLst/>
          </a:prstGeom>
          <a:noFill/>
          <a:ln/>
        </p:spPr>
        <p:txBody>
          <a:bodyPr wrap="square" lIns="0" tIns="0" rIns="0" bIns="0" rtlCol="0" anchor="t"/>
          <a:lstStyle/>
          <a:p>
            <a:pPr marL="0" indent="0">
              <a:lnSpc>
                <a:spcPct val="120000"/>
              </a:lnSpc>
              <a:buNone/>
            </a:pPr>
            <a:r>
              <a:rPr lang="en-US" sz="1250" dirty="0">
                <a:solidFill>
                  <a:srgbClr val="C9DAF0"/>
                </a:solidFill>
                <a:latin typeface="Calibri" pitchFamily="34" charset="0"/>
                <a:ea typeface="Calibri" pitchFamily="34" charset="-122"/>
                <a:cs typeface="Calibri" pitchFamily="34" charset="-120"/>
              </a:rPr>
              <a:t>A notebook that reports true ATE, naive (selection-biased) estimate, and randomized estimate with a design-based standard error.</a:t>
            </a:r>
            <a:endParaRPr lang="en-US" sz="1250" dirty="0"/>
          </a:p>
        </p:txBody>
      </p:sp>
      <p:sp>
        <p:nvSpPr>
          <p:cNvPr id="9" name="Text 7"/>
          <p:cNvSpPr/>
          <p:nvPr/>
        </p:nvSpPr>
        <p:spPr>
          <a:xfrm>
            <a:off x="4864608" y="2029968"/>
            <a:ext cx="676015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STEPS</a:t>
            </a:r>
            <a:endParaRPr lang="en-US" sz="1100" dirty="0"/>
          </a:p>
        </p:txBody>
      </p:sp>
      <p:sp>
        <p:nvSpPr>
          <p:cNvPr id="10" name="Shape 8"/>
          <p:cNvSpPr/>
          <p:nvPr/>
        </p:nvSpPr>
        <p:spPr>
          <a:xfrm>
            <a:off x="4864608" y="2395728"/>
            <a:ext cx="384048" cy="384048"/>
          </a:xfrm>
          <a:prstGeom prst="ellipse">
            <a:avLst/>
          </a:prstGeom>
          <a:solidFill>
            <a:srgbClr val="3FA9E0"/>
          </a:solidFill>
          <a:ln/>
        </p:spPr>
        <p:txBody>
          <a:bodyPr/>
          <a:lstStyle/>
          <a:p>
            <a:endParaRPr lang="en-SA"/>
          </a:p>
        </p:txBody>
      </p:sp>
      <p:sp>
        <p:nvSpPr>
          <p:cNvPr id="11" name="Text 9"/>
          <p:cNvSpPr/>
          <p:nvPr/>
        </p:nvSpPr>
        <p:spPr>
          <a:xfrm>
            <a:off x="4864608" y="23957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2" name="Text 10"/>
          <p:cNvSpPr/>
          <p:nvPr/>
        </p:nvSpPr>
        <p:spPr>
          <a:xfrm>
            <a:off x="5413248" y="2377440"/>
            <a:ext cx="6211519" cy="586740"/>
          </a:xfrm>
          <a:prstGeom prst="rect">
            <a:avLst/>
          </a:prstGeom>
          <a:noFill/>
          <a:ln/>
        </p:spPr>
        <p:txBody>
          <a:bodyPr wrap="square" lIns="0" tIns="0" rIns="0" bIns="0" rtlCol="0" anchor="t"/>
          <a:lstStyle/>
          <a:p>
            <a:pPr marL="0" indent="0">
              <a:lnSpc>
                <a:spcPct val="112000"/>
              </a:lnSpc>
              <a:buNone/>
            </a:pPr>
            <a:r>
              <a:rPr lang="en-US" sz="1250" dirty="0">
                <a:solidFill>
                  <a:srgbClr val="C9DAF0"/>
                </a:solidFill>
                <a:latin typeface="Calibri" pitchFamily="34" charset="0"/>
                <a:ea typeface="Calibri" pitchFamily="34" charset="-122"/>
                <a:cs typeface="Calibri" pitchFamily="34" charset="-120"/>
              </a:rPr>
              <a:t>Generate N=5,000 units with a confounder X and true Y(0), Y(1) as functions of X plus noise.</a:t>
            </a:r>
            <a:endParaRPr lang="en-US" sz="1250" dirty="0"/>
          </a:p>
        </p:txBody>
      </p:sp>
      <p:sp>
        <p:nvSpPr>
          <p:cNvPr id="13" name="Shape 11"/>
          <p:cNvSpPr/>
          <p:nvPr/>
        </p:nvSpPr>
        <p:spPr>
          <a:xfrm>
            <a:off x="4864608" y="2982468"/>
            <a:ext cx="384048" cy="384048"/>
          </a:xfrm>
          <a:prstGeom prst="ellipse">
            <a:avLst/>
          </a:prstGeom>
          <a:solidFill>
            <a:srgbClr val="5A5BA6"/>
          </a:solidFill>
          <a:ln/>
        </p:spPr>
        <p:txBody>
          <a:bodyPr/>
          <a:lstStyle/>
          <a:p>
            <a:endParaRPr lang="en-SA"/>
          </a:p>
        </p:txBody>
      </p:sp>
      <p:sp>
        <p:nvSpPr>
          <p:cNvPr id="14" name="Text 12"/>
          <p:cNvSpPr/>
          <p:nvPr/>
        </p:nvSpPr>
        <p:spPr>
          <a:xfrm>
            <a:off x="4864608" y="298246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5" name="Text 13"/>
          <p:cNvSpPr/>
          <p:nvPr/>
        </p:nvSpPr>
        <p:spPr>
          <a:xfrm>
            <a:off x="5413248" y="2964180"/>
            <a:ext cx="6211519" cy="586740"/>
          </a:xfrm>
          <a:prstGeom prst="rect">
            <a:avLst/>
          </a:prstGeom>
          <a:noFill/>
          <a:ln/>
        </p:spPr>
        <p:txBody>
          <a:bodyPr wrap="square" lIns="0" tIns="0" rIns="0" bIns="0" rtlCol="0" anchor="t"/>
          <a:lstStyle/>
          <a:p>
            <a:pPr marL="0" indent="0">
              <a:lnSpc>
                <a:spcPct val="112000"/>
              </a:lnSpc>
              <a:buNone/>
            </a:pPr>
            <a:r>
              <a:rPr lang="en-US" sz="1250" dirty="0">
                <a:solidFill>
                  <a:srgbClr val="C9DAF0"/>
                </a:solidFill>
                <a:latin typeface="Calibri" pitchFamily="34" charset="0"/>
                <a:ea typeface="Calibri" pitchFamily="34" charset="-122"/>
                <a:cs typeface="Calibri" pitchFamily="34" charset="-120"/>
              </a:rPr>
              <a:t>Compute the oracle ATE from the full potential-outcomes table.</a:t>
            </a:r>
            <a:endParaRPr lang="en-US" sz="1250" dirty="0"/>
          </a:p>
        </p:txBody>
      </p:sp>
      <p:sp>
        <p:nvSpPr>
          <p:cNvPr id="16" name="Shape 14"/>
          <p:cNvSpPr/>
          <p:nvPr/>
        </p:nvSpPr>
        <p:spPr>
          <a:xfrm>
            <a:off x="4864608" y="3569208"/>
            <a:ext cx="384048" cy="384048"/>
          </a:xfrm>
          <a:prstGeom prst="ellipse">
            <a:avLst/>
          </a:prstGeom>
          <a:solidFill>
            <a:srgbClr val="EA7B38"/>
          </a:solidFill>
          <a:ln/>
        </p:spPr>
        <p:txBody>
          <a:bodyPr/>
          <a:lstStyle/>
          <a:p>
            <a:endParaRPr lang="en-SA"/>
          </a:p>
        </p:txBody>
      </p:sp>
      <p:sp>
        <p:nvSpPr>
          <p:cNvPr id="17" name="Text 15"/>
          <p:cNvSpPr/>
          <p:nvPr/>
        </p:nvSpPr>
        <p:spPr>
          <a:xfrm>
            <a:off x="4864608" y="3569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p:nvPr/>
        </p:nvSpPr>
        <p:spPr>
          <a:xfrm>
            <a:off x="5413248" y="3550920"/>
            <a:ext cx="6211519" cy="586740"/>
          </a:xfrm>
          <a:prstGeom prst="rect">
            <a:avLst/>
          </a:prstGeom>
          <a:noFill/>
          <a:ln/>
        </p:spPr>
        <p:txBody>
          <a:bodyPr wrap="square" lIns="0" tIns="0" rIns="0" bIns="0" rtlCol="0" anchor="t"/>
          <a:lstStyle/>
          <a:p>
            <a:pPr marL="0" indent="0">
              <a:lnSpc>
                <a:spcPct val="112000"/>
              </a:lnSpc>
              <a:buNone/>
            </a:pPr>
            <a:r>
              <a:rPr lang="en-US" sz="1250" dirty="0">
                <a:solidFill>
                  <a:srgbClr val="C9DAF0"/>
                </a:solidFill>
                <a:latin typeface="Calibri" pitchFamily="34" charset="0"/>
                <a:ea typeface="Calibri" pitchFamily="34" charset="-122"/>
                <a:cs typeface="Calibri" pitchFamily="34" charset="-120"/>
              </a:rPr>
              <a:t>Induce selection: let P(T=1) increase with X; compute the naive difference in means.</a:t>
            </a:r>
            <a:endParaRPr lang="en-US" sz="1250" dirty="0"/>
          </a:p>
        </p:txBody>
      </p:sp>
      <p:sp>
        <p:nvSpPr>
          <p:cNvPr id="19" name="Shape 17"/>
          <p:cNvSpPr/>
          <p:nvPr/>
        </p:nvSpPr>
        <p:spPr>
          <a:xfrm>
            <a:off x="4864608" y="4155948"/>
            <a:ext cx="384048" cy="384048"/>
          </a:xfrm>
          <a:prstGeom prst="ellipse">
            <a:avLst/>
          </a:prstGeom>
          <a:solidFill>
            <a:srgbClr val="3E9B90"/>
          </a:solidFill>
          <a:ln/>
        </p:spPr>
        <p:txBody>
          <a:bodyPr/>
          <a:lstStyle/>
          <a:p>
            <a:endParaRPr lang="en-SA"/>
          </a:p>
        </p:txBody>
      </p:sp>
      <p:sp>
        <p:nvSpPr>
          <p:cNvPr id="20" name="Text 18"/>
          <p:cNvSpPr/>
          <p:nvPr/>
        </p:nvSpPr>
        <p:spPr>
          <a:xfrm>
            <a:off x="4864608" y="415594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1" name="Text 19"/>
          <p:cNvSpPr/>
          <p:nvPr/>
        </p:nvSpPr>
        <p:spPr>
          <a:xfrm>
            <a:off x="5413248" y="4137660"/>
            <a:ext cx="6211519" cy="586740"/>
          </a:xfrm>
          <a:prstGeom prst="rect">
            <a:avLst/>
          </a:prstGeom>
          <a:noFill/>
          <a:ln/>
        </p:spPr>
        <p:txBody>
          <a:bodyPr wrap="square" lIns="0" tIns="0" rIns="0" bIns="0" rtlCol="0" anchor="t"/>
          <a:lstStyle/>
          <a:p>
            <a:pPr marL="0" indent="0">
              <a:lnSpc>
                <a:spcPct val="112000"/>
              </a:lnSpc>
              <a:buNone/>
            </a:pPr>
            <a:r>
              <a:rPr lang="en-US" sz="1250" dirty="0">
                <a:solidFill>
                  <a:srgbClr val="C9DAF0"/>
                </a:solidFill>
                <a:latin typeface="Calibri" pitchFamily="34" charset="0"/>
                <a:ea typeface="Calibri" pitchFamily="34" charset="-122"/>
                <a:cs typeface="Calibri" pitchFamily="34" charset="-120"/>
              </a:rPr>
              <a:t>Re-assign T completely at random; recompute the difference in means.</a:t>
            </a:r>
            <a:endParaRPr lang="en-US" sz="1250" dirty="0"/>
          </a:p>
        </p:txBody>
      </p:sp>
      <p:sp>
        <p:nvSpPr>
          <p:cNvPr id="22" name="Shape 20"/>
          <p:cNvSpPr/>
          <p:nvPr/>
        </p:nvSpPr>
        <p:spPr>
          <a:xfrm>
            <a:off x="4864608" y="4742688"/>
            <a:ext cx="384048" cy="384048"/>
          </a:xfrm>
          <a:prstGeom prst="ellipse">
            <a:avLst/>
          </a:prstGeom>
          <a:solidFill>
            <a:srgbClr val="73BB59"/>
          </a:solidFill>
          <a:ln/>
        </p:spPr>
        <p:txBody>
          <a:bodyPr/>
          <a:lstStyle/>
          <a:p>
            <a:endParaRPr lang="en-SA"/>
          </a:p>
        </p:txBody>
      </p:sp>
      <p:sp>
        <p:nvSpPr>
          <p:cNvPr id="23" name="Text 21"/>
          <p:cNvSpPr/>
          <p:nvPr/>
        </p:nvSpPr>
        <p:spPr>
          <a:xfrm>
            <a:off x="4864608" y="474268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4" name="Text 22"/>
          <p:cNvSpPr/>
          <p:nvPr/>
        </p:nvSpPr>
        <p:spPr>
          <a:xfrm>
            <a:off x="5413248" y="4724400"/>
            <a:ext cx="6211519" cy="586740"/>
          </a:xfrm>
          <a:prstGeom prst="rect">
            <a:avLst/>
          </a:prstGeom>
          <a:noFill/>
          <a:ln/>
        </p:spPr>
        <p:txBody>
          <a:bodyPr wrap="square" lIns="0" tIns="0" rIns="0" bIns="0" rtlCol="0" anchor="t"/>
          <a:lstStyle/>
          <a:p>
            <a:pPr marL="0" indent="0">
              <a:lnSpc>
                <a:spcPct val="112000"/>
              </a:lnSpc>
              <a:buNone/>
            </a:pPr>
            <a:r>
              <a:rPr lang="en-US" sz="1250" dirty="0">
                <a:solidFill>
                  <a:srgbClr val="C9DAF0"/>
                </a:solidFill>
                <a:latin typeface="Calibri" pitchFamily="34" charset="0"/>
                <a:ea typeface="Calibri" pitchFamily="34" charset="-122"/>
                <a:cs typeface="Calibri" pitchFamily="34" charset="-120"/>
              </a:rPr>
              <a:t>Compare all three; plot covariate balance before and after randomization.</a:t>
            </a:r>
            <a:endParaRPr lang="en-US" sz="1250" dirty="0"/>
          </a:p>
        </p:txBody>
      </p:sp>
      <p:sp>
        <p:nvSpPr>
          <p:cNvPr id="25" name="Shape 23"/>
          <p:cNvSpPr/>
          <p:nvPr/>
        </p:nvSpPr>
        <p:spPr>
          <a:xfrm>
            <a:off x="4864608" y="5329428"/>
            <a:ext cx="384048" cy="384048"/>
          </a:xfrm>
          <a:prstGeom prst="ellipse">
            <a:avLst/>
          </a:prstGeom>
          <a:solidFill>
            <a:srgbClr val="3FA9E0"/>
          </a:solidFill>
          <a:ln/>
        </p:spPr>
        <p:txBody>
          <a:bodyPr/>
          <a:lstStyle/>
          <a:p>
            <a:endParaRPr lang="en-SA"/>
          </a:p>
        </p:txBody>
      </p:sp>
      <p:sp>
        <p:nvSpPr>
          <p:cNvPr id="26" name="Text 24"/>
          <p:cNvSpPr/>
          <p:nvPr/>
        </p:nvSpPr>
        <p:spPr>
          <a:xfrm>
            <a:off x="4864608" y="53294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27" name="Text 25"/>
          <p:cNvSpPr/>
          <p:nvPr/>
        </p:nvSpPr>
        <p:spPr>
          <a:xfrm>
            <a:off x="5413248" y="5311140"/>
            <a:ext cx="6211519" cy="586740"/>
          </a:xfrm>
          <a:prstGeom prst="rect">
            <a:avLst/>
          </a:prstGeom>
          <a:noFill/>
          <a:ln/>
        </p:spPr>
        <p:txBody>
          <a:bodyPr wrap="square" lIns="0" tIns="0" rIns="0" bIns="0" rtlCol="0" anchor="t"/>
          <a:lstStyle/>
          <a:p>
            <a:pPr marL="0" indent="0">
              <a:lnSpc>
                <a:spcPct val="112000"/>
              </a:lnSpc>
              <a:buNone/>
            </a:pPr>
            <a:r>
              <a:rPr lang="en-US" sz="1250" dirty="0">
                <a:solidFill>
                  <a:srgbClr val="C9DAF0"/>
                </a:solidFill>
                <a:latin typeface="Calibri" pitchFamily="34" charset="0"/>
                <a:ea typeface="Calibri" pitchFamily="34" charset="-122"/>
                <a:cs typeface="Calibri" pitchFamily="34" charset="-120"/>
              </a:rPr>
              <a:t>Add a randomization-inference p-value via 1,000 label permutations.</a:t>
            </a:r>
            <a:endParaRPr lang="en-US" sz="1250" dirty="0"/>
          </a:p>
        </p:txBody>
      </p:sp>
      <p:sp>
        <p:nvSpPr>
          <p:cNvPr id="28" name="Text 2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DAY 1 · LAB</a:t>
            </a:r>
            <a:endParaRPr lang="en-US" sz="900" dirty="0"/>
          </a:p>
        </p:txBody>
      </p:sp>
      <p:sp>
        <p:nvSpPr>
          <p:cNvPr id="29" name="Text 2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45  /  221</a:t>
            </a:r>
            <a:endParaRPr lang="en-US" sz="900" dirty="0"/>
          </a:p>
        </p:txBody>
      </p:sp>
      <p:pic>
        <p:nvPicPr>
          <p:cNvPr id="30" name="Picture 29" descr="Submission_Form.png"/>
          <p:cNvPicPr>
            <a:picLocks noChangeAspect="1"/>
          </p:cNvPicPr>
          <p:nvPr/>
        </p:nvPicPr>
        <p:blipFill>
          <a:blip r:embed="rId4"/>
          <a:stretch>
            <a:fillRect/>
          </a:stretch>
        </p:blipFill>
        <p:spPr>
          <a:xfrm>
            <a:off x="10637520" y="320040"/>
            <a:ext cx="1143000" cy="1143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5</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Lab 1 Debrief: What You Should See</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The numbers are engineered to make the lesson unmistakable.</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Naive ≠ truth</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The selection-biased estimate is systematically off, and more data does not fix it — it converges to the biased value.</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Randomized ≈ truth</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The randomized estimate centres on the true ATE, with a spread that shrinks as n grows.</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Balance is visible</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Covariate distributions overlap after randomization and diverge under selection — the diagnostic you will use all week.</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LAB</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46  /  221</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HOUR 5</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Discussion: Bring a Question From Your Work</a:t>
            </a:r>
            <a:endParaRPr lang="en-US" sz="3400" dirty="0"/>
          </a:p>
        </p:txBody>
      </p:sp>
      <p:sp>
        <p:nvSpPr>
          <p:cNvPr id="4" name="Text 2"/>
          <p:cNvSpPr/>
          <p:nvPr/>
        </p:nvSpPr>
        <p:spPr>
          <a:xfrm>
            <a:off x="566928" y="1737360"/>
            <a:ext cx="11057839" cy="64008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In pairs, translate a real question from your context into the framework. We surface a few to the room.</a:t>
            </a:r>
            <a:endParaRPr lang="en-US" sz="1450" dirty="0"/>
          </a:p>
        </p:txBody>
      </p:sp>
      <p:sp>
        <p:nvSpPr>
          <p:cNvPr id="5" name="Shape 3"/>
          <p:cNvSpPr/>
          <p:nvPr/>
        </p:nvSpPr>
        <p:spPr>
          <a:xfrm>
            <a:off x="566928" y="2578608"/>
            <a:ext cx="137160" cy="137160"/>
          </a:xfrm>
          <a:prstGeom prst="ellipse">
            <a:avLst/>
          </a:prstGeom>
          <a:solidFill>
            <a:srgbClr val="3FA9E0"/>
          </a:solidFill>
          <a:ln/>
        </p:spPr>
        <p:txBody>
          <a:bodyPr/>
          <a:lstStyle/>
          <a:p>
            <a:endParaRPr lang="en-SA"/>
          </a:p>
        </p:txBody>
      </p:sp>
      <p:sp>
        <p:nvSpPr>
          <p:cNvPr id="6" name="Text 4"/>
          <p:cNvSpPr/>
          <p:nvPr/>
        </p:nvSpPr>
        <p:spPr>
          <a:xfrm>
            <a:off x="841248" y="2514600"/>
            <a:ext cx="10783519" cy="749808"/>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State the decision, the treatment, the outcome, and the population.</a:t>
            </a:r>
            <a:endParaRPr lang="en-US" sz="1400" dirty="0"/>
          </a:p>
        </p:txBody>
      </p:sp>
      <p:sp>
        <p:nvSpPr>
          <p:cNvPr id="7" name="Shape 5"/>
          <p:cNvSpPr/>
          <p:nvPr/>
        </p:nvSpPr>
        <p:spPr>
          <a:xfrm>
            <a:off x="566928" y="3328416"/>
            <a:ext cx="137160" cy="137160"/>
          </a:xfrm>
          <a:prstGeom prst="ellipse">
            <a:avLst/>
          </a:prstGeom>
          <a:solidFill>
            <a:srgbClr val="5A5BA6"/>
          </a:solidFill>
          <a:ln/>
        </p:spPr>
        <p:txBody>
          <a:bodyPr/>
          <a:lstStyle/>
          <a:p>
            <a:endParaRPr lang="en-SA"/>
          </a:p>
        </p:txBody>
      </p:sp>
      <p:sp>
        <p:nvSpPr>
          <p:cNvPr id="8" name="Text 6"/>
          <p:cNvSpPr/>
          <p:nvPr/>
        </p:nvSpPr>
        <p:spPr>
          <a:xfrm>
            <a:off x="841248" y="3264408"/>
            <a:ext cx="10783519" cy="749808"/>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Name the estimand (ATE, ATT, CATE, or ITT) and justify the choice.</a:t>
            </a:r>
            <a:endParaRPr lang="en-US" sz="1400" dirty="0"/>
          </a:p>
        </p:txBody>
      </p:sp>
      <p:sp>
        <p:nvSpPr>
          <p:cNvPr id="9" name="Shape 7"/>
          <p:cNvSpPr/>
          <p:nvPr/>
        </p:nvSpPr>
        <p:spPr>
          <a:xfrm>
            <a:off x="566928" y="4078224"/>
            <a:ext cx="137160" cy="137160"/>
          </a:xfrm>
          <a:prstGeom prst="ellipse">
            <a:avLst/>
          </a:prstGeom>
          <a:solidFill>
            <a:srgbClr val="EA7B38"/>
          </a:solidFill>
          <a:ln/>
        </p:spPr>
        <p:txBody>
          <a:bodyPr/>
          <a:lstStyle/>
          <a:p>
            <a:endParaRPr lang="en-SA"/>
          </a:p>
        </p:txBody>
      </p:sp>
      <p:sp>
        <p:nvSpPr>
          <p:cNvPr id="10" name="Text 8"/>
          <p:cNvSpPr/>
          <p:nvPr/>
        </p:nvSpPr>
        <p:spPr>
          <a:xfrm>
            <a:off x="841248" y="4014216"/>
            <a:ext cx="10783519" cy="749808"/>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List the most plausible confounders and whether you can measure them.</a:t>
            </a:r>
            <a:endParaRPr lang="en-US" sz="1400" dirty="0"/>
          </a:p>
        </p:txBody>
      </p:sp>
      <p:sp>
        <p:nvSpPr>
          <p:cNvPr id="11" name="Shape 9"/>
          <p:cNvSpPr/>
          <p:nvPr/>
        </p:nvSpPr>
        <p:spPr>
          <a:xfrm>
            <a:off x="566928" y="4828032"/>
            <a:ext cx="137160" cy="137160"/>
          </a:xfrm>
          <a:prstGeom prst="ellipse">
            <a:avLst/>
          </a:prstGeom>
          <a:solidFill>
            <a:srgbClr val="3E9B90"/>
          </a:solidFill>
          <a:ln/>
        </p:spPr>
        <p:txBody>
          <a:bodyPr/>
          <a:lstStyle/>
          <a:p>
            <a:endParaRPr lang="en-SA"/>
          </a:p>
        </p:txBody>
      </p:sp>
      <p:sp>
        <p:nvSpPr>
          <p:cNvPr id="12" name="Text 10"/>
          <p:cNvSpPr/>
          <p:nvPr/>
        </p:nvSpPr>
        <p:spPr>
          <a:xfrm>
            <a:off x="841248" y="4764024"/>
            <a:ext cx="10783519" cy="749808"/>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Decide: could you randomize? If not, what natural variation might stand in?</a:t>
            </a:r>
            <a:endParaRPr lang="en-US" sz="1400" dirty="0"/>
          </a:p>
        </p:txBody>
      </p:sp>
      <p:sp>
        <p:nvSpPr>
          <p:cNvPr id="13" name="Text 11"/>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DISCUSSION</a:t>
            </a:r>
            <a:endParaRPr lang="en-US" sz="900" dirty="0"/>
          </a:p>
        </p:txBody>
      </p:sp>
      <p:sp>
        <p:nvSpPr>
          <p:cNvPr id="14" name="Text 12"/>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47  /  221</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1 · WRAP</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Day 1 in One Slide</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The mental model that carries the whole course.</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Causal ≠ predictive</a:t>
            </a:r>
            <a:endParaRPr lang="en-US" sz="1500" dirty="0"/>
          </a:p>
        </p:txBody>
      </p:sp>
      <p:sp>
        <p:nvSpPr>
          <p:cNvPr id="7" name="Text 5"/>
          <p:cNvSpPr/>
          <p:nvPr/>
        </p:nvSpPr>
        <p:spPr>
          <a:xfrm>
            <a:off x="859536" y="283464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Intervention questions need counterfactual reasoning, not just correlation.</a:t>
            </a:r>
            <a:endParaRPr lang="en-US" sz="1250" dirty="0"/>
          </a:p>
        </p:txBody>
      </p:sp>
      <p:sp>
        <p:nvSpPr>
          <p:cNvPr id="8" name="Shape 6"/>
          <p:cNvSpPr/>
          <p:nvPr/>
        </p:nvSpPr>
        <p:spPr>
          <a:xfrm>
            <a:off x="566928" y="3506724"/>
            <a:ext cx="146304" cy="146304"/>
          </a:xfrm>
          <a:prstGeom prst="ellipse">
            <a:avLst/>
          </a:prstGeom>
          <a:solidFill>
            <a:srgbClr val="5A5BA6"/>
          </a:solidFill>
          <a:ln/>
        </p:spPr>
        <p:txBody>
          <a:bodyPr/>
          <a:lstStyle/>
          <a:p>
            <a:endParaRPr lang="en-SA"/>
          </a:p>
        </p:txBody>
      </p:sp>
      <p:sp>
        <p:nvSpPr>
          <p:cNvPr id="9" name="Text 7"/>
          <p:cNvSpPr/>
          <p:nvPr/>
        </p:nvSpPr>
        <p:spPr>
          <a:xfrm>
            <a:off x="859536" y="345186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Potential outcomes</a:t>
            </a:r>
            <a:endParaRPr lang="en-US" sz="1500" dirty="0"/>
          </a:p>
        </p:txBody>
      </p:sp>
      <p:sp>
        <p:nvSpPr>
          <p:cNvPr id="10" name="Text 8"/>
          <p:cNvSpPr/>
          <p:nvPr/>
        </p:nvSpPr>
        <p:spPr>
          <a:xfrm>
            <a:off x="859536" y="372618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Effects are within-unit contrasts; the missing counterfactual is the whole problem.</a:t>
            </a:r>
            <a:endParaRPr lang="en-US" sz="1250" dirty="0"/>
          </a:p>
        </p:txBody>
      </p:sp>
      <p:sp>
        <p:nvSpPr>
          <p:cNvPr id="11" name="Shape 9"/>
          <p:cNvSpPr/>
          <p:nvPr/>
        </p:nvSpPr>
        <p:spPr>
          <a:xfrm>
            <a:off x="566928" y="4398264"/>
            <a:ext cx="146304" cy="146304"/>
          </a:xfrm>
          <a:prstGeom prst="ellipse">
            <a:avLst/>
          </a:prstGeom>
          <a:solidFill>
            <a:srgbClr val="EA7B38"/>
          </a:solidFill>
          <a:ln/>
        </p:spPr>
        <p:txBody>
          <a:bodyPr/>
          <a:lstStyle/>
          <a:p>
            <a:endParaRPr lang="en-SA"/>
          </a:p>
        </p:txBody>
      </p:sp>
      <p:sp>
        <p:nvSpPr>
          <p:cNvPr id="12" name="Text 10"/>
          <p:cNvSpPr/>
          <p:nvPr/>
        </p:nvSpPr>
        <p:spPr>
          <a:xfrm>
            <a:off x="859536" y="434340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Identification first</a:t>
            </a:r>
            <a:endParaRPr lang="en-US" sz="1500" dirty="0"/>
          </a:p>
        </p:txBody>
      </p:sp>
      <p:sp>
        <p:nvSpPr>
          <p:cNvPr id="13" name="Text 11"/>
          <p:cNvSpPr/>
          <p:nvPr/>
        </p:nvSpPr>
        <p:spPr>
          <a:xfrm>
            <a:off x="859536" y="461772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SUTVA, ignorability, positivity, consistency decide credibility before any estimator.</a:t>
            </a:r>
            <a:endParaRPr lang="en-US" sz="1250" dirty="0"/>
          </a:p>
        </p:txBody>
      </p:sp>
      <p:sp>
        <p:nvSpPr>
          <p:cNvPr id="14" name="Shape 12"/>
          <p:cNvSpPr/>
          <p:nvPr/>
        </p:nvSpPr>
        <p:spPr>
          <a:xfrm>
            <a:off x="566928" y="5289804"/>
            <a:ext cx="146304" cy="146304"/>
          </a:xfrm>
          <a:prstGeom prst="ellipse">
            <a:avLst/>
          </a:prstGeom>
          <a:solidFill>
            <a:srgbClr val="3E9B90"/>
          </a:solidFill>
          <a:ln/>
        </p:spPr>
        <p:txBody>
          <a:bodyPr/>
          <a:lstStyle/>
          <a:p>
            <a:endParaRPr lang="en-SA"/>
          </a:p>
        </p:txBody>
      </p:sp>
      <p:sp>
        <p:nvSpPr>
          <p:cNvPr id="15" name="Text 13"/>
          <p:cNvSpPr/>
          <p:nvPr/>
        </p:nvSpPr>
        <p:spPr>
          <a:xfrm>
            <a:off x="859536" y="523494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Randomization is the benchmark</a:t>
            </a:r>
            <a:endParaRPr lang="en-US" sz="1500" dirty="0"/>
          </a:p>
        </p:txBody>
      </p:sp>
      <p:sp>
        <p:nvSpPr>
          <p:cNvPr id="16" name="Text 14"/>
          <p:cNvSpPr/>
          <p:nvPr/>
        </p:nvSpPr>
        <p:spPr>
          <a:xfrm>
            <a:off x="859536" y="550926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It makes ignorability true by design; quasi-experiments approximate it.</a:t>
            </a:r>
            <a:endParaRPr lang="en-US" sz="1250" dirty="0"/>
          </a:p>
        </p:txBody>
      </p:sp>
      <p:sp>
        <p:nvSpPr>
          <p:cNvPr id="17" name="Shape 15"/>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8" name="Text 16"/>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TOMORROW</a:t>
            </a:r>
            <a:endParaRPr lang="en-US" sz="1100" dirty="0"/>
          </a:p>
        </p:txBody>
      </p:sp>
      <p:sp>
        <p:nvSpPr>
          <p:cNvPr id="19" name="Text 17"/>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i="1" dirty="0">
                <a:solidFill>
                  <a:srgbClr val="16233F"/>
                </a:solidFill>
                <a:latin typeface="Calibri" pitchFamily="34" charset="0"/>
                <a:ea typeface="Calibri" pitchFamily="34" charset="-122"/>
                <a:cs typeface="Calibri" pitchFamily="34" charset="-120"/>
              </a:rPr>
              <a:t>Day 2: we design real experiments — randomization schemes, power and MDE, regression estimation, and production A/B testing.</a:t>
            </a:r>
            <a:endParaRPr lang="en-US" sz="1350" dirty="0"/>
          </a:p>
        </p:txBody>
      </p:sp>
      <p:sp>
        <p:nvSpPr>
          <p:cNvPr id="20" name="Text 18"/>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1 · SUMMARY</a:t>
            </a:r>
            <a:endParaRPr lang="en-US" sz="900" dirty="0"/>
          </a:p>
        </p:txBody>
      </p:sp>
      <p:sp>
        <p:nvSpPr>
          <p:cNvPr id="21" name="Text 19"/>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48  /  221</a:t>
            </a:r>
            <a:endParaRPr lang="en-US" sz="900" dirty="0"/>
          </a:p>
        </p:txBody>
      </p:sp>
      <p:pic>
        <p:nvPicPr>
          <p:cNvPr id="22" name="Picture 21" descr="Submission_Form.png"/>
          <p:cNvPicPr>
            <a:picLocks noChangeAspect="1"/>
          </p:cNvPicPr>
          <p:nvPr/>
        </p:nvPicPr>
        <p:blipFill>
          <a:blip r:embed="rId4"/>
          <a:stretch>
            <a:fillRect/>
          </a:stretch>
        </p:blipFill>
        <p:spPr>
          <a:xfrm>
            <a:off x="10637520" y="320040"/>
            <a:ext cx="1143000" cy="1143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DAY 2</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Randomized Experiments &amp; A/B Testing</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Design of experiments, randomization vs. design-based inference, regression estimation of effects, power and MDE, and production A/B testing.</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DAY 2</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49  /  221</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OVERVIEW</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Today's Five Hours</a:t>
            </a:r>
            <a:endParaRPr lang="en-US" sz="3400" dirty="0"/>
          </a:p>
        </p:txBody>
      </p:sp>
      <p:sp>
        <p:nvSpPr>
          <p:cNvPr id="4" name="Text 2"/>
          <p:cNvSpPr/>
          <p:nvPr/>
        </p:nvSpPr>
        <p:spPr>
          <a:xfrm>
            <a:off x="566928" y="1783080"/>
            <a:ext cx="822960" cy="548640"/>
          </a:xfrm>
          <a:prstGeom prst="rect">
            <a:avLst/>
          </a:prstGeom>
          <a:noFill/>
          <a:ln/>
        </p:spPr>
        <p:txBody>
          <a:bodyPr wrap="square" lIns="0" tIns="0" rIns="0" bIns="0" rtlCol="0" anchor="t"/>
          <a:lstStyle/>
          <a:p>
            <a:pPr marL="0" indent="0">
              <a:buNone/>
            </a:pPr>
            <a:r>
              <a:rPr lang="en-US" sz="3000" b="1" dirty="0">
                <a:solidFill>
                  <a:srgbClr val="3FA9E0"/>
                </a:solidFill>
                <a:latin typeface="Cambria" pitchFamily="34" charset="0"/>
                <a:ea typeface="Cambria" pitchFamily="34" charset="-122"/>
                <a:cs typeface="Cambria" pitchFamily="34" charset="-120"/>
              </a:rPr>
              <a:t>01</a:t>
            </a:r>
            <a:endParaRPr lang="en-US" sz="3000" dirty="0"/>
          </a:p>
        </p:txBody>
      </p:sp>
      <p:sp>
        <p:nvSpPr>
          <p:cNvPr id="5" name="Text 3"/>
          <p:cNvSpPr/>
          <p:nvPr/>
        </p:nvSpPr>
        <p:spPr>
          <a:xfrm>
            <a:off x="1435608" y="1783080"/>
            <a:ext cx="4385920"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Hour 1 — Design of Experiments</a:t>
            </a:r>
            <a:endParaRPr lang="en-US" sz="1600" dirty="0"/>
          </a:p>
        </p:txBody>
      </p:sp>
      <p:sp>
        <p:nvSpPr>
          <p:cNvPr id="6" name="Text 4"/>
          <p:cNvSpPr/>
          <p:nvPr/>
        </p:nvSpPr>
        <p:spPr>
          <a:xfrm>
            <a:off x="1435608" y="2093976"/>
            <a:ext cx="4385920" cy="713232"/>
          </a:xfrm>
          <a:prstGeom prst="rect">
            <a:avLst/>
          </a:prstGeom>
          <a:noFill/>
          <a:ln/>
        </p:spPr>
        <p:txBody>
          <a:bodyPr wrap="square" lIns="0" tIns="0" rIns="0" bIns="0" rtlCol="0" anchor="t"/>
          <a:lstStyle/>
          <a:p>
            <a:pPr marL="0" indent="0">
              <a:lnSpc>
                <a:spcPct val="108000"/>
              </a:lnSpc>
              <a:buNone/>
            </a:pPr>
            <a:r>
              <a:rPr lang="en-US" sz="1150" dirty="0">
                <a:solidFill>
                  <a:srgbClr val="566581"/>
                </a:solidFill>
                <a:latin typeface="Calibri" pitchFamily="34" charset="0"/>
                <a:ea typeface="Calibri" pitchFamily="34" charset="-122"/>
                <a:cs typeface="Calibri" pitchFamily="34" charset="-120"/>
              </a:rPr>
              <a:t>Randomization schemes: complete, block, stratified, cluster, and factorial designs.</a:t>
            </a:r>
            <a:endParaRPr lang="en-US" sz="1150" dirty="0"/>
          </a:p>
        </p:txBody>
      </p:sp>
      <p:sp>
        <p:nvSpPr>
          <p:cNvPr id="7" name="Text 5"/>
          <p:cNvSpPr/>
          <p:nvPr/>
        </p:nvSpPr>
        <p:spPr>
          <a:xfrm>
            <a:off x="6324448" y="1783080"/>
            <a:ext cx="822960" cy="548640"/>
          </a:xfrm>
          <a:prstGeom prst="rect">
            <a:avLst/>
          </a:prstGeom>
          <a:noFill/>
          <a:ln/>
        </p:spPr>
        <p:txBody>
          <a:bodyPr wrap="square" lIns="0" tIns="0" rIns="0" bIns="0" rtlCol="0" anchor="t"/>
          <a:lstStyle/>
          <a:p>
            <a:pPr marL="0" indent="0">
              <a:buNone/>
            </a:pPr>
            <a:r>
              <a:rPr lang="en-US" sz="3000" b="1" dirty="0">
                <a:solidFill>
                  <a:srgbClr val="5A5BA6"/>
                </a:solidFill>
                <a:latin typeface="Cambria" pitchFamily="34" charset="0"/>
                <a:ea typeface="Cambria" pitchFamily="34" charset="-122"/>
                <a:cs typeface="Cambria" pitchFamily="34" charset="-120"/>
              </a:rPr>
              <a:t>02</a:t>
            </a:r>
            <a:endParaRPr lang="en-US" sz="3000" dirty="0"/>
          </a:p>
        </p:txBody>
      </p:sp>
      <p:sp>
        <p:nvSpPr>
          <p:cNvPr id="8" name="Text 6"/>
          <p:cNvSpPr/>
          <p:nvPr/>
        </p:nvSpPr>
        <p:spPr>
          <a:xfrm>
            <a:off x="7193128" y="1783080"/>
            <a:ext cx="4385920"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Hour 2 — Inference for Experiments</a:t>
            </a:r>
            <a:endParaRPr lang="en-US" sz="1600" dirty="0"/>
          </a:p>
        </p:txBody>
      </p:sp>
      <p:sp>
        <p:nvSpPr>
          <p:cNvPr id="9" name="Text 7"/>
          <p:cNvSpPr/>
          <p:nvPr/>
        </p:nvSpPr>
        <p:spPr>
          <a:xfrm>
            <a:off x="7193128" y="2093976"/>
            <a:ext cx="4385920" cy="713232"/>
          </a:xfrm>
          <a:prstGeom prst="rect">
            <a:avLst/>
          </a:prstGeom>
          <a:noFill/>
          <a:ln/>
        </p:spPr>
        <p:txBody>
          <a:bodyPr wrap="square" lIns="0" tIns="0" rIns="0" bIns="0" rtlCol="0" anchor="t"/>
          <a:lstStyle/>
          <a:p>
            <a:pPr marL="0" indent="0">
              <a:lnSpc>
                <a:spcPct val="108000"/>
              </a:lnSpc>
              <a:buNone/>
            </a:pPr>
            <a:r>
              <a:rPr lang="en-US" sz="1150" dirty="0">
                <a:solidFill>
                  <a:srgbClr val="566581"/>
                </a:solidFill>
                <a:latin typeface="Calibri" pitchFamily="34" charset="0"/>
                <a:ea typeface="Calibri" pitchFamily="34" charset="-122"/>
                <a:cs typeface="Calibri" pitchFamily="34" charset="-120"/>
              </a:rPr>
              <a:t>Randomization (Fisher) and design-based (Neyman) inference in practice.</a:t>
            </a:r>
            <a:endParaRPr lang="en-US" sz="1150" dirty="0"/>
          </a:p>
        </p:txBody>
      </p:sp>
      <p:sp>
        <p:nvSpPr>
          <p:cNvPr id="10" name="Text 8"/>
          <p:cNvSpPr/>
          <p:nvPr/>
        </p:nvSpPr>
        <p:spPr>
          <a:xfrm>
            <a:off x="566928" y="2880360"/>
            <a:ext cx="822960" cy="548640"/>
          </a:xfrm>
          <a:prstGeom prst="rect">
            <a:avLst/>
          </a:prstGeom>
          <a:noFill/>
          <a:ln/>
        </p:spPr>
        <p:txBody>
          <a:bodyPr wrap="square" lIns="0" tIns="0" rIns="0" bIns="0" rtlCol="0" anchor="t"/>
          <a:lstStyle/>
          <a:p>
            <a:pPr marL="0" indent="0">
              <a:buNone/>
            </a:pPr>
            <a:r>
              <a:rPr lang="en-US" sz="3000" b="1" dirty="0">
                <a:solidFill>
                  <a:srgbClr val="EA7B38"/>
                </a:solidFill>
                <a:latin typeface="Cambria" pitchFamily="34" charset="0"/>
                <a:ea typeface="Cambria" pitchFamily="34" charset="-122"/>
                <a:cs typeface="Cambria" pitchFamily="34" charset="-120"/>
              </a:rPr>
              <a:t>03</a:t>
            </a:r>
            <a:endParaRPr lang="en-US" sz="3000" dirty="0"/>
          </a:p>
        </p:txBody>
      </p:sp>
      <p:sp>
        <p:nvSpPr>
          <p:cNvPr id="11" name="Text 9"/>
          <p:cNvSpPr/>
          <p:nvPr/>
        </p:nvSpPr>
        <p:spPr>
          <a:xfrm>
            <a:off x="1435608" y="2880360"/>
            <a:ext cx="4385920"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Hour 3 — Regression &amp; Covariate Adjustment</a:t>
            </a:r>
            <a:endParaRPr lang="en-US" sz="1600" dirty="0"/>
          </a:p>
        </p:txBody>
      </p:sp>
      <p:sp>
        <p:nvSpPr>
          <p:cNvPr id="12" name="Text 10"/>
          <p:cNvSpPr/>
          <p:nvPr/>
        </p:nvSpPr>
        <p:spPr>
          <a:xfrm>
            <a:off x="1435608" y="3191256"/>
            <a:ext cx="4385920" cy="713232"/>
          </a:xfrm>
          <a:prstGeom prst="rect">
            <a:avLst/>
          </a:prstGeom>
          <a:noFill/>
          <a:ln/>
        </p:spPr>
        <p:txBody>
          <a:bodyPr wrap="square" lIns="0" tIns="0" rIns="0" bIns="0" rtlCol="0" anchor="t"/>
          <a:lstStyle/>
          <a:p>
            <a:pPr marL="0" indent="0">
              <a:lnSpc>
                <a:spcPct val="108000"/>
              </a:lnSpc>
              <a:buNone/>
            </a:pPr>
            <a:r>
              <a:rPr lang="en-US" sz="1150" dirty="0">
                <a:solidFill>
                  <a:srgbClr val="566581"/>
                </a:solidFill>
                <a:latin typeface="Calibri" pitchFamily="34" charset="0"/>
                <a:ea typeface="Calibri" pitchFamily="34" charset="-122"/>
                <a:cs typeface="Calibri" pitchFamily="34" charset="-120"/>
              </a:rPr>
              <a:t>Regression estimators, CUPED variance reduction, and heterogeneous effects (CATE).</a:t>
            </a:r>
            <a:endParaRPr lang="en-US" sz="1150" dirty="0"/>
          </a:p>
        </p:txBody>
      </p:sp>
      <p:sp>
        <p:nvSpPr>
          <p:cNvPr id="13" name="Text 11"/>
          <p:cNvSpPr/>
          <p:nvPr/>
        </p:nvSpPr>
        <p:spPr>
          <a:xfrm>
            <a:off x="6324448" y="2880360"/>
            <a:ext cx="822960" cy="548640"/>
          </a:xfrm>
          <a:prstGeom prst="rect">
            <a:avLst/>
          </a:prstGeom>
          <a:noFill/>
          <a:ln/>
        </p:spPr>
        <p:txBody>
          <a:bodyPr wrap="square" lIns="0" tIns="0" rIns="0" bIns="0" rtlCol="0" anchor="t"/>
          <a:lstStyle/>
          <a:p>
            <a:pPr marL="0" indent="0">
              <a:buNone/>
            </a:pPr>
            <a:r>
              <a:rPr lang="en-US" sz="3000" b="1" dirty="0">
                <a:solidFill>
                  <a:srgbClr val="3E9B90"/>
                </a:solidFill>
                <a:latin typeface="Cambria" pitchFamily="34" charset="0"/>
                <a:ea typeface="Cambria" pitchFamily="34" charset="-122"/>
                <a:cs typeface="Cambria" pitchFamily="34" charset="-120"/>
              </a:rPr>
              <a:t>04</a:t>
            </a:r>
            <a:endParaRPr lang="en-US" sz="3000" dirty="0"/>
          </a:p>
        </p:txBody>
      </p:sp>
      <p:sp>
        <p:nvSpPr>
          <p:cNvPr id="14" name="Text 12"/>
          <p:cNvSpPr/>
          <p:nvPr/>
        </p:nvSpPr>
        <p:spPr>
          <a:xfrm>
            <a:off x="7193128" y="2880360"/>
            <a:ext cx="4385920"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Hour 4 — A/B Testing in Production</a:t>
            </a:r>
            <a:endParaRPr lang="en-US" sz="1600" dirty="0"/>
          </a:p>
        </p:txBody>
      </p:sp>
      <p:sp>
        <p:nvSpPr>
          <p:cNvPr id="15" name="Text 13"/>
          <p:cNvSpPr/>
          <p:nvPr/>
        </p:nvSpPr>
        <p:spPr>
          <a:xfrm>
            <a:off x="7193128" y="3191256"/>
            <a:ext cx="4385920" cy="713232"/>
          </a:xfrm>
          <a:prstGeom prst="rect">
            <a:avLst/>
          </a:prstGeom>
          <a:noFill/>
          <a:ln/>
        </p:spPr>
        <p:txBody>
          <a:bodyPr wrap="square" lIns="0" tIns="0" rIns="0" bIns="0" rtlCol="0" anchor="t"/>
          <a:lstStyle/>
          <a:p>
            <a:pPr marL="0" indent="0">
              <a:lnSpc>
                <a:spcPct val="108000"/>
              </a:lnSpc>
              <a:buNone/>
            </a:pPr>
            <a:r>
              <a:rPr lang="en-US" sz="1150" dirty="0">
                <a:solidFill>
                  <a:srgbClr val="566581"/>
                </a:solidFill>
                <a:latin typeface="Calibri" pitchFamily="34" charset="0"/>
                <a:ea typeface="Calibri" pitchFamily="34" charset="-122"/>
                <a:cs typeface="Calibri" pitchFamily="34" charset="-120"/>
              </a:rPr>
              <a:t>Hypotheses, power/MDE, sequential testing, peeking, multiplicity, guardrails.</a:t>
            </a:r>
            <a:endParaRPr lang="en-US" sz="1150" dirty="0"/>
          </a:p>
        </p:txBody>
      </p:sp>
      <p:sp>
        <p:nvSpPr>
          <p:cNvPr id="16" name="Text 14"/>
          <p:cNvSpPr/>
          <p:nvPr/>
        </p:nvSpPr>
        <p:spPr>
          <a:xfrm>
            <a:off x="566928" y="3977640"/>
            <a:ext cx="822960" cy="548640"/>
          </a:xfrm>
          <a:prstGeom prst="rect">
            <a:avLst/>
          </a:prstGeom>
          <a:noFill/>
          <a:ln/>
        </p:spPr>
        <p:txBody>
          <a:bodyPr wrap="square" lIns="0" tIns="0" rIns="0" bIns="0" rtlCol="0" anchor="t"/>
          <a:lstStyle/>
          <a:p>
            <a:pPr marL="0" indent="0">
              <a:buNone/>
            </a:pPr>
            <a:r>
              <a:rPr lang="en-US" sz="3000" b="1" dirty="0">
                <a:solidFill>
                  <a:srgbClr val="73BB59"/>
                </a:solidFill>
                <a:latin typeface="Cambria" pitchFamily="34" charset="0"/>
                <a:ea typeface="Cambria" pitchFamily="34" charset="-122"/>
                <a:cs typeface="Cambria" pitchFamily="34" charset="-120"/>
              </a:rPr>
              <a:t>05</a:t>
            </a:r>
            <a:endParaRPr lang="en-US" sz="3000" dirty="0"/>
          </a:p>
        </p:txBody>
      </p:sp>
      <p:sp>
        <p:nvSpPr>
          <p:cNvPr id="17" name="Text 15"/>
          <p:cNvSpPr/>
          <p:nvPr/>
        </p:nvSpPr>
        <p:spPr>
          <a:xfrm>
            <a:off x="1435608" y="3977640"/>
            <a:ext cx="4385920"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Hour 5 — Lab 2 &amp; Discussion</a:t>
            </a:r>
            <a:endParaRPr lang="en-US" sz="1600" dirty="0"/>
          </a:p>
        </p:txBody>
      </p:sp>
      <p:sp>
        <p:nvSpPr>
          <p:cNvPr id="18" name="Text 16"/>
          <p:cNvSpPr/>
          <p:nvPr/>
        </p:nvSpPr>
        <p:spPr>
          <a:xfrm>
            <a:off x="1435608" y="4288536"/>
            <a:ext cx="4385920" cy="713232"/>
          </a:xfrm>
          <a:prstGeom prst="rect">
            <a:avLst/>
          </a:prstGeom>
          <a:noFill/>
          <a:ln/>
        </p:spPr>
        <p:txBody>
          <a:bodyPr wrap="square" lIns="0" tIns="0" rIns="0" bIns="0" rtlCol="0" anchor="t"/>
          <a:lstStyle/>
          <a:p>
            <a:pPr marL="0" indent="0">
              <a:lnSpc>
                <a:spcPct val="108000"/>
              </a:lnSpc>
              <a:buNone/>
            </a:pPr>
            <a:r>
              <a:rPr lang="en-US" sz="1150" dirty="0">
                <a:solidFill>
                  <a:srgbClr val="566581"/>
                </a:solidFill>
                <a:latin typeface="Calibri" pitchFamily="34" charset="0"/>
                <a:ea typeface="Calibri" pitchFamily="34" charset="-122"/>
                <a:cs typeface="Calibri" pitchFamily="34" charset="-120"/>
              </a:rPr>
              <a:t>Run and analyse a full A/B test; diagnose common failure modes.</a:t>
            </a:r>
            <a:endParaRPr lang="en-US" sz="1150" dirty="0"/>
          </a:p>
        </p:txBody>
      </p:sp>
      <p:sp>
        <p:nvSpPr>
          <p:cNvPr id="19" name="Text 17"/>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a:t>
            </a:r>
            <a:endParaRPr lang="en-US" sz="900" dirty="0"/>
          </a:p>
        </p:txBody>
      </p:sp>
      <p:sp>
        <p:nvSpPr>
          <p:cNvPr id="20" name="Text 18"/>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50  /  221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The Anatomy of an Experiment</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Before choosing a scheme, fix the design vocabulary that determines what your estimate means.</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Unit of randomization</a:t>
            </a:r>
            <a:endParaRPr lang="en-US" sz="1500" dirty="0"/>
          </a:p>
        </p:txBody>
      </p:sp>
      <p:sp>
        <p:nvSpPr>
          <p:cNvPr id="7" name="Text 5"/>
          <p:cNvSpPr/>
          <p:nvPr/>
        </p:nvSpPr>
        <p:spPr>
          <a:xfrm>
            <a:off x="859536" y="2834640"/>
            <a:ext cx="10692079"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The level at which treatment is assigned (user, session, cluster). It must match the level of interference and of the decision.</a:t>
            </a:r>
            <a:endParaRPr lang="en-US" sz="1250" dirty="0"/>
          </a:p>
        </p:txBody>
      </p:sp>
      <p:sp>
        <p:nvSpPr>
          <p:cNvPr id="8" name="Shape 6"/>
          <p:cNvSpPr/>
          <p:nvPr/>
        </p:nvSpPr>
        <p:spPr>
          <a:xfrm>
            <a:off x="566928" y="3506724"/>
            <a:ext cx="146304" cy="146304"/>
          </a:xfrm>
          <a:prstGeom prst="ellipse">
            <a:avLst/>
          </a:prstGeom>
          <a:solidFill>
            <a:srgbClr val="5A5BA6"/>
          </a:solidFill>
          <a:ln/>
        </p:spPr>
        <p:txBody>
          <a:bodyPr/>
          <a:lstStyle/>
          <a:p>
            <a:endParaRPr lang="en-SA"/>
          </a:p>
        </p:txBody>
      </p:sp>
      <p:sp>
        <p:nvSpPr>
          <p:cNvPr id="9" name="Text 7"/>
          <p:cNvSpPr/>
          <p:nvPr/>
        </p:nvSpPr>
        <p:spPr>
          <a:xfrm>
            <a:off x="859536" y="345186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Treatment arms</a:t>
            </a:r>
            <a:endParaRPr lang="en-US" sz="1500" dirty="0"/>
          </a:p>
        </p:txBody>
      </p:sp>
      <p:sp>
        <p:nvSpPr>
          <p:cNvPr id="10" name="Text 8"/>
          <p:cNvSpPr/>
          <p:nvPr/>
        </p:nvSpPr>
        <p:spPr>
          <a:xfrm>
            <a:off x="859536" y="3726180"/>
            <a:ext cx="10692079"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Control plus one or more variants; more arms split power and multiply comparisons.</a:t>
            </a:r>
            <a:endParaRPr lang="en-US" sz="1250" dirty="0"/>
          </a:p>
        </p:txBody>
      </p:sp>
      <p:sp>
        <p:nvSpPr>
          <p:cNvPr id="11" name="Shape 9"/>
          <p:cNvSpPr/>
          <p:nvPr/>
        </p:nvSpPr>
        <p:spPr>
          <a:xfrm>
            <a:off x="566928" y="4398264"/>
            <a:ext cx="146304" cy="146304"/>
          </a:xfrm>
          <a:prstGeom prst="ellipse">
            <a:avLst/>
          </a:prstGeom>
          <a:solidFill>
            <a:srgbClr val="EA7B38"/>
          </a:solidFill>
          <a:ln/>
        </p:spPr>
        <p:txBody>
          <a:bodyPr/>
          <a:lstStyle/>
          <a:p>
            <a:endParaRPr lang="en-SA"/>
          </a:p>
        </p:txBody>
      </p:sp>
      <p:sp>
        <p:nvSpPr>
          <p:cNvPr id="12" name="Text 10"/>
          <p:cNvSpPr/>
          <p:nvPr/>
        </p:nvSpPr>
        <p:spPr>
          <a:xfrm>
            <a:off x="859536" y="434340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Randomization scheme</a:t>
            </a:r>
            <a:endParaRPr lang="en-US" sz="1500" dirty="0"/>
          </a:p>
        </p:txBody>
      </p:sp>
      <p:sp>
        <p:nvSpPr>
          <p:cNvPr id="13" name="Text 11"/>
          <p:cNvSpPr/>
          <p:nvPr/>
        </p:nvSpPr>
        <p:spPr>
          <a:xfrm>
            <a:off x="859536" y="4617720"/>
            <a:ext cx="10692079"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The probabilistic rule mapping units to arms — the source of all causal validity.</a:t>
            </a:r>
            <a:endParaRPr lang="en-US" sz="1250" dirty="0"/>
          </a:p>
        </p:txBody>
      </p:sp>
      <p:sp>
        <p:nvSpPr>
          <p:cNvPr id="14" name="Shape 12"/>
          <p:cNvSpPr/>
          <p:nvPr/>
        </p:nvSpPr>
        <p:spPr>
          <a:xfrm>
            <a:off x="566928" y="5289804"/>
            <a:ext cx="146304" cy="146304"/>
          </a:xfrm>
          <a:prstGeom prst="ellipse">
            <a:avLst/>
          </a:prstGeom>
          <a:solidFill>
            <a:srgbClr val="3E9B90"/>
          </a:solidFill>
          <a:ln/>
        </p:spPr>
        <p:txBody>
          <a:bodyPr/>
          <a:lstStyle/>
          <a:p>
            <a:endParaRPr lang="en-SA"/>
          </a:p>
        </p:txBody>
      </p:sp>
      <p:sp>
        <p:nvSpPr>
          <p:cNvPr id="15" name="Text 13"/>
          <p:cNvSpPr/>
          <p:nvPr/>
        </p:nvSpPr>
        <p:spPr>
          <a:xfrm>
            <a:off x="859536" y="523494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Primary &amp; guardrail metrics</a:t>
            </a:r>
            <a:endParaRPr lang="en-US" sz="1500" dirty="0"/>
          </a:p>
        </p:txBody>
      </p:sp>
      <p:sp>
        <p:nvSpPr>
          <p:cNvPr id="16" name="Text 14"/>
          <p:cNvSpPr/>
          <p:nvPr/>
        </p:nvSpPr>
        <p:spPr>
          <a:xfrm>
            <a:off x="859536" y="5509260"/>
            <a:ext cx="10692079"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One pre-specified success metric, plus metrics that must not degrade (latency, revenue, complaints).</a:t>
            </a:r>
            <a:endParaRPr lang="en-US" sz="12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DESIGN</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51  /  221</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A Menu of Randomization Schemes</a:t>
            </a:r>
            <a:endParaRPr lang="en-US" sz="3400" dirty="0"/>
          </a:p>
        </p:txBody>
      </p:sp>
      <p:sp>
        <p:nvSpPr>
          <p:cNvPr id="4" name="Text 2"/>
          <p:cNvSpPr/>
          <p:nvPr/>
        </p:nvSpPr>
        <p:spPr>
          <a:xfrm>
            <a:off x="566928" y="1783080"/>
            <a:ext cx="11057839" cy="548640"/>
          </a:xfrm>
          <a:prstGeom prst="rect">
            <a:avLst/>
          </a:prstGeom>
          <a:noFill/>
          <a:ln/>
        </p:spPr>
        <p:txBody>
          <a:bodyPr wrap="square" lIns="0" tIns="0" rIns="0" bIns="0" rtlCol="0" anchor="t"/>
          <a:lstStyle/>
          <a:p>
            <a:pPr marL="0" indent="0">
              <a:lnSpc>
                <a:spcPct val="115000"/>
              </a:lnSpc>
              <a:buNone/>
            </a:pPr>
            <a:r>
              <a:rPr lang="en-US" sz="1400" dirty="0">
                <a:solidFill>
                  <a:srgbClr val="566581"/>
                </a:solidFill>
                <a:latin typeface="Calibri" pitchFamily="34" charset="0"/>
                <a:ea typeface="Calibri" pitchFamily="34" charset="-122"/>
                <a:cs typeface="Calibri" pitchFamily="34" charset="-120"/>
              </a:rPr>
              <a:t>Each buys a different mix of balance, power, and operational simplicity.</a:t>
            </a:r>
            <a:endParaRPr lang="en-US" sz="1400" dirty="0"/>
          </a:p>
        </p:txBody>
      </p:sp>
      <p:sp>
        <p:nvSpPr>
          <p:cNvPr id="5" name="Shape 3"/>
          <p:cNvSpPr/>
          <p:nvPr/>
        </p:nvSpPr>
        <p:spPr>
          <a:xfrm>
            <a:off x="566928" y="2468880"/>
            <a:ext cx="502920" cy="502920"/>
          </a:xfrm>
          <a:prstGeom prst="ellipse">
            <a:avLst/>
          </a:prstGeom>
          <a:solidFill>
            <a:srgbClr val="3FA9E0"/>
          </a:solidFill>
          <a:ln/>
        </p:spPr>
        <p:txBody>
          <a:bodyPr/>
          <a:lstStyle/>
          <a:p>
            <a:endParaRPr lang="en-SA"/>
          </a:p>
        </p:txBody>
      </p:sp>
      <p:sp>
        <p:nvSpPr>
          <p:cNvPr id="6" name="Text 4"/>
          <p:cNvSpPr/>
          <p:nvPr/>
        </p:nvSpPr>
        <p:spPr>
          <a:xfrm>
            <a:off x="566928" y="246888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7" name="Text 5"/>
          <p:cNvSpPr/>
          <p:nvPr/>
        </p:nvSpPr>
        <p:spPr>
          <a:xfrm>
            <a:off x="1298448" y="242316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Complete randomization</a:t>
            </a:r>
            <a:endParaRPr lang="en-US" sz="1600" dirty="0"/>
          </a:p>
        </p:txBody>
      </p:sp>
      <p:sp>
        <p:nvSpPr>
          <p:cNvPr id="8" name="Text 6"/>
          <p:cNvSpPr/>
          <p:nvPr/>
        </p:nvSpPr>
        <p:spPr>
          <a:xfrm>
            <a:off x="1298448" y="273405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Each unit independently assigned. Simplest; can leave chance imbalance in small samples.</a:t>
            </a:r>
            <a:endParaRPr lang="en-US" sz="1250" dirty="0"/>
          </a:p>
        </p:txBody>
      </p:sp>
      <p:sp>
        <p:nvSpPr>
          <p:cNvPr id="9" name="Shape 7"/>
          <p:cNvSpPr/>
          <p:nvPr/>
        </p:nvSpPr>
        <p:spPr>
          <a:xfrm>
            <a:off x="566928" y="3394710"/>
            <a:ext cx="502920" cy="502920"/>
          </a:xfrm>
          <a:prstGeom prst="ellipse">
            <a:avLst/>
          </a:prstGeom>
          <a:solidFill>
            <a:srgbClr val="5A5BA6"/>
          </a:solidFill>
          <a:ln/>
        </p:spPr>
        <p:txBody>
          <a:bodyPr/>
          <a:lstStyle/>
          <a:p>
            <a:endParaRPr lang="en-SA"/>
          </a:p>
        </p:txBody>
      </p:sp>
      <p:sp>
        <p:nvSpPr>
          <p:cNvPr id="10" name="Text 8"/>
          <p:cNvSpPr/>
          <p:nvPr/>
        </p:nvSpPr>
        <p:spPr>
          <a:xfrm>
            <a:off x="566928" y="339471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1" name="Text 9"/>
          <p:cNvSpPr/>
          <p:nvPr/>
        </p:nvSpPr>
        <p:spPr>
          <a:xfrm>
            <a:off x="1298448" y="334899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Block / stratified</a:t>
            </a:r>
            <a:endParaRPr lang="en-US" sz="1600" dirty="0"/>
          </a:p>
        </p:txBody>
      </p:sp>
      <p:sp>
        <p:nvSpPr>
          <p:cNvPr id="12" name="Text 10"/>
          <p:cNvSpPr/>
          <p:nvPr/>
        </p:nvSpPr>
        <p:spPr>
          <a:xfrm>
            <a:off x="1298448" y="365988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Randomize within strata of a strong pre-treatment predictor to guarantee balance and cut variance.</a:t>
            </a:r>
            <a:endParaRPr lang="en-US" sz="1250" dirty="0"/>
          </a:p>
        </p:txBody>
      </p:sp>
      <p:sp>
        <p:nvSpPr>
          <p:cNvPr id="13" name="Shape 11"/>
          <p:cNvSpPr/>
          <p:nvPr/>
        </p:nvSpPr>
        <p:spPr>
          <a:xfrm>
            <a:off x="566928" y="4320540"/>
            <a:ext cx="502920" cy="502920"/>
          </a:xfrm>
          <a:prstGeom prst="ellipse">
            <a:avLst/>
          </a:prstGeom>
          <a:solidFill>
            <a:srgbClr val="EA7B38"/>
          </a:solidFill>
          <a:ln/>
        </p:spPr>
        <p:txBody>
          <a:bodyPr/>
          <a:lstStyle/>
          <a:p>
            <a:endParaRPr lang="en-SA"/>
          </a:p>
        </p:txBody>
      </p:sp>
      <p:sp>
        <p:nvSpPr>
          <p:cNvPr id="14" name="Text 12"/>
          <p:cNvSpPr/>
          <p:nvPr/>
        </p:nvSpPr>
        <p:spPr>
          <a:xfrm>
            <a:off x="566928" y="43205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15" name="Text 13"/>
          <p:cNvSpPr/>
          <p:nvPr/>
        </p:nvSpPr>
        <p:spPr>
          <a:xfrm>
            <a:off x="1298448" y="427482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Cluster randomization</a:t>
            </a:r>
            <a:endParaRPr lang="en-US" sz="1600" dirty="0"/>
          </a:p>
        </p:txBody>
      </p:sp>
      <p:sp>
        <p:nvSpPr>
          <p:cNvPr id="16" name="Text 14"/>
          <p:cNvSpPr/>
          <p:nvPr/>
        </p:nvSpPr>
        <p:spPr>
          <a:xfrm>
            <a:off x="1298448" y="458571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Assign whole groups (stores, classrooms, regions) when interference or delivery forces it — at a power cost.</a:t>
            </a:r>
            <a:endParaRPr lang="en-US" sz="1250" dirty="0"/>
          </a:p>
        </p:txBody>
      </p:sp>
      <p:sp>
        <p:nvSpPr>
          <p:cNvPr id="17" name="Shape 15"/>
          <p:cNvSpPr/>
          <p:nvPr/>
        </p:nvSpPr>
        <p:spPr>
          <a:xfrm>
            <a:off x="566928" y="5246370"/>
            <a:ext cx="502920" cy="502920"/>
          </a:xfrm>
          <a:prstGeom prst="ellipse">
            <a:avLst/>
          </a:prstGeom>
          <a:solidFill>
            <a:srgbClr val="3E9B90"/>
          </a:solidFill>
          <a:ln/>
        </p:spPr>
        <p:txBody>
          <a:bodyPr/>
          <a:lstStyle/>
          <a:p>
            <a:endParaRPr lang="en-SA"/>
          </a:p>
        </p:txBody>
      </p:sp>
      <p:sp>
        <p:nvSpPr>
          <p:cNvPr id="18" name="Text 16"/>
          <p:cNvSpPr/>
          <p:nvPr/>
        </p:nvSpPr>
        <p:spPr>
          <a:xfrm>
            <a:off x="566928" y="524637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04</a:t>
            </a:r>
            <a:endParaRPr lang="en-US" sz="1300" dirty="0"/>
          </a:p>
        </p:txBody>
      </p:sp>
      <p:sp>
        <p:nvSpPr>
          <p:cNvPr id="19" name="Text 17"/>
          <p:cNvSpPr/>
          <p:nvPr/>
        </p:nvSpPr>
        <p:spPr>
          <a:xfrm>
            <a:off x="1298448" y="520065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Factorial</a:t>
            </a:r>
            <a:endParaRPr lang="en-US" sz="1600" dirty="0"/>
          </a:p>
        </p:txBody>
      </p:sp>
      <p:sp>
        <p:nvSpPr>
          <p:cNvPr id="20" name="Text 18"/>
          <p:cNvSpPr/>
          <p:nvPr/>
        </p:nvSpPr>
        <p:spPr>
          <a:xfrm>
            <a:off x="1298448" y="551154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Cross two or more treatments to estimate main effects and interactions in one experiment.</a:t>
            </a:r>
            <a:endParaRPr lang="en-US" sz="1250" dirty="0"/>
          </a:p>
        </p:txBody>
      </p:sp>
      <p:sp>
        <p:nvSpPr>
          <p:cNvPr id="21" name="Text 19"/>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DESIGN</a:t>
            </a:r>
            <a:endParaRPr lang="en-US" sz="900" dirty="0"/>
          </a:p>
        </p:txBody>
      </p:sp>
      <p:sp>
        <p:nvSpPr>
          <p:cNvPr id="22" name="Text 20"/>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52  /  221</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Blocking &amp; Stratification: Balance by Design</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‘Block what you can, randomize what you cannot.’ Stratifying on strong predictors removes chance imbalance before it happens.</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How it works</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Partition units into strata (e.g. by prior activity), then randomize independently within each stratum.</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Why it helps</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It forces covariate balance and reduces sampling variance of the effect estimate — tighter intervals for free.</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Analysis must match design</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Include stratum indicators (or stratum-fixed effects) in the analysis, or you understate precision.</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VARIANCE WIN</a:t>
            </a:r>
            <a:endParaRPr lang="en-US" sz="1100" dirty="0"/>
          </a:p>
        </p:txBody>
      </p:sp>
      <p:sp>
        <p:nvSpPr>
          <p:cNvPr id="16" name="Text 14"/>
          <p:cNvSpPr/>
          <p:nvPr/>
        </p:nvSpPr>
        <p:spPr>
          <a:xfrm>
            <a:off x="7744968" y="2331720"/>
            <a:ext cx="3605479" cy="1097280"/>
          </a:xfrm>
          <a:prstGeom prst="rect">
            <a:avLst/>
          </a:prstGeom>
          <a:noFill/>
          <a:ln/>
        </p:spPr>
        <p:txBody>
          <a:bodyPr wrap="square" lIns="0" tIns="0" rIns="0" bIns="0" rtlCol="0" anchor="t"/>
          <a:lstStyle/>
          <a:p>
            <a:pPr marL="0" indent="0">
              <a:buNone/>
            </a:pPr>
            <a:r>
              <a:rPr lang="en-US" sz="5400" b="1" dirty="0">
                <a:solidFill>
                  <a:srgbClr val="16233F"/>
                </a:solidFill>
                <a:latin typeface="Cambria" pitchFamily="34" charset="0"/>
                <a:ea typeface="Cambria" pitchFamily="34" charset="-122"/>
                <a:cs typeface="Cambria" pitchFamily="34" charset="-120"/>
              </a:rPr>
              <a:t>↓ SE</a:t>
            </a:r>
            <a:endParaRPr lang="en-US" sz="5400" dirty="0"/>
          </a:p>
        </p:txBody>
      </p:sp>
      <p:sp>
        <p:nvSpPr>
          <p:cNvPr id="17" name="Text 15"/>
          <p:cNvSpPr/>
          <p:nvPr/>
        </p:nvSpPr>
        <p:spPr>
          <a:xfrm>
            <a:off x="7744968" y="3520440"/>
            <a:ext cx="3605479" cy="2103120"/>
          </a:xfrm>
          <a:prstGeom prst="rect">
            <a:avLst/>
          </a:prstGeom>
          <a:noFill/>
          <a:ln/>
        </p:spPr>
        <p:txBody>
          <a:bodyPr wrap="square" lIns="0" tIns="0" rIns="0" bIns="0" rtlCol="0" anchor="t"/>
          <a:lstStyle/>
          <a:p>
            <a:pPr marL="0" indent="0">
              <a:lnSpc>
                <a:spcPct val="120000"/>
              </a:lnSpc>
              <a:buNone/>
            </a:pPr>
            <a:r>
              <a:rPr lang="en-US" sz="1300" dirty="0">
                <a:solidFill>
                  <a:srgbClr val="566581"/>
                </a:solidFill>
                <a:latin typeface="Calibri" pitchFamily="34" charset="0"/>
                <a:ea typeface="Calibri" pitchFamily="34" charset="-122"/>
                <a:cs typeface="Calibri" pitchFamily="34" charset="-120"/>
              </a:rPr>
              <a:t>Blocking on a covariate that explains a share ρ² of outcome variance shrinks the effect's variance by roughly that fraction — often a large, cheap gain.</a:t>
            </a:r>
            <a:endParaRPr lang="en-US" sz="1300" dirty="0"/>
          </a:p>
        </p:txBody>
      </p:sp>
      <p:sp>
        <p:nvSpPr>
          <p:cNvPr id="18" name="Text 1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DESIGN</a:t>
            </a:r>
            <a:endParaRPr lang="en-US" sz="900" dirty="0"/>
          </a:p>
        </p:txBody>
      </p:sp>
      <p:sp>
        <p:nvSpPr>
          <p:cNvPr id="19" name="Text 1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53  /  221</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Cluster Randomization &amp; Its Price</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Sometimes you must treat groups, not individuals — but correlated units within a cluster carry less information than independent ones.</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When it is required</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Interference within groups, or treatments delivered at group level (a store layout, a regional campaign).</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design effect</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Effective sample size falls by a factor 1 + (m−1)ρ, where m is cluster size and ρ the intra-cluster correlation.</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Consequences</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You need more clusters (not just more units), and you must cluster your standard errors (Day 4).</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COMMON MISTAKE</a:t>
            </a:r>
            <a:endParaRPr lang="en-US" sz="1100" dirty="0"/>
          </a:p>
        </p:txBody>
      </p:sp>
      <p:sp>
        <p:nvSpPr>
          <p:cNvPr id="16" name="Text 14"/>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dirty="0">
                <a:solidFill>
                  <a:srgbClr val="16233F"/>
                </a:solidFill>
                <a:latin typeface="Calibri" pitchFamily="34" charset="0"/>
                <a:ea typeface="Calibri" pitchFamily="34" charset="-122"/>
                <a:cs typeface="Calibri" pitchFamily="34" charset="-120"/>
              </a:rPr>
              <a:t>Randomizing by cluster but analysing as if by individual dramatically understates uncertainty — a frequent source of false ‘wins’.</a:t>
            </a:r>
            <a:endParaRPr lang="en-US" sz="13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DESIGN</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54  /  221</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Factorial Designs: More Answers per Experiment</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Crossing treatments lets you learn about several interventions — and their interactions — at once.</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2×2 example</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Test a new headline (on/off) crossed with a new price (old/new): four cells, two main effects, one interaction.</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Efficiency</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Main effects use the whole sample, so factorial can be far cheaper than separate experiments.</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Watch interactions</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If effects are strongly non-additive, main effects alone mislead — pre-specify which interactions matter.</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DESIGN</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55  /  221</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Randomization Unit vs. Analysis Unit</a:t>
            </a:r>
            <a:endParaRPr lang="en-US" sz="3400" dirty="0"/>
          </a:p>
        </p:txBody>
      </p:sp>
      <p:sp>
        <p:nvSpPr>
          <p:cNvPr id="4" name="Text 2"/>
          <p:cNvSpPr/>
          <p:nvPr/>
        </p:nvSpPr>
        <p:spPr>
          <a:xfrm>
            <a:off x="566928" y="1737360"/>
            <a:ext cx="11057839" cy="64008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A subtle but decisive choice that shapes both bias and variance.</a:t>
            </a:r>
            <a:endParaRPr lang="en-US" sz="1450" dirty="0"/>
          </a:p>
        </p:txBody>
      </p:sp>
      <p:sp>
        <p:nvSpPr>
          <p:cNvPr id="5" name="Shape 3"/>
          <p:cNvSpPr/>
          <p:nvPr/>
        </p:nvSpPr>
        <p:spPr>
          <a:xfrm>
            <a:off x="566928" y="2578608"/>
            <a:ext cx="137160" cy="137160"/>
          </a:xfrm>
          <a:prstGeom prst="ellipse">
            <a:avLst/>
          </a:prstGeom>
          <a:solidFill>
            <a:srgbClr val="3FA9E0"/>
          </a:solidFill>
          <a:ln/>
        </p:spPr>
        <p:txBody>
          <a:bodyPr/>
          <a:lstStyle/>
          <a:p>
            <a:endParaRPr lang="en-SA"/>
          </a:p>
        </p:txBody>
      </p:sp>
      <p:sp>
        <p:nvSpPr>
          <p:cNvPr id="6" name="Text 4"/>
          <p:cNvSpPr/>
          <p:nvPr/>
        </p:nvSpPr>
        <p:spPr>
          <a:xfrm>
            <a:off x="841248" y="2514600"/>
            <a:ext cx="10783519" cy="749808"/>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Randomize at the level where interference stops — if users influence each other, user-level tests leak.</a:t>
            </a:r>
            <a:endParaRPr lang="en-US" sz="1400" dirty="0"/>
          </a:p>
        </p:txBody>
      </p:sp>
      <p:sp>
        <p:nvSpPr>
          <p:cNvPr id="7" name="Shape 5"/>
          <p:cNvSpPr/>
          <p:nvPr/>
        </p:nvSpPr>
        <p:spPr>
          <a:xfrm>
            <a:off x="566928" y="3328416"/>
            <a:ext cx="137160" cy="137160"/>
          </a:xfrm>
          <a:prstGeom prst="ellipse">
            <a:avLst/>
          </a:prstGeom>
          <a:solidFill>
            <a:srgbClr val="5A5BA6"/>
          </a:solidFill>
          <a:ln/>
        </p:spPr>
        <p:txBody>
          <a:bodyPr/>
          <a:lstStyle/>
          <a:p>
            <a:endParaRPr lang="en-SA"/>
          </a:p>
        </p:txBody>
      </p:sp>
      <p:sp>
        <p:nvSpPr>
          <p:cNvPr id="8" name="Text 6"/>
          <p:cNvSpPr/>
          <p:nvPr/>
        </p:nvSpPr>
        <p:spPr>
          <a:xfrm>
            <a:off x="841248" y="3264408"/>
            <a:ext cx="10783519" cy="749808"/>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Session-level randomization gives power but breaks if the same user appears in both arms (contamination).</a:t>
            </a:r>
            <a:endParaRPr lang="en-US" sz="1400" dirty="0"/>
          </a:p>
        </p:txBody>
      </p:sp>
      <p:sp>
        <p:nvSpPr>
          <p:cNvPr id="9" name="Shape 7"/>
          <p:cNvSpPr/>
          <p:nvPr/>
        </p:nvSpPr>
        <p:spPr>
          <a:xfrm>
            <a:off x="566928" y="4078224"/>
            <a:ext cx="137160" cy="137160"/>
          </a:xfrm>
          <a:prstGeom prst="ellipse">
            <a:avLst/>
          </a:prstGeom>
          <a:solidFill>
            <a:srgbClr val="EA7B38"/>
          </a:solidFill>
          <a:ln/>
        </p:spPr>
        <p:txBody>
          <a:bodyPr/>
          <a:lstStyle/>
          <a:p>
            <a:endParaRPr lang="en-SA"/>
          </a:p>
        </p:txBody>
      </p:sp>
      <p:sp>
        <p:nvSpPr>
          <p:cNvPr id="10" name="Text 8"/>
          <p:cNvSpPr/>
          <p:nvPr/>
        </p:nvSpPr>
        <p:spPr>
          <a:xfrm>
            <a:off x="841248" y="4014216"/>
            <a:ext cx="10783519" cy="749808"/>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The analysis unit should be at or above the randomization unit; never analyse finer than you assigned.</a:t>
            </a:r>
            <a:endParaRPr lang="en-US" sz="1400" dirty="0"/>
          </a:p>
        </p:txBody>
      </p:sp>
      <p:sp>
        <p:nvSpPr>
          <p:cNvPr id="11" name="Shape 9"/>
          <p:cNvSpPr/>
          <p:nvPr/>
        </p:nvSpPr>
        <p:spPr>
          <a:xfrm>
            <a:off x="566928" y="4828032"/>
            <a:ext cx="137160" cy="137160"/>
          </a:xfrm>
          <a:prstGeom prst="ellipse">
            <a:avLst/>
          </a:prstGeom>
          <a:solidFill>
            <a:srgbClr val="3E9B90"/>
          </a:solidFill>
          <a:ln/>
        </p:spPr>
        <p:txBody>
          <a:bodyPr/>
          <a:lstStyle/>
          <a:p>
            <a:endParaRPr lang="en-SA"/>
          </a:p>
        </p:txBody>
      </p:sp>
      <p:sp>
        <p:nvSpPr>
          <p:cNvPr id="12" name="Text 10"/>
          <p:cNvSpPr/>
          <p:nvPr/>
        </p:nvSpPr>
        <p:spPr>
          <a:xfrm>
            <a:off x="841248" y="4764024"/>
            <a:ext cx="10783519" cy="749808"/>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Repeated observations per unit require clustered or aggregated inference to avoid fake precision.</a:t>
            </a:r>
            <a:endParaRPr lang="en-US" sz="1400" dirty="0"/>
          </a:p>
        </p:txBody>
      </p:sp>
      <p:sp>
        <p:nvSpPr>
          <p:cNvPr id="13" name="Text 11"/>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DESIGN</a:t>
            </a:r>
            <a:endParaRPr lang="en-US" sz="900" dirty="0"/>
          </a:p>
        </p:txBody>
      </p:sp>
      <p:sp>
        <p:nvSpPr>
          <p:cNvPr id="14" name="Text 12"/>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56  /  221</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Knowledge Check: Design Choices</a:t>
            </a:r>
            <a:endParaRPr lang="en-US" sz="3400" dirty="0"/>
          </a:p>
        </p:txBody>
      </p:sp>
      <p:sp>
        <p:nvSpPr>
          <p:cNvPr id="4" name="Shape 2"/>
          <p:cNvSpPr/>
          <p:nvPr/>
        </p:nvSpPr>
        <p:spPr>
          <a:xfrm>
            <a:off x="566928" y="178308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5" name="Shape 3"/>
          <p:cNvSpPr/>
          <p:nvPr/>
        </p:nvSpPr>
        <p:spPr>
          <a:xfrm>
            <a:off x="768096" y="1965960"/>
            <a:ext cx="384048" cy="384048"/>
          </a:xfrm>
          <a:prstGeom prst="ellipse">
            <a:avLst/>
          </a:prstGeom>
          <a:solidFill>
            <a:srgbClr val="3FA9E0"/>
          </a:solidFill>
          <a:ln/>
        </p:spPr>
        <p:txBody>
          <a:bodyPr/>
          <a:lstStyle/>
          <a:p>
            <a:endParaRPr lang="en-SA"/>
          </a:p>
        </p:txBody>
      </p:sp>
      <p:sp>
        <p:nvSpPr>
          <p:cNvPr id="6" name="Text 4"/>
          <p:cNvSpPr/>
          <p:nvPr/>
        </p:nvSpPr>
        <p:spPr>
          <a:xfrm>
            <a:off x="768096" y="19659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Q1</a:t>
            </a:r>
            <a:endParaRPr lang="en-US" sz="1300" dirty="0"/>
          </a:p>
        </p:txBody>
      </p:sp>
      <p:sp>
        <p:nvSpPr>
          <p:cNvPr id="7" name="Text 5"/>
          <p:cNvSpPr/>
          <p:nvPr/>
        </p:nvSpPr>
        <p:spPr>
          <a:xfrm>
            <a:off x="1344168" y="192938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A campaign is delivered per city and neighbours may hear about it. Best design?</a:t>
            </a:r>
            <a:endParaRPr lang="en-US" sz="1400" dirty="0"/>
          </a:p>
        </p:txBody>
      </p:sp>
      <p:sp>
        <p:nvSpPr>
          <p:cNvPr id="8" name="Text 6"/>
          <p:cNvSpPr/>
          <p:nvPr/>
        </p:nvSpPr>
        <p:spPr>
          <a:xfrm>
            <a:off x="1344168" y="238658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Complete      B) Cluster (by city)      C) Factorial      D) Session-level</a:t>
            </a:r>
            <a:endParaRPr lang="en-US" sz="1200" dirty="0"/>
          </a:p>
        </p:txBody>
      </p:sp>
      <p:sp>
        <p:nvSpPr>
          <p:cNvPr id="9" name="Shape 7"/>
          <p:cNvSpPr/>
          <p:nvPr/>
        </p:nvSpPr>
        <p:spPr>
          <a:xfrm>
            <a:off x="566928" y="306324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10" name="Shape 8"/>
          <p:cNvSpPr/>
          <p:nvPr/>
        </p:nvSpPr>
        <p:spPr>
          <a:xfrm>
            <a:off x="768096" y="3246120"/>
            <a:ext cx="384048" cy="384048"/>
          </a:xfrm>
          <a:prstGeom prst="ellipse">
            <a:avLst/>
          </a:prstGeom>
          <a:solidFill>
            <a:srgbClr val="5A5BA6"/>
          </a:solidFill>
          <a:ln/>
        </p:spPr>
        <p:txBody>
          <a:bodyPr/>
          <a:lstStyle/>
          <a:p>
            <a:endParaRPr lang="en-SA"/>
          </a:p>
        </p:txBody>
      </p:sp>
      <p:sp>
        <p:nvSpPr>
          <p:cNvPr id="11" name="Text 9"/>
          <p:cNvSpPr/>
          <p:nvPr/>
        </p:nvSpPr>
        <p:spPr>
          <a:xfrm>
            <a:off x="768096" y="32461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Q2</a:t>
            </a:r>
            <a:endParaRPr lang="en-US" sz="1300" dirty="0"/>
          </a:p>
        </p:txBody>
      </p:sp>
      <p:sp>
        <p:nvSpPr>
          <p:cNvPr id="12" name="Text 10"/>
          <p:cNvSpPr/>
          <p:nvPr/>
        </p:nvSpPr>
        <p:spPr>
          <a:xfrm>
            <a:off x="1344168" y="320954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You have one covariate that strongly predicts the outcome. To cut variance you should:</a:t>
            </a:r>
            <a:endParaRPr lang="en-US" sz="1400" dirty="0"/>
          </a:p>
        </p:txBody>
      </p:sp>
      <p:sp>
        <p:nvSpPr>
          <p:cNvPr id="13" name="Text 11"/>
          <p:cNvSpPr/>
          <p:nvPr/>
        </p:nvSpPr>
        <p:spPr>
          <a:xfrm>
            <a:off x="1344168" y="366674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Add more arms      B) Stratify on it      C) Ignore it      D) Drop imbalanced units</a:t>
            </a:r>
            <a:endParaRPr lang="en-US" sz="1200" dirty="0"/>
          </a:p>
        </p:txBody>
      </p:sp>
      <p:sp>
        <p:nvSpPr>
          <p:cNvPr id="14" name="Shape 12"/>
          <p:cNvSpPr/>
          <p:nvPr/>
        </p:nvSpPr>
        <p:spPr>
          <a:xfrm>
            <a:off x="566928" y="434340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15" name="Shape 13"/>
          <p:cNvSpPr/>
          <p:nvPr/>
        </p:nvSpPr>
        <p:spPr>
          <a:xfrm>
            <a:off x="768096" y="4526280"/>
            <a:ext cx="384048" cy="384048"/>
          </a:xfrm>
          <a:prstGeom prst="ellipse">
            <a:avLst/>
          </a:prstGeom>
          <a:solidFill>
            <a:srgbClr val="EA7B38"/>
          </a:solidFill>
          <a:ln/>
        </p:spPr>
        <p:txBody>
          <a:bodyPr/>
          <a:lstStyle/>
          <a:p>
            <a:endParaRPr lang="en-SA"/>
          </a:p>
        </p:txBody>
      </p:sp>
      <p:sp>
        <p:nvSpPr>
          <p:cNvPr id="16" name="Text 14"/>
          <p:cNvSpPr/>
          <p:nvPr/>
        </p:nvSpPr>
        <p:spPr>
          <a:xfrm>
            <a:off x="768096" y="45262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Q3</a:t>
            </a:r>
            <a:endParaRPr lang="en-US" sz="1300" dirty="0"/>
          </a:p>
        </p:txBody>
      </p:sp>
      <p:sp>
        <p:nvSpPr>
          <p:cNvPr id="17" name="Text 15"/>
          <p:cNvSpPr/>
          <p:nvPr/>
        </p:nvSpPr>
        <p:spPr>
          <a:xfrm>
            <a:off x="1344168" y="448970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Analysing a cluster-randomized test at the individual level will typically:</a:t>
            </a:r>
            <a:endParaRPr lang="en-US" sz="1400" dirty="0"/>
          </a:p>
        </p:txBody>
      </p:sp>
      <p:sp>
        <p:nvSpPr>
          <p:cNvPr id="18" name="Text 16"/>
          <p:cNvSpPr/>
          <p:nvPr/>
        </p:nvSpPr>
        <p:spPr>
          <a:xfrm>
            <a:off x="1344168" y="494690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Overstate SE      B) Understate SE      C) Be unbiased      D) Fix imbalance</a:t>
            </a:r>
            <a:endParaRPr lang="en-US" sz="1200" dirty="0"/>
          </a:p>
        </p:txBody>
      </p:sp>
      <p:sp>
        <p:nvSpPr>
          <p:cNvPr id="19" name="Text 17"/>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DESIGN</a:t>
            </a:r>
            <a:endParaRPr lang="en-US" sz="900" dirty="0"/>
          </a:p>
        </p:txBody>
      </p:sp>
      <p:sp>
        <p:nvSpPr>
          <p:cNvPr id="20" name="Text 18"/>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57  /  221</a:t>
            </a:r>
            <a:endParaRPr lang="en-US" sz="900" dirty="0"/>
          </a:p>
        </p:txBody>
      </p:sp>
      <p:pic>
        <p:nvPicPr>
          <p:cNvPr id="21" name="Picture 20" descr="Day2_Check1.png"/>
          <p:cNvPicPr>
            <a:picLocks noChangeAspect="1"/>
          </p:cNvPicPr>
          <p:nvPr/>
        </p:nvPicPr>
        <p:blipFill>
          <a:blip r:embed="rId3"/>
          <a:stretch>
            <a:fillRect/>
          </a:stretch>
        </p:blipFill>
        <p:spPr>
          <a:xfrm>
            <a:off x="10637520" y="320040"/>
            <a:ext cx="1143000" cy="11430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DAY 2 · HOUR 2</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Inference for Experiments</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Turning a design into an estimate with honest uncertainty: randomization inference and Neyman's design-based standard errors.</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DAY 2</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58  /  221</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HOUR 2</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Randomization Inference in Practice</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The permutation logic from Day 1, operationalised as a repeatable procedure.</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Choose a test statistic</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Difference in means, difference in ranks, or a studentised statistic — pick before seeing the data.</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Permute the labels</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Reassign treatment respecting the actual design (e.g. within blocks) many times; recompute the statistic each time.</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Read off significance</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The p-value is the share of permutations at least as extreme as observed; invert for confidence intervals.</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ASSUMPTION COST</a:t>
            </a:r>
            <a:endParaRPr lang="en-US" sz="1100" dirty="0"/>
          </a:p>
        </p:txBody>
      </p:sp>
      <p:sp>
        <p:nvSpPr>
          <p:cNvPr id="16" name="Text 14"/>
          <p:cNvSpPr/>
          <p:nvPr/>
        </p:nvSpPr>
        <p:spPr>
          <a:xfrm>
            <a:off x="7744968" y="2331720"/>
            <a:ext cx="3605479" cy="1097280"/>
          </a:xfrm>
          <a:prstGeom prst="rect">
            <a:avLst/>
          </a:prstGeom>
          <a:noFill/>
          <a:ln/>
        </p:spPr>
        <p:txBody>
          <a:bodyPr wrap="square" lIns="0" tIns="0" rIns="0" bIns="0" rtlCol="0" anchor="t"/>
          <a:lstStyle/>
          <a:p>
            <a:pPr marL="0" indent="0">
              <a:buNone/>
            </a:pPr>
            <a:r>
              <a:rPr lang="en-US" sz="5400" b="1" dirty="0">
                <a:solidFill>
                  <a:srgbClr val="16233F"/>
                </a:solidFill>
                <a:latin typeface="Cambria" pitchFamily="34" charset="0"/>
                <a:ea typeface="Cambria" pitchFamily="34" charset="-122"/>
                <a:cs typeface="Cambria" pitchFamily="34" charset="-120"/>
              </a:rPr>
              <a:t>Minimal</a:t>
            </a:r>
            <a:endParaRPr lang="en-US" sz="5400" dirty="0"/>
          </a:p>
        </p:txBody>
      </p:sp>
      <p:sp>
        <p:nvSpPr>
          <p:cNvPr id="17" name="Text 15"/>
          <p:cNvSpPr/>
          <p:nvPr/>
        </p:nvSpPr>
        <p:spPr>
          <a:xfrm>
            <a:off x="7744968" y="3520440"/>
            <a:ext cx="3605479" cy="2103120"/>
          </a:xfrm>
          <a:prstGeom prst="rect">
            <a:avLst/>
          </a:prstGeom>
          <a:noFill/>
          <a:ln/>
        </p:spPr>
        <p:txBody>
          <a:bodyPr wrap="square" lIns="0" tIns="0" rIns="0" bIns="0" rtlCol="0" anchor="t"/>
          <a:lstStyle/>
          <a:p>
            <a:pPr marL="0" indent="0">
              <a:lnSpc>
                <a:spcPct val="120000"/>
              </a:lnSpc>
              <a:buNone/>
            </a:pPr>
            <a:r>
              <a:rPr lang="en-US" sz="1300" dirty="0">
                <a:solidFill>
                  <a:srgbClr val="566581"/>
                </a:solidFill>
                <a:latin typeface="Calibri" pitchFamily="34" charset="0"/>
                <a:ea typeface="Calibri" pitchFamily="34" charset="-122"/>
                <a:cs typeface="Calibri" pitchFamily="34" charset="-120"/>
              </a:rPr>
              <a:t>Randomization inference imports no distributional assumptions and respects your exact design — including blocks and clusters — by permuting the way you assigned.</a:t>
            </a:r>
            <a:endParaRPr lang="en-US" sz="1300" dirty="0"/>
          </a:p>
        </p:txBody>
      </p:sp>
      <p:sp>
        <p:nvSpPr>
          <p:cNvPr id="18" name="Text 1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INFERENCE</a:t>
            </a:r>
            <a:endParaRPr lang="en-US" sz="900" dirty="0"/>
          </a:p>
        </p:txBody>
      </p:sp>
      <p:sp>
        <p:nvSpPr>
          <p:cNvPr id="19" name="Text 1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59  /  221</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HOUR 2</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Neyman's Design-Based Standard Error</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For estimation (not just testing), Neyman gives an unbiased ATE and a variance derived from the assignment.</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estimator</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τ̂ = ȳ₁ − ȳ₀, the difference in arm means — unbiased for the ATE under complete randomization.</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variance</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Var = S₁²/n₁ + S₀²/n₀ (conservative), estimated from within-arm sample variances.</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Equivalence</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Under complete randomization this matches a heteroskedasticity-robust (HC2) standard error from a regression of Y on T.</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INFERENCE</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60  /  221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HOUR 2</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Fisher vs. Neyman</a:t>
            </a:r>
            <a:endParaRPr lang="en-US" sz="3400" dirty="0"/>
          </a:p>
        </p:txBody>
      </p:sp>
      <p:sp>
        <p:nvSpPr>
          <p:cNvPr id="4" name="Shape 2"/>
          <p:cNvSpPr/>
          <p:nvPr/>
        </p:nvSpPr>
        <p:spPr>
          <a:xfrm>
            <a:off x="566928" y="1828800"/>
            <a:ext cx="5117440" cy="4160520"/>
          </a:xfrm>
          <a:prstGeom prst="roundRect">
            <a:avLst>
              <a:gd name="adj" fmla="val 2198"/>
            </a:avLst>
          </a:prstGeom>
          <a:solidFill>
            <a:srgbClr val="F4F7FB"/>
          </a:solidFill>
          <a:ln w="12700">
            <a:solidFill>
              <a:srgbClr val="D9E2F0"/>
            </a:solidFill>
            <a:prstDash val="solid"/>
          </a:ln>
        </p:spPr>
        <p:txBody>
          <a:bodyPr/>
          <a:lstStyle/>
          <a:p>
            <a:endParaRPr lang="en-SA"/>
          </a:p>
        </p:txBody>
      </p:sp>
      <p:sp>
        <p:nvSpPr>
          <p:cNvPr id="5" name="Text 3"/>
          <p:cNvSpPr/>
          <p:nvPr/>
        </p:nvSpPr>
        <p:spPr>
          <a:xfrm>
            <a:off x="859536" y="2084832"/>
            <a:ext cx="4532224"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FISHER</a:t>
            </a:r>
            <a:endParaRPr lang="en-US" sz="1100" dirty="0"/>
          </a:p>
        </p:txBody>
      </p:sp>
      <p:sp>
        <p:nvSpPr>
          <p:cNvPr id="6" name="Text 4"/>
          <p:cNvSpPr/>
          <p:nvPr/>
        </p:nvSpPr>
        <p:spPr>
          <a:xfrm>
            <a:off x="859536" y="2377440"/>
            <a:ext cx="4532224" cy="457200"/>
          </a:xfrm>
          <a:prstGeom prst="rect">
            <a:avLst/>
          </a:prstGeom>
          <a:noFill/>
          <a:ln/>
        </p:spPr>
        <p:txBody>
          <a:bodyPr wrap="square" lIns="0" tIns="0" rIns="0" bIns="0" rtlCol="0" anchor="ctr"/>
          <a:lstStyle/>
          <a:p>
            <a:pPr marL="0" indent="0">
              <a:buNone/>
            </a:pPr>
            <a:r>
              <a:rPr lang="en-US" sz="2000" b="1" dirty="0">
                <a:solidFill>
                  <a:srgbClr val="16233F"/>
                </a:solidFill>
                <a:latin typeface="Cambria" pitchFamily="34" charset="0"/>
                <a:ea typeface="Cambria" pitchFamily="34" charset="-122"/>
                <a:cs typeface="Cambria" pitchFamily="34" charset="-120"/>
              </a:rPr>
              <a:t>Randomization Test</a:t>
            </a:r>
            <a:endParaRPr lang="en-US" sz="2000" dirty="0"/>
          </a:p>
        </p:txBody>
      </p:sp>
      <p:sp>
        <p:nvSpPr>
          <p:cNvPr id="7" name="Shape 5"/>
          <p:cNvSpPr/>
          <p:nvPr/>
        </p:nvSpPr>
        <p:spPr>
          <a:xfrm>
            <a:off x="877824" y="3072384"/>
            <a:ext cx="118872" cy="118872"/>
          </a:xfrm>
          <a:prstGeom prst="ellipse">
            <a:avLst/>
          </a:prstGeom>
          <a:solidFill>
            <a:srgbClr val="3FA9E0"/>
          </a:solidFill>
          <a:ln/>
        </p:spPr>
        <p:txBody>
          <a:bodyPr/>
          <a:lstStyle/>
          <a:p>
            <a:endParaRPr lang="en-SA"/>
          </a:p>
        </p:txBody>
      </p:sp>
      <p:sp>
        <p:nvSpPr>
          <p:cNvPr id="8" name="Text 6"/>
          <p:cNvSpPr/>
          <p:nvPr/>
        </p:nvSpPr>
        <p:spPr>
          <a:xfrm>
            <a:off x="1115568" y="3017520"/>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Targets the sharp null: no effect for any unit.</a:t>
            </a:r>
            <a:endParaRPr lang="en-US" sz="1250" dirty="0"/>
          </a:p>
        </p:txBody>
      </p:sp>
      <p:sp>
        <p:nvSpPr>
          <p:cNvPr id="9" name="Shape 7"/>
          <p:cNvSpPr/>
          <p:nvPr/>
        </p:nvSpPr>
        <p:spPr>
          <a:xfrm>
            <a:off x="877824" y="3694176"/>
            <a:ext cx="118872" cy="118872"/>
          </a:xfrm>
          <a:prstGeom prst="ellipse">
            <a:avLst/>
          </a:prstGeom>
          <a:solidFill>
            <a:srgbClr val="3FA9E0"/>
          </a:solidFill>
          <a:ln/>
        </p:spPr>
        <p:txBody>
          <a:bodyPr/>
          <a:lstStyle/>
          <a:p>
            <a:endParaRPr lang="en-SA"/>
          </a:p>
        </p:txBody>
      </p:sp>
      <p:sp>
        <p:nvSpPr>
          <p:cNvPr id="10" name="Text 8"/>
          <p:cNvSpPr/>
          <p:nvPr/>
        </p:nvSpPr>
        <p:spPr>
          <a:xfrm>
            <a:off x="1115568" y="3639312"/>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Produces an exact p-value by permutation.</a:t>
            </a:r>
            <a:endParaRPr lang="en-US" sz="1250" dirty="0"/>
          </a:p>
        </p:txBody>
      </p:sp>
      <p:sp>
        <p:nvSpPr>
          <p:cNvPr id="11" name="Shape 9"/>
          <p:cNvSpPr/>
          <p:nvPr/>
        </p:nvSpPr>
        <p:spPr>
          <a:xfrm>
            <a:off x="877824" y="4315968"/>
            <a:ext cx="118872" cy="118872"/>
          </a:xfrm>
          <a:prstGeom prst="ellipse">
            <a:avLst/>
          </a:prstGeom>
          <a:solidFill>
            <a:srgbClr val="3FA9E0"/>
          </a:solidFill>
          <a:ln/>
        </p:spPr>
        <p:txBody>
          <a:bodyPr/>
          <a:lstStyle/>
          <a:p>
            <a:endParaRPr lang="en-SA"/>
          </a:p>
        </p:txBody>
      </p:sp>
      <p:sp>
        <p:nvSpPr>
          <p:cNvPr id="12" name="Text 10"/>
          <p:cNvSpPr/>
          <p:nvPr/>
        </p:nvSpPr>
        <p:spPr>
          <a:xfrm>
            <a:off x="1115568" y="4261104"/>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No estimate of effect size on its own.</a:t>
            </a:r>
            <a:endParaRPr lang="en-US" sz="1250" dirty="0"/>
          </a:p>
        </p:txBody>
      </p:sp>
      <p:sp>
        <p:nvSpPr>
          <p:cNvPr id="13" name="Shape 11"/>
          <p:cNvSpPr/>
          <p:nvPr/>
        </p:nvSpPr>
        <p:spPr>
          <a:xfrm>
            <a:off x="877824" y="4937760"/>
            <a:ext cx="118872" cy="118872"/>
          </a:xfrm>
          <a:prstGeom prst="ellipse">
            <a:avLst/>
          </a:prstGeom>
          <a:solidFill>
            <a:srgbClr val="3FA9E0"/>
          </a:solidFill>
          <a:ln/>
        </p:spPr>
        <p:txBody>
          <a:bodyPr/>
          <a:lstStyle/>
          <a:p>
            <a:endParaRPr lang="en-SA"/>
          </a:p>
        </p:txBody>
      </p:sp>
      <p:sp>
        <p:nvSpPr>
          <p:cNvPr id="14" name="Text 12"/>
          <p:cNvSpPr/>
          <p:nvPr/>
        </p:nvSpPr>
        <p:spPr>
          <a:xfrm>
            <a:off x="1115568" y="4882896"/>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Ideal for small samples and clean significance.</a:t>
            </a:r>
            <a:endParaRPr lang="en-US" sz="1250" dirty="0"/>
          </a:p>
        </p:txBody>
      </p:sp>
      <p:sp>
        <p:nvSpPr>
          <p:cNvPr id="15" name="Shape 13"/>
          <p:cNvSpPr/>
          <p:nvPr/>
        </p:nvSpPr>
        <p:spPr>
          <a:xfrm>
            <a:off x="6507328" y="1828800"/>
            <a:ext cx="5117440" cy="4160520"/>
          </a:xfrm>
          <a:prstGeom prst="roundRect">
            <a:avLst>
              <a:gd name="adj" fmla="val 2198"/>
            </a:avLst>
          </a:prstGeom>
          <a:solidFill>
            <a:srgbClr val="16233F"/>
          </a:solidFill>
          <a:ln w="12700">
            <a:solidFill>
              <a:srgbClr val="16233F"/>
            </a:solidFill>
            <a:prstDash val="solid"/>
          </a:ln>
        </p:spPr>
        <p:txBody>
          <a:bodyPr/>
          <a:lstStyle/>
          <a:p>
            <a:endParaRPr lang="en-SA"/>
          </a:p>
        </p:txBody>
      </p:sp>
      <p:sp>
        <p:nvSpPr>
          <p:cNvPr id="16" name="Text 14"/>
          <p:cNvSpPr/>
          <p:nvPr/>
        </p:nvSpPr>
        <p:spPr>
          <a:xfrm>
            <a:off x="6799936" y="2084832"/>
            <a:ext cx="4532224" cy="274320"/>
          </a:xfrm>
          <a:prstGeom prst="rect">
            <a:avLst/>
          </a:prstGeom>
          <a:noFill/>
          <a:ln/>
        </p:spPr>
        <p:txBody>
          <a:bodyPr wrap="square" lIns="0" tIns="0" rIns="0" bIns="0" rtlCol="0" anchor="ctr"/>
          <a:lstStyle/>
          <a:p>
            <a:pPr marL="0" indent="0">
              <a:buNone/>
            </a:pPr>
            <a:r>
              <a:rPr lang="en-US" sz="1100" b="1" kern="0" spc="200" dirty="0">
                <a:solidFill>
                  <a:srgbClr val="70C8F2"/>
                </a:solidFill>
                <a:latin typeface="Calibri" pitchFamily="34" charset="0"/>
                <a:ea typeface="Calibri" pitchFamily="34" charset="-122"/>
                <a:cs typeface="Calibri" pitchFamily="34" charset="-120"/>
              </a:rPr>
              <a:t>NEYMAN</a:t>
            </a:r>
            <a:endParaRPr lang="en-US" sz="1100" dirty="0"/>
          </a:p>
        </p:txBody>
      </p:sp>
      <p:sp>
        <p:nvSpPr>
          <p:cNvPr id="17" name="Text 15"/>
          <p:cNvSpPr/>
          <p:nvPr/>
        </p:nvSpPr>
        <p:spPr>
          <a:xfrm>
            <a:off x="6799936" y="2377440"/>
            <a:ext cx="4532224"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Design-Based Estimation</a:t>
            </a:r>
            <a:endParaRPr lang="en-US" sz="2000" dirty="0"/>
          </a:p>
        </p:txBody>
      </p:sp>
      <p:sp>
        <p:nvSpPr>
          <p:cNvPr id="18" name="Shape 16"/>
          <p:cNvSpPr/>
          <p:nvPr/>
        </p:nvSpPr>
        <p:spPr>
          <a:xfrm>
            <a:off x="6818224" y="3072384"/>
            <a:ext cx="118872" cy="118872"/>
          </a:xfrm>
          <a:prstGeom prst="ellipse">
            <a:avLst/>
          </a:prstGeom>
          <a:solidFill>
            <a:srgbClr val="70C8F2"/>
          </a:solidFill>
          <a:ln/>
        </p:spPr>
        <p:txBody>
          <a:bodyPr/>
          <a:lstStyle/>
          <a:p>
            <a:endParaRPr lang="en-SA"/>
          </a:p>
        </p:txBody>
      </p:sp>
      <p:sp>
        <p:nvSpPr>
          <p:cNvPr id="19" name="Text 17"/>
          <p:cNvSpPr/>
          <p:nvPr/>
        </p:nvSpPr>
        <p:spPr>
          <a:xfrm>
            <a:off x="7055968" y="3017520"/>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C9DAF0"/>
                </a:solidFill>
                <a:latin typeface="Calibri" pitchFamily="34" charset="0"/>
                <a:ea typeface="Calibri" pitchFamily="34" charset="-122"/>
                <a:cs typeface="Calibri" pitchFamily="34" charset="-120"/>
              </a:rPr>
              <a:t>Targets the average effect (ATE).</a:t>
            </a:r>
            <a:endParaRPr lang="en-US" sz="1250" dirty="0"/>
          </a:p>
        </p:txBody>
      </p:sp>
      <p:sp>
        <p:nvSpPr>
          <p:cNvPr id="20" name="Shape 18"/>
          <p:cNvSpPr/>
          <p:nvPr/>
        </p:nvSpPr>
        <p:spPr>
          <a:xfrm>
            <a:off x="6818224" y="3694176"/>
            <a:ext cx="118872" cy="118872"/>
          </a:xfrm>
          <a:prstGeom prst="ellipse">
            <a:avLst/>
          </a:prstGeom>
          <a:solidFill>
            <a:srgbClr val="70C8F2"/>
          </a:solidFill>
          <a:ln/>
        </p:spPr>
        <p:txBody>
          <a:bodyPr/>
          <a:lstStyle/>
          <a:p>
            <a:endParaRPr lang="en-SA"/>
          </a:p>
        </p:txBody>
      </p:sp>
      <p:sp>
        <p:nvSpPr>
          <p:cNvPr id="21" name="Text 19"/>
          <p:cNvSpPr/>
          <p:nvPr/>
        </p:nvSpPr>
        <p:spPr>
          <a:xfrm>
            <a:off x="7055968" y="3639312"/>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C9DAF0"/>
                </a:solidFill>
                <a:latin typeface="Calibri" pitchFamily="34" charset="0"/>
                <a:ea typeface="Calibri" pitchFamily="34" charset="-122"/>
                <a:cs typeface="Calibri" pitchFamily="34" charset="-120"/>
              </a:rPr>
              <a:t>Gives an estimate plus a (conservative) SE.</a:t>
            </a:r>
            <a:endParaRPr lang="en-US" sz="1250" dirty="0"/>
          </a:p>
        </p:txBody>
      </p:sp>
      <p:sp>
        <p:nvSpPr>
          <p:cNvPr id="22" name="Shape 20"/>
          <p:cNvSpPr/>
          <p:nvPr/>
        </p:nvSpPr>
        <p:spPr>
          <a:xfrm>
            <a:off x="6818224" y="4315968"/>
            <a:ext cx="118872" cy="118872"/>
          </a:xfrm>
          <a:prstGeom prst="ellipse">
            <a:avLst/>
          </a:prstGeom>
          <a:solidFill>
            <a:srgbClr val="70C8F2"/>
          </a:solidFill>
          <a:ln/>
        </p:spPr>
        <p:txBody>
          <a:bodyPr/>
          <a:lstStyle/>
          <a:p>
            <a:endParaRPr lang="en-SA"/>
          </a:p>
        </p:txBody>
      </p:sp>
      <p:sp>
        <p:nvSpPr>
          <p:cNvPr id="23" name="Text 21"/>
          <p:cNvSpPr/>
          <p:nvPr/>
        </p:nvSpPr>
        <p:spPr>
          <a:xfrm>
            <a:off x="7055968" y="4261104"/>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C9DAF0"/>
                </a:solidFill>
                <a:latin typeface="Calibri" pitchFamily="34" charset="0"/>
                <a:ea typeface="Calibri" pitchFamily="34" charset="-122"/>
                <a:cs typeface="Calibri" pitchFamily="34" charset="-120"/>
              </a:rPr>
              <a:t>Tests the weaker null of zero average effect.</a:t>
            </a:r>
            <a:endParaRPr lang="en-US" sz="1250" dirty="0"/>
          </a:p>
        </p:txBody>
      </p:sp>
      <p:sp>
        <p:nvSpPr>
          <p:cNvPr id="24" name="Shape 22"/>
          <p:cNvSpPr/>
          <p:nvPr/>
        </p:nvSpPr>
        <p:spPr>
          <a:xfrm>
            <a:off x="6818224" y="4937760"/>
            <a:ext cx="118872" cy="118872"/>
          </a:xfrm>
          <a:prstGeom prst="ellipse">
            <a:avLst/>
          </a:prstGeom>
          <a:solidFill>
            <a:srgbClr val="70C8F2"/>
          </a:solidFill>
          <a:ln/>
        </p:spPr>
        <p:txBody>
          <a:bodyPr/>
          <a:lstStyle/>
          <a:p>
            <a:endParaRPr lang="en-SA"/>
          </a:p>
        </p:txBody>
      </p:sp>
      <p:sp>
        <p:nvSpPr>
          <p:cNvPr id="25" name="Text 23"/>
          <p:cNvSpPr/>
          <p:nvPr/>
        </p:nvSpPr>
        <p:spPr>
          <a:xfrm>
            <a:off x="7055968" y="4882896"/>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C9DAF0"/>
                </a:solidFill>
                <a:latin typeface="Calibri" pitchFamily="34" charset="0"/>
                <a:ea typeface="Calibri" pitchFamily="34" charset="-122"/>
                <a:cs typeface="Calibri" pitchFamily="34" charset="-120"/>
              </a:rPr>
              <a:t>Ideal when you need an effect size and interval.</a:t>
            </a:r>
            <a:endParaRPr lang="en-US" sz="1250" dirty="0"/>
          </a:p>
        </p:txBody>
      </p:sp>
      <p:sp>
        <p:nvSpPr>
          <p:cNvPr id="26" name="Shape 24"/>
          <p:cNvSpPr/>
          <p:nvPr/>
        </p:nvSpPr>
        <p:spPr>
          <a:xfrm>
            <a:off x="5803240" y="3616452"/>
            <a:ext cx="585216" cy="585216"/>
          </a:xfrm>
          <a:prstGeom prst="ellipse">
            <a:avLst/>
          </a:prstGeom>
          <a:solidFill>
            <a:srgbClr val="3FA9E0"/>
          </a:solidFill>
          <a:ln w="25400">
            <a:solidFill>
              <a:srgbClr val="FFFFFF"/>
            </a:solidFill>
            <a:prstDash val="solid"/>
          </a:ln>
        </p:spPr>
        <p:txBody>
          <a:bodyPr/>
          <a:lstStyle/>
          <a:p>
            <a:endParaRPr lang="en-SA"/>
          </a:p>
        </p:txBody>
      </p:sp>
      <p:sp>
        <p:nvSpPr>
          <p:cNvPr id="27" name="Text 25"/>
          <p:cNvSpPr/>
          <p:nvPr/>
        </p:nvSpPr>
        <p:spPr>
          <a:xfrm>
            <a:off x="5803240" y="3616452"/>
            <a:ext cx="585216" cy="58521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VS</a:t>
            </a:r>
            <a:endParaRPr lang="en-US" sz="1500" dirty="0"/>
          </a:p>
        </p:txBody>
      </p:sp>
      <p:sp>
        <p:nvSpPr>
          <p:cNvPr id="28" name="Text 2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INFERENCE</a:t>
            </a:r>
            <a:endParaRPr lang="en-US" sz="900" dirty="0"/>
          </a:p>
        </p:txBody>
      </p:sp>
      <p:sp>
        <p:nvSpPr>
          <p:cNvPr id="29" name="Text 2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61  /  221</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HOUR 2</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Reading an Experiment's Result Honestly</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A result is a triple: point estimate, interval, and the assumptions behind both.</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Effect size, in context</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Report the estimate in the metric's real units and as a relative lift; statistical and practical significance differ.</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Interval, not just p</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 confidence (or compatibility) interval communicates precision and the range of effects the data can't rule out.</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Assumptions ledger</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State the randomization unit, the SE type, and any adjustment — so a reader can judge credibility.</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INFERENCE</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62  /  221</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HOUR 2</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Interpreting p-values Without the Usual Errors</a:t>
            </a:r>
            <a:endParaRPr lang="en-US" sz="3400" dirty="0"/>
          </a:p>
        </p:txBody>
      </p:sp>
      <p:sp>
        <p:nvSpPr>
          <p:cNvPr id="4" name="Text 2"/>
          <p:cNvSpPr/>
          <p:nvPr/>
        </p:nvSpPr>
        <p:spPr>
          <a:xfrm>
            <a:off x="566928" y="1737360"/>
            <a:ext cx="11057839" cy="64008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Even experts slip here; we state the correct readings explicitly.</a:t>
            </a:r>
            <a:endParaRPr lang="en-US" sz="1450" dirty="0"/>
          </a:p>
        </p:txBody>
      </p:sp>
      <p:sp>
        <p:nvSpPr>
          <p:cNvPr id="5" name="Shape 3"/>
          <p:cNvSpPr/>
          <p:nvPr/>
        </p:nvSpPr>
        <p:spPr>
          <a:xfrm>
            <a:off x="566928" y="2578608"/>
            <a:ext cx="137160" cy="137160"/>
          </a:xfrm>
          <a:prstGeom prst="ellipse">
            <a:avLst/>
          </a:prstGeom>
          <a:solidFill>
            <a:srgbClr val="3FA9E0"/>
          </a:solidFill>
          <a:ln/>
        </p:spPr>
        <p:txBody>
          <a:bodyPr/>
          <a:lstStyle/>
          <a:p>
            <a:endParaRPr lang="en-SA"/>
          </a:p>
        </p:txBody>
      </p:sp>
      <p:sp>
        <p:nvSpPr>
          <p:cNvPr id="6" name="Text 4"/>
          <p:cNvSpPr/>
          <p:nvPr/>
        </p:nvSpPr>
        <p:spPr>
          <a:xfrm>
            <a:off x="841248" y="2514600"/>
            <a:ext cx="10783519" cy="749808"/>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A p-value is P(data at least this extreme | null), not P(null | data).</a:t>
            </a:r>
            <a:endParaRPr lang="en-US" sz="1400" dirty="0"/>
          </a:p>
        </p:txBody>
      </p:sp>
      <p:sp>
        <p:nvSpPr>
          <p:cNvPr id="7" name="Shape 5"/>
          <p:cNvSpPr/>
          <p:nvPr/>
        </p:nvSpPr>
        <p:spPr>
          <a:xfrm>
            <a:off x="566928" y="3328416"/>
            <a:ext cx="137160" cy="137160"/>
          </a:xfrm>
          <a:prstGeom prst="ellipse">
            <a:avLst/>
          </a:prstGeom>
          <a:solidFill>
            <a:srgbClr val="5A5BA6"/>
          </a:solidFill>
          <a:ln/>
        </p:spPr>
        <p:txBody>
          <a:bodyPr/>
          <a:lstStyle/>
          <a:p>
            <a:endParaRPr lang="en-SA"/>
          </a:p>
        </p:txBody>
      </p:sp>
      <p:sp>
        <p:nvSpPr>
          <p:cNvPr id="8" name="Text 6"/>
          <p:cNvSpPr/>
          <p:nvPr/>
        </p:nvSpPr>
        <p:spPr>
          <a:xfrm>
            <a:off x="841248" y="3264408"/>
            <a:ext cx="10783519" cy="749808"/>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‘p &gt; 0.05’ is not evidence of no effect — absence of evidence ≠ evidence of absence.</a:t>
            </a:r>
            <a:endParaRPr lang="en-US" sz="1400" dirty="0"/>
          </a:p>
        </p:txBody>
      </p:sp>
      <p:sp>
        <p:nvSpPr>
          <p:cNvPr id="9" name="Shape 7"/>
          <p:cNvSpPr/>
          <p:nvPr/>
        </p:nvSpPr>
        <p:spPr>
          <a:xfrm>
            <a:off x="566928" y="4078224"/>
            <a:ext cx="137160" cy="137160"/>
          </a:xfrm>
          <a:prstGeom prst="ellipse">
            <a:avLst/>
          </a:prstGeom>
          <a:solidFill>
            <a:srgbClr val="EA7B38"/>
          </a:solidFill>
          <a:ln/>
        </p:spPr>
        <p:txBody>
          <a:bodyPr/>
          <a:lstStyle/>
          <a:p>
            <a:endParaRPr lang="en-SA"/>
          </a:p>
        </p:txBody>
      </p:sp>
      <p:sp>
        <p:nvSpPr>
          <p:cNvPr id="10" name="Text 8"/>
          <p:cNvSpPr/>
          <p:nvPr/>
        </p:nvSpPr>
        <p:spPr>
          <a:xfrm>
            <a:off x="841248" y="4014216"/>
            <a:ext cx="10783519" cy="749808"/>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A tiny p on a huge sample can accompany a trivial, non-actionable effect.</a:t>
            </a:r>
            <a:endParaRPr lang="en-US" sz="1400" dirty="0"/>
          </a:p>
        </p:txBody>
      </p:sp>
      <p:sp>
        <p:nvSpPr>
          <p:cNvPr id="11" name="Shape 9"/>
          <p:cNvSpPr/>
          <p:nvPr/>
        </p:nvSpPr>
        <p:spPr>
          <a:xfrm>
            <a:off x="566928" y="4828032"/>
            <a:ext cx="137160" cy="137160"/>
          </a:xfrm>
          <a:prstGeom prst="ellipse">
            <a:avLst/>
          </a:prstGeom>
          <a:solidFill>
            <a:srgbClr val="3E9B90"/>
          </a:solidFill>
          <a:ln/>
        </p:spPr>
        <p:txBody>
          <a:bodyPr/>
          <a:lstStyle/>
          <a:p>
            <a:endParaRPr lang="en-SA"/>
          </a:p>
        </p:txBody>
      </p:sp>
      <p:sp>
        <p:nvSpPr>
          <p:cNvPr id="12" name="Text 10"/>
          <p:cNvSpPr/>
          <p:nvPr/>
        </p:nvSpPr>
        <p:spPr>
          <a:xfrm>
            <a:off x="841248" y="4764024"/>
            <a:ext cx="10783519" cy="749808"/>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The confidence interval usually carries more decision-relevant information than the p-value alone.</a:t>
            </a:r>
            <a:endParaRPr lang="en-US" sz="1400" dirty="0"/>
          </a:p>
        </p:txBody>
      </p:sp>
      <p:sp>
        <p:nvSpPr>
          <p:cNvPr id="13" name="Text 11"/>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INFERENCE</a:t>
            </a:r>
            <a:endParaRPr lang="en-US" sz="900" dirty="0"/>
          </a:p>
        </p:txBody>
      </p:sp>
      <p:sp>
        <p:nvSpPr>
          <p:cNvPr id="14" name="Text 12"/>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63  /  221</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HOUR 2</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Knowledge Check: Inference</a:t>
            </a:r>
            <a:endParaRPr lang="en-US" sz="3400" dirty="0"/>
          </a:p>
        </p:txBody>
      </p:sp>
      <p:sp>
        <p:nvSpPr>
          <p:cNvPr id="4" name="Shape 2"/>
          <p:cNvSpPr/>
          <p:nvPr/>
        </p:nvSpPr>
        <p:spPr>
          <a:xfrm>
            <a:off x="566928" y="178308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5" name="Shape 3"/>
          <p:cNvSpPr/>
          <p:nvPr/>
        </p:nvSpPr>
        <p:spPr>
          <a:xfrm>
            <a:off x="768096" y="1965960"/>
            <a:ext cx="384048" cy="384048"/>
          </a:xfrm>
          <a:prstGeom prst="ellipse">
            <a:avLst/>
          </a:prstGeom>
          <a:solidFill>
            <a:srgbClr val="3FA9E0"/>
          </a:solidFill>
          <a:ln/>
        </p:spPr>
        <p:txBody>
          <a:bodyPr/>
          <a:lstStyle/>
          <a:p>
            <a:endParaRPr lang="en-SA"/>
          </a:p>
        </p:txBody>
      </p:sp>
      <p:sp>
        <p:nvSpPr>
          <p:cNvPr id="6" name="Text 4"/>
          <p:cNvSpPr/>
          <p:nvPr/>
        </p:nvSpPr>
        <p:spPr>
          <a:xfrm>
            <a:off x="768096" y="19659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Q1</a:t>
            </a:r>
            <a:endParaRPr lang="en-US" sz="1300" dirty="0"/>
          </a:p>
        </p:txBody>
      </p:sp>
      <p:sp>
        <p:nvSpPr>
          <p:cNvPr id="7" name="Text 5"/>
          <p:cNvSpPr/>
          <p:nvPr/>
        </p:nvSpPr>
        <p:spPr>
          <a:xfrm>
            <a:off x="1344168" y="192938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You need an effect size with an interval, not just a test. Use:</a:t>
            </a:r>
            <a:endParaRPr lang="en-US" sz="1400" dirty="0"/>
          </a:p>
        </p:txBody>
      </p:sp>
      <p:sp>
        <p:nvSpPr>
          <p:cNvPr id="8" name="Text 6"/>
          <p:cNvSpPr/>
          <p:nvPr/>
        </p:nvSpPr>
        <p:spPr>
          <a:xfrm>
            <a:off x="1344168" y="238658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Fisher's sharp-null test      B) Neyman estimation      C) A chi-square test      D) None</a:t>
            </a:r>
            <a:endParaRPr lang="en-US" sz="1200" dirty="0"/>
          </a:p>
        </p:txBody>
      </p:sp>
      <p:sp>
        <p:nvSpPr>
          <p:cNvPr id="9" name="Shape 7"/>
          <p:cNvSpPr/>
          <p:nvPr/>
        </p:nvSpPr>
        <p:spPr>
          <a:xfrm>
            <a:off x="566928" y="306324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10" name="Shape 8"/>
          <p:cNvSpPr/>
          <p:nvPr/>
        </p:nvSpPr>
        <p:spPr>
          <a:xfrm>
            <a:off x="768096" y="3246120"/>
            <a:ext cx="384048" cy="384048"/>
          </a:xfrm>
          <a:prstGeom prst="ellipse">
            <a:avLst/>
          </a:prstGeom>
          <a:solidFill>
            <a:srgbClr val="5A5BA6"/>
          </a:solidFill>
          <a:ln/>
        </p:spPr>
        <p:txBody>
          <a:bodyPr/>
          <a:lstStyle/>
          <a:p>
            <a:endParaRPr lang="en-SA"/>
          </a:p>
        </p:txBody>
      </p:sp>
      <p:sp>
        <p:nvSpPr>
          <p:cNvPr id="11" name="Text 9"/>
          <p:cNvSpPr/>
          <p:nvPr/>
        </p:nvSpPr>
        <p:spPr>
          <a:xfrm>
            <a:off x="768096" y="32461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Q2</a:t>
            </a:r>
            <a:endParaRPr lang="en-US" sz="1300" dirty="0"/>
          </a:p>
        </p:txBody>
      </p:sp>
      <p:sp>
        <p:nvSpPr>
          <p:cNvPr id="12" name="Text 10"/>
          <p:cNvSpPr/>
          <p:nvPr/>
        </p:nvSpPr>
        <p:spPr>
          <a:xfrm>
            <a:off x="1344168" y="320954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Under complete randomization, the Neyman SE for ȳ₁−ȳ₀ corresponds to which regression SE?</a:t>
            </a:r>
            <a:endParaRPr lang="en-US" sz="1400" dirty="0"/>
          </a:p>
        </p:txBody>
      </p:sp>
      <p:sp>
        <p:nvSpPr>
          <p:cNvPr id="13" name="Text 11"/>
          <p:cNvSpPr/>
          <p:nvPr/>
        </p:nvSpPr>
        <p:spPr>
          <a:xfrm>
            <a:off x="1344168" y="366674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Classical OLS      B) HC2 robust      C) Clustered      D) Bootstrap only</a:t>
            </a:r>
            <a:endParaRPr lang="en-US" sz="1200" dirty="0"/>
          </a:p>
        </p:txBody>
      </p:sp>
      <p:sp>
        <p:nvSpPr>
          <p:cNvPr id="14" name="Shape 12"/>
          <p:cNvSpPr/>
          <p:nvPr/>
        </p:nvSpPr>
        <p:spPr>
          <a:xfrm>
            <a:off x="566928" y="434340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15" name="Shape 13"/>
          <p:cNvSpPr/>
          <p:nvPr/>
        </p:nvSpPr>
        <p:spPr>
          <a:xfrm>
            <a:off x="768096" y="4526280"/>
            <a:ext cx="384048" cy="384048"/>
          </a:xfrm>
          <a:prstGeom prst="ellipse">
            <a:avLst/>
          </a:prstGeom>
          <a:solidFill>
            <a:srgbClr val="EA7B38"/>
          </a:solidFill>
          <a:ln/>
        </p:spPr>
        <p:txBody>
          <a:bodyPr/>
          <a:lstStyle/>
          <a:p>
            <a:endParaRPr lang="en-SA"/>
          </a:p>
        </p:txBody>
      </p:sp>
      <p:sp>
        <p:nvSpPr>
          <p:cNvPr id="16" name="Text 14"/>
          <p:cNvSpPr/>
          <p:nvPr/>
        </p:nvSpPr>
        <p:spPr>
          <a:xfrm>
            <a:off x="768096" y="45262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Q3</a:t>
            </a:r>
            <a:endParaRPr lang="en-US" sz="1300" dirty="0"/>
          </a:p>
        </p:txBody>
      </p:sp>
      <p:sp>
        <p:nvSpPr>
          <p:cNvPr id="17" name="Text 15"/>
          <p:cNvSpPr/>
          <p:nvPr/>
        </p:nvSpPr>
        <p:spPr>
          <a:xfrm>
            <a:off x="1344168" y="448970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‘p = 0.20, so the treatment has no effect.’ This statement is:</a:t>
            </a:r>
            <a:endParaRPr lang="en-US" sz="1400" dirty="0"/>
          </a:p>
        </p:txBody>
      </p:sp>
      <p:sp>
        <p:nvSpPr>
          <p:cNvPr id="18" name="Text 16"/>
          <p:cNvSpPr/>
          <p:nvPr/>
        </p:nvSpPr>
        <p:spPr>
          <a:xfrm>
            <a:off x="1344168" y="494690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Correct      B) Incorrect — confuses no evidence with no effect      C) Correct if n large      D) Correct if randomized</a:t>
            </a:r>
            <a:endParaRPr lang="en-US" sz="1200" dirty="0"/>
          </a:p>
        </p:txBody>
      </p:sp>
      <p:sp>
        <p:nvSpPr>
          <p:cNvPr id="19" name="Text 17"/>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INFERENCE</a:t>
            </a:r>
            <a:endParaRPr lang="en-US" sz="900" dirty="0"/>
          </a:p>
        </p:txBody>
      </p:sp>
      <p:sp>
        <p:nvSpPr>
          <p:cNvPr id="20" name="Text 18"/>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64  /  221</a:t>
            </a:r>
            <a:endParaRPr lang="en-US" sz="900" dirty="0"/>
          </a:p>
        </p:txBody>
      </p:sp>
      <p:pic>
        <p:nvPicPr>
          <p:cNvPr id="21" name="Picture 20" descr="Day2_Check2.png"/>
          <p:cNvPicPr>
            <a:picLocks noChangeAspect="1"/>
          </p:cNvPicPr>
          <p:nvPr/>
        </p:nvPicPr>
        <p:blipFill>
          <a:blip r:embed="rId3"/>
          <a:stretch>
            <a:fillRect/>
          </a:stretch>
        </p:blipFill>
        <p:spPr>
          <a:xfrm>
            <a:off x="10637520" y="320040"/>
            <a:ext cx="1143000" cy="114300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DAY 2 · HOUR 3</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Regression, Adjustment &amp; Heterogeneity</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Regression estimators for experiments, covariate adjustment and CUPED for variance reduction, and estimating effects that vary (CATE).</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DAY 2</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65  /  221</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HOUR 3</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Regression as an Estimator of Treatment Effects</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In a randomized experiment, a regression of Y on T recovers the ATE — and adding pre-treatment covariates can sharpen it.</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Simple regression</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Y = α + τ·T + ε. The coefficient τ̂ equals the difference in means; use robust (HC2) SEs.</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Covariate adjustment</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Y = α + τ·T + Xβ + ε. Under randomization this leaves τ̂ unbiased and usually reduces its variance.</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Lin's estimator</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Interact T with centred covariates to guarantee no loss of efficiency and correct finite-sample behaviour.</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ADJUST ONLY PRE-TREATMENT</a:t>
            </a:r>
            <a:endParaRPr lang="en-US" sz="1100" dirty="0"/>
          </a:p>
        </p:txBody>
      </p:sp>
      <p:sp>
        <p:nvSpPr>
          <p:cNvPr id="16" name="Text 14"/>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dirty="0">
                <a:solidFill>
                  <a:srgbClr val="16233F"/>
                </a:solidFill>
                <a:latin typeface="Calibri" pitchFamily="34" charset="0"/>
                <a:ea typeface="Calibri" pitchFamily="34" charset="-122"/>
                <a:cs typeface="Calibri" pitchFamily="34" charset="-120"/>
              </a:rPr>
              <a:t>Covariate adjustment is safe only for variables fixed before treatment. Adjusting for anything post-treatment reintroduces bias.</a:t>
            </a:r>
            <a:endParaRPr lang="en-US" sz="13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REGRESSION</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66  /  221</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HOUR 3</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CUPED: Variance Reduction With Pre-Period Data</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Controlled-experiment Using Pre-Existing Data uses each unit's pre-treatment metric to strip out noise, tightening the estimate.</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idea</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Regress the outcome on a strongly correlated pre-period covariate and analyse the residual variation instead.</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payoff</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Variance falls by roughly the squared pre/post correlation — the same power as a much larger sample.</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guarantee</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Because the covariate is pre-treatment, CUPED leaves the effect estimate unbiased; it only removes noise.</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EFFECTIVE N</a:t>
            </a:r>
            <a:endParaRPr lang="en-US" sz="1100" dirty="0"/>
          </a:p>
        </p:txBody>
      </p:sp>
      <p:sp>
        <p:nvSpPr>
          <p:cNvPr id="16" name="Text 14"/>
          <p:cNvSpPr/>
          <p:nvPr/>
        </p:nvSpPr>
        <p:spPr>
          <a:xfrm>
            <a:off x="7744968" y="2331720"/>
            <a:ext cx="3605479" cy="1097280"/>
          </a:xfrm>
          <a:prstGeom prst="rect">
            <a:avLst/>
          </a:prstGeom>
          <a:noFill/>
          <a:ln/>
        </p:spPr>
        <p:txBody>
          <a:bodyPr wrap="square" lIns="0" tIns="0" rIns="0" bIns="0" rtlCol="0" anchor="t"/>
          <a:lstStyle/>
          <a:p>
            <a:pPr marL="0" indent="0">
              <a:buNone/>
            </a:pPr>
            <a:r>
              <a:rPr lang="en-US" sz="5400" b="1" dirty="0">
                <a:solidFill>
                  <a:srgbClr val="16233F"/>
                </a:solidFill>
                <a:latin typeface="Cambria" pitchFamily="34" charset="0"/>
                <a:ea typeface="Cambria" pitchFamily="34" charset="-122"/>
                <a:cs typeface="Cambria" pitchFamily="34" charset="-120"/>
              </a:rPr>
              <a:t>up to 2×</a:t>
            </a:r>
            <a:endParaRPr lang="en-US" sz="5400" dirty="0"/>
          </a:p>
        </p:txBody>
      </p:sp>
      <p:sp>
        <p:nvSpPr>
          <p:cNvPr id="17" name="Text 15"/>
          <p:cNvSpPr/>
          <p:nvPr/>
        </p:nvSpPr>
        <p:spPr>
          <a:xfrm>
            <a:off x="7744968" y="3520440"/>
            <a:ext cx="3605479" cy="2103120"/>
          </a:xfrm>
          <a:prstGeom prst="rect">
            <a:avLst/>
          </a:prstGeom>
          <a:noFill/>
          <a:ln/>
        </p:spPr>
        <p:txBody>
          <a:bodyPr wrap="square" lIns="0" tIns="0" rIns="0" bIns="0" rtlCol="0" anchor="t"/>
          <a:lstStyle/>
          <a:p>
            <a:pPr marL="0" indent="0">
              <a:lnSpc>
                <a:spcPct val="120000"/>
              </a:lnSpc>
              <a:buNone/>
            </a:pPr>
            <a:r>
              <a:rPr lang="en-US" sz="1300" dirty="0">
                <a:solidFill>
                  <a:srgbClr val="566581"/>
                </a:solidFill>
                <a:latin typeface="Calibri" pitchFamily="34" charset="0"/>
                <a:ea typeface="Calibri" pitchFamily="34" charset="-122"/>
                <a:cs typeface="Calibri" pitchFamily="34" charset="-120"/>
              </a:rPr>
              <a:t>A pre-period metric correlated 0.7 with the outcome can roughly halve variance — equivalent to doubling the sample at no extra cost.</a:t>
            </a:r>
            <a:endParaRPr lang="en-US" sz="1300" dirty="0"/>
          </a:p>
        </p:txBody>
      </p:sp>
      <p:sp>
        <p:nvSpPr>
          <p:cNvPr id="18" name="Text 1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REGRESSION</a:t>
            </a:r>
            <a:endParaRPr lang="en-US" sz="900" dirty="0"/>
          </a:p>
        </p:txBody>
      </p:sp>
      <p:sp>
        <p:nvSpPr>
          <p:cNvPr id="19" name="Text 1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67  /  221</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HOUR 3</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Heterogeneous Effects: Beyond the Average</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The ATE hides winners and losers. CATE estimation asks: for whom does the treatment work, and by how much?</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Why it matters</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Targeting, personalisation, and fairness all require knowing how τ(x) varies across subgroups.</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Pre-specify or penalise</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Testing many subgroups invites false discoveries; pre-register hypotheses or use methods built for search.</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Modern estimators</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Causal forests, meta-learners (S/T/X-learners), and doubly-robust learners estimate τ(x) with valid uncertainty.</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REGRESSION</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68  /  221</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HOUR 3</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Meta-Learners for CATE</a:t>
            </a:r>
            <a:endParaRPr lang="en-US" sz="3400" dirty="0"/>
          </a:p>
        </p:txBody>
      </p:sp>
      <p:sp>
        <p:nvSpPr>
          <p:cNvPr id="4" name="Text 2"/>
          <p:cNvSpPr/>
          <p:nvPr/>
        </p:nvSpPr>
        <p:spPr>
          <a:xfrm>
            <a:off x="566928" y="1783080"/>
            <a:ext cx="11057839" cy="548640"/>
          </a:xfrm>
          <a:prstGeom prst="rect">
            <a:avLst/>
          </a:prstGeom>
          <a:noFill/>
          <a:ln/>
        </p:spPr>
        <p:txBody>
          <a:bodyPr wrap="square" lIns="0" tIns="0" rIns="0" bIns="0" rtlCol="0" anchor="t"/>
          <a:lstStyle/>
          <a:p>
            <a:pPr marL="0" indent="0">
              <a:lnSpc>
                <a:spcPct val="115000"/>
              </a:lnSpc>
              <a:buNone/>
            </a:pPr>
            <a:r>
              <a:rPr lang="en-US" sz="1400" dirty="0">
                <a:solidFill>
                  <a:srgbClr val="566581"/>
                </a:solidFill>
                <a:latin typeface="Calibri" pitchFamily="34" charset="0"/>
                <a:ea typeface="Calibri" pitchFamily="34" charset="-122"/>
                <a:cs typeface="Calibri" pitchFamily="34" charset="-120"/>
              </a:rPr>
              <a:t>A vocabulary of practical estimators you can build on top of any ML model.</a:t>
            </a:r>
            <a:endParaRPr lang="en-US" sz="1400" dirty="0"/>
          </a:p>
        </p:txBody>
      </p:sp>
      <p:sp>
        <p:nvSpPr>
          <p:cNvPr id="5" name="Shape 3"/>
          <p:cNvSpPr/>
          <p:nvPr/>
        </p:nvSpPr>
        <p:spPr>
          <a:xfrm>
            <a:off x="566928" y="2468880"/>
            <a:ext cx="502920" cy="502920"/>
          </a:xfrm>
          <a:prstGeom prst="ellipse">
            <a:avLst/>
          </a:prstGeom>
          <a:solidFill>
            <a:srgbClr val="3FA9E0"/>
          </a:solidFill>
          <a:ln/>
        </p:spPr>
        <p:txBody>
          <a:bodyPr/>
          <a:lstStyle/>
          <a:p>
            <a:endParaRPr lang="en-SA"/>
          </a:p>
        </p:txBody>
      </p:sp>
      <p:sp>
        <p:nvSpPr>
          <p:cNvPr id="6" name="Text 4"/>
          <p:cNvSpPr/>
          <p:nvPr/>
        </p:nvSpPr>
        <p:spPr>
          <a:xfrm>
            <a:off x="566928" y="246888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S</a:t>
            </a:r>
            <a:endParaRPr lang="en-US" sz="1300" dirty="0"/>
          </a:p>
        </p:txBody>
      </p:sp>
      <p:sp>
        <p:nvSpPr>
          <p:cNvPr id="7" name="Text 5"/>
          <p:cNvSpPr/>
          <p:nvPr/>
        </p:nvSpPr>
        <p:spPr>
          <a:xfrm>
            <a:off x="1298448" y="242316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S-learner</a:t>
            </a:r>
            <a:endParaRPr lang="en-US" sz="1600" dirty="0"/>
          </a:p>
        </p:txBody>
      </p:sp>
      <p:sp>
        <p:nvSpPr>
          <p:cNvPr id="8" name="Text 6"/>
          <p:cNvSpPr/>
          <p:nvPr/>
        </p:nvSpPr>
        <p:spPr>
          <a:xfrm>
            <a:off x="1298448" y="273405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One model with treatment as a feature; predict with T=1 and T=0 and difference. Simple; can under-detect small effects.</a:t>
            </a:r>
            <a:endParaRPr lang="en-US" sz="1250" dirty="0"/>
          </a:p>
        </p:txBody>
      </p:sp>
      <p:sp>
        <p:nvSpPr>
          <p:cNvPr id="9" name="Shape 7"/>
          <p:cNvSpPr/>
          <p:nvPr/>
        </p:nvSpPr>
        <p:spPr>
          <a:xfrm>
            <a:off x="566928" y="3394710"/>
            <a:ext cx="502920" cy="502920"/>
          </a:xfrm>
          <a:prstGeom prst="ellipse">
            <a:avLst/>
          </a:prstGeom>
          <a:solidFill>
            <a:srgbClr val="5A5BA6"/>
          </a:solidFill>
          <a:ln/>
        </p:spPr>
        <p:txBody>
          <a:bodyPr/>
          <a:lstStyle/>
          <a:p>
            <a:endParaRPr lang="en-SA"/>
          </a:p>
        </p:txBody>
      </p:sp>
      <p:sp>
        <p:nvSpPr>
          <p:cNvPr id="10" name="Text 8"/>
          <p:cNvSpPr/>
          <p:nvPr/>
        </p:nvSpPr>
        <p:spPr>
          <a:xfrm>
            <a:off x="566928" y="339471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t>
            </a:r>
            <a:endParaRPr lang="en-US" sz="1300" dirty="0"/>
          </a:p>
        </p:txBody>
      </p:sp>
      <p:sp>
        <p:nvSpPr>
          <p:cNvPr id="11" name="Text 9"/>
          <p:cNvSpPr/>
          <p:nvPr/>
        </p:nvSpPr>
        <p:spPr>
          <a:xfrm>
            <a:off x="1298448" y="334899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T-learner</a:t>
            </a:r>
            <a:endParaRPr lang="en-US" sz="1600" dirty="0"/>
          </a:p>
        </p:txBody>
      </p:sp>
      <p:sp>
        <p:nvSpPr>
          <p:cNvPr id="12" name="Text 10"/>
          <p:cNvSpPr/>
          <p:nvPr/>
        </p:nvSpPr>
        <p:spPr>
          <a:xfrm>
            <a:off x="1298448" y="365988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Separate models per arm; difference their predictions. Flexible; can be noisy with imbalanced arms.</a:t>
            </a:r>
            <a:endParaRPr lang="en-US" sz="1250" dirty="0"/>
          </a:p>
        </p:txBody>
      </p:sp>
      <p:sp>
        <p:nvSpPr>
          <p:cNvPr id="13" name="Shape 11"/>
          <p:cNvSpPr/>
          <p:nvPr/>
        </p:nvSpPr>
        <p:spPr>
          <a:xfrm>
            <a:off x="566928" y="4320540"/>
            <a:ext cx="502920" cy="502920"/>
          </a:xfrm>
          <a:prstGeom prst="ellipse">
            <a:avLst/>
          </a:prstGeom>
          <a:solidFill>
            <a:srgbClr val="EA7B38"/>
          </a:solidFill>
          <a:ln/>
        </p:spPr>
        <p:txBody>
          <a:bodyPr/>
          <a:lstStyle/>
          <a:p>
            <a:endParaRPr lang="en-SA"/>
          </a:p>
        </p:txBody>
      </p:sp>
      <p:sp>
        <p:nvSpPr>
          <p:cNvPr id="14" name="Text 12"/>
          <p:cNvSpPr/>
          <p:nvPr/>
        </p:nvSpPr>
        <p:spPr>
          <a:xfrm>
            <a:off x="566928" y="43205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X</a:t>
            </a:r>
            <a:endParaRPr lang="en-US" sz="1300" dirty="0"/>
          </a:p>
        </p:txBody>
      </p:sp>
      <p:sp>
        <p:nvSpPr>
          <p:cNvPr id="15" name="Text 13"/>
          <p:cNvSpPr/>
          <p:nvPr/>
        </p:nvSpPr>
        <p:spPr>
          <a:xfrm>
            <a:off x="1298448" y="427482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X-learner</a:t>
            </a:r>
            <a:endParaRPr lang="en-US" sz="1600" dirty="0"/>
          </a:p>
        </p:txBody>
      </p:sp>
      <p:sp>
        <p:nvSpPr>
          <p:cNvPr id="16" name="Text 14"/>
          <p:cNvSpPr/>
          <p:nvPr/>
        </p:nvSpPr>
        <p:spPr>
          <a:xfrm>
            <a:off x="1298448" y="458571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Uses imputed effects and propensity weighting; strong when arms are very unequal in size.</a:t>
            </a:r>
            <a:endParaRPr lang="en-US" sz="1250" dirty="0"/>
          </a:p>
        </p:txBody>
      </p:sp>
      <p:sp>
        <p:nvSpPr>
          <p:cNvPr id="17" name="Shape 15"/>
          <p:cNvSpPr/>
          <p:nvPr/>
        </p:nvSpPr>
        <p:spPr>
          <a:xfrm>
            <a:off x="566928" y="5246370"/>
            <a:ext cx="502920" cy="502920"/>
          </a:xfrm>
          <a:prstGeom prst="ellipse">
            <a:avLst/>
          </a:prstGeom>
          <a:solidFill>
            <a:srgbClr val="3E9B90"/>
          </a:solidFill>
          <a:ln/>
        </p:spPr>
        <p:txBody>
          <a:bodyPr/>
          <a:lstStyle/>
          <a:p>
            <a:endParaRPr lang="en-SA"/>
          </a:p>
        </p:txBody>
      </p:sp>
      <p:sp>
        <p:nvSpPr>
          <p:cNvPr id="18" name="Text 16"/>
          <p:cNvSpPr/>
          <p:nvPr/>
        </p:nvSpPr>
        <p:spPr>
          <a:xfrm>
            <a:off x="566928" y="524637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DR</a:t>
            </a:r>
            <a:endParaRPr lang="en-US" sz="1300" dirty="0"/>
          </a:p>
        </p:txBody>
      </p:sp>
      <p:sp>
        <p:nvSpPr>
          <p:cNvPr id="19" name="Text 17"/>
          <p:cNvSpPr/>
          <p:nvPr/>
        </p:nvSpPr>
        <p:spPr>
          <a:xfrm>
            <a:off x="1298448" y="520065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DR / R-learner</a:t>
            </a:r>
            <a:endParaRPr lang="en-US" sz="1600" dirty="0"/>
          </a:p>
        </p:txBody>
      </p:sp>
      <p:sp>
        <p:nvSpPr>
          <p:cNvPr id="20" name="Text 18"/>
          <p:cNvSpPr/>
          <p:nvPr/>
        </p:nvSpPr>
        <p:spPr>
          <a:xfrm>
            <a:off x="1298448" y="551154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Doubly-robust and residual-based learners with better theoretical guarantees for the effect surface.</a:t>
            </a:r>
            <a:endParaRPr lang="en-US" sz="1250" dirty="0"/>
          </a:p>
        </p:txBody>
      </p:sp>
      <p:sp>
        <p:nvSpPr>
          <p:cNvPr id="21" name="Text 19"/>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REGRESSION</a:t>
            </a:r>
            <a:endParaRPr lang="en-US" sz="900" dirty="0"/>
          </a:p>
        </p:txBody>
      </p:sp>
      <p:sp>
        <p:nvSpPr>
          <p:cNvPr id="22" name="Text 20"/>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69  /  221</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HOUR 3</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Guarding Against False Subgroup Findings</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Heterogeneity analysis is where credible experiments quietly go wrong.</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garden of forking paths</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Enough subgroups guarantee a ‘significant’ one by chance; each looks compelling in isolation.</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Discipline</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Pre-register a small set of hypotheses; treat the rest as exploratory and correct for multiplicity.</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Validate</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Confirm promising CATEs in a held-out slice or a follow-up experiment before acting.</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REGRESSION</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70  /  221</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HOUR 3</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Knowledge Check: Adjustment &amp; CATE</a:t>
            </a:r>
            <a:endParaRPr lang="en-US" sz="3400" dirty="0"/>
          </a:p>
        </p:txBody>
      </p:sp>
      <p:sp>
        <p:nvSpPr>
          <p:cNvPr id="4" name="Shape 2"/>
          <p:cNvSpPr/>
          <p:nvPr/>
        </p:nvSpPr>
        <p:spPr>
          <a:xfrm>
            <a:off x="566928" y="178308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5" name="Shape 3"/>
          <p:cNvSpPr/>
          <p:nvPr/>
        </p:nvSpPr>
        <p:spPr>
          <a:xfrm>
            <a:off x="768096" y="1965960"/>
            <a:ext cx="384048" cy="384048"/>
          </a:xfrm>
          <a:prstGeom prst="ellipse">
            <a:avLst/>
          </a:prstGeom>
          <a:solidFill>
            <a:srgbClr val="3FA9E0"/>
          </a:solidFill>
          <a:ln/>
        </p:spPr>
        <p:txBody>
          <a:bodyPr/>
          <a:lstStyle/>
          <a:p>
            <a:endParaRPr lang="en-SA"/>
          </a:p>
        </p:txBody>
      </p:sp>
      <p:sp>
        <p:nvSpPr>
          <p:cNvPr id="6" name="Text 4"/>
          <p:cNvSpPr/>
          <p:nvPr/>
        </p:nvSpPr>
        <p:spPr>
          <a:xfrm>
            <a:off x="768096" y="19659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Q1</a:t>
            </a:r>
            <a:endParaRPr lang="en-US" sz="1300" dirty="0"/>
          </a:p>
        </p:txBody>
      </p:sp>
      <p:sp>
        <p:nvSpPr>
          <p:cNvPr id="7" name="Text 5"/>
          <p:cNvSpPr/>
          <p:nvPr/>
        </p:nvSpPr>
        <p:spPr>
          <a:xfrm>
            <a:off x="1344168" y="192938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CUPED reduces variance without bias because the adjustment variable is:</a:t>
            </a:r>
            <a:endParaRPr lang="en-US" sz="1400" dirty="0"/>
          </a:p>
        </p:txBody>
      </p:sp>
      <p:sp>
        <p:nvSpPr>
          <p:cNvPr id="8" name="Text 6"/>
          <p:cNvSpPr/>
          <p:nvPr/>
        </p:nvSpPr>
        <p:spPr>
          <a:xfrm>
            <a:off x="1344168" y="238658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An outcome      B) Post-treatment      C) Pre-treatment      D) The treatment</a:t>
            </a:r>
            <a:endParaRPr lang="en-US" sz="1200" dirty="0"/>
          </a:p>
        </p:txBody>
      </p:sp>
      <p:sp>
        <p:nvSpPr>
          <p:cNvPr id="9" name="Shape 7"/>
          <p:cNvSpPr/>
          <p:nvPr/>
        </p:nvSpPr>
        <p:spPr>
          <a:xfrm>
            <a:off x="566928" y="306324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10" name="Shape 8"/>
          <p:cNvSpPr/>
          <p:nvPr/>
        </p:nvSpPr>
        <p:spPr>
          <a:xfrm>
            <a:off x="768096" y="3246120"/>
            <a:ext cx="384048" cy="384048"/>
          </a:xfrm>
          <a:prstGeom prst="ellipse">
            <a:avLst/>
          </a:prstGeom>
          <a:solidFill>
            <a:srgbClr val="5A5BA6"/>
          </a:solidFill>
          <a:ln/>
        </p:spPr>
        <p:txBody>
          <a:bodyPr/>
          <a:lstStyle/>
          <a:p>
            <a:endParaRPr lang="en-SA"/>
          </a:p>
        </p:txBody>
      </p:sp>
      <p:sp>
        <p:nvSpPr>
          <p:cNvPr id="11" name="Text 9"/>
          <p:cNvSpPr/>
          <p:nvPr/>
        </p:nvSpPr>
        <p:spPr>
          <a:xfrm>
            <a:off x="768096" y="32461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Q2</a:t>
            </a:r>
            <a:endParaRPr lang="en-US" sz="1300" dirty="0"/>
          </a:p>
        </p:txBody>
      </p:sp>
      <p:sp>
        <p:nvSpPr>
          <p:cNvPr id="12" name="Text 10"/>
          <p:cNvSpPr/>
          <p:nvPr/>
        </p:nvSpPr>
        <p:spPr>
          <a:xfrm>
            <a:off x="1344168" y="320954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Which learner is designed to handle very unequal arm sizes?</a:t>
            </a:r>
            <a:endParaRPr lang="en-US" sz="1400" dirty="0"/>
          </a:p>
        </p:txBody>
      </p:sp>
      <p:sp>
        <p:nvSpPr>
          <p:cNvPr id="13" name="Text 11"/>
          <p:cNvSpPr/>
          <p:nvPr/>
        </p:nvSpPr>
        <p:spPr>
          <a:xfrm>
            <a:off x="1344168" y="366674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S-learner      B) T-learner      C) X-learner      D) OLS</a:t>
            </a:r>
            <a:endParaRPr lang="en-US" sz="1200" dirty="0"/>
          </a:p>
        </p:txBody>
      </p:sp>
      <p:sp>
        <p:nvSpPr>
          <p:cNvPr id="14" name="Shape 12"/>
          <p:cNvSpPr/>
          <p:nvPr/>
        </p:nvSpPr>
        <p:spPr>
          <a:xfrm>
            <a:off x="566928" y="434340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15" name="Shape 13"/>
          <p:cNvSpPr/>
          <p:nvPr/>
        </p:nvSpPr>
        <p:spPr>
          <a:xfrm>
            <a:off x="768096" y="4526280"/>
            <a:ext cx="384048" cy="384048"/>
          </a:xfrm>
          <a:prstGeom prst="ellipse">
            <a:avLst/>
          </a:prstGeom>
          <a:solidFill>
            <a:srgbClr val="EA7B38"/>
          </a:solidFill>
          <a:ln/>
        </p:spPr>
        <p:txBody>
          <a:bodyPr/>
          <a:lstStyle/>
          <a:p>
            <a:endParaRPr lang="en-SA"/>
          </a:p>
        </p:txBody>
      </p:sp>
      <p:sp>
        <p:nvSpPr>
          <p:cNvPr id="16" name="Text 14"/>
          <p:cNvSpPr/>
          <p:nvPr/>
        </p:nvSpPr>
        <p:spPr>
          <a:xfrm>
            <a:off x="768096" y="45262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Q3</a:t>
            </a:r>
            <a:endParaRPr lang="en-US" sz="1300" dirty="0"/>
          </a:p>
        </p:txBody>
      </p:sp>
      <p:sp>
        <p:nvSpPr>
          <p:cNvPr id="17" name="Text 15"/>
          <p:cNvSpPr/>
          <p:nvPr/>
        </p:nvSpPr>
        <p:spPr>
          <a:xfrm>
            <a:off x="1344168" y="448970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Reporting the single most significant subgroup out of 20 unplanned tests risks:</a:t>
            </a:r>
            <a:endParaRPr lang="en-US" sz="1400" dirty="0"/>
          </a:p>
        </p:txBody>
      </p:sp>
      <p:sp>
        <p:nvSpPr>
          <p:cNvPr id="18" name="Text 16"/>
          <p:cNvSpPr/>
          <p:nvPr/>
        </p:nvSpPr>
        <p:spPr>
          <a:xfrm>
            <a:off x="1344168" y="494690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Underpowering      B) Multiplicity / false discovery      C) Confounding      D) Non-compliance</a:t>
            </a:r>
            <a:endParaRPr lang="en-US" sz="1200" dirty="0"/>
          </a:p>
        </p:txBody>
      </p:sp>
      <p:sp>
        <p:nvSpPr>
          <p:cNvPr id="19" name="Text 17"/>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REGRESSION</a:t>
            </a:r>
            <a:endParaRPr lang="en-US" sz="900" dirty="0"/>
          </a:p>
        </p:txBody>
      </p:sp>
      <p:sp>
        <p:nvSpPr>
          <p:cNvPr id="20" name="Text 18"/>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71  /  221</a:t>
            </a:r>
            <a:endParaRPr lang="en-US" sz="900" dirty="0"/>
          </a:p>
        </p:txBody>
      </p:sp>
      <p:pic>
        <p:nvPicPr>
          <p:cNvPr id="21" name="Picture 20" descr="Day2_Check3.png"/>
          <p:cNvPicPr>
            <a:picLocks noChangeAspect="1"/>
          </p:cNvPicPr>
          <p:nvPr/>
        </p:nvPicPr>
        <p:blipFill>
          <a:blip r:embed="rId3"/>
          <a:stretch>
            <a:fillRect/>
          </a:stretch>
        </p:blipFill>
        <p:spPr>
          <a:xfrm>
            <a:off x="10637520" y="320040"/>
            <a:ext cx="1143000" cy="114300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DAY 2 · HOUR 4</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A/B Testing in Production</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From hypothesis to decision: power and MDE, sample-size planning, sequential testing and peeking, multiple comparisons, and guardrail metrics.</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DAY 2</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72  /  221</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HOUR 4</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The A/B Testing Lifecycle</a:t>
            </a:r>
            <a:endParaRPr lang="en-US" sz="3400" dirty="0"/>
          </a:p>
        </p:txBody>
      </p:sp>
      <p:sp>
        <p:nvSpPr>
          <p:cNvPr id="4" name="Text 2"/>
          <p:cNvSpPr/>
          <p:nvPr/>
        </p:nvSpPr>
        <p:spPr>
          <a:xfrm>
            <a:off x="566928" y="1783080"/>
            <a:ext cx="11057839" cy="548640"/>
          </a:xfrm>
          <a:prstGeom prst="rect">
            <a:avLst/>
          </a:prstGeom>
          <a:noFill/>
          <a:ln/>
        </p:spPr>
        <p:txBody>
          <a:bodyPr wrap="square" lIns="0" tIns="0" rIns="0" bIns="0" rtlCol="0" anchor="t"/>
          <a:lstStyle/>
          <a:p>
            <a:pPr marL="0" indent="0">
              <a:lnSpc>
                <a:spcPct val="115000"/>
              </a:lnSpc>
              <a:buNone/>
            </a:pPr>
            <a:r>
              <a:rPr lang="en-US" sz="1400" dirty="0">
                <a:solidFill>
                  <a:srgbClr val="566581"/>
                </a:solidFill>
                <a:latin typeface="Calibri" pitchFamily="34" charset="0"/>
                <a:ea typeface="Calibri" pitchFamily="34" charset="-122"/>
                <a:cs typeface="Calibri" pitchFamily="34" charset="-120"/>
              </a:rPr>
              <a:t>A trustworthy experiment is decided mostly before it launches.</a:t>
            </a:r>
            <a:endParaRPr lang="en-US" sz="1400" dirty="0"/>
          </a:p>
        </p:txBody>
      </p:sp>
      <p:sp>
        <p:nvSpPr>
          <p:cNvPr id="5" name="Shape 3"/>
          <p:cNvSpPr/>
          <p:nvPr/>
        </p:nvSpPr>
        <p:spPr>
          <a:xfrm>
            <a:off x="566928" y="2468880"/>
            <a:ext cx="502920" cy="502920"/>
          </a:xfrm>
          <a:prstGeom prst="ellipse">
            <a:avLst/>
          </a:prstGeom>
          <a:solidFill>
            <a:srgbClr val="3FA9E0"/>
          </a:solidFill>
          <a:ln/>
        </p:spPr>
        <p:txBody>
          <a:bodyPr/>
          <a:lstStyle/>
          <a:p>
            <a:endParaRPr lang="en-SA"/>
          </a:p>
        </p:txBody>
      </p:sp>
      <p:sp>
        <p:nvSpPr>
          <p:cNvPr id="6" name="Text 4"/>
          <p:cNvSpPr/>
          <p:nvPr/>
        </p:nvSpPr>
        <p:spPr>
          <a:xfrm>
            <a:off x="566928" y="246888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p:nvPr/>
        </p:nvSpPr>
        <p:spPr>
          <a:xfrm>
            <a:off x="1298448" y="242316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Hypothesis &amp; metric</a:t>
            </a:r>
            <a:endParaRPr lang="en-US" sz="1600" dirty="0"/>
          </a:p>
        </p:txBody>
      </p:sp>
      <p:sp>
        <p:nvSpPr>
          <p:cNvPr id="8" name="Text 6"/>
          <p:cNvSpPr/>
          <p:nvPr/>
        </p:nvSpPr>
        <p:spPr>
          <a:xfrm>
            <a:off x="1298448" y="273405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A directional, pre-registered claim on one primary metric, with guardrails named up front.</a:t>
            </a:r>
            <a:endParaRPr lang="en-US" sz="1250" dirty="0"/>
          </a:p>
        </p:txBody>
      </p:sp>
      <p:sp>
        <p:nvSpPr>
          <p:cNvPr id="9" name="Shape 7"/>
          <p:cNvSpPr/>
          <p:nvPr/>
        </p:nvSpPr>
        <p:spPr>
          <a:xfrm>
            <a:off x="566928" y="3394710"/>
            <a:ext cx="502920" cy="502920"/>
          </a:xfrm>
          <a:prstGeom prst="ellipse">
            <a:avLst/>
          </a:prstGeom>
          <a:solidFill>
            <a:srgbClr val="5A5BA6"/>
          </a:solidFill>
          <a:ln/>
        </p:spPr>
        <p:txBody>
          <a:bodyPr/>
          <a:lstStyle/>
          <a:p>
            <a:endParaRPr lang="en-SA"/>
          </a:p>
        </p:txBody>
      </p:sp>
      <p:sp>
        <p:nvSpPr>
          <p:cNvPr id="10" name="Text 8"/>
          <p:cNvSpPr/>
          <p:nvPr/>
        </p:nvSpPr>
        <p:spPr>
          <a:xfrm>
            <a:off x="566928" y="339471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1" name="Text 9"/>
          <p:cNvSpPr/>
          <p:nvPr/>
        </p:nvSpPr>
        <p:spPr>
          <a:xfrm>
            <a:off x="1298448" y="334899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Power &amp; sample size</a:t>
            </a:r>
            <a:endParaRPr lang="en-US" sz="1600" dirty="0"/>
          </a:p>
        </p:txBody>
      </p:sp>
      <p:sp>
        <p:nvSpPr>
          <p:cNvPr id="12" name="Text 10"/>
          <p:cNvSpPr/>
          <p:nvPr/>
        </p:nvSpPr>
        <p:spPr>
          <a:xfrm>
            <a:off x="1298448" y="365988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Fix α, target power, and the minimum detectable effect; compute the required n and runtime.</a:t>
            </a:r>
            <a:endParaRPr lang="en-US" sz="1250" dirty="0"/>
          </a:p>
        </p:txBody>
      </p:sp>
      <p:sp>
        <p:nvSpPr>
          <p:cNvPr id="13" name="Shape 11"/>
          <p:cNvSpPr/>
          <p:nvPr/>
        </p:nvSpPr>
        <p:spPr>
          <a:xfrm>
            <a:off x="566928" y="4320540"/>
            <a:ext cx="502920" cy="502920"/>
          </a:xfrm>
          <a:prstGeom prst="ellipse">
            <a:avLst/>
          </a:prstGeom>
          <a:solidFill>
            <a:srgbClr val="EA7B38"/>
          </a:solidFill>
          <a:ln/>
        </p:spPr>
        <p:txBody>
          <a:bodyPr/>
          <a:lstStyle/>
          <a:p>
            <a:endParaRPr lang="en-SA"/>
          </a:p>
        </p:txBody>
      </p:sp>
      <p:sp>
        <p:nvSpPr>
          <p:cNvPr id="14" name="Text 12"/>
          <p:cNvSpPr/>
          <p:nvPr/>
        </p:nvSpPr>
        <p:spPr>
          <a:xfrm>
            <a:off x="566928" y="43205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5" name="Text 13"/>
          <p:cNvSpPr/>
          <p:nvPr/>
        </p:nvSpPr>
        <p:spPr>
          <a:xfrm>
            <a:off x="1298448" y="427482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Randomize &amp; instrument</a:t>
            </a:r>
            <a:endParaRPr lang="en-US" sz="1600" dirty="0"/>
          </a:p>
        </p:txBody>
      </p:sp>
      <p:sp>
        <p:nvSpPr>
          <p:cNvPr id="16" name="Text 14"/>
          <p:cNvSpPr/>
          <p:nvPr/>
        </p:nvSpPr>
        <p:spPr>
          <a:xfrm>
            <a:off x="1298448" y="458571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Assign at the right unit, verify the split (A/A test), and log clean exposure and outcome data.</a:t>
            </a:r>
            <a:endParaRPr lang="en-US" sz="1250" dirty="0"/>
          </a:p>
        </p:txBody>
      </p:sp>
      <p:sp>
        <p:nvSpPr>
          <p:cNvPr id="17" name="Shape 15"/>
          <p:cNvSpPr/>
          <p:nvPr/>
        </p:nvSpPr>
        <p:spPr>
          <a:xfrm>
            <a:off x="566928" y="5246370"/>
            <a:ext cx="502920" cy="502920"/>
          </a:xfrm>
          <a:prstGeom prst="ellipse">
            <a:avLst/>
          </a:prstGeom>
          <a:solidFill>
            <a:srgbClr val="3E9B90"/>
          </a:solidFill>
          <a:ln/>
        </p:spPr>
        <p:txBody>
          <a:bodyPr/>
          <a:lstStyle/>
          <a:p>
            <a:endParaRPr lang="en-SA"/>
          </a:p>
        </p:txBody>
      </p:sp>
      <p:sp>
        <p:nvSpPr>
          <p:cNvPr id="18" name="Text 16"/>
          <p:cNvSpPr/>
          <p:nvPr/>
        </p:nvSpPr>
        <p:spPr>
          <a:xfrm>
            <a:off x="566928" y="524637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9" name="Text 17"/>
          <p:cNvSpPr/>
          <p:nvPr/>
        </p:nvSpPr>
        <p:spPr>
          <a:xfrm>
            <a:off x="1298448" y="520065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Analyse &amp; decide</a:t>
            </a:r>
            <a:endParaRPr lang="en-US" sz="1600" dirty="0"/>
          </a:p>
        </p:txBody>
      </p:sp>
      <p:sp>
        <p:nvSpPr>
          <p:cNvPr id="20" name="Text 18"/>
          <p:cNvSpPr/>
          <p:nvPr/>
        </p:nvSpPr>
        <p:spPr>
          <a:xfrm>
            <a:off x="1298448" y="551154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Estimate with valid inference at the pre-set horizon; check guardrails; ship, iterate, or stop.</a:t>
            </a:r>
            <a:endParaRPr lang="en-US" sz="1250" dirty="0"/>
          </a:p>
        </p:txBody>
      </p:sp>
      <p:sp>
        <p:nvSpPr>
          <p:cNvPr id="21" name="Text 19"/>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A/B TESTING</a:t>
            </a:r>
            <a:endParaRPr lang="en-US" sz="900" dirty="0"/>
          </a:p>
        </p:txBody>
      </p:sp>
      <p:sp>
        <p:nvSpPr>
          <p:cNvPr id="22" name="Text 20"/>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73  /  221</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HOUR 4</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Power, MDE &amp; Sample Size</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Four quantities are locked together; choose three and the fourth follows.</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quartet</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Significance α, power 1−β, minimum detectable effect (MDE), and sample size n move as one system.</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MDE intuition</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MDE ≈ (z_{α/2}+z_{β})·σ·√(1/n₁ + 1/n₀). Halving the MDE roughly quadruples the required n.</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Plan before you run</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Decide the horizon in advance; an underpowered test that ‘finds nothing’ is uninformative, not reassuring.</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SCALING LAW</a:t>
            </a:r>
            <a:endParaRPr lang="en-US" sz="1100" dirty="0"/>
          </a:p>
        </p:txBody>
      </p:sp>
      <p:sp>
        <p:nvSpPr>
          <p:cNvPr id="16" name="Text 14"/>
          <p:cNvSpPr/>
          <p:nvPr/>
        </p:nvSpPr>
        <p:spPr>
          <a:xfrm>
            <a:off x="7744968" y="2331720"/>
            <a:ext cx="3605479" cy="1097280"/>
          </a:xfrm>
          <a:prstGeom prst="rect">
            <a:avLst/>
          </a:prstGeom>
          <a:noFill/>
          <a:ln/>
        </p:spPr>
        <p:txBody>
          <a:bodyPr wrap="square" lIns="0" tIns="0" rIns="0" bIns="0" rtlCol="0" anchor="t"/>
          <a:lstStyle/>
          <a:p>
            <a:pPr marL="0" indent="0">
              <a:buNone/>
            </a:pPr>
            <a:r>
              <a:rPr lang="en-US" sz="5400" b="1" dirty="0">
                <a:solidFill>
                  <a:srgbClr val="16233F"/>
                </a:solidFill>
                <a:latin typeface="Cambria" pitchFamily="34" charset="0"/>
                <a:ea typeface="Cambria" pitchFamily="34" charset="-122"/>
                <a:cs typeface="Cambria" pitchFamily="34" charset="-120"/>
              </a:rPr>
              <a:t>n ∝ 1/δ²</a:t>
            </a:r>
            <a:endParaRPr lang="en-US" sz="5400" dirty="0"/>
          </a:p>
        </p:txBody>
      </p:sp>
      <p:sp>
        <p:nvSpPr>
          <p:cNvPr id="17" name="Text 15"/>
          <p:cNvSpPr/>
          <p:nvPr/>
        </p:nvSpPr>
        <p:spPr>
          <a:xfrm>
            <a:off x="7744968" y="3520440"/>
            <a:ext cx="3605479" cy="2103120"/>
          </a:xfrm>
          <a:prstGeom prst="rect">
            <a:avLst/>
          </a:prstGeom>
          <a:noFill/>
          <a:ln/>
        </p:spPr>
        <p:txBody>
          <a:bodyPr wrap="square" lIns="0" tIns="0" rIns="0" bIns="0" rtlCol="0" anchor="t"/>
          <a:lstStyle/>
          <a:p>
            <a:pPr marL="0" indent="0">
              <a:lnSpc>
                <a:spcPct val="120000"/>
              </a:lnSpc>
              <a:buNone/>
            </a:pPr>
            <a:r>
              <a:rPr lang="en-US" sz="1300" dirty="0">
                <a:solidFill>
                  <a:srgbClr val="566581"/>
                </a:solidFill>
                <a:latin typeface="Calibri" pitchFamily="34" charset="0"/>
                <a:ea typeface="Calibri" pitchFamily="34" charset="-122"/>
                <a:cs typeface="Calibri" pitchFamily="34" charset="-120"/>
              </a:rPr>
              <a:t>Detecting effects half as large costs about four times the sample. This is why chasing tiny lifts is so expensive — and why variance reduction pays.</a:t>
            </a:r>
            <a:endParaRPr lang="en-US" sz="1300" dirty="0"/>
          </a:p>
        </p:txBody>
      </p:sp>
      <p:sp>
        <p:nvSpPr>
          <p:cNvPr id="18" name="Text 1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A/B TESTING</a:t>
            </a:r>
            <a:endParaRPr lang="en-US" sz="900" dirty="0"/>
          </a:p>
        </p:txBody>
      </p:sp>
      <p:sp>
        <p:nvSpPr>
          <p:cNvPr id="19" name="Text 1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74  /  221</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HOUR 4</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The Peeking Problem</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Repeatedly checking a fixed-horizon test and stopping at the first ‘significant’ moment inflates the false-positive rate dramatically.</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Why it happens</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Each look is another chance for noise to cross the threshold; the nominal 5% becomes far higher with continuous monitoring.</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scale of it</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Unrestricted peeking can push the true false-positive rate from 5% to 20–30% or more.</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Do not ‘stop when green’</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 fixed-horizon p-value is only valid at the pre-planned sample size, checked once.</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THE FIX</a:t>
            </a:r>
            <a:endParaRPr lang="en-US" sz="1100" dirty="0"/>
          </a:p>
        </p:txBody>
      </p:sp>
      <p:sp>
        <p:nvSpPr>
          <p:cNvPr id="16" name="Text 14"/>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dirty="0">
                <a:solidFill>
                  <a:srgbClr val="16233F"/>
                </a:solidFill>
                <a:latin typeface="Calibri" pitchFamily="34" charset="0"/>
                <a:ea typeface="Calibri" pitchFamily="34" charset="-122"/>
                <a:cs typeface="Calibri" pitchFamily="34" charset="-120"/>
              </a:rPr>
              <a:t>Use methods designed for continuous monitoring: sequential tests, alpha-spending / group-sequential boundaries, or always-valid confidence sequences.</a:t>
            </a:r>
            <a:endParaRPr lang="en-US" sz="13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A/B TESTING</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75  /  221</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HOUR 4</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Valid Ways to Look Early</a:t>
            </a:r>
            <a:endParaRPr lang="en-US" sz="3400" dirty="0"/>
          </a:p>
        </p:txBody>
      </p:sp>
      <p:sp>
        <p:nvSpPr>
          <p:cNvPr id="4" name="Text 2"/>
          <p:cNvSpPr/>
          <p:nvPr/>
        </p:nvSpPr>
        <p:spPr>
          <a:xfrm>
            <a:off x="566928" y="1783080"/>
            <a:ext cx="11057839" cy="548640"/>
          </a:xfrm>
          <a:prstGeom prst="rect">
            <a:avLst/>
          </a:prstGeom>
          <a:noFill/>
          <a:ln/>
        </p:spPr>
        <p:txBody>
          <a:bodyPr wrap="square" lIns="0" tIns="0" rIns="0" bIns="0" rtlCol="0" anchor="t"/>
          <a:lstStyle/>
          <a:p>
            <a:pPr marL="0" indent="0">
              <a:lnSpc>
                <a:spcPct val="115000"/>
              </a:lnSpc>
              <a:buNone/>
            </a:pPr>
            <a:r>
              <a:rPr lang="en-US" sz="1400" dirty="0">
                <a:solidFill>
                  <a:srgbClr val="566581"/>
                </a:solidFill>
                <a:latin typeface="Calibri" pitchFamily="34" charset="0"/>
                <a:ea typeface="Calibri" pitchFamily="34" charset="-122"/>
                <a:cs typeface="Calibri" pitchFamily="34" charset="-120"/>
              </a:rPr>
              <a:t>You can monitor continuously — with the right machinery.</a:t>
            </a:r>
            <a:endParaRPr lang="en-US" sz="1400" dirty="0"/>
          </a:p>
        </p:txBody>
      </p:sp>
      <p:sp>
        <p:nvSpPr>
          <p:cNvPr id="5" name="Shape 3"/>
          <p:cNvSpPr/>
          <p:nvPr/>
        </p:nvSpPr>
        <p:spPr>
          <a:xfrm>
            <a:off x="566928" y="2468880"/>
            <a:ext cx="502920" cy="502920"/>
          </a:xfrm>
          <a:prstGeom prst="ellipse">
            <a:avLst/>
          </a:prstGeom>
          <a:solidFill>
            <a:srgbClr val="3FA9E0"/>
          </a:solidFill>
          <a:ln/>
        </p:spPr>
        <p:txBody>
          <a:bodyPr/>
          <a:lstStyle/>
          <a:p>
            <a:endParaRPr lang="en-SA"/>
          </a:p>
        </p:txBody>
      </p:sp>
      <p:sp>
        <p:nvSpPr>
          <p:cNvPr id="6" name="Text 4"/>
          <p:cNvSpPr/>
          <p:nvPr/>
        </p:nvSpPr>
        <p:spPr>
          <a:xfrm>
            <a:off x="566928" y="246888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7" name="Text 5"/>
          <p:cNvSpPr/>
          <p:nvPr/>
        </p:nvSpPr>
        <p:spPr>
          <a:xfrm>
            <a:off x="1298448" y="242316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Group-sequential / alpha spending</a:t>
            </a:r>
            <a:endParaRPr lang="en-US" sz="1600" dirty="0"/>
          </a:p>
        </p:txBody>
      </p:sp>
      <p:sp>
        <p:nvSpPr>
          <p:cNvPr id="8" name="Text 6"/>
          <p:cNvSpPr/>
          <p:nvPr/>
        </p:nvSpPr>
        <p:spPr>
          <a:xfrm>
            <a:off x="1298448" y="273405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Pre-plan a few interim looks and spend the error budget across them (O'Brien–Fleming, Pocock).</a:t>
            </a:r>
            <a:endParaRPr lang="en-US" sz="1250" dirty="0"/>
          </a:p>
        </p:txBody>
      </p:sp>
      <p:sp>
        <p:nvSpPr>
          <p:cNvPr id="9" name="Shape 7"/>
          <p:cNvSpPr/>
          <p:nvPr/>
        </p:nvSpPr>
        <p:spPr>
          <a:xfrm>
            <a:off x="566928" y="3394710"/>
            <a:ext cx="502920" cy="502920"/>
          </a:xfrm>
          <a:prstGeom prst="ellipse">
            <a:avLst/>
          </a:prstGeom>
          <a:solidFill>
            <a:srgbClr val="5A5BA6"/>
          </a:solidFill>
          <a:ln/>
        </p:spPr>
        <p:txBody>
          <a:bodyPr/>
          <a:lstStyle/>
          <a:p>
            <a:endParaRPr lang="en-SA"/>
          </a:p>
        </p:txBody>
      </p:sp>
      <p:sp>
        <p:nvSpPr>
          <p:cNvPr id="10" name="Text 8"/>
          <p:cNvSpPr/>
          <p:nvPr/>
        </p:nvSpPr>
        <p:spPr>
          <a:xfrm>
            <a:off x="566928" y="339471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1" name="Text 9"/>
          <p:cNvSpPr/>
          <p:nvPr/>
        </p:nvSpPr>
        <p:spPr>
          <a:xfrm>
            <a:off x="1298448" y="334899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Sequential probability ratio (SPRT)</a:t>
            </a:r>
            <a:endParaRPr lang="en-US" sz="1600" dirty="0"/>
          </a:p>
        </p:txBody>
      </p:sp>
      <p:sp>
        <p:nvSpPr>
          <p:cNvPr id="12" name="Text 10"/>
          <p:cNvSpPr/>
          <p:nvPr/>
        </p:nvSpPr>
        <p:spPr>
          <a:xfrm>
            <a:off x="1298448" y="365988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Accumulate evidence and stop when a likelihood-ratio boundary is crossed — efficient for early stops.</a:t>
            </a:r>
            <a:endParaRPr lang="en-US" sz="1250" dirty="0"/>
          </a:p>
        </p:txBody>
      </p:sp>
      <p:sp>
        <p:nvSpPr>
          <p:cNvPr id="13" name="Shape 11"/>
          <p:cNvSpPr/>
          <p:nvPr/>
        </p:nvSpPr>
        <p:spPr>
          <a:xfrm>
            <a:off x="566928" y="4320540"/>
            <a:ext cx="502920" cy="502920"/>
          </a:xfrm>
          <a:prstGeom prst="ellipse">
            <a:avLst/>
          </a:prstGeom>
          <a:solidFill>
            <a:srgbClr val="EA7B38"/>
          </a:solidFill>
          <a:ln/>
        </p:spPr>
        <p:txBody>
          <a:bodyPr/>
          <a:lstStyle/>
          <a:p>
            <a:endParaRPr lang="en-SA"/>
          </a:p>
        </p:txBody>
      </p:sp>
      <p:sp>
        <p:nvSpPr>
          <p:cNvPr id="14" name="Text 12"/>
          <p:cNvSpPr/>
          <p:nvPr/>
        </p:nvSpPr>
        <p:spPr>
          <a:xfrm>
            <a:off x="566928" y="43205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15" name="Text 13"/>
          <p:cNvSpPr/>
          <p:nvPr/>
        </p:nvSpPr>
        <p:spPr>
          <a:xfrm>
            <a:off x="1298448" y="427482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Always-valid inference</a:t>
            </a:r>
            <a:endParaRPr lang="en-US" sz="1600" dirty="0"/>
          </a:p>
        </p:txBody>
      </p:sp>
      <p:sp>
        <p:nvSpPr>
          <p:cNvPr id="16" name="Text 14"/>
          <p:cNvSpPr/>
          <p:nvPr/>
        </p:nvSpPr>
        <p:spPr>
          <a:xfrm>
            <a:off x="1298448" y="458571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Confidence sequences / e-values remain valid under continuous peeking at any stopping time.</a:t>
            </a:r>
            <a:endParaRPr lang="en-US" sz="1250" dirty="0"/>
          </a:p>
        </p:txBody>
      </p:sp>
      <p:sp>
        <p:nvSpPr>
          <p:cNvPr id="17" name="Shape 15"/>
          <p:cNvSpPr/>
          <p:nvPr/>
        </p:nvSpPr>
        <p:spPr>
          <a:xfrm>
            <a:off x="566928" y="5246370"/>
            <a:ext cx="502920" cy="502920"/>
          </a:xfrm>
          <a:prstGeom prst="ellipse">
            <a:avLst/>
          </a:prstGeom>
          <a:solidFill>
            <a:srgbClr val="3E9B90"/>
          </a:solidFill>
          <a:ln/>
        </p:spPr>
        <p:txBody>
          <a:bodyPr/>
          <a:lstStyle/>
          <a:p>
            <a:endParaRPr lang="en-SA"/>
          </a:p>
        </p:txBody>
      </p:sp>
      <p:sp>
        <p:nvSpPr>
          <p:cNvPr id="18" name="Text 16"/>
          <p:cNvSpPr/>
          <p:nvPr/>
        </p:nvSpPr>
        <p:spPr>
          <a:xfrm>
            <a:off x="566928" y="524637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04</a:t>
            </a:r>
            <a:endParaRPr lang="en-US" sz="1300" dirty="0"/>
          </a:p>
        </p:txBody>
      </p:sp>
      <p:sp>
        <p:nvSpPr>
          <p:cNvPr id="19" name="Text 17"/>
          <p:cNvSpPr/>
          <p:nvPr/>
        </p:nvSpPr>
        <p:spPr>
          <a:xfrm>
            <a:off x="1298448" y="520065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Bayesian monitoring</a:t>
            </a:r>
            <a:endParaRPr lang="en-US" sz="1600" dirty="0"/>
          </a:p>
        </p:txBody>
      </p:sp>
      <p:sp>
        <p:nvSpPr>
          <p:cNvPr id="20" name="Text 18"/>
          <p:cNvSpPr/>
          <p:nvPr/>
        </p:nvSpPr>
        <p:spPr>
          <a:xfrm>
            <a:off x="1298448" y="551154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Track the posterior and decision loss; valid if priors and the decision rule are set in advance.</a:t>
            </a:r>
            <a:endParaRPr lang="en-US" sz="1250" dirty="0"/>
          </a:p>
        </p:txBody>
      </p:sp>
      <p:sp>
        <p:nvSpPr>
          <p:cNvPr id="21" name="Text 19"/>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A/B TESTING</a:t>
            </a:r>
            <a:endParaRPr lang="en-US" sz="900" dirty="0"/>
          </a:p>
        </p:txBody>
      </p:sp>
      <p:sp>
        <p:nvSpPr>
          <p:cNvPr id="22" name="Text 20"/>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76  /  221</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HOUR 4</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Multiple Testing &amp; Guardrails</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Many metrics, many variants, many segments — each comparison is a fresh chance for a false positive.</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Control the error rate</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Bonferroni for strict family-wise control; Benjamini–Hochberg to control the false discovery rate when tests are many.</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One primary metric</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Pre-designate a single decision metric; everything else is secondary or guardrail, not a second bite at the apple.</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Guardrail metrics</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Latency, revenue, error rate, complaints — a winning primary metric does not ship if a guardrail degrades.</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A/B TESTING</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77  /  221</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HOUR 4</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A Field Guide to A/B Test Failure Modes</a:t>
            </a:r>
            <a:endParaRPr lang="en-US" sz="3400" dirty="0"/>
          </a:p>
        </p:txBody>
      </p:sp>
      <p:sp>
        <p:nvSpPr>
          <p:cNvPr id="4" name="Text 2"/>
          <p:cNvSpPr/>
          <p:nvPr/>
        </p:nvSpPr>
        <p:spPr>
          <a:xfrm>
            <a:off x="566928" y="1737360"/>
            <a:ext cx="11057839" cy="64008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The defects that turn confident ‘wins’ into losses in production.</a:t>
            </a:r>
            <a:endParaRPr lang="en-US" sz="1450" dirty="0"/>
          </a:p>
        </p:txBody>
      </p:sp>
      <p:sp>
        <p:nvSpPr>
          <p:cNvPr id="5" name="Shape 3"/>
          <p:cNvSpPr/>
          <p:nvPr/>
        </p:nvSpPr>
        <p:spPr>
          <a:xfrm>
            <a:off x="566928" y="2578608"/>
            <a:ext cx="137160" cy="137160"/>
          </a:xfrm>
          <a:prstGeom prst="ellipse">
            <a:avLst/>
          </a:prstGeom>
          <a:solidFill>
            <a:srgbClr val="3FA9E0"/>
          </a:solidFill>
          <a:ln/>
        </p:spPr>
        <p:txBody>
          <a:bodyPr/>
          <a:lstStyle/>
          <a:p>
            <a:endParaRPr lang="en-SA"/>
          </a:p>
        </p:txBody>
      </p:sp>
      <p:sp>
        <p:nvSpPr>
          <p:cNvPr id="6" name="Text 4"/>
          <p:cNvSpPr/>
          <p:nvPr/>
        </p:nvSpPr>
        <p:spPr>
          <a:xfrm>
            <a:off x="841248" y="251460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Sample-ratio mismatch — the arms are not split as intended, signalling a broken assignment or logging pipeline.</a:t>
            </a:r>
            <a:endParaRPr lang="en-US" sz="1400" dirty="0"/>
          </a:p>
        </p:txBody>
      </p:sp>
      <p:sp>
        <p:nvSpPr>
          <p:cNvPr id="7" name="Shape 5"/>
          <p:cNvSpPr/>
          <p:nvPr/>
        </p:nvSpPr>
        <p:spPr>
          <a:xfrm>
            <a:off x="566928" y="3180588"/>
            <a:ext cx="137160" cy="137160"/>
          </a:xfrm>
          <a:prstGeom prst="ellipse">
            <a:avLst/>
          </a:prstGeom>
          <a:solidFill>
            <a:srgbClr val="5A5BA6"/>
          </a:solidFill>
          <a:ln/>
        </p:spPr>
        <p:txBody>
          <a:bodyPr/>
          <a:lstStyle/>
          <a:p>
            <a:endParaRPr lang="en-SA"/>
          </a:p>
        </p:txBody>
      </p:sp>
      <p:sp>
        <p:nvSpPr>
          <p:cNvPr id="8" name="Text 6"/>
          <p:cNvSpPr/>
          <p:nvPr/>
        </p:nvSpPr>
        <p:spPr>
          <a:xfrm>
            <a:off x="841248" y="311658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Peeking / early stopping — monitoring a fixed-horizon test and stopping on the first green.</a:t>
            </a:r>
            <a:endParaRPr lang="en-US" sz="1400" dirty="0"/>
          </a:p>
        </p:txBody>
      </p:sp>
      <p:sp>
        <p:nvSpPr>
          <p:cNvPr id="9" name="Shape 7"/>
          <p:cNvSpPr/>
          <p:nvPr/>
        </p:nvSpPr>
        <p:spPr>
          <a:xfrm>
            <a:off x="566928" y="3782568"/>
            <a:ext cx="137160" cy="137160"/>
          </a:xfrm>
          <a:prstGeom prst="ellipse">
            <a:avLst/>
          </a:prstGeom>
          <a:solidFill>
            <a:srgbClr val="EA7B38"/>
          </a:solidFill>
          <a:ln/>
        </p:spPr>
        <p:txBody>
          <a:bodyPr/>
          <a:lstStyle/>
          <a:p>
            <a:endParaRPr lang="en-SA"/>
          </a:p>
        </p:txBody>
      </p:sp>
      <p:sp>
        <p:nvSpPr>
          <p:cNvPr id="10" name="Text 8"/>
          <p:cNvSpPr/>
          <p:nvPr/>
        </p:nvSpPr>
        <p:spPr>
          <a:xfrm>
            <a:off x="841248" y="371856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Interference — treated units affect control units (marketplaces, social graphs), biasing the contrast.</a:t>
            </a:r>
            <a:endParaRPr lang="en-US" sz="1400" dirty="0"/>
          </a:p>
        </p:txBody>
      </p:sp>
      <p:sp>
        <p:nvSpPr>
          <p:cNvPr id="11" name="Shape 9"/>
          <p:cNvSpPr/>
          <p:nvPr/>
        </p:nvSpPr>
        <p:spPr>
          <a:xfrm>
            <a:off x="566928" y="4384548"/>
            <a:ext cx="137160" cy="137160"/>
          </a:xfrm>
          <a:prstGeom prst="ellipse">
            <a:avLst/>
          </a:prstGeom>
          <a:solidFill>
            <a:srgbClr val="3E9B90"/>
          </a:solidFill>
          <a:ln/>
        </p:spPr>
        <p:txBody>
          <a:bodyPr/>
          <a:lstStyle/>
          <a:p>
            <a:endParaRPr lang="en-SA"/>
          </a:p>
        </p:txBody>
      </p:sp>
      <p:sp>
        <p:nvSpPr>
          <p:cNvPr id="12" name="Text 10"/>
          <p:cNvSpPr/>
          <p:nvPr/>
        </p:nvSpPr>
        <p:spPr>
          <a:xfrm>
            <a:off x="841248" y="432054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Novelty &amp; primacy effects — short-term reactions that fade, so a two-day lift misrepresents the steady state.</a:t>
            </a:r>
            <a:endParaRPr lang="en-US" sz="1400" dirty="0"/>
          </a:p>
        </p:txBody>
      </p:sp>
      <p:sp>
        <p:nvSpPr>
          <p:cNvPr id="13" name="Shape 11"/>
          <p:cNvSpPr/>
          <p:nvPr/>
        </p:nvSpPr>
        <p:spPr>
          <a:xfrm>
            <a:off x="566928" y="4986528"/>
            <a:ext cx="137160" cy="137160"/>
          </a:xfrm>
          <a:prstGeom prst="ellipse">
            <a:avLst/>
          </a:prstGeom>
          <a:solidFill>
            <a:srgbClr val="73BB59"/>
          </a:solidFill>
          <a:ln/>
        </p:spPr>
        <p:txBody>
          <a:bodyPr/>
          <a:lstStyle/>
          <a:p>
            <a:endParaRPr lang="en-SA"/>
          </a:p>
        </p:txBody>
      </p:sp>
      <p:sp>
        <p:nvSpPr>
          <p:cNvPr id="14" name="Text 12"/>
          <p:cNvSpPr/>
          <p:nvPr/>
        </p:nvSpPr>
        <p:spPr>
          <a:xfrm>
            <a:off x="841248" y="492252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Simpson's paradox — an aggregate result reverses within every segment because of shifting mix.</a:t>
            </a:r>
            <a:endParaRPr lang="en-US" sz="1400" dirty="0"/>
          </a:p>
        </p:txBody>
      </p:sp>
      <p:sp>
        <p:nvSpPr>
          <p:cNvPr id="15" name="Shape 13"/>
          <p:cNvSpPr/>
          <p:nvPr/>
        </p:nvSpPr>
        <p:spPr>
          <a:xfrm>
            <a:off x="566928" y="5588508"/>
            <a:ext cx="137160" cy="137160"/>
          </a:xfrm>
          <a:prstGeom prst="ellipse">
            <a:avLst/>
          </a:prstGeom>
          <a:solidFill>
            <a:srgbClr val="3FA9E0"/>
          </a:solidFill>
          <a:ln/>
        </p:spPr>
        <p:txBody>
          <a:bodyPr/>
          <a:lstStyle/>
          <a:p>
            <a:endParaRPr lang="en-SA"/>
          </a:p>
        </p:txBody>
      </p:sp>
      <p:sp>
        <p:nvSpPr>
          <p:cNvPr id="16" name="Text 14"/>
          <p:cNvSpPr/>
          <p:nvPr/>
        </p:nvSpPr>
        <p:spPr>
          <a:xfrm>
            <a:off x="841248" y="552450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Winner's curse — the shipped variant's true effect is smaller than the estimate that got it shipped.</a:t>
            </a:r>
            <a:endParaRPr lang="en-US" sz="140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A/B TESTING</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78  /  221</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HOUR 4</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Knowledge Check: Production A/B</a:t>
            </a:r>
            <a:endParaRPr lang="en-US" sz="3400" dirty="0"/>
          </a:p>
        </p:txBody>
      </p:sp>
      <p:sp>
        <p:nvSpPr>
          <p:cNvPr id="4" name="Shape 2"/>
          <p:cNvSpPr/>
          <p:nvPr/>
        </p:nvSpPr>
        <p:spPr>
          <a:xfrm>
            <a:off x="566928" y="178308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5" name="Shape 3"/>
          <p:cNvSpPr/>
          <p:nvPr/>
        </p:nvSpPr>
        <p:spPr>
          <a:xfrm>
            <a:off x="768096" y="1965960"/>
            <a:ext cx="384048" cy="384048"/>
          </a:xfrm>
          <a:prstGeom prst="ellipse">
            <a:avLst/>
          </a:prstGeom>
          <a:solidFill>
            <a:srgbClr val="3FA9E0"/>
          </a:solidFill>
          <a:ln/>
        </p:spPr>
        <p:txBody>
          <a:bodyPr/>
          <a:lstStyle/>
          <a:p>
            <a:endParaRPr lang="en-SA"/>
          </a:p>
        </p:txBody>
      </p:sp>
      <p:sp>
        <p:nvSpPr>
          <p:cNvPr id="6" name="Text 4"/>
          <p:cNvSpPr/>
          <p:nvPr/>
        </p:nvSpPr>
        <p:spPr>
          <a:xfrm>
            <a:off x="768096" y="19659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Q1</a:t>
            </a:r>
            <a:endParaRPr lang="en-US" sz="1300" dirty="0"/>
          </a:p>
        </p:txBody>
      </p:sp>
      <p:sp>
        <p:nvSpPr>
          <p:cNvPr id="7" name="Text 5"/>
          <p:cNvSpPr/>
          <p:nvPr/>
        </p:nvSpPr>
        <p:spPr>
          <a:xfrm>
            <a:off x="1344168" y="192938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Halving the minimum detectable effect changes required sample size by roughly:</a:t>
            </a:r>
            <a:endParaRPr lang="en-US" sz="1400" dirty="0"/>
          </a:p>
        </p:txBody>
      </p:sp>
      <p:sp>
        <p:nvSpPr>
          <p:cNvPr id="8" name="Text 6"/>
          <p:cNvSpPr/>
          <p:nvPr/>
        </p:nvSpPr>
        <p:spPr>
          <a:xfrm>
            <a:off x="1344168" y="238658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×2      B) ×4      C) ÷2      D) no change</a:t>
            </a:r>
            <a:endParaRPr lang="en-US" sz="1200" dirty="0"/>
          </a:p>
        </p:txBody>
      </p:sp>
      <p:sp>
        <p:nvSpPr>
          <p:cNvPr id="9" name="Shape 7"/>
          <p:cNvSpPr/>
          <p:nvPr/>
        </p:nvSpPr>
        <p:spPr>
          <a:xfrm>
            <a:off x="566928" y="306324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10" name="Shape 8"/>
          <p:cNvSpPr/>
          <p:nvPr/>
        </p:nvSpPr>
        <p:spPr>
          <a:xfrm>
            <a:off x="768096" y="3246120"/>
            <a:ext cx="384048" cy="384048"/>
          </a:xfrm>
          <a:prstGeom prst="ellipse">
            <a:avLst/>
          </a:prstGeom>
          <a:solidFill>
            <a:srgbClr val="5A5BA6"/>
          </a:solidFill>
          <a:ln/>
        </p:spPr>
        <p:txBody>
          <a:bodyPr/>
          <a:lstStyle/>
          <a:p>
            <a:endParaRPr lang="en-SA"/>
          </a:p>
        </p:txBody>
      </p:sp>
      <p:sp>
        <p:nvSpPr>
          <p:cNvPr id="11" name="Text 9"/>
          <p:cNvSpPr/>
          <p:nvPr/>
        </p:nvSpPr>
        <p:spPr>
          <a:xfrm>
            <a:off x="768096" y="32461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Q2</a:t>
            </a:r>
            <a:endParaRPr lang="en-US" sz="1300" dirty="0"/>
          </a:p>
        </p:txBody>
      </p:sp>
      <p:sp>
        <p:nvSpPr>
          <p:cNvPr id="12" name="Text 10"/>
          <p:cNvSpPr/>
          <p:nvPr/>
        </p:nvSpPr>
        <p:spPr>
          <a:xfrm>
            <a:off x="1344168" y="320954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You want to monitor continuously and stop early when justified. Use:</a:t>
            </a:r>
            <a:endParaRPr lang="en-US" sz="1400" dirty="0"/>
          </a:p>
        </p:txBody>
      </p:sp>
      <p:sp>
        <p:nvSpPr>
          <p:cNvPr id="13" name="Text 11"/>
          <p:cNvSpPr/>
          <p:nvPr/>
        </p:nvSpPr>
        <p:spPr>
          <a:xfrm>
            <a:off x="1344168" y="366674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Fixed-horizon p      B) Always-valid / sequential      C) Larger α      D) Peeking</a:t>
            </a:r>
            <a:endParaRPr lang="en-US" sz="1200" dirty="0"/>
          </a:p>
        </p:txBody>
      </p:sp>
      <p:sp>
        <p:nvSpPr>
          <p:cNvPr id="14" name="Shape 12"/>
          <p:cNvSpPr/>
          <p:nvPr/>
        </p:nvSpPr>
        <p:spPr>
          <a:xfrm>
            <a:off x="566928" y="434340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15" name="Shape 13"/>
          <p:cNvSpPr/>
          <p:nvPr/>
        </p:nvSpPr>
        <p:spPr>
          <a:xfrm>
            <a:off x="768096" y="4526280"/>
            <a:ext cx="384048" cy="384048"/>
          </a:xfrm>
          <a:prstGeom prst="ellipse">
            <a:avLst/>
          </a:prstGeom>
          <a:solidFill>
            <a:srgbClr val="EA7B38"/>
          </a:solidFill>
          <a:ln/>
        </p:spPr>
        <p:txBody>
          <a:bodyPr/>
          <a:lstStyle/>
          <a:p>
            <a:endParaRPr lang="en-SA"/>
          </a:p>
        </p:txBody>
      </p:sp>
      <p:sp>
        <p:nvSpPr>
          <p:cNvPr id="16" name="Text 14"/>
          <p:cNvSpPr/>
          <p:nvPr/>
        </p:nvSpPr>
        <p:spPr>
          <a:xfrm>
            <a:off x="768096" y="45262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Q3</a:t>
            </a:r>
            <a:endParaRPr lang="en-US" sz="1300" dirty="0"/>
          </a:p>
        </p:txBody>
      </p:sp>
      <p:sp>
        <p:nvSpPr>
          <p:cNvPr id="17" name="Text 15"/>
          <p:cNvSpPr/>
          <p:nvPr/>
        </p:nvSpPr>
        <p:spPr>
          <a:xfrm>
            <a:off x="1344168" y="448970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The arms come out 55/45 instead of 50/50. This is a:</a:t>
            </a:r>
            <a:endParaRPr lang="en-US" sz="1400" dirty="0"/>
          </a:p>
        </p:txBody>
      </p:sp>
      <p:sp>
        <p:nvSpPr>
          <p:cNvPr id="18" name="Text 16"/>
          <p:cNvSpPr/>
          <p:nvPr/>
        </p:nvSpPr>
        <p:spPr>
          <a:xfrm>
            <a:off x="1344168" y="494690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Guardrail win      B) Sample-ratio mismatch      C) Novelty effect      D) Power gain</a:t>
            </a:r>
            <a:endParaRPr lang="en-US" sz="1200" dirty="0"/>
          </a:p>
        </p:txBody>
      </p:sp>
      <p:sp>
        <p:nvSpPr>
          <p:cNvPr id="19" name="Text 17"/>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A/B TESTING</a:t>
            </a:r>
            <a:endParaRPr lang="en-US" sz="900" dirty="0"/>
          </a:p>
        </p:txBody>
      </p:sp>
      <p:sp>
        <p:nvSpPr>
          <p:cNvPr id="20" name="Text 18"/>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79  /  221</a:t>
            </a:r>
            <a:endParaRPr lang="en-US" sz="900" dirty="0"/>
          </a:p>
        </p:txBody>
      </p:sp>
      <p:pic>
        <p:nvPicPr>
          <p:cNvPr id="21" name="Picture 20" descr="Day2_Check4.png"/>
          <p:cNvPicPr>
            <a:picLocks noChangeAspect="1"/>
          </p:cNvPicPr>
          <p:nvPr/>
        </p:nvPicPr>
        <p:blipFill>
          <a:blip r:embed="rId3"/>
          <a:stretch>
            <a:fillRect/>
          </a:stretch>
        </p:blipFill>
        <p:spPr>
          <a:xfrm>
            <a:off x="10637520" y="320040"/>
            <a:ext cx="1143000" cy="1143000"/>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DAY 2 · HOUR 5</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Lab 2 &amp; Discussion</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Design, run on simulated traffic, and analyse a complete A/B test — including the failure modes that catch practitioners out.</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DAY 2</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80  /  221</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502920"/>
            <a:ext cx="11057839" cy="292608"/>
          </a:xfrm>
          <a:prstGeom prst="rect">
            <a:avLst/>
          </a:prstGeom>
          <a:noFill/>
          <a:ln/>
        </p:spPr>
        <p:txBody>
          <a:bodyPr wrap="square" lIns="0" tIns="0" rIns="0" bIns="0" rtlCol="0" anchor="ctr"/>
          <a:lstStyle/>
          <a:p>
            <a:pPr marL="0" indent="0">
              <a:buNone/>
            </a:pPr>
            <a:r>
              <a:rPr lang="en-US" sz="1200" b="1" kern="0" spc="300" dirty="0">
                <a:solidFill>
                  <a:srgbClr val="70C8F2"/>
                </a:solidFill>
                <a:latin typeface="Calibri" pitchFamily="34" charset="0"/>
                <a:ea typeface="Calibri" pitchFamily="34" charset="-122"/>
                <a:cs typeface="Calibri" pitchFamily="34" charset="-120"/>
              </a:rPr>
              <a:t>DAY 2 · HANDS-ON LAB 2</a:t>
            </a:r>
            <a:endParaRPr lang="en-US" sz="1200" dirty="0"/>
          </a:p>
        </p:txBody>
      </p:sp>
      <p:sp>
        <p:nvSpPr>
          <p:cNvPr id="3" name="Text 1"/>
          <p:cNvSpPr/>
          <p:nvPr/>
        </p:nvSpPr>
        <p:spPr>
          <a:xfrm>
            <a:off x="566928" y="868680"/>
            <a:ext cx="11057839" cy="82296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An A/B Test, End to End</a:t>
            </a:r>
            <a:endParaRPr lang="en-US" sz="3000" dirty="0"/>
          </a:p>
        </p:txBody>
      </p:sp>
      <p:sp>
        <p:nvSpPr>
          <p:cNvPr id="4" name="Shape 2"/>
          <p:cNvSpPr/>
          <p:nvPr/>
        </p:nvSpPr>
        <p:spPr>
          <a:xfrm>
            <a:off x="566928" y="2011680"/>
            <a:ext cx="3931920" cy="3931920"/>
          </a:xfrm>
          <a:prstGeom prst="roundRect">
            <a:avLst>
              <a:gd name="adj" fmla="val 2326"/>
            </a:avLst>
          </a:prstGeom>
          <a:solidFill>
            <a:srgbClr val="1C2E4E"/>
          </a:solidFill>
          <a:ln w="12700">
            <a:solidFill>
              <a:srgbClr val="2A3E63"/>
            </a:solidFill>
            <a:prstDash val="solid"/>
          </a:ln>
        </p:spPr>
        <p:txBody>
          <a:bodyPr/>
          <a:lstStyle/>
          <a:p>
            <a:endParaRPr lang="en-SA"/>
          </a:p>
        </p:txBody>
      </p:sp>
      <p:sp>
        <p:nvSpPr>
          <p:cNvPr id="5" name="Text 3"/>
          <p:cNvSpPr/>
          <p:nvPr/>
        </p:nvSpPr>
        <p:spPr>
          <a:xfrm>
            <a:off x="841248" y="2240280"/>
            <a:ext cx="3383280" cy="274320"/>
          </a:xfrm>
          <a:prstGeom prst="rect">
            <a:avLst/>
          </a:prstGeom>
          <a:noFill/>
          <a:ln/>
        </p:spPr>
        <p:txBody>
          <a:bodyPr wrap="square" lIns="0" tIns="0" rIns="0" bIns="0" rtlCol="0" anchor="ctr"/>
          <a:lstStyle/>
          <a:p>
            <a:pPr marL="0" indent="0">
              <a:buNone/>
            </a:pPr>
            <a:r>
              <a:rPr lang="en-US" sz="1100" b="1" kern="0" spc="200" dirty="0">
                <a:solidFill>
                  <a:srgbClr val="70C8F2"/>
                </a:solidFill>
                <a:latin typeface="Calibri" pitchFamily="34" charset="0"/>
                <a:ea typeface="Calibri" pitchFamily="34" charset="-122"/>
                <a:cs typeface="Calibri" pitchFamily="34" charset="-120"/>
              </a:rPr>
              <a:t>OBJECTIVE</a:t>
            </a:r>
            <a:endParaRPr lang="en-US" sz="1100" dirty="0"/>
          </a:p>
        </p:txBody>
      </p:sp>
      <p:sp>
        <p:nvSpPr>
          <p:cNvPr id="6" name="Text 4"/>
          <p:cNvSpPr/>
          <p:nvPr/>
        </p:nvSpPr>
        <p:spPr>
          <a:xfrm>
            <a:off x="841248" y="2542032"/>
            <a:ext cx="3383280" cy="1280160"/>
          </a:xfrm>
          <a:prstGeom prst="rect">
            <a:avLst/>
          </a:prstGeom>
          <a:noFill/>
          <a:ln/>
        </p:spPr>
        <p:txBody>
          <a:bodyPr wrap="square" lIns="0" tIns="0" rIns="0" bIns="0" rtlCol="0" anchor="t"/>
          <a:lstStyle/>
          <a:p>
            <a:pPr marL="0" indent="0">
              <a:lnSpc>
                <a:spcPct val="122000"/>
              </a:lnSpc>
              <a:buNone/>
            </a:pPr>
            <a:r>
              <a:rPr lang="en-US" sz="1300" dirty="0">
                <a:solidFill>
                  <a:srgbClr val="C9DAF0"/>
                </a:solidFill>
                <a:latin typeface="Calibri" pitchFamily="34" charset="0"/>
                <a:ea typeface="Calibri" pitchFamily="34" charset="-122"/>
                <a:cs typeface="Calibri" pitchFamily="34" charset="-120"/>
              </a:rPr>
              <a:t>Plan an experiment with a real power calculation, simulate its traffic, estimate the effect with valid inference, and demonstrate why peeking and CUPED matter.</a:t>
            </a:r>
            <a:endParaRPr lang="en-US" sz="1300" dirty="0"/>
          </a:p>
        </p:txBody>
      </p:sp>
      <p:sp>
        <p:nvSpPr>
          <p:cNvPr id="7" name="Text 5"/>
          <p:cNvSpPr/>
          <p:nvPr/>
        </p:nvSpPr>
        <p:spPr>
          <a:xfrm>
            <a:off x="841248" y="4206240"/>
            <a:ext cx="3383280" cy="274320"/>
          </a:xfrm>
          <a:prstGeom prst="rect">
            <a:avLst/>
          </a:prstGeom>
          <a:noFill/>
          <a:ln/>
        </p:spPr>
        <p:txBody>
          <a:bodyPr wrap="square" lIns="0" tIns="0" rIns="0" bIns="0" rtlCol="0" anchor="ctr"/>
          <a:lstStyle/>
          <a:p>
            <a:pPr marL="0" indent="0">
              <a:buNone/>
            </a:pPr>
            <a:r>
              <a:rPr lang="en-US" sz="1100" b="1" kern="0" spc="200" dirty="0">
                <a:solidFill>
                  <a:srgbClr val="70C8F2"/>
                </a:solidFill>
                <a:latin typeface="Calibri" pitchFamily="34" charset="0"/>
                <a:ea typeface="Calibri" pitchFamily="34" charset="-122"/>
                <a:cs typeface="Calibri" pitchFamily="34" charset="-120"/>
              </a:rPr>
              <a:t>DELIVERABLE</a:t>
            </a:r>
            <a:endParaRPr lang="en-US" sz="1100" dirty="0"/>
          </a:p>
        </p:txBody>
      </p:sp>
      <p:sp>
        <p:nvSpPr>
          <p:cNvPr id="8" name="Text 6"/>
          <p:cNvSpPr/>
          <p:nvPr/>
        </p:nvSpPr>
        <p:spPr>
          <a:xfrm>
            <a:off x="841248" y="4498848"/>
            <a:ext cx="3383280" cy="1280160"/>
          </a:xfrm>
          <a:prstGeom prst="rect">
            <a:avLst/>
          </a:prstGeom>
          <a:noFill/>
          <a:ln/>
        </p:spPr>
        <p:txBody>
          <a:bodyPr wrap="square" lIns="0" tIns="0" rIns="0" bIns="0" rtlCol="0" anchor="t"/>
          <a:lstStyle/>
          <a:p>
            <a:pPr marL="0" indent="0">
              <a:lnSpc>
                <a:spcPct val="120000"/>
              </a:lnSpc>
              <a:buNone/>
            </a:pPr>
            <a:r>
              <a:rPr lang="en-US" sz="1250" dirty="0">
                <a:solidFill>
                  <a:srgbClr val="C9DAF0"/>
                </a:solidFill>
                <a:latin typeface="Calibri" pitchFamily="34" charset="0"/>
                <a:ea typeface="Calibri" pitchFamily="34" charset="-122"/>
                <a:cs typeface="Calibri" pitchFamily="34" charset="-120"/>
              </a:rPr>
              <a:t>A notebook containing a power/MDE plan, an A/A sanity check, a CUPED-adjusted effect with a robust SE, and a peeking simulation quantifying inflated error.</a:t>
            </a:r>
            <a:endParaRPr lang="en-US" sz="1250" dirty="0"/>
          </a:p>
        </p:txBody>
      </p:sp>
      <p:sp>
        <p:nvSpPr>
          <p:cNvPr id="9" name="Text 7"/>
          <p:cNvSpPr/>
          <p:nvPr/>
        </p:nvSpPr>
        <p:spPr>
          <a:xfrm>
            <a:off x="4864608" y="2029968"/>
            <a:ext cx="676015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STEPS</a:t>
            </a:r>
            <a:endParaRPr lang="en-US" sz="1100" dirty="0"/>
          </a:p>
        </p:txBody>
      </p:sp>
      <p:sp>
        <p:nvSpPr>
          <p:cNvPr id="10" name="Shape 8"/>
          <p:cNvSpPr/>
          <p:nvPr/>
        </p:nvSpPr>
        <p:spPr>
          <a:xfrm>
            <a:off x="4864608" y="2395728"/>
            <a:ext cx="384048" cy="384048"/>
          </a:xfrm>
          <a:prstGeom prst="ellipse">
            <a:avLst/>
          </a:prstGeom>
          <a:solidFill>
            <a:srgbClr val="3FA9E0"/>
          </a:solidFill>
          <a:ln/>
        </p:spPr>
        <p:txBody>
          <a:bodyPr/>
          <a:lstStyle/>
          <a:p>
            <a:endParaRPr lang="en-SA"/>
          </a:p>
        </p:txBody>
      </p:sp>
      <p:sp>
        <p:nvSpPr>
          <p:cNvPr id="11" name="Text 9"/>
          <p:cNvSpPr/>
          <p:nvPr/>
        </p:nvSpPr>
        <p:spPr>
          <a:xfrm>
            <a:off x="4864608" y="23957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2" name="Text 10"/>
          <p:cNvSpPr/>
          <p:nvPr/>
        </p:nvSpPr>
        <p:spPr>
          <a:xfrm>
            <a:off x="5413248" y="2377440"/>
            <a:ext cx="6211519" cy="586740"/>
          </a:xfrm>
          <a:prstGeom prst="rect">
            <a:avLst/>
          </a:prstGeom>
          <a:noFill/>
          <a:ln/>
        </p:spPr>
        <p:txBody>
          <a:bodyPr wrap="square" lIns="0" tIns="0" rIns="0" bIns="0" rtlCol="0" anchor="t"/>
          <a:lstStyle/>
          <a:p>
            <a:pPr marL="0" indent="0">
              <a:lnSpc>
                <a:spcPct val="112000"/>
              </a:lnSpc>
              <a:buNone/>
            </a:pPr>
            <a:r>
              <a:rPr lang="en-US" sz="1250" dirty="0">
                <a:solidFill>
                  <a:srgbClr val="C9DAF0"/>
                </a:solidFill>
                <a:latin typeface="Calibri" pitchFamily="34" charset="0"/>
                <a:ea typeface="Calibri" pitchFamily="34" charset="-122"/>
                <a:cs typeface="Calibri" pitchFamily="34" charset="-120"/>
              </a:rPr>
              <a:t>Set α, power, and MDE; compute required n and expected runtime for a conversion metric.</a:t>
            </a:r>
            <a:endParaRPr lang="en-US" sz="1250" dirty="0"/>
          </a:p>
        </p:txBody>
      </p:sp>
      <p:sp>
        <p:nvSpPr>
          <p:cNvPr id="13" name="Shape 11"/>
          <p:cNvSpPr/>
          <p:nvPr/>
        </p:nvSpPr>
        <p:spPr>
          <a:xfrm>
            <a:off x="4864608" y="2982468"/>
            <a:ext cx="384048" cy="384048"/>
          </a:xfrm>
          <a:prstGeom prst="ellipse">
            <a:avLst/>
          </a:prstGeom>
          <a:solidFill>
            <a:srgbClr val="5A5BA6"/>
          </a:solidFill>
          <a:ln/>
        </p:spPr>
        <p:txBody>
          <a:bodyPr/>
          <a:lstStyle/>
          <a:p>
            <a:endParaRPr lang="en-SA"/>
          </a:p>
        </p:txBody>
      </p:sp>
      <p:sp>
        <p:nvSpPr>
          <p:cNvPr id="14" name="Text 12"/>
          <p:cNvSpPr/>
          <p:nvPr/>
        </p:nvSpPr>
        <p:spPr>
          <a:xfrm>
            <a:off x="4864608" y="298246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5" name="Text 13"/>
          <p:cNvSpPr/>
          <p:nvPr/>
        </p:nvSpPr>
        <p:spPr>
          <a:xfrm>
            <a:off x="5413248" y="2964180"/>
            <a:ext cx="6211519" cy="586740"/>
          </a:xfrm>
          <a:prstGeom prst="rect">
            <a:avLst/>
          </a:prstGeom>
          <a:noFill/>
          <a:ln/>
        </p:spPr>
        <p:txBody>
          <a:bodyPr wrap="square" lIns="0" tIns="0" rIns="0" bIns="0" rtlCol="0" anchor="t"/>
          <a:lstStyle/>
          <a:p>
            <a:pPr marL="0" indent="0">
              <a:lnSpc>
                <a:spcPct val="112000"/>
              </a:lnSpc>
              <a:buNone/>
            </a:pPr>
            <a:r>
              <a:rPr lang="en-US" sz="1250" dirty="0">
                <a:solidFill>
                  <a:srgbClr val="C9DAF0"/>
                </a:solidFill>
                <a:latin typeface="Calibri" pitchFamily="34" charset="0"/>
                <a:ea typeface="Calibri" pitchFamily="34" charset="-122"/>
                <a:cs typeface="Calibri" pitchFamily="34" charset="-120"/>
              </a:rPr>
              <a:t>Simulate a data-generating process with a pre-period covariate correlated with the outcome.</a:t>
            </a:r>
            <a:endParaRPr lang="en-US" sz="1250" dirty="0"/>
          </a:p>
        </p:txBody>
      </p:sp>
      <p:sp>
        <p:nvSpPr>
          <p:cNvPr id="16" name="Shape 14"/>
          <p:cNvSpPr/>
          <p:nvPr/>
        </p:nvSpPr>
        <p:spPr>
          <a:xfrm>
            <a:off x="4864608" y="3569208"/>
            <a:ext cx="384048" cy="384048"/>
          </a:xfrm>
          <a:prstGeom prst="ellipse">
            <a:avLst/>
          </a:prstGeom>
          <a:solidFill>
            <a:srgbClr val="EA7B38"/>
          </a:solidFill>
          <a:ln/>
        </p:spPr>
        <p:txBody>
          <a:bodyPr/>
          <a:lstStyle/>
          <a:p>
            <a:endParaRPr lang="en-SA"/>
          </a:p>
        </p:txBody>
      </p:sp>
      <p:sp>
        <p:nvSpPr>
          <p:cNvPr id="17" name="Text 15"/>
          <p:cNvSpPr/>
          <p:nvPr/>
        </p:nvSpPr>
        <p:spPr>
          <a:xfrm>
            <a:off x="4864608" y="3569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p:nvPr/>
        </p:nvSpPr>
        <p:spPr>
          <a:xfrm>
            <a:off x="5413248" y="3550920"/>
            <a:ext cx="6211519" cy="586740"/>
          </a:xfrm>
          <a:prstGeom prst="rect">
            <a:avLst/>
          </a:prstGeom>
          <a:noFill/>
          <a:ln/>
        </p:spPr>
        <p:txBody>
          <a:bodyPr wrap="square" lIns="0" tIns="0" rIns="0" bIns="0" rtlCol="0" anchor="t"/>
          <a:lstStyle/>
          <a:p>
            <a:pPr marL="0" indent="0">
              <a:lnSpc>
                <a:spcPct val="112000"/>
              </a:lnSpc>
              <a:buNone/>
            </a:pPr>
            <a:r>
              <a:rPr lang="en-US" sz="1250" dirty="0">
                <a:solidFill>
                  <a:srgbClr val="C9DAF0"/>
                </a:solidFill>
                <a:latin typeface="Calibri" pitchFamily="34" charset="0"/>
                <a:ea typeface="Calibri" pitchFamily="34" charset="-122"/>
                <a:cs typeface="Calibri" pitchFamily="34" charset="-120"/>
              </a:rPr>
              <a:t>Run an A/A test to confirm the pipeline and check sample-ratio balance.</a:t>
            </a:r>
            <a:endParaRPr lang="en-US" sz="1250" dirty="0"/>
          </a:p>
        </p:txBody>
      </p:sp>
      <p:sp>
        <p:nvSpPr>
          <p:cNvPr id="19" name="Shape 17"/>
          <p:cNvSpPr/>
          <p:nvPr/>
        </p:nvSpPr>
        <p:spPr>
          <a:xfrm>
            <a:off x="4864608" y="4155948"/>
            <a:ext cx="384048" cy="384048"/>
          </a:xfrm>
          <a:prstGeom prst="ellipse">
            <a:avLst/>
          </a:prstGeom>
          <a:solidFill>
            <a:srgbClr val="3E9B90"/>
          </a:solidFill>
          <a:ln/>
        </p:spPr>
        <p:txBody>
          <a:bodyPr/>
          <a:lstStyle/>
          <a:p>
            <a:endParaRPr lang="en-SA"/>
          </a:p>
        </p:txBody>
      </p:sp>
      <p:sp>
        <p:nvSpPr>
          <p:cNvPr id="20" name="Text 18"/>
          <p:cNvSpPr/>
          <p:nvPr/>
        </p:nvSpPr>
        <p:spPr>
          <a:xfrm>
            <a:off x="4864608" y="415594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1" name="Text 19"/>
          <p:cNvSpPr/>
          <p:nvPr/>
        </p:nvSpPr>
        <p:spPr>
          <a:xfrm>
            <a:off x="5413248" y="4137660"/>
            <a:ext cx="6211519" cy="586740"/>
          </a:xfrm>
          <a:prstGeom prst="rect">
            <a:avLst/>
          </a:prstGeom>
          <a:noFill/>
          <a:ln/>
        </p:spPr>
        <p:txBody>
          <a:bodyPr wrap="square" lIns="0" tIns="0" rIns="0" bIns="0" rtlCol="0" anchor="t"/>
          <a:lstStyle/>
          <a:p>
            <a:pPr marL="0" indent="0">
              <a:lnSpc>
                <a:spcPct val="112000"/>
              </a:lnSpc>
              <a:buNone/>
            </a:pPr>
            <a:r>
              <a:rPr lang="en-US" sz="1250" dirty="0">
                <a:solidFill>
                  <a:srgbClr val="C9DAF0"/>
                </a:solidFill>
                <a:latin typeface="Calibri" pitchFamily="34" charset="0"/>
                <a:ea typeface="Calibri" pitchFamily="34" charset="-122"/>
                <a:cs typeface="Calibri" pitchFamily="34" charset="-120"/>
              </a:rPr>
              <a:t>Estimate the effect two ways: simple difference and CUPED-adjusted; compare the SEs.</a:t>
            </a:r>
            <a:endParaRPr lang="en-US" sz="1250" dirty="0"/>
          </a:p>
        </p:txBody>
      </p:sp>
      <p:sp>
        <p:nvSpPr>
          <p:cNvPr id="22" name="Shape 20"/>
          <p:cNvSpPr/>
          <p:nvPr/>
        </p:nvSpPr>
        <p:spPr>
          <a:xfrm>
            <a:off x="4864608" y="4742688"/>
            <a:ext cx="384048" cy="384048"/>
          </a:xfrm>
          <a:prstGeom prst="ellipse">
            <a:avLst/>
          </a:prstGeom>
          <a:solidFill>
            <a:srgbClr val="73BB59"/>
          </a:solidFill>
          <a:ln/>
        </p:spPr>
        <p:txBody>
          <a:bodyPr/>
          <a:lstStyle/>
          <a:p>
            <a:endParaRPr lang="en-SA"/>
          </a:p>
        </p:txBody>
      </p:sp>
      <p:sp>
        <p:nvSpPr>
          <p:cNvPr id="23" name="Text 21"/>
          <p:cNvSpPr/>
          <p:nvPr/>
        </p:nvSpPr>
        <p:spPr>
          <a:xfrm>
            <a:off x="4864608" y="474268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4" name="Text 22"/>
          <p:cNvSpPr/>
          <p:nvPr/>
        </p:nvSpPr>
        <p:spPr>
          <a:xfrm>
            <a:off x="5413248" y="4724400"/>
            <a:ext cx="6211519" cy="586740"/>
          </a:xfrm>
          <a:prstGeom prst="rect">
            <a:avLst/>
          </a:prstGeom>
          <a:noFill/>
          <a:ln/>
        </p:spPr>
        <p:txBody>
          <a:bodyPr wrap="square" lIns="0" tIns="0" rIns="0" bIns="0" rtlCol="0" anchor="t"/>
          <a:lstStyle/>
          <a:p>
            <a:pPr marL="0" indent="0">
              <a:lnSpc>
                <a:spcPct val="112000"/>
              </a:lnSpc>
              <a:buNone/>
            </a:pPr>
            <a:r>
              <a:rPr lang="en-US" sz="1250" dirty="0">
                <a:solidFill>
                  <a:srgbClr val="C9DAF0"/>
                </a:solidFill>
                <a:latin typeface="Calibri" pitchFamily="34" charset="0"/>
                <a:ea typeface="Calibri" pitchFamily="34" charset="-122"/>
                <a:cs typeface="Calibri" pitchFamily="34" charset="-120"/>
              </a:rPr>
              <a:t>Simulate 1,000 experiments with daily peeking; measure the realised false-positive rate.</a:t>
            </a:r>
            <a:endParaRPr lang="en-US" sz="1250" dirty="0"/>
          </a:p>
        </p:txBody>
      </p:sp>
      <p:sp>
        <p:nvSpPr>
          <p:cNvPr id="25" name="Shape 23"/>
          <p:cNvSpPr/>
          <p:nvPr/>
        </p:nvSpPr>
        <p:spPr>
          <a:xfrm>
            <a:off x="4864608" y="5329428"/>
            <a:ext cx="384048" cy="384048"/>
          </a:xfrm>
          <a:prstGeom prst="ellipse">
            <a:avLst/>
          </a:prstGeom>
          <a:solidFill>
            <a:srgbClr val="3FA9E0"/>
          </a:solidFill>
          <a:ln/>
        </p:spPr>
        <p:txBody>
          <a:bodyPr/>
          <a:lstStyle/>
          <a:p>
            <a:endParaRPr lang="en-SA"/>
          </a:p>
        </p:txBody>
      </p:sp>
      <p:sp>
        <p:nvSpPr>
          <p:cNvPr id="26" name="Text 24"/>
          <p:cNvSpPr/>
          <p:nvPr/>
        </p:nvSpPr>
        <p:spPr>
          <a:xfrm>
            <a:off x="4864608" y="53294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27" name="Text 25"/>
          <p:cNvSpPr/>
          <p:nvPr/>
        </p:nvSpPr>
        <p:spPr>
          <a:xfrm>
            <a:off x="5413248" y="5311140"/>
            <a:ext cx="6211519" cy="586740"/>
          </a:xfrm>
          <a:prstGeom prst="rect">
            <a:avLst/>
          </a:prstGeom>
          <a:noFill/>
          <a:ln/>
        </p:spPr>
        <p:txBody>
          <a:bodyPr wrap="square" lIns="0" tIns="0" rIns="0" bIns="0" rtlCol="0" anchor="t"/>
          <a:lstStyle/>
          <a:p>
            <a:pPr marL="0" indent="0">
              <a:lnSpc>
                <a:spcPct val="112000"/>
              </a:lnSpc>
              <a:buNone/>
            </a:pPr>
            <a:r>
              <a:rPr lang="en-US" sz="1250" dirty="0">
                <a:solidFill>
                  <a:srgbClr val="C9DAF0"/>
                </a:solidFill>
                <a:latin typeface="Calibri" pitchFamily="34" charset="0"/>
                <a:ea typeface="Calibri" pitchFamily="34" charset="-122"/>
                <a:cs typeface="Calibri" pitchFamily="34" charset="-120"/>
              </a:rPr>
              <a:t>Repeat under an always-valid boundary; show the error rate return to nominal.</a:t>
            </a:r>
            <a:endParaRPr lang="en-US" sz="1250" dirty="0"/>
          </a:p>
        </p:txBody>
      </p:sp>
      <p:sp>
        <p:nvSpPr>
          <p:cNvPr id="28" name="Text 2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DAY 2 · LAB</a:t>
            </a:r>
            <a:endParaRPr lang="en-US" sz="900" dirty="0"/>
          </a:p>
        </p:txBody>
      </p:sp>
      <p:sp>
        <p:nvSpPr>
          <p:cNvPr id="29" name="Text 2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81  /  221</a:t>
            </a:r>
            <a:endParaRPr lang="en-US" sz="900" dirty="0"/>
          </a:p>
        </p:txBody>
      </p:sp>
      <p:pic>
        <p:nvPicPr>
          <p:cNvPr id="30" name="Picture 29" descr="Submission_Form.png"/>
          <p:cNvPicPr>
            <a:picLocks noChangeAspect="1"/>
          </p:cNvPicPr>
          <p:nvPr/>
        </p:nvPicPr>
        <p:blipFill>
          <a:blip r:embed="rId4"/>
          <a:stretch>
            <a:fillRect/>
          </a:stretch>
        </p:blipFill>
        <p:spPr>
          <a:xfrm>
            <a:off x="10637520" y="320040"/>
            <a:ext cx="1143000" cy="114300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HOUR 5</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Lab 2 Debrief</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Three quantitative takeaways you will carry into every experiment.</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CUPED is a free lunch</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The adjusted SE is visibly smaller for the same data — real power gained from data you already had.</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Peeking is not benign</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The naive daily-peek procedure shows a false-positive rate several times the nominal 5%.</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Always-valid restores trust</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Under the sequential boundary, you keep the ability to stop early without paying in false positives.</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LAB</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82  /  221</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HOUR 5</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Discussion: Auditing an Experiment</a:t>
            </a:r>
            <a:endParaRPr lang="en-US" sz="3400" dirty="0"/>
          </a:p>
        </p:txBody>
      </p:sp>
      <p:sp>
        <p:nvSpPr>
          <p:cNvPr id="4" name="Text 2"/>
          <p:cNvSpPr/>
          <p:nvPr/>
        </p:nvSpPr>
        <p:spPr>
          <a:xfrm>
            <a:off x="566928" y="1737360"/>
            <a:ext cx="11057839" cy="64008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In groups, you receive a one-page ‘experiment report’ and must find the flaws.</a:t>
            </a:r>
            <a:endParaRPr lang="en-US" sz="1450" dirty="0"/>
          </a:p>
        </p:txBody>
      </p:sp>
      <p:sp>
        <p:nvSpPr>
          <p:cNvPr id="5" name="Shape 3"/>
          <p:cNvSpPr/>
          <p:nvPr/>
        </p:nvSpPr>
        <p:spPr>
          <a:xfrm>
            <a:off x="566928" y="2578608"/>
            <a:ext cx="137160" cy="137160"/>
          </a:xfrm>
          <a:prstGeom prst="ellipse">
            <a:avLst/>
          </a:prstGeom>
          <a:solidFill>
            <a:srgbClr val="3FA9E0"/>
          </a:solidFill>
          <a:ln/>
        </p:spPr>
        <p:txBody>
          <a:bodyPr/>
          <a:lstStyle/>
          <a:p>
            <a:endParaRPr lang="en-SA"/>
          </a:p>
        </p:txBody>
      </p:sp>
      <p:sp>
        <p:nvSpPr>
          <p:cNvPr id="6" name="Text 4"/>
          <p:cNvSpPr/>
          <p:nvPr/>
        </p:nvSpPr>
        <p:spPr>
          <a:xfrm>
            <a:off x="841248" y="2514600"/>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Is the randomization unit right for the interference structure?</a:t>
            </a:r>
            <a:endParaRPr lang="en-US" sz="1400" dirty="0"/>
          </a:p>
        </p:txBody>
      </p:sp>
      <p:sp>
        <p:nvSpPr>
          <p:cNvPr id="7" name="Shape 5"/>
          <p:cNvSpPr/>
          <p:nvPr/>
        </p:nvSpPr>
        <p:spPr>
          <a:xfrm>
            <a:off x="566928" y="3300984"/>
            <a:ext cx="137160" cy="137160"/>
          </a:xfrm>
          <a:prstGeom prst="ellipse">
            <a:avLst/>
          </a:prstGeom>
          <a:solidFill>
            <a:srgbClr val="5A5BA6"/>
          </a:solidFill>
          <a:ln/>
        </p:spPr>
        <p:txBody>
          <a:bodyPr/>
          <a:lstStyle/>
          <a:p>
            <a:endParaRPr lang="en-SA"/>
          </a:p>
        </p:txBody>
      </p:sp>
      <p:sp>
        <p:nvSpPr>
          <p:cNvPr id="8" name="Text 6"/>
          <p:cNvSpPr/>
          <p:nvPr/>
        </p:nvSpPr>
        <p:spPr>
          <a:xfrm>
            <a:off x="841248" y="3236976"/>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Was the horizon pre-set, or does the analysis smell of peeking?</a:t>
            </a:r>
            <a:endParaRPr lang="en-US" sz="1400" dirty="0"/>
          </a:p>
        </p:txBody>
      </p:sp>
      <p:sp>
        <p:nvSpPr>
          <p:cNvPr id="9" name="Shape 7"/>
          <p:cNvSpPr/>
          <p:nvPr/>
        </p:nvSpPr>
        <p:spPr>
          <a:xfrm>
            <a:off x="566928" y="4023360"/>
            <a:ext cx="137160" cy="137160"/>
          </a:xfrm>
          <a:prstGeom prst="ellipse">
            <a:avLst/>
          </a:prstGeom>
          <a:solidFill>
            <a:srgbClr val="EA7B38"/>
          </a:solidFill>
          <a:ln/>
        </p:spPr>
        <p:txBody>
          <a:bodyPr/>
          <a:lstStyle/>
          <a:p>
            <a:endParaRPr lang="en-SA"/>
          </a:p>
        </p:txBody>
      </p:sp>
      <p:sp>
        <p:nvSpPr>
          <p:cNvPr id="10" name="Text 8"/>
          <p:cNvSpPr/>
          <p:nvPr/>
        </p:nvSpPr>
        <p:spPr>
          <a:xfrm>
            <a:off x="841248" y="3959352"/>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Is the primary metric singular, and are guardrails reported?</a:t>
            </a:r>
            <a:endParaRPr lang="en-US" sz="1400" dirty="0"/>
          </a:p>
        </p:txBody>
      </p:sp>
      <p:sp>
        <p:nvSpPr>
          <p:cNvPr id="11" name="Shape 9"/>
          <p:cNvSpPr/>
          <p:nvPr/>
        </p:nvSpPr>
        <p:spPr>
          <a:xfrm>
            <a:off x="566928" y="4745736"/>
            <a:ext cx="137160" cy="137160"/>
          </a:xfrm>
          <a:prstGeom prst="ellipse">
            <a:avLst/>
          </a:prstGeom>
          <a:solidFill>
            <a:srgbClr val="3E9B90"/>
          </a:solidFill>
          <a:ln/>
        </p:spPr>
        <p:txBody>
          <a:bodyPr/>
          <a:lstStyle/>
          <a:p>
            <a:endParaRPr lang="en-SA"/>
          </a:p>
        </p:txBody>
      </p:sp>
      <p:sp>
        <p:nvSpPr>
          <p:cNvPr id="12" name="Text 10"/>
          <p:cNvSpPr/>
          <p:nvPr/>
        </p:nvSpPr>
        <p:spPr>
          <a:xfrm>
            <a:off x="841248" y="4681728"/>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Do the standard errors match the design (robust / clustered)?</a:t>
            </a:r>
            <a:endParaRPr lang="en-US" sz="1400" dirty="0"/>
          </a:p>
        </p:txBody>
      </p:sp>
      <p:sp>
        <p:nvSpPr>
          <p:cNvPr id="13" name="Shape 11"/>
          <p:cNvSpPr/>
          <p:nvPr/>
        </p:nvSpPr>
        <p:spPr>
          <a:xfrm>
            <a:off x="566928" y="5468112"/>
            <a:ext cx="137160" cy="137160"/>
          </a:xfrm>
          <a:prstGeom prst="ellipse">
            <a:avLst/>
          </a:prstGeom>
          <a:solidFill>
            <a:srgbClr val="73BB59"/>
          </a:solidFill>
          <a:ln/>
        </p:spPr>
        <p:txBody>
          <a:bodyPr/>
          <a:lstStyle/>
          <a:p>
            <a:endParaRPr lang="en-SA"/>
          </a:p>
        </p:txBody>
      </p:sp>
      <p:sp>
        <p:nvSpPr>
          <p:cNvPr id="14" name="Text 12"/>
          <p:cNvSpPr/>
          <p:nvPr/>
        </p:nvSpPr>
        <p:spPr>
          <a:xfrm>
            <a:off x="841248" y="5404104"/>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Are subgroup claims pre-registered or fished?</a:t>
            </a:r>
            <a:endParaRPr lang="en-US" sz="1400" dirty="0"/>
          </a:p>
        </p:txBody>
      </p:sp>
      <p:sp>
        <p:nvSpPr>
          <p:cNvPr id="15" name="Text 13"/>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DISCUSSION</a:t>
            </a:r>
            <a:endParaRPr lang="en-US" sz="900" dirty="0"/>
          </a:p>
        </p:txBody>
      </p:sp>
      <p:sp>
        <p:nvSpPr>
          <p:cNvPr id="16" name="Text 14"/>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83  /  221</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2 · WRAP</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Day 2 in One Slide</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You can now run a defensible experiment from design to decision.</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Design decides validity</a:t>
            </a:r>
            <a:endParaRPr lang="en-US" sz="1500" dirty="0"/>
          </a:p>
        </p:txBody>
      </p:sp>
      <p:sp>
        <p:nvSpPr>
          <p:cNvPr id="7" name="Text 5"/>
          <p:cNvSpPr/>
          <p:nvPr/>
        </p:nvSpPr>
        <p:spPr>
          <a:xfrm>
            <a:off x="859536" y="283464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Randomization unit, scheme, and blocking set the credibility and precision before any data arrive.</a:t>
            </a:r>
            <a:endParaRPr lang="en-US" sz="1250" dirty="0"/>
          </a:p>
        </p:txBody>
      </p:sp>
      <p:sp>
        <p:nvSpPr>
          <p:cNvPr id="8" name="Shape 6"/>
          <p:cNvSpPr/>
          <p:nvPr/>
        </p:nvSpPr>
        <p:spPr>
          <a:xfrm>
            <a:off x="566928" y="3506724"/>
            <a:ext cx="146304" cy="146304"/>
          </a:xfrm>
          <a:prstGeom prst="ellipse">
            <a:avLst/>
          </a:prstGeom>
          <a:solidFill>
            <a:srgbClr val="5A5BA6"/>
          </a:solidFill>
          <a:ln/>
        </p:spPr>
        <p:txBody>
          <a:bodyPr/>
          <a:lstStyle/>
          <a:p>
            <a:endParaRPr lang="en-SA"/>
          </a:p>
        </p:txBody>
      </p:sp>
      <p:sp>
        <p:nvSpPr>
          <p:cNvPr id="9" name="Text 7"/>
          <p:cNvSpPr/>
          <p:nvPr/>
        </p:nvSpPr>
        <p:spPr>
          <a:xfrm>
            <a:off x="859536" y="345186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Inference must match design</a:t>
            </a:r>
            <a:endParaRPr lang="en-US" sz="1500" dirty="0"/>
          </a:p>
        </p:txBody>
      </p:sp>
      <p:sp>
        <p:nvSpPr>
          <p:cNvPr id="10" name="Text 8"/>
          <p:cNvSpPr/>
          <p:nvPr/>
        </p:nvSpPr>
        <p:spPr>
          <a:xfrm>
            <a:off x="859536" y="372618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Randomization and design-based methods give honest uncertainty; robust/clustered SEs are the default.</a:t>
            </a:r>
            <a:endParaRPr lang="en-US" sz="1250" dirty="0"/>
          </a:p>
        </p:txBody>
      </p:sp>
      <p:sp>
        <p:nvSpPr>
          <p:cNvPr id="11" name="Shape 9"/>
          <p:cNvSpPr/>
          <p:nvPr/>
        </p:nvSpPr>
        <p:spPr>
          <a:xfrm>
            <a:off x="566928" y="4398264"/>
            <a:ext cx="146304" cy="146304"/>
          </a:xfrm>
          <a:prstGeom prst="ellipse">
            <a:avLst/>
          </a:prstGeom>
          <a:solidFill>
            <a:srgbClr val="EA7B38"/>
          </a:solidFill>
          <a:ln/>
        </p:spPr>
        <p:txBody>
          <a:bodyPr/>
          <a:lstStyle/>
          <a:p>
            <a:endParaRPr lang="en-SA"/>
          </a:p>
        </p:txBody>
      </p:sp>
      <p:sp>
        <p:nvSpPr>
          <p:cNvPr id="12" name="Text 10"/>
          <p:cNvSpPr/>
          <p:nvPr/>
        </p:nvSpPr>
        <p:spPr>
          <a:xfrm>
            <a:off x="859536" y="434340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Adjust and reduce variance</a:t>
            </a:r>
            <a:endParaRPr lang="en-US" sz="1500" dirty="0"/>
          </a:p>
        </p:txBody>
      </p:sp>
      <p:sp>
        <p:nvSpPr>
          <p:cNvPr id="13" name="Text 11"/>
          <p:cNvSpPr/>
          <p:nvPr/>
        </p:nvSpPr>
        <p:spPr>
          <a:xfrm>
            <a:off x="859536" y="461772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Pre-treatment covariates and CUPED sharpen estimates without bias; CATE reveals for-whom effects.</a:t>
            </a:r>
            <a:endParaRPr lang="en-US" sz="1250" dirty="0"/>
          </a:p>
        </p:txBody>
      </p:sp>
      <p:sp>
        <p:nvSpPr>
          <p:cNvPr id="14" name="Shape 12"/>
          <p:cNvSpPr/>
          <p:nvPr/>
        </p:nvSpPr>
        <p:spPr>
          <a:xfrm>
            <a:off x="566928" y="5289804"/>
            <a:ext cx="146304" cy="146304"/>
          </a:xfrm>
          <a:prstGeom prst="ellipse">
            <a:avLst/>
          </a:prstGeom>
          <a:solidFill>
            <a:srgbClr val="3E9B90"/>
          </a:solidFill>
          <a:ln/>
        </p:spPr>
        <p:txBody>
          <a:bodyPr/>
          <a:lstStyle/>
          <a:p>
            <a:endParaRPr lang="en-SA"/>
          </a:p>
        </p:txBody>
      </p:sp>
      <p:sp>
        <p:nvSpPr>
          <p:cNvPr id="15" name="Text 13"/>
          <p:cNvSpPr/>
          <p:nvPr/>
        </p:nvSpPr>
        <p:spPr>
          <a:xfrm>
            <a:off x="859536" y="523494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Production discipline</a:t>
            </a:r>
            <a:endParaRPr lang="en-US" sz="1500" dirty="0"/>
          </a:p>
        </p:txBody>
      </p:sp>
      <p:sp>
        <p:nvSpPr>
          <p:cNvPr id="16" name="Text 14"/>
          <p:cNvSpPr/>
          <p:nvPr/>
        </p:nvSpPr>
        <p:spPr>
          <a:xfrm>
            <a:off x="859536" y="550926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Power/MDE up front, no peeking without valid methods, control multiplicity, protect guardrails.</a:t>
            </a:r>
            <a:endParaRPr lang="en-US" sz="1250" dirty="0"/>
          </a:p>
        </p:txBody>
      </p:sp>
      <p:sp>
        <p:nvSpPr>
          <p:cNvPr id="17" name="Shape 15"/>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8" name="Text 16"/>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TOMORROW</a:t>
            </a:r>
            <a:endParaRPr lang="en-US" sz="1100" dirty="0"/>
          </a:p>
        </p:txBody>
      </p:sp>
      <p:sp>
        <p:nvSpPr>
          <p:cNvPr id="19" name="Text 17"/>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i="1" dirty="0">
                <a:solidFill>
                  <a:srgbClr val="16233F"/>
                </a:solidFill>
                <a:latin typeface="Calibri" pitchFamily="34" charset="0"/>
                <a:ea typeface="Calibri" pitchFamily="34" charset="-122"/>
                <a:cs typeface="Calibri" pitchFamily="34" charset="-120"/>
              </a:rPr>
              <a:t>Day 3: when you cannot randomize — confounding, DAGs, matching/propensity/IPW, and quasi-experiments (DiD, synthetic control, IV, RDD).</a:t>
            </a:r>
            <a:endParaRPr lang="en-US" sz="1350" dirty="0"/>
          </a:p>
        </p:txBody>
      </p:sp>
      <p:sp>
        <p:nvSpPr>
          <p:cNvPr id="20" name="Text 18"/>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2 · SUMMARY</a:t>
            </a:r>
            <a:endParaRPr lang="en-US" sz="900" dirty="0"/>
          </a:p>
        </p:txBody>
      </p:sp>
      <p:sp>
        <p:nvSpPr>
          <p:cNvPr id="21" name="Text 19"/>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84  /  221</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DAY 3</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Observational Data &amp; Quasi-Experiments</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Confounding and DAGs, adjustment via matching / propensity / IPW / doubly-robust, and the four workhorse quasi-experimental designs.</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DAY 3</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85  /  221</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OVERVIEW</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Today's Five Hours</a:t>
            </a:r>
            <a:endParaRPr lang="en-US" sz="3400" dirty="0"/>
          </a:p>
        </p:txBody>
      </p:sp>
      <p:sp>
        <p:nvSpPr>
          <p:cNvPr id="4" name="Text 2"/>
          <p:cNvSpPr/>
          <p:nvPr/>
        </p:nvSpPr>
        <p:spPr>
          <a:xfrm>
            <a:off x="566928" y="1783080"/>
            <a:ext cx="822960" cy="548640"/>
          </a:xfrm>
          <a:prstGeom prst="rect">
            <a:avLst/>
          </a:prstGeom>
          <a:noFill/>
          <a:ln/>
        </p:spPr>
        <p:txBody>
          <a:bodyPr wrap="square" lIns="0" tIns="0" rIns="0" bIns="0" rtlCol="0" anchor="t"/>
          <a:lstStyle/>
          <a:p>
            <a:pPr marL="0" indent="0">
              <a:buNone/>
            </a:pPr>
            <a:r>
              <a:rPr lang="en-US" sz="3000" b="1" dirty="0">
                <a:solidFill>
                  <a:srgbClr val="3FA9E0"/>
                </a:solidFill>
                <a:latin typeface="Cambria" pitchFamily="34" charset="0"/>
                <a:ea typeface="Cambria" pitchFamily="34" charset="-122"/>
                <a:cs typeface="Cambria" pitchFamily="34" charset="-120"/>
              </a:rPr>
              <a:t>01</a:t>
            </a:r>
            <a:endParaRPr lang="en-US" sz="3000" dirty="0"/>
          </a:p>
        </p:txBody>
      </p:sp>
      <p:sp>
        <p:nvSpPr>
          <p:cNvPr id="5" name="Text 3"/>
          <p:cNvSpPr/>
          <p:nvPr/>
        </p:nvSpPr>
        <p:spPr>
          <a:xfrm>
            <a:off x="1435608" y="1783080"/>
            <a:ext cx="4385920"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Hour 1 — Confounding &amp; DAGs</a:t>
            </a:r>
            <a:endParaRPr lang="en-US" sz="1600" dirty="0"/>
          </a:p>
        </p:txBody>
      </p:sp>
      <p:sp>
        <p:nvSpPr>
          <p:cNvPr id="6" name="Text 4"/>
          <p:cNvSpPr/>
          <p:nvPr/>
        </p:nvSpPr>
        <p:spPr>
          <a:xfrm>
            <a:off x="1435608" y="2093976"/>
            <a:ext cx="4385920" cy="713232"/>
          </a:xfrm>
          <a:prstGeom prst="rect">
            <a:avLst/>
          </a:prstGeom>
          <a:noFill/>
          <a:ln/>
        </p:spPr>
        <p:txBody>
          <a:bodyPr wrap="square" lIns="0" tIns="0" rIns="0" bIns="0" rtlCol="0" anchor="t"/>
          <a:lstStyle/>
          <a:p>
            <a:pPr marL="0" indent="0">
              <a:lnSpc>
                <a:spcPct val="108000"/>
              </a:lnSpc>
              <a:buNone/>
            </a:pPr>
            <a:r>
              <a:rPr lang="en-US" sz="1150" dirty="0">
                <a:solidFill>
                  <a:srgbClr val="566581"/>
                </a:solidFill>
                <a:latin typeface="Calibri" pitchFamily="34" charset="0"/>
                <a:ea typeface="Calibri" pitchFamily="34" charset="-122"/>
                <a:cs typeface="Calibri" pitchFamily="34" charset="-120"/>
              </a:rPr>
              <a:t>Backdoor criterion, colliders, and choosing an adjustment set that identifies the effect.</a:t>
            </a:r>
            <a:endParaRPr lang="en-US" sz="1150" dirty="0"/>
          </a:p>
        </p:txBody>
      </p:sp>
      <p:sp>
        <p:nvSpPr>
          <p:cNvPr id="7" name="Text 5"/>
          <p:cNvSpPr/>
          <p:nvPr/>
        </p:nvSpPr>
        <p:spPr>
          <a:xfrm>
            <a:off x="6324448" y="1783080"/>
            <a:ext cx="822960" cy="548640"/>
          </a:xfrm>
          <a:prstGeom prst="rect">
            <a:avLst/>
          </a:prstGeom>
          <a:noFill/>
          <a:ln/>
        </p:spPr>
        <p:txBody>
          <a:bodyPr wrap="square" lIns="0" tIns="0" rIns="0" bIns="0" rtlCol="0" anchor="t"/>
          <a:lstStyle/>
          <a:p>
            <a:pPr marL="0" indent="0">
              <a:buNone/>
            </a:pPr>
            <a:r>
              <a:rPr lang="en-US" sz="3000" b="1" dirty="0">
                <a:solidFill>
                  <a:srgbClr val="5A5BA6"/>
                </a:solidFill>
                <a:latin typeface="Cambria" pitchFamily="34" charset="0"/>
                <a:ea typeface="Cambria" pitchFamily="34" charset="-122"/>
                <a:cs typeface="Cambria" pitchFamily="34" charset="-120"/>
              </a:rPr>
              <a:t>02</a:t>
            </a:r>
            <a:endParaRPr lang="en-US" sz="3000" dirty="0"/>
          </a:p>
        </p:txBody>
      </p:sp>
      <p:sp>
        <p:nvSpPr>
          <p:cNvPr id="8" name="Text 6"/>
          <p:cNvSpPr/>
          <p:nvPr/>
        </p:nvSpPr>
        <p:spPr>
          <a:xfrm>
            <a:off x="7193128" y="1783080"/>
            <a:ext cx="4385920"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Hour 2 — Adjustment Estimators</a:t>
            </a:r>
            <a:endParaRPr lang="en-US" sz="1600" dirty="0"/>
          </a:p>
        </p:txBody>
      </p:sp>
      <p:sp>
        <p:nvSpPr>
          <p:cNvPr id="9" name="Text 7"/>
          <p:cNvSpPr/>
          <p:nvPr/>
        </p:nvSpPr>
        <p:spPr>
          <a:xfrm>
            <a:off x="7193128" y="2093976"/>
            <a:ext cx="4385920" cy="713232"/>
          </a:xfrm>
          <a:prstGeom prst="rect">
            <a:avLst/>
          </a:prstGeom>
          <a:noFill/>
          <a:ln/>
        </p:spPr>
        <p:txBody>
          <a:bodyPr wrap="square" lIns="0" tIns="0" rIns="0" bIns="0" rtlCol="0" anchor="t"/>
          <a:lstStyle/>
          <a:p>
            <a:pPr marL="0" indent="0">
              <a:lnSpc>
                <a:spcPct val="108000"/>
              </a:lnSpc>
              <a:buNone/>
            </a:pPr>
            <a:r>
              <a:rPr lang="en-US" sz="1150" dirty="0">
                <a:solidFill>
                  <a:srgbClr val="566581"/>
                </a:solidFill>
                <a:latin typeface="Calibri" pitchFamily="34" charset="0"/>
                <a:ea typeface="Calibri" pitchFamily="34" charset="-122"/>
                <a:cs typeface="Calibri" pitchFamily="34" charset="-120"/>
              </a:rPr>
              <a:t>Regression, matching, propensity scores, IPW, and doubly-robust estimation.</a:t>
            </a:r>
            <a:endParaRPr lang="en-US" sz="1150" dirty="0"/>
          </a:p>
        </p:txBody>
      </p:sp>
      <p:sp>
        <p:nvSpPr>
          <p:cNvPr id="10" name="Text 8"/>
          <p:cNvSpPr/>
          <p:nvPr/>
        </p:nvSpPr>
        <p:spPr>
          <a:xfrm>
            <a:off x="566928" y="2880360"/>
            <a:ext cx="822960" cy="548640"/>
          </a:xfrm>
          <a:prstGeom prst="rect">
            <a:avLst/>
          </a:prstGeom>
          <a:noFill/>
          <a:ln/>
        </p:spPr>
        <p:txBody>
          <a:bodyPr wrap="square" lIns="0" tIns="0" rIns="0" bIns="0" rtlCol="0" anchor="t"/>
          <a:lstStyle/>
          <a:p>
            <a:pPr marL="0" indent="0">
              <a:buNone/>
            </a:pPr>
            <a:r>
              <a:rPr lang="en-US" sz="3000" b="1" dirty="0">
                <a:solidFill>
                  <a:srgbClr val="EA7B38"/>
                </a:solidFill>
                <a:latin typeface="Cambria" pitchFamily="34" charset="0"/>
                <a:ea typeface="Cambria" pitchFamily="34" charset="-122"/>
                <a:cs typeface="Cambria" pitchFamily="34" charset="-120"/>
              </a:rPr>
              <a:t>03</a:t>
            </a:r>
            <a:endParaRPr lang="en-US" sz="3000" dirty="0"/>
          </a:p>
        </p:txBody>
      </p:sp>
      <p:sp>
        <p:nvSpPr>
          <p:cNvPr id="11" name="Text 9"/>
          <p:cNvSpPr/>
          <p:nvPr/>
        </p:nvSpPr>
        <p:spPr>
          <a:xfrm>
            <a:off x="1435608" y="2880360"/>
            <a:ext cx="4385920"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Hour 3 — Difference-in-Differences</a:t>
            </a:r>
            <a:endParaRPr lang="en-US" sz="1600" dirty="0"/>
          </a:p>
        </p:txBody>
      </p:sp>
      <p:sp>
        <p:nvSpPr>
          <p:cNvPr id="12" name="Text 10"/>
          <p:cNvSpPr/>
          <p:nvPr/>
        </p:nvSpPr>
        <p:spPr>
          <a:xfrm>
            <a:off x="1435608" y="3191256"/>
            <a:ext cx="4385920" cy="713232"/>
          </a:xfrm>
          <a:prstGeom prst="rect">
            <a:avLst/>
          </a:prstGeom>
          <a:noFill/>
          <a:ln/>
        </p:spPr>
        <p:txBody>
          <a:bodyPr wrap="square" lIns="0" tIns="0" rIns="0" bIns="0" rtlCol="0" anchor="t"/>
          <a:lstStyle/>
          <a:p>
            <a:pPr marL="0" indent="0">
              <a:lnSpc>
                <a:spcPct val="108000"/>
              </a:lnSpc>
              <a:buNone/>
            </a:pPr>
            <a:r>
              <a:rPr lang="en-US" sz="1150" dirty="0">
                <a:solidFill>
                  <a:srgbClr val="566581"/>
                </a:solidFill>
                <a:latin typeface="Calibri" pitchFamily="34" charset="0"/>
                <a:ea typeface="Calibri" pitchFamily="34" charset="-122"/>
                <a:cs typeface="Calibri" pitchFamily="34" charset="-120"/>
              </a:rPr>
              <a:t>Parallel trends, two-way fixed effects, event studies, and synthetic control.</a:t>
            </a:r>
            <a:endParaRPr lang="en-US" sz="1150" dirty="0"/>
          </a:p>
        </p:txBody>
      </p:sp>
      <p:sp>
        <p:nvSpPr>
          <p:cNvPr id="13" name="Text 11"/>
          <p:cNvSpPr/>
          <p:nvPr/>
        </p:nvSpPr>
        <p:spPr>
          <a:xfrm>
            <a:off x="6324448" y="2880360"/>
            <a:ext cx="822960" cy="548640"/>
          </a:xfrm>
          <a:prstGeom prst="rect">
            <a:avLst/>
          </a:prstGeom>
          <a:noFill/>
          <a:ln/>
        </p:spPr>
        <p:txBody>
          <a:bodyPr wrap="square" lIns="0" tIns="0" rIns="0" bIns="0" rtlCol="0" anchor="t"/>
          <a:lstStyle/>
          <a:p>
            <a:pPr marL="0" indent="0">
              <a:buNone/>
            </a:pPr>
            <a:r>
              <a:rPr lang="en-US" sz="3000" b="1" dirty="0">
                <a:solidFill>
                  <a:srgbClr val="3E9B90"/>
                </a:solidFill>
                <a:latin typeface="Cambria" pitchFamily="34" charset="0"/>
                <a:ea typeface="Cambria" pitchFamily="34" charset="-122"/>
                <a:cs typeface="Cambria" pitchFamily="34" charset="-120"/>
              </a:rPr>
              <a:t>04</a:t>
            </a:r>
            <a:endParaRPr lang="en-US" sz="3000" dirty="0"/>
          </a:p>
        </p:txBody>
      </p:sp>
      <p:sp>
        <p:nvSpPr>
          <p:cNvPr id="14" name="Text 12"/>
          <p:cNvSpPr/>
          <p:nvPr/>
        </p:nvSpPr>
        <p:spPr>
          <a:xfrm>
            <a:off x="7193128" y="2880360"/>
            <a:ext cx="4385920"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Hour 4 — IV &amp; RDD</a:t>
            </a:r>
            <a:endParaRPr lang="en-US" sz="1600" dirty="0"/>
          </a:p>
        </p:txBody>
      </p:sp>
      <p:sp>
        <p:nvSpPr>
          <p:cNvPr id="15" name="Text 13"/>
          <p:cNvSpPr/>
          <p:nvPr/>
        </p:nvSpPr>
        <p:spPr>
          <a:xfrm>
            <a:off x="7193128" y="3191256"/>
            <a:ext cx="4385920" cy="713232"/>
          </a:xfrm>
          <a:prstGeom prst="rect">
            <a:avLst/>
          </a:prstGeom>
          <a:noFill/>
          <a:ln/>
        </p:spPr>
        <p:txBody>
          <a:bodyPr wrap="square" lIns="0" tIns="0" rIns="0" bIns="0" rtlCol="0" anchor="t"/>
          <a:lstStyle/>
          <a:p>
            <a:pPr marL="0" indent="0">
              <a:lnSpc>
                <a:spcPct val="108000"/>
              </a:lnSpc>
              <a:buNone/>
            </a:pPr>
            <a:r>
              <a:rPr lang="en-US" sz="1150" dirty="0">
                <a:solidFill>
                  <a:srgbClr val="566581"/>
                </a:solidFill>
                <a:latin typeface="Calibri" pitchFamily="34" charset="0"/>
                <a:ea typeface="Calibri" pitchFamily="34" charset="-122"/>
                <a:cs typeface="Calibri" pitchFamily="34" charset="-120"/>
              </a:rPr>
              <a:t>Instrumental variables, LATE, and sharp/fuzzy regression discontinuity.</a:t>
            </a:r>
            <a:endParaRPr lang="en-US" sz="1150" dirty="0"/>
          </a:p>
        </p:txBody>
      </p:sp>
      <p:sp>
        <p:nvSpPr>
          <p:cNvPr id="16" name="Text 14"/>
          <p:cNvSpPr/>
          <p:nvPr/>
        </p:nvSpPr>
        <p:spPr>
          <a:xfrm>
            <a:off x="566928" y="3977640"/>
            <a:ext cx="822960" cy="548640"/>
          </a:xfrm>
          <a:prstGeom prst="rect">
            <a:avLst/>
          </a:prstGeom>
          <a:noFill/>
          <a:ln/>
        </p:spPr>
        <p:txBody>
          <a:bodyPr wrap="square" lIns="0" tIns="0" rIns="0" bIns="0" rtlCol="0" anchor="t"/>
          <a:lstStyle/>
          <a:p>
            <a:pPr marL="0" indent="0">
              <a:buNone/>
            </a:pPr>
            <a:r>
              <a:rPr lang="en-US" sz="3000" b="1" dirty="0">
                <a:solidFill>
                  <a:srgbClr val="73BB59"/>
                </a:solidFill>
                <a:latin typeface="Cambria" pitchFamily="34" charset="0"/>
                <a:ea typeface="Cambria" pitchFamily="34" charset="-122"/>
                <a:cs typeface="Cambria" pitchFamily="34" charset="-120"/>
              </a:rPr>
              <a:t>05</a:t>
            </a:r>
            <a:endParaRPr lang="en-US" sz="3000" dirty="0"/>
          </a:p>
        </p:txBody>
      </p:sp>
      <p:sp>
        <p:nvSpPr>
          <p:cNvPr id="17" name="Text 15"/>
          <p:cNvSpPr/>
          <p:nvPr/>
        </p:nvSpPr>
        <p:spPr>
          <a:xfrm>
            <a:off x="1435608" y="3977640"/>
            <a:ext cx="4385920"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Hour 5 — Lab 3 &amp; Discussion</a:t>
            </a:r>
            <a:endParaRPr lang="en-US" sz="1600" dirty="0"/>
          </a:p>
        </p:txBody>
      </p:sp>
      <p:sp>
        <p:nvSpPr>
          <p:cNvPr id="18" name="Text 16"/>
          <p:cNvSpPr/>
          <p:nvPr/>
        </p:nvSpPr>
        <p:spPr>
          <a:xfrm>
            <a:off x="1435608" y="4288536"/>
            <a:ext cx="4385920" cy="713232"/>
          </a:xfrm>
          <a:prstGeom prst="rect">
            <a:avLst/>
          </a:prstGeom>
          <a:noFill/>
          <a:ln/>
        </p:spPr>
        <p:txBody>
          <a:bodyPr wrap="square" lIns="0" tIns="0" rIns="0" bIns="0" rtlCol="0" anchor="t"/>
          <a:lstStyle/>
          <a:p>
            <a:pPr marL="0" indent="0">
              <a:lnSpc>
                <a:spcPct val="108000"/>
              </a:lnSpc>
              <a:buNone/>
            </a:pPr>
            <a:r>
              <a:rPr lang="en-US" sz="1150" dirty="0">
                <a:solidFill>
                  <a:srgbClr val="566581"/>
                </a:solidFill>
                <a:latin typeface="Calibri" pitchFamily="34" charset="0"/>
                <a:ea typeface="Calibri" pitchFamily="34" charset="-122"/>
                <a:cs typeface="Calibri" pitchFamily="34" charset="-120"/>
              </a:rPr>
              <a:t>Estimate an effect four ways on the same observational dataset and reconcile them.</a:t>
            </a:r>
            <a:endParaRPr lang="en-US" sz="1150" dirty="0"/>
          </a:p>
        </p:txBody>
      </p:sp>
      <p:sp>
        <p:nvSpPr>
          <p:cNvPr id="19" name="Text 17"/>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a:t>
            </a:r>
            <a:endParaRPr lang="en-US" sz="900" dirty="0"/>
          </a:p>
        </p:txBody>
      </p:sp>
      <p:sp>
        <p:nvSpPr>
          <p:cNvPr id="20" name="Text 18"/>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86  /  221</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The Observational Challenge</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Without randomization, treatment and control differ for reasons other than treatment. Our whole task is to reconstruct the missing balance.</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core threat</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Confounding — common causes of treatment and outcome — makes the naive comparison a biased estimate of the effect.</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identification bet</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We assume unconfoundedness given a covariate set X, then adjust. The bet is that X blocks every backdoor.</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honesty tax</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Because unconfoundedness is untestable, every observational estimate must be paired with a sensitivity analysis (Day 4).</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FRAMING</a:t>
            </a:r>
            <a:endParaRPr lang="en-US" sz="1100" dirty="0"/>
          </a:p>
        </p:txBody>
      </p:sp>
      <p:sp>
        <p:nvSpPr>
          <p:cNvPr id="16" name="Text 14"/>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i="1" dirty="0">
                <a:solidFill>
                  <a:srgbClr val="16233F"/>
                </a:solidFill>
                <a:latin typeface="Calibri" pitchFamily="34" charset="0"/>
                <a:ea typeface="Calibri" pitchFamily="34" charset="-122"/>
                <a:cs typeface="Calibri" pitchFamily="34" charset="-120"/>
              </a:rPr>
              <a:t>An observational study is an experiment you did not run. The methods below are attempts to recover, from data, the balance that randomization would have given for free.</a:t>
            </a:r>
            <a:endParaRPr lang="en-US" sz="13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CONFOUNDING</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87  /  221</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DAGs: Drawing Your Assumptions</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A causal diagram makes your beliefs about the data-generating process explicit — and tells you exactly what to adjust for.</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Nodes and arrows</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Variables are nodes; a directed arrow X→Y encodes ‘X can directly cause Y’. Absence of an arrow is also an assumption.</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Paths carry association</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Association flows along paths; causal paths (T→…→Y) are what we want, backdoor paths are what we must block.</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payoff</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The graph turns ‘which controls?’ from guesswork into a rule you can check.</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CONFOUNDING</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88  /  221</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Three Elementary Structures</a:t>
            </a:r>
            <a:endParaRPr lang="en-US" sz="3400" dirty="0"/>
          </a:p>
        </p:txBody>
      </p:sp>
      <p:sp>
        <p:nvSpPr>
          <p:cNvPr id="4" name="Text 2"/>
          <p:cNvSpPr/>
          <p:nvPr/>
        </p:nvSpPr>
        <p:spPr>
          <a:xfrm>
            <a:off x="566928" y="1783080"/>
            <a:ext cx="11057839" cy="548640"/>
          </a:xfrm>
          <a:prstGeom prst="rect">
            <a:avLst/>
          </a:prstGeom>
          <a:noFill/>
          <a:ln/>
        </p:spPr>
        <p:txBody>
          <a:bodyPr wrap="square" lIns="0" tIns="0" rIns="0" bIns="0" rtlCol="0" anchor="t"/>
          <a:lstStyle/>
          <a:p>
            <a:pPr marL="0" indent="0">
              <a:lnSpc>
                <a:spcPct val="115000"/>
              </a:lnSpc>
              <a:buNone/>
            </a:pPr>
            <a:r>
              <a:rPr lang="en-US" sz="1400" dirty="0">
                <a:solidFill>
                  <a:srgbClr val="566581"/>
                </a:solidFill>
                <a:latin typeface="Calibri" pitchFamily="34" charset="0"/>
                <a:ea typeface="Calibri" pitchFamily="34" charset="-122"/>
                <a:cs typeface="Calibri" pitchFamily="34" charset="-120"/>
              </a:rPr>
              <a:t>Every DAG is built from three junction types, each behaving differently under conditioning.</a:t>
            </a:r>
            <a:endParaRPr lang="en-US" sz="1400" dirty="0"/>
          </a:p>
        </p:txBody>
      </p:sp>
      <p:sp>
        <p:nvSpPr>
          <p:cNvPr id="5" name="Shape 3"/>
          <p:cNvSpPr/>
          <p:nvPr/>
        </p:nvSpPr>
        <p:spPr>
          <a:xfrm>
            <a:off x="566928" y="2468880"/>
            <a:ext cx="502920" cy="502920"/>
          </a:xfrm>
          <a:prstGeom prst="ellipse">
            <a:avLst/>
          </a:prstGeom>
          <a:solidFill>
            <a:srgbClr val="3FA9E0"/>
          </a:solidFill>
          <a:ln/>
        </p:spPr>
        <p:txBody>
          <a:bodyPr/>
          <a:lstStyle/>
          <a:p>
            <a:endParaRPr lang="en-SA"/>
          </a:p>
        </p:txBody>
      </p:sp>
      <p:sp>
        <p:nvSpPr>
          <p:cNvPr id="6" name="Text 4"/>
          <p:cNvSpPr/>
          <p:nvPr/>
        </p:nvSpPr>
        <p:spPr>
          <a:xfrm>
            <a:off x="566928" y="246888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t>
            </a:r>
            <a:endParaRPr lang="en-US" sz="1300" dirty="0"/>
          </a:p>
        </p:txBody>
      </p:sp>
      <p:sp>
        <p:nvSpPr>
          <p:cNvPr id="7" name="Text 5"/>
          <p:cNvSpPr/>
          <p:nvPr/>
        </p:nvSpPr>
        <p:spPr>
          <a:xfrm>
            <a:off x="1298448" y="242316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Chain (mediator): T → M → Y</a:t>
            </a:r>
            <a:endParaRPr lang="en-US" sz="1600" dirty="0"/>
          </a:p>
        </p:txBody>
      </p:sp>
      <p:sp>
        <p:nvSpPr>
          <p:cNvPr id="8" name="Text 6"/>
          <p:cNvSpPr/>
          <p:nvPr/>
        </p:nvSpPr>
        <p:spPr>
          <a:xfrm>
            <a:off x="1298448" y="2734056"/>
            <a:ext cx="10234879" cy="68580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M transmits the effect. Conditioning on M blocks part of the causal effect — usually do not adjust.</a:t>
            </a:r>
            <a:endParaRPr lang="en-US" sz="1250" dirty="0"/>
          </a:p>
        </p:txBody>
      </p:sp>
      <p:sp>
        <p:nvSpPr>
          <p:cNvPr id="9" name="Shape 7"/>
          <p:cNvSpPr/>
          <p:nvPr/>
        </p:nvSpPr>
        <p:spPr>
          <a:xfrm>
            <a:off x="566928" y="3520440"/>
            <a:ext cx="502920" cy="502920"/>
          </a:xfrm>
          <a:prstGeom prst="ellipse">
            <a:avLst/>
          </a:prstGeom>
          <a:solidFill>
            <a:srgbClr val="5A5BA6"/>
          </a:solidFill>
          <a:ln/>
        </p:spPr>
        <p:txBody>
          <a:bodyPr/>
          <a:lstStyle/>
          <a:p>
            <a:endParaRPr lang="en-SA"/>
          </a:p>
        </p:txBody>
      </p:sp>
      <p:sp>
        <p:nvSpPr>
          <p:cNvPr id="10" name="Text 8"/>
          <p:cNvSpPr/>
          <p:nvPr/>
        </p:nvSpPr>
        <p:spPr>
          <a:xfrm>
            <a:off x="566928" y="35204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t>
            </a:r>
            <a:endParaRPr lang="en-US" sz="1300" dirty="0"/>
          </a:p>
        </p:txBody>
      </p:sp>
      <p:sp>
        <p:nvSpPr>
          <p:cNvPr id="11" name="Text 9"/>
          <p:cNvSpPr/>
          <p:nvPr/>
        </p:nvSpPr>
        <p:spPr>
          <a:xfrm>
            <a:off x="1298448" y="347472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Fork (confounder): T ← X → Y</a:t>
            </a:r>
            <a:endParaRPr lang="en-US" sz="1600" dirty="0"/>
          </a:p>
        </p:txBody>
      </p:sp>
      <p:sp>
        <p:nvSpPr>
          <p:cNvPr id="12" name="Text 10"/>
          <p:cNvSpPr/>
          <p:nvPr/>
        </p:nvSpPr>
        <p:spPr>
          <a:xfrm>
            <a:off x="1298448" y="3785616"/>
            <a:ext cx="10234879" cy="68580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X is a common cause and opens a backdoor. Conditioning on X blocks the bias — adjust.</a:t>
            </a:r>
            <a:endParaRPr lang="en-US" sz="1250" dirty="0"/>
          </a:p>
        </p:txBody>
      </p:sp>
      <p:sp>
        <p:nvSpPr>
          <p:cNvPr id="13" name="Shape 11"/>
          <p:cNvSpPr/>
          <p:nvPr/>
        </p:nvSpPr>
        <p:spPr>
          <a:xfrm>
            <a:off x="566928" y="4572000"/>
            <a:ext cx="502920" cy="502920"/>
          </a:xfrm>
          <a:prstGeom prst="ellipse">
            <a:avLst/>
          </a:prstGeom>
          <a:solidFill>
            <a:srgbClr val="EA7B38"/>
          </a:solidFill>
          <a:ln/>
        </p:spPr>
        <p:txBody>
          <a:bodyPr/>
          <a:lstStyle/>
          <a:p>
            <a:endParaRPr lang="en-SA"/>
          </a:p>
        </p:txBody>
      </p:sp>
      <p:sp>
        <p:nvSpPr>
          <p:cNvPr id="14" name="Text 12"/>
          <p:cNvSpPr/>
          <p:nvPr/>
        </p:nvSpPr>
        <p:spPr>
          <a:xfrm>
            <a:off x="566928" y="457200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t>
            </a:r>
            <a:endParaRPr lang="en-US" sz="1300" dirty="0"/>
          </a:p>
        </p:txBody>
      </p:sp>
      <p:sp>
        <p:nvSpPr>
          <p:cNvPr id="15" name="Text 13"/>
          <p:cNvSpPr/>
          <p:nvPr/>
        </p:nvSpPr>
        <p:spPr>
          <a:xfrm>
            <a:off x="1298448" y="452628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Collider: T → C ← Y</a:t>
            </a:r>
            <a:endParaRPr lang="en-US" sz="1600" dirty="0"/>
          </a:p>
        </p:txBody>
      </p:sp>
      <p:sp>
        <p:nvSpPr>
          <p:cNvPr id="16" name="Text 14"/>
          <p:cNvSpPr/>
          <p:nvPr/>
        </p:nvSpPr>
        <p:spPr>
          <a:xfrm>
            <a:off x="1298448" y="4837176"/>
            <a:ext cx="10234879" cy="68580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C is a common effect; the path is blocked by default. Conditioning on C opens spurious association — do not adjust.</a:t>
            </a:r>
            <a:endParaRPr lang="en-US" sz="12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CONFOUNDING</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89  /  221</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The Backdoor Criterion</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A precise rule for choosing an adjustment set that identifies the causal effect of T on Y.</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Block all backdoor paths</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 backdoor path starts with an arrow into T. A valid adjustment set blocks every such path.</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Open no colliders</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The set must not condition on a collider (or its descendant) that would open a new spurious path.</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Include no descendants of T</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Never adjust for anything caused by treatment — that risks mediator or collider bias.</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THE RULE</a:t>
            </a:r>
            <a:endParaRPr lang="en-US" sz="1100" dirty="0"/>
          </a:p>
        </p:txBody>
      </p:sp>
      <p:sp>
        <p:nvSpPr>
          <p:cNvPr id="16" name="Text 14"/>
          <p:cNvSpPr/>
          <p:nvPr/>
        </p:nvSpPr>
        <p:spPr>
          <a:xfrm>
            <a:off x="7744968" y="2331720"/>
            <a:ext cx="3605479" cy="1097280"/>
          </a:xfrm>
          <a:prstGeom prst="rect">
            <a:avLst/>
          </a:prstGeom>
          <a:noFill/>
          <a:ln/>
        </p:spPr>
        <p:txBody>
          <a:bodyPr wrap="square" lIns="0" tIns="0" rIns="0" bIns="0" rtlCol="0" anchor="t"/>
          <a:lstStyle/>
          <a:p>
            <a:pPr marL="0" indent="0">
              <a:buNone/>
            </a:pPr>
            <a:r>
              <a:rPr lang="en-US" sz="5400" b="1" dirty="0">
                <a:solidFill>
                  <a:srgbClr val="16233F"/>
                </a:solidFill>
                <a:latin typeface="Cambria" pitchFamily="34" charset="0"/>
                <a:ea typeface="Cambria" pitchFamily="34" charset="-122"/>
                <a:cs typeface="Cambria" pitchFamily="34" charset="-120"/>
              </a:rPr>
              <a:t>Backdoor</a:t>
            </a:r>
            <a:endParaRPr lang="en-US" sz="5400" dirty="0"/>
          </a:p>
        </p:txBody>
      </p:sp>
      <p:sp>
        <p:nvSpPr>
          <p:cNvPr id="17" name="Text 15"/>
          <p:cNvSpPr/>
          <p:nvPr/>
        </p:nvSpPr>
        <p:spPr>
          <a:xfrm>
            <a:off x="7744968" y="3520440"/>
            <a:ext cx="3605479" cy="2103120"/>
          </a:xfrm>
          <a:prstGeom prst="rect">
            <a:avLst/>
          </a:prstGeom>
          <a:noFill/>
          <a:ln/>
        </p:spPr>
        <p:txBody>
          <a:bodyPr wrap="square" lIns="0" tIns="0" rIns="0" bIns="0" rtlCol="0" anchor="t"/>
          <a:lstStyle/>
          <a:p>
            <a:pPr marL="0" indent="0">
              <a:lnSpc>
                <a:spcPct val="120000"/>
              </a:lnSpc>
              <a:buNone/>
            </a:pPr>
            <a:r>
              <a:rPr lang="en-US" sz="1300" dirty="0">
                <a:solidFill>
                  <a:srgbClr val="566581"/>
                </a:solidFill>
                <a:latin typeface="Calibri" pitchFamily="34" charset="0"/>
                <a:ea typeface="Calibri" pitchFamily="34" charset="-122"/>
                <a:cs typeface="Calibri" pitchFamily="34" charset="-120"/>
              </a:rPr>
              <a:t>Find a set Z that (1) blocks every backdoor path from T to Y and (2) contains no descendant of T. Then adjusting for Z identifies the effect.</a:t>
            </a:r>
            <a:endParaRPr lang="en-US" sz="1300" dirty="0"/>
          </a:p>
        </p:txBody>
      </p:sp>
      <p:sp>
        <p:nvSpPr>
          <p:cNvPr id="18" name="Text 1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CONFOUNDING</a:t>
            </a:r>
            <a:endParaRPr lang="en-US" sz="900" dirty="0"/>
          </a:p>
        </p:txBody>
      </p:sp>
      <p:sp>
        <p:nvSpPr>
          <p:cNvPr id="19" name="Text 1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90  /  221</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Collider Bias in the Wild</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The most counter-intuitive error: adding a ‘sensible’ control that manufactures a correlation from nothing.</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Selection is conditioning</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Studying only hospitalised patients, or only funded startups, conditions on a collider — and can invent associations.</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classic example</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Among the hospitalised, two independent diseases can appear negatively correlated purely from the selection.</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lesson</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‘Control for everything’ is dangerous advice. Structure, not statistical fit, decides the adjustment set.</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CONFOUNDING</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91  /  221</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Building a Defensible Adjustment Set</a:t>
            </a:r>
            <a:endParaRPr lang="en-US" sz="3400" dirty="0"/>
          </a:p>
        </p:txBody>
      </p:sp>
      <p:sp>
        <p:nvSpPr>
          <p:cNvPr id="4" name="Text 2"/>
          <p:cNvSpPr/>
          <p:nvPr/>
        </p:nvSpPr>
        <p:spPr>
          <a:xfrm>
            <a:off x="566928" y="1737360"/>
            <a:ext cx="11057839" cy="64008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A practical procedure you can run on any observational question.</a:t>
            </a:r>
            <a:endParaRPr lang="en-US" sz="1450" dirty="0"/>
          </a:p>
        </p:txBody>
      </p:sp>
      <p:sp>
        <p:nvSpPr>
          <p:cNvPr id="5" name="Shape 3"/>
          <p:cNvSpPr/>
          <p:nvPr/>
        </p:nvSpPr>
        <p:spPr>
          <a:xfrm>
            <a:off x="566928" y="2578608"/>
            <a:ext cx="137160" cy="137160"/>
          </a:xfrm>
          <a:prstGeom prst="ellipse">
            <a:avLst/>
          </a:prstGeom>
          <a:solidFill>
            <a:srgbClr val="3FA9E0"/>
          </a:solidFill>
          <a:ln/>
        </p:spPr>
        <p:txBody>
          <a:bodyPr/>
          <a:lstStyle/>
          <a:p>
            <a:endParaRPr lang="en-SA"/>
          </a:p>
        </p:txBody>
      </p:sp>
      <p:sp>
        <p:nvSpPr>
          <p:cNvPr id="6" name="Text 4"/>
          <p:cNvSpPr/>
          <p:nvPr/>
        </p:nvSpPr>
        <p:spPr>
          <a:xfrm>
            <a:off x="841248" y="2514600"/>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Draw the DAG from domain knowledge before looking at correlations.</a:t>
            </a:r>
            <a:endParaRPr lang="en-US" sz="1400" dirty="0"/>
          </a:p>
        </p:txBody>
      </p:sp>
      <p:sp>
        <p:nvSpPr>
          <p:cNvPr id="7" name="Shape 5"/>
          <p:cNvSpPr/>
          <p:nvPr/>
        </p:nvSpPr>
        <p:spPr>
          <a:xfrm>
            <a:off x="566928" y="3300984"/>
            <a:ext cx="137160" cy="137160"/>
          </a:xfrm>
          <a:prstGeom prst="ellipse">
            <a:avLst/>
          </a:prstGeom>
          <a:solidFill>
            <a:srgbClr val="5A5BA6"/>
          </a:solidFill>
          <a:ln/>
        </p:spPr>
        <p:txBody>
          <a:bodyPr/>
          <a:lstStyle/>
          <a:p>
            <a:endParaRPr lang="en-SA"/>
          </a:p>
        </p:txBody>
      </p:sp>
      <p:sp>
        <p:nvSpPr>
          <p:cNvPr id="8" name="Text 6"/>
          <p:cNvSpPr/>
          <p:nvPr/>
        </p:nvSpPr>
        <p:spPr>
          <a:xfrm>
            <a:off x="841248" y="3236976"/>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List backdoor paths from T to Y; find a set that blocks them all.</a:t>
            </a:r>
            <a:endParaRPr lang="en-US" sz="1400" dirty="0"/>
          </a:p>
        </p:txBody>
      </p:sp>
      <p:sp>
        <p:nvSpPr>
          <p:cNvPr id="9" name="Shape 7"/>
          <p:cNvSpPr/>
          <p:nvPr/>
        </p:nvSpPr>
        <p:spPr>
          <a:xfrm>
            <a:off x="566928" y="4023360"/>
            <a:ext cx="137160" cy="137160"/>
          </a:xfrm>
          <a:prstGeom prst="ellipse">
            <a:avLst/>
          </a:prstGeom>
          <a:solidFill>
            <a:srgbClr val="EA7B38"/>
          </a:solidFill>
          <a:ln/>
        </p:spPr>
        <p:txBody>
          <a:bodyPr/>
          <a:lstStyle/>
          <a:p>
            <a:endParaRPr lang="en-SA"/>
          </a:p>
        </p:txBody>
      </p:sp>
      <p:sp>
        <p:nvSpPr>
          <p:cNvPr id="10" name="Text 8"/>
          <p:cNvSpPr/>
          <p:nvPr/>
        </p:nvSpPr>
        <p:spPr>
          <a:xfrm>
            <a:off x="841248" y="3959352"/>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Exclude mediators, colliders, and any post-treatment variable.</a:t>
            </a:r>
            <a:endParaRPr lang="en-US" sz="1400" dirty="0"/>
          </a:p>
        </p:txBody>
      </p:sp>
      <p:sp>
        <p:nvSpPr>
          <p:cNvPr id="11" name="Shape 9"/>
          <p:cNvSpPr/>
          <p:nvPr/>
        </p:nvSpPr>
        <p:spPr>
          <a:xfrm>
            <a:off x="566928" y="4745736"/>
            <a:ext cx="137160" cy="137160"/>
          </a:xfrm>
          <a:prstGeom prst="ellipse">
            <a:avLst/>
          </a:prstGeom>
          <a:solidFill>
            <a:srgbClr val="3E9B90"/>
          </a:solidFill>
          <a:ln/>
        </p:spPr>
        <p:txBody>
          <a:bodyPr/>
          <a:lstStyle/>
          <a:p>
            <a:endParaRPr lang="en-SA"/>
          </a:p>
        </p:txBody>
      </p:sp>
      <p:sp>
        <p:nvSpPr>
          <p:cNvPr id="12" name="Text 10"/>
          <p:cNvSpPr/>
          <p:nvPr/>
        </p:nvSpPr>
        <p:spPr>
          <a:xfrm>
            <a:off x="841248" y="4681728"/>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Confirm the chosen covariates are all measured — unmeasured confounders break identification.</a:t>
            </a:r>
            <a:endParaRPr lang="en-US" sz="1400" dirty="0"/>
          </a:p>
        </p:txBody>
      </p:sp>
      <p:sp>
        <p:nvSpPr>
          <p:cNvPr id="13" name="Shape 11"/>
          <p:cNvSpPr/>
          <p:nvPr/>
        </p:nvSpPr>
        <p:spPr>
          <a:xfrm>
            <a:off x="566928" y="5468112"/>
            <a:ext cx="137160" cy="137160"/>
          </a:xfrm>
          <a:prstGeom prst="ellipse">
            <a:avLst/>
          </a:prstGeom>
          <a:solidFill>
            <a:srgbClr val="73BB59"/>
          </a:solidFill>
          <a:ln/>
        </p:spPr>
        <p:txBody>
          <a:bodyPr/>
          <a:lstStyle/>
          <a:p>
            <a:endParaRPr lang="en-SA"/>
          </a:p>
        </p:txBody>
      </p:sp>
      <p:sp>
        <p:nvSpPr>
          <p:cNvPr id="14" name="Text 12"/>
          <p:cNvSpPr/>
          <p:nvPr/>
        </p:nvSpPr>
        <p:spPr>
          <a:xfrm>
            <a:off x="841248" y="5404104"/>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Record the graph with the analysis; it is the assumption your estimate rests on.</a:t>
            </a:r>
            <a:endParaRPr lang="en-US" sz="1400" dirty="0"/>
          </a:p>
        </p:txBody>
      </p:sp>
      <p:sp>
        <p:nvSpPr>
          <p:cNvPr id="15" name="Text 13"/>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CONFOUNDING</a:t>
            </a:r>
            <a:endParaRPr lang="en-US" sz="900" dirty="0"/>
          </a:p>
        </p:txBody>
      </p:sp>
      <p:sp>
        <p:nvSpPr>
          <p:cNvPr id="16" name="Text 14"/>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92  /  221</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Knowledge Check: DAGs</a:t>
            </a:r>
            <a:endParaRPr lang="en-US" sz="3400" dirty="0"/>
          </a:p>
        </p:txBody>
      </p:sp>
      <p:sp>
        <p:nvSpPr>
          <p:cNvPr id="4" name="Shape 2"/>
          <p:cNvSpPr/>
          <p:nvPr/>
        </p:nvSpPr>
        <p:spPr>
          <a:xfrm>
            <a:off x="566928" y="178308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5" name="Shape 3"/>
          <p:cNvSpPr/>
          <p:nvPr/>
        </p:nvSpPr>
        <p:spPr>
          <a:xfrm>
            <a:off x="768096" y="1965960"/>
            <a:ext cx="384048" cy="384048"/>
          </a:xfrm>
          <a:prstGeom prst="ellipse">
            <a:avLst/>
          </a:prstGeom>
          <a:solidFill>
            <a:srgbClr val="3FA9E0"/>
          </a:solidFill>
          <a:ln/>
        </p:spPr>
        <p:txBody>
          <a:bodyPr/>
          <a:lstStyle/>
          <a:p>
            <a:endParaRPr lang="en-SA"/>
          </a:p>
        </p:txBody>
      </p:sp>
      <p:sp>
        <p:nvSpPr>
          <p:cNvPr id="6" name="Text 4"/>
          <p:cNvSpPr/>
          <p:nvPr/>
        </p:nvSpPr>
        <p:spPr>
          <a:xfrm>
            <a:off x="768096" y="19659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Q1</a:t>
            </a:r>
            <a:endParaRPr lang="en-US" sz="1300" dirty="0"/>
          </a:p>
        </p:txBody>
      </p:sp>
      <p:sp>
        <p:nvSpPr>
          <p:cNvPr id="7" name="Text 5"/>
          <p:cNvSpPr/>
          <p:nvPr/>
        </p:nvSpPr>
        <p:spPr>
          <a:xfrm>
            <a:off x="1344168" y="192938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In T ← X → Y, the variable X is a:</a:t>
            </a:r>
            <a:endParaRPr lang="en-US" sz="1400" dirty="0"/>
          </a:p>
        </p:txBody>
      </p:sp>
      <p:sp>
        <p:nvSpPr>
          <p:cNvPr id="8" name="Text 6"/>
          <p:cNvSpPr/>
          <p:nvPr/>
        </p:nvSpPr>
        <p:spPr>
          <a:xfrm>
            <a:off x="1344168" y="238658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Mediator      B) Confounder      C) Collider      D) Instrument</a:t>
            </a:r>
            <a:endParaRPr lang="en-US" sz="1200" dirty="0"/>
          </a:p>
        </p:txBody>
      </p:sp>
      <p:sp>
        <p:nvSpPr>
          <p:cNvPr id="9" name="Shape 7"/>
          <p:cNvSpPr/>
          <p:nvPr/>
        </p:nvSpPr>
        <p:spPr>
          <a:xfrm>
            <a:off x="566928" y="306324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10" name="Shape 8"/>
          <p:cNvSpPr/>
          <p:nvPr/>
        </p:nvSpPr>
        <p:spPr>
          <a:xfrm>
            <a:off x="768096" y="3246120"/>
            <a:ext cx="384048" cy="384048"/>
          </a:xfrm>
          <a:prstGeom prst="ellipse">
            <a:avLst/>
          </a:prstGeom>
          <a:solidFill>
            <a:srgbClr val="5A5BA6"/>
          </a:solidFill>
          <a:ln/>
        </p:spPr>
        <p:txBody>
          <a:bodyPr/>
          <a:lstStyle/>
          <a:p>
            <a:endParaRPr lang="en-SA"/>
          </a:p>
        </p:txBody>
      </p:sp>
      <p:sp>
        <p:nvSpPr>
          <p:cNvPr id="11" name="Text 9"/>
          <p:cNvSpPr/>
          <p:nvPr/>
        </p:nvSpPr>
        <p:spPr>
          <a:xfrm>
            <a:off x="768096" y="32461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Q2</a:t>
            </a:r>
            <a:endParaRPr lang="en-US" sz="1300" dirty="0"/>
          </a:p>
        </p:txBody>
      </p:sp>
      <p:sp>
        <p:nvSpPr>
          <p:cNvPr id="12" name="Text 10"/>
          <p:cNvSpPr/>
          <p:nvPr/>
        </p:nvSpPr>
        <p:spPr>
          <a:xfrm>
            <a:off x="1344168" y="320954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Conditioning on a collider tends to:</a:t>
            </a:r>
            <a:endParaRPr lang="en-US" sz="1400" dirty="0"/>
          </a:p>
        </p:txBody>
      </p:sp>
      <p:sp>
        <p:nvSpPr>
          <p:cNvPr id="13" name="Text 11"/>
          <p:cNvSpPr/>
          <p:nvPr/>
        </p:nvSpPr>
        <p:spPr>
          <a:xfrm>
            <a:off x="1344168" y="366674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Remove bias      B) Open a spurious path      C) Have no effect      D) Improve overlap</a:t>
            </a:r>
            <a:endParaRPr lang="en-US" sz="1200" dirty="0"/>
          </a:p>
        </p:txBody>
      </p:sp>
      <p:sp>
        <p:nvSpPr>
          <p:cNvPr id="14" name="Shape 12"/>
          <p:cNvSpPr/>
          <p:nvPr/>
        </p:nvSpPr>
        <p:spPr>
          <a:xfrm>
            <a:off x="566928" y="434340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15" name="Shape 13"/>
          <p:cNvSpPr/>
          <p:nvPr/>
        </p:nvSpPr>
        <p:spPr>
          <a:xfrm>
            <a:off x="768096" y="4526280"/>
            <a:ext cx="384048" cy="384048"/>
          </a:xfrm>
          <a:prstGeom prst="ellipse">
            <a:avLst/>
          </a:prstGeom>
          <a:solidFill>
            <a:srgbClr val="EA7B38"/>
          </a:solidFill>
          <a:ln/>
        </p:spPr>
        <p:txBody>
          <a:bodyPr/>
          <a:lstStyle/>
          <a:p>
            <a:endParaRPr lang="en-SA"/>
          </a:p>
        </p:txBody>
      </p:sp>
      <p:sp>
        <p:nvSpPr>
          <p:cNvPr id="16" name="Text 14"/>
          <p:cNvSpPr/>
          <p:nvPr/>
        </p:nvSpPr>
        <p:spPr>
          <a:xfrm>
            <a:off x="768096" y="45262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Q3</a:t>
            </a:r>
            <a:endParaRPr lang="en-US" sz="1300" dirty="0"/>
          </a:p>
        </p:txBody>
      </p:sp>
      <p:sp>
        <p:nvSpPr>
          <p:cNvPr id="17" name="Text 15"/>
          <p:cNvSpPr/>
          <p:nvPr/>
        </p:nvSpPr>
        <p:spPr>
          <a:xfrm>
            <a:off x="1344168" y="448970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A valid backdoor adjustment set must never contain:</a:t>
            </a:r>
            <a:endParaRPr lang="en-US" sz="1400" dirty="0"/>
          </a:p>
        </p:txBody>
      </p:sp>
      <p:sp>
        <p:nvSpPr>
          <p:cNvPr id="18" name="Text 16"/>
          <p:cNvSpPr/>
          <p:nvPr/>
        </p:nvSpPr>
        <p:spPr>
          <a:xfrm>
            <a:off x="1344168" y="494690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A confounder      B) A pre-treatment covariate      C) A descendant of T      D) A blocking variable</a:t>
            </a:r>
            <a:endParaRPr lang="en-US" sz="1200" dirty="0"/>
          </a:p>
        </p:txBody>
      </p:sp>
      <p:sp>
        <p:nvSpPr>
          <p:cNvPr id="19" name="Text 17"/>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CONFOUNDING</a:t>
            </a:r>
            <a:endParaRPr lang="en-US" sz="900" dirty="0"/>
          </a:p>
        </p:txBody>
      </p:sp>
      <p:sp>
        <p:nvSpPr>
          <p:cNvPr id="20" name="Text 18"/>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93  /  221</a:t>
            </a:r>
            <a:endParaRPr lang="en-US" sz="900" dirty="0"/>
          </a:p>
        </p:txBody>
      </p:sp>
      <p:pic>
        <p:nvPicPr>
          <p:cNvPr id="21" name="Picture 20" descr="Day3_Check1.png"/>
          <p:cNvPicPr>
            <a:picLocks noChangeAspect="1"/>
          </p:cNvPicPr>
          <p:nvPr/>
        </p:nvPicPr>
        <p:blipFill>
          <a:blip r:embed="rId3"/>
          <a:stretch>
            <a:fillRect/>
          </a:stretch>
        </p:blipFill>
        <p:spPr>
          <a:xfrm>
            <a:off x="10637520" y="320040"/>
            <a:ext cx="1143000" cy="1143000"/>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DAY 3 · HOUR 2</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Adjustment Estimators</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Turning an identifying assumption into a number: regression, matching, propensity scores, inverse-probability weighting, and doubly-robust estimation.</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DAY 3</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94  /  221</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2</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Four Ways to Adjust</a:t>
            </a:r>
            <a:endParaRPr lang="en-US" sz="3400" dirty="0"/>
          </a:p>
        </p:txBody>
      </p:sp>
      <p:sp>
        <p:nvSpPr>
          <p:cNvPr id="4" name="Text 2"/>
          <p:cNvSpPr/>
          <p:nvPr/>
        </p:nvSpPr>
        <p:spPr>
          <a:xfrm>
            <a:off x="566928" y="1783080"/>
            <a:ext cx="11057839" cy="548640"/>
          </a:xfrm>
          <a:prstGeom prst="rect">
            <a:avLst/>
          </a:prstGeom>
          <a:noFill/>
          <a:ln/>
        </p:spPr>
        <p:txBody>
          <a:bodyPr wrap="square" lIns="0" tIns="0" rIns="0" bIns="0" rtlCol="0" anchor="t"/>
          <a:lstStyle/>
          <a:p>
            <a:pPr marL="0" indent="0">
              <a:lnSpc>
                <a:spcPct val="115000"/>
              </a:lnSpc>
              <a:buNone/>
            </a:pPr>
            <a:r>
              <a:rPr lang="en-US" sz="1400" dirty="0">
                <a:solidFill>
                  <a:srgbClr val="566581"/>
                </a:solidFill>
                <a:latin typeface="Calibri" pitchFamily="34" charset="0"/>
                <a:ea typeface="Calibri" pitchFamily="34" charset="-122"/>
                <a:cs typeface="Calibri" pitchFamily="34" charset="-120"/>
              </a:rPr>
              <a:t>All target the same estimand under unconfoundedness; they differ in what they model and how they fail.</a:t>
            </a:r>
            <a:endParaRPr lang="en-US" sz="1400" dirty="0"/>
          </a:p>
        </p:txBody>
      </p:sp>
      <p:sp>
        <p:nvSpPr>
          <p:cNvPr id="5" name="Shape 3"/>
          <p:cNvSpPr/>
          <p:nvPr/>
        </p:nvSpPr>
        <p:spPr>
          <a:xfrm>
            <a:off x="566928" y="2468880"/>
            <a:ext cx="502920" cy="502920"/>
          </a:xfrm>
          <a:prstGeom prst="ellipse">
            <a:avLst/>
          </a:prstGeom>
          <a:solidFill>
            <a:srgbClr val="3FA9E0"/>
          </a:solidFill>
          <a:ln/>
        </p:spPr>
        <p:txBody>
          <a:bodyPr/>
          <a:lstStyle/>
          <a:p>
            <a:endParaRPr lang="en-SA"/>
          </a:p>
        </p:txBody>
      </p:sp>
      <p:sp>
        <p:nvSpPr>
          <p:cNvPr id="6" name="Text 4"/>
          <p:cNvSpPr/>
          <p:nvPr/>
        </p:nvSpPr>
        <p:spPr>
          <a:xfrm>
            <a:off x="566928" y="246888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7" name="Text 5"/>
          <p:cNvSpPr/>
          <p:nvPr/>
        </p:nvSpPr>
        <p:spPr>
          <a:xfrm>
            <a:off x="1298448" y="242316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Outcome regression (g-formula)</a:t>
            </a:r>
            <a:endParaRPr lang="en-US" sz="1600" dirty="0"/>
          </a:p>
        </p:txBody>
      </p:sp>
      <p:sp>
        <p:nvSpPr>
          <p:cNvPr id="8" name="Text 6"/>
          <p:cNvSpPr/>
          <p:nvPr/>
        </p:nvSpPr>
        <p:spPr>
          <a:xfrm>
            <a:off x="1298448" y="273405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Model E[Y|T,X]; predict both potential outcomes and average their difference. Fails if the outcome model is misspecified.</a:t>
            </a:r>
            <a:endParaRPr lang="en-US" sz="1250" dirty="0"/>
          </a:p>
        </p:txBody>
      </p:sp>
      <p:sp>
        <p:nvSpPr>
          <p:cNvPr id="9" name="Shape 7"/>
          <p:cNvSpPr/>
          <p:nvPr/>
        </p:nvSpPr>
        <p:spPr>
          <a:xfrm>
            <a:off x="566928" y="3394710"/>
            <a:ext cx="502920" cy="502920"/>
          </a:xfrm>
          <a:prstGeom prst="ellipse">
            <a:avLst/>
          </a:prstGeom>
          <a:solidFill>
            <a:srgbClr val="5A5BA6"/>
          </a:solidFill>
          <a:ln/>
        </p:spPr>
        <p:txBody>
          <a:bodyPr/>
          <a:lstStyle/>
          <a:p>
            <a:endParaRPr lang="en-SA"/>
          </a:p>
        </p:txBody>
      </p:sp>
      <p:sp>
        <p:nvSpPr>
          <p:cNvPr id="10" name="Text 8"/>
          <p:cNvSpPr/>
          <p:nvPr/>
        </p:nvSpPr>
        <p:spPr>
          <a:xfrm>
            <a:off x="566928" y="339471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1" name="Text 9"/>
          <p:cNvSpPr/>
          <p:nvPr/>
        </p:nvSpPr>
        <p:spPr>
          <a:xfrm>
            <a:off x="1298448" y="334899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Matching</a:t>
            </a:r>
            <a:endParaRPr lang="en-US" sz="1600" dirty="0"/>
          </a:p>
        </p:txBody>
      </p:sp>
      <p:sp>
        <p:nvSpPr>
          <p:cNvPr id="12" name="Text 10"/>
          <p:cNvSpPr/>
          <p:nvPr/>
        </p:nvSpPr>
        <p:spPr>
          <a:xfrm>
            <a:off x="1298448" y="365988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Pair treated and control units with similar X; compare within pairs. Transparent but sensitive to the distance metric and overlap.</a:t>
            </a:r>
            <a:endParaRPr lang="en-US" sz="1250" dirty="0"/>
          </a:p>
        </p:txBody>
      </p:sp>
      <p:sp>
        <p:nvSpPr>
          <p:cNvPr id="13" name="Shape 11"/>
          <p:cNvSpPr/>
          <p:nvPr/>
        </p:nvSpPr>
        <p:spPr>
          <a:xfrm>
            <a:off x="566928" y="4320540"/>
            <a:ext cx="502920" cy="502920"/>
          </a:xfrm>
          <a:prstGeom prst="ellipse">
            <a:avLst/>
          </a:prstGeom>
          <a:solidFill>
            <a:srgbClr val="EA7B38"/>
          </a:solidFill>
          <a:ln/>
        </p:spPr>
        <p:txBody>
          <a:bodyPr/>
          <a:lstStyle/>
          <a:p>
            <a:endParaRPr lang="en-SA"/>
          </a:p>
        </p:txBody>
      </p:sp>
      <p:sp>
        <p:nvSpPr>
          <p:cNvPr id="14" name="Text 12"/>
          <p:cNvSpPr/>
          <p:nvPr/>
        </p:nvSpPr>
        <p:spPr>
          <a:xfrm>
            <a:off x="566928" y="43205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15" name="Text 13"/>
          <p:cNvSpPr/>
          <p:nvPr/>
        </p:nvSpPr>
        <p:spPr>
          <a:xfrm>
            <a:off x="1298448" y="427482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Propensity-score methods</a:t>
            </a:r>
            <a:endParaRPr lang="en-US" sz="1600" dirty="0"/>
          </a:p>
        </p:txBody>
      </p:sp>
      <p:sp>
        <p:nvSpPr>
          <p:cNvPr id="16" name="Text 14"/>
          <p:cNvSpPr/>
          <p:nvPr/>
        </p:nvSpPr>
        <p:spPr>
          <a:xfrm>
            <a:off x="1298448" y="458571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Model e(x)=P(T=1|X); match, stratify, or weight on it to collapse many covariates into one balancing score.</a:t>
            </a:r>
            <a:endParaRPr lang="en-US" sz="1250" dirty="0"/>
          </a:p>
        </p:txBody>
      </p:sp>
      <p:sp>
        <p:nvSpPr>
          <p:cNvPr id="17" name="Shape 15"/>
          <p:cNvSpPr/>
          <p:nvPr/>
        </p:nvSpPr>
        <p:spPr>
          <a:xfrm>
            <a:off x="566928" y="5246370"/>
            <a:ext cx="502920" cy="502920"/>
          </a:xfrm>
          <a:prstGeom prst="ellipse">
            <a:avLst/>
          </a:prstGeom>
          <a:solidFill>
            <a:srgbClr val="3E9B90"/>
          </a:solidFill>
          <a:ln/>
        </p:spPr>
        <p:txBody>
          <a:bodyPr/>
          <a:lstStyle/>
          <a:p>
            <a:endParaRPr lang="en-SA"/>
          </a:p>
        </p:txBody>
      </p:sp>
      <p:sp>
        <p:nvSpPr>
          <p:cNvPr id="18" name="Text 16"/>
          <p:cNvSpPr/>
          <p:nvPr/>
        </p:nvSpPr>
        <p:spPr>
          <a:xfrm>
            <a:off x="566928" y="524637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04</a:t>
            </a:r>
            <a:endParaRPr lang="en-US" sz="1300" dirty="0"/>
          </a:p>
        </p:txBody>
      </p:sp>
      <p:sp>
        <p:nvSpPr>
          <p:cNvPr id="19" name="Text 17"/>
          <p:cNvSpPr/>
          <p:nvPr/>
        </p:nvSpPr>
        <p:spPr>
          <a:xfrm>
            <a:off x="1298448" y="520065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IPW</a:t>
            </a:r>
            <a:endParaRPr lang="en-US" sz="1600" dirty="0"/>
          </a:p>
        </p:txBody>
      </p:sp>
      <p:sp>
        <p:nvSpPr>
          <p:cNvPr id="20" name="Text 18"/>
          <p:cNvSpPr/>
          <p:nvPr/>
        </p:nvSpPr>
        <p:spPr>
          <a:xfrm>
            <a:off x="1298448" y="551154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Weight units by 1/e(x) or 1/(1−e(x)) to rebuild a pseudo-population where T ⊥ X. Fails if the treatment model is wrong.</a:t>
            </a:r>
            <a:endParaRPr lang="en-US" sz="1250" dirty="0"/>
          </a:p>
        </p:txBody>
      </p:sp>
      <p:sp>
        <p:nvSpPr>
          <p:cNvPr id="21" name="Text 19"/>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ADJUSTMENT</a:t>
            </a:r>
            <a:endParaRPr lang="en-US" sz="900" dirty="0"/>
          </a:p>
        </p:txBody>
      </p:sp>
      <p:sp>
        <p:nvSpPr>
          <p:cNvPr id="22" name="Text 20"/>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95  /  221</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2</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The Propensity Score</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Rosenbaum &amp; Rubin's key result: if adjusting for X suffices, adjusting for the scalar e(x) suffices too.</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Balancing property</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Within a level of the propensity score, treated and control units have the same distribution of X — mimicking a mini-experiment.</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Dimension reduction</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It replaces a high-dimensional matching problem with a one-dimensional one — easier to diagnose and visualise.</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It is a means, not an end</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Judge it by covariate balance achieved, not by how well it predicts treatment. A perfect classifier destroys overlap.</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DIAGNOSTIC FIRST</a:t>
            </a:r>
            <a:endParaRPr lang="en-US" sz="1100" dirty="0"/>
          </a:p>
        </p:txBody>
      </p:sp>
      <p:sp>
        <p:nvSpPr>
          <p:cNvPr id="16" name="Text 14"/>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dirty="0">
                <a:solidFill>
                  <a:srgbClr val="16233F"/>
                </a:solidFill>
                <a:latin typeface="Calibri" pitchFamily="34" charset="0"/>
                <a:ea typeface="Calibri" pitchFamily="34" charset="-122"/>
                <a:cs typeface="Calibri" pitchFamily="34" charset="-120"/>
              </a:rPr>
              <a:t>Always plot the propensity distributions by arm and check standardized mean differences after adjustment — balance, not the model's AUC, is the goal.</a:t>
            </a:r>
            <a:endParaRPr lang="en-US" sz="13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ADJUSTMENT</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96  /  221</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2</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Inverse-Probability Weighting</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Re-weight the sample so that, in the weighted world, treatment looks randomly assigned.</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weights</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Treated units get weight 1/e(x); controls get 1/(1−e(x)). Rare-in-arm units count for more.</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danger</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Propensities near 0 or 1 create enormous weights and unstable, high-variance estimates.</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Stabilise</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Use stabilised or trimmed weights, or switch to overlap weights, which downweight the extremes gracefully.</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ADJUSTMENT</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97  /  221</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2</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Doubly-Robust Estimation</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Combine an outcome model and a treatment model so that getting either one right yields a consistent estimate.</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Two chances to be right</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AIPW / TMLE stay consistent if the outcome model or the propensity model is correctly specified — not necessarily both.</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ML-friendly</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With cross-fitting, flexible machine-learning nuisance models plug in while preserving valid confidence intervals (double/debiased ML).</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Why it is the default</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It relaxes the modelling burden and delivers efficient estimates — the modern workhorse for observational effects.</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ROBUSTNESS</a:t>
            </a:r>
            <a:endParaRPr lang="en-US" sz="1100" dirty="0"/>
          </a:p>
        </p:txBody>
      </p:sp>
      <p:sp>
        <p:nvSpPr>
          <p:cNvPr id="16" name="Text 14"/>
          <p:cNvSpPr/>
          <p:nvPr/>
        </p:nvSpPr>
        <p:spPr>
          <a:xfrm>
            <a:off x="7744968" y="2331720"/>
            <a:ext cx="3605479" cy="1097280"/>
          </a:xfrm>
          <a:prstGeom prst="rect">
            <a:avLst/>
          </a:prstGeom>
          <a:noFill/>
          <a:ln/>
        </p:spPr>
        <p:txBody>
          <a:bodyPr wrap="square" lIns="0" tIns="0" rIns="0" bIns="0" rtlCol="0" anchor="t"/>
          <a:lstStyle/>
          <a:p>
            <a:pPr marL="0" indent="0">
              <a:buNone/>
            </a:pPr>
            <a:r>
              <a:rPr lang="en-US" sz="5400" b="1" dirty="0">
                <a:solidFill>
                  <a:srgbClr val="16233F"/>
                </a:solidFill>
                <a:latin typeface="Cambria" pitchFamily="34" charset="0"/>
                <a:ea typeface="Cambria" pitchFamily="34" charset="-122"/>
                <a:cs typeface="Cambria" pitchFamily="34" charset="-120"/>
              </a:rPr>
              <a:t>1 of 2</a:t>
            </a:r>
            <a:endParaRPr lang="en-US" sz="5400" dirty="0"/>
          </a:p>
        </p:txBody>
      </p:sp>
      <p:sp>
        <p:nvSpPr>
          <p:cNvPr id="17" name="Text 15"/>
          <p:cNvSpPr/>
          <p:nvPr/>
        </p:nvSpPr>
        <p:spPr>
          <a:xfrm>
            <a:off x="7744968" y="3520440"/>
            <a:ext cx="3605479" cy="2103120"/>
          </a:xfrm>
          <a:prstGeom prst="rect">
            <a:avLst/>
          </a:prstGeom>
          <a:noFill/>
          <a:ln/>
        </p:spPr>
        <p:txBody>
          <a:bodyPr wrap="square" lIns="0" tIns="0" rIns="0" bIns="0" rtlCol="0" anchor="t"/>
          <a:lstStyle/>
          <a:p>
            <a:pPr marL="0" indent="0">
              <a:lnSpc>
                <a:spcPct val="120000"/>
              </a:lnSpc>
              <a:buNone/>
            </a:pPr>
            <a:r>
              <a:rPr lang="en-US" sz="1300" dirty="0">
                <a:solidFill>
                  <a:srgbClr val="566581"/>
                </a:solidFill>
                <a:latin typeface="Calibri" pitchFamily="34" charset="0"/>
                <a:ea typeface="Calibri" pitchFamily="34" charset="-122"/>
                <a:cs typeface="Calibri" pitchFamily="34" charset="-120"/>
              </a:rPr>
              <a:t>A doubly-robust estimator needs only one of its two models to be right. Cross-fitting then lets you use powerful ML without breaking inference.</a:t>
            </a:r>
            <a:endParaRPr lang="en-US" sz="1300" dirty="0"/>
          </a:p>
        </p:txBody>
      </p:sp>
      <p:sp>
        <p:nvSpPr>
          <p:cNvPr id="18" name="Text 1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ADJUSTMENT</a:t>
            </a:r>
            <a:endParaRPr lang="en-US" sz="900" dirty="0"/>
          </a:p>
        </p:txBody>
      </p:sp>
      <p:sp>
        <p:nvSpPr>
          <p:cNvPr id="19" name="Text 1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98  /  221</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2</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Matching vs. Weighting</a:t>
            </a:r>
            <a:endParaRPr lang="en-US" sz="3400" dirty="0"/>
          </a:p>
        </p:txBody>
      </p:sp>
      <p:sp>
        <p:nvSpPr>
          <p:cNvPr id="4" name="Shape 2"/>
          <p:cNvSpPr/>
          <p:nvPr/>
        </p:nvSpPr>
        <p:spPr>
          <a:xfrm>
            <a:off x="566928" y="1828800"/>
            <a:ext cx="5117440" cy="4160520"/>
          </a:xfrm>
          <a:prstGeom prst="roundRect">
            <a:avLst>
              <a:gd name="adj" fmla="val 2198"/>
            </a:avLst>
          </a:prstGeom>
          <a:solidFill>
            <a:srgbClr val="F4F7FB"/>
          </a:solidFill>
          <a:ln w="12700">
            <a:solidFill>
              <a:srgbClr val="D9E2F0"/>
            </a:solidFill>
            <a:prstDash val="solid"/>
          </a:ln>
        </p:spPr>
        <p:txBody>
          <a:bodyPr/>
          <a:lstStyle/>
          <a:p>
            <a:endParaRPr lang="en-SA"/>
          </a:p>
        </p:txBody>
      </p:sp>
      <p:sp>
        <p:nvSpPr>
          <p:cNvPr id="5" name="Text 3"/>
          <p:cNvSpPr/>
          <p:nvPr/>
        </p:nvSpPr>
        <p:spPr>
          <a:xfrm>
            <a:off x="859536" y="2084832"/>
            <a:ext cx="4532224"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MATCHING</a:t>
            </a:r>
            <a:endParaRPr lang="en-US" sz="1100" dirty="0"/>
          </a:p>
        </p:txBody>
      </p:sp>
      <p:sp>
        <p:nvSpPr>
          <p:cNvPr id="6" name="Text 4"/>
          <p:cNvSpPr/>
          <p:nvPr/>
        </p:nvSpPr>
        <p:spPr>
          <a:xfrm>
            <a:off x="859536" y="2377440"/>
            <a:ext cx="4532224" cy="457200"/>
          </a:xfrm>
          <a:prstGeom prst="rect">
            <a:avLst/>
          </a:prstGeom>
          <a:noFill/>
          <a:ln/>
        </p:spPr>
        <p:txBody>
          <a:bodyPr wrap="square" lIns="0" tIns="0" rIns="0" bIns="0" rtlCol="0" anchor="ctr"/>
          <a:lstStyle/>
          <a:p>
            <a:pPr marL="0" indent="0">
              <a:buNone/>
            </a:pPr>
            <a:r>
              <a:rPr lang="en-US" sz="2000" b="1" dirty="0">
                <a:solidFill>
                  <a:srgbClr val="16233F"/>
                </a:solidFill>
                <a:latin typeface="Cambria" pitchFamily="34" charset="0"/>
                <a:ea typeface="Cambria" pitchFamily="34" charset="-122"/>
                <a:cs typeface="Cambria" pitchFamily="34" charset="-120"/>
              </a:rPr>
              <a:t>Construct Comparable Pairs</a:t>
            </a:r>
            <a:endParaRPr lang="en-US" sz="2000" dirty="0"/>
          </a:p>
        </p:txBody>
      </p:sp>
      <p:sp>
        <p:nvSpPr>
          <p:cNvPr id="7" name="Shape 5"/>
          <p:cNvSpPr/>
          <p:nvPr/>
        </p:nvSpPr>
        <p:spPr>
          <a:xfrm>
            <a:off x="877824" y="3072384"/>
            <a:ext cx="118872" cy="118872"/>
          </a:xfrm>
          <a:prstGeom prst="ellipse">
            <a:avLst/>
          </a:prstGeom>
          <a:solidFill>
            <a:srgbClr val="3FA9E0"/>
          </a:solidFill>
          <a:ln/>
        </p:spPr>
        <p:txBody>
          <a:bodyPr/>
          <a:lstStyle/>
          <a:p>
            <a:endParaRPr lang="en-SA"/>
          </a:p>
        </p:txBody>
      </p:sp>
      <p:sp>
        <p:nvSpPr>
          <p:cNvPr id="8" name="Text 6"/>
          <p:cNvSpPr/>
          <p:nvPr/>
        </p:nvSpPr>
        <p:spPr>
          <a:xfrm>
            <a:off x="1115568" y="3017520"/>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Intuitive, transparent, easy to explain.</a:t>
            </a:r>
            <a:endParaRPr lang="en-US" sz="1250" dirty="0"/>
          </a:p>
        </p:txBody>
      </p:sp>
      <p:sp>
        <p:nvSpPr>
          <p:cNvPr id="9" name="Shape 7"/>
          <p:cNvSpPr/>
          <p:nvPr/>
        </p:nvSpPr>
        <p:spPr>
          <a:xfrm>
            <a:off x="877824" y="3694176"/>
            <a:ext cx="118872" cy="118872"/>
          </a:xfrm>
          <a:prstGeom prst="ellipse">
            <a:avLst/>
          </a:prstGeom>
          <a:solidFill>
            <a:srgbClr val="3FA9E0"/>
          </a:solidFill>
          <a:ln/>
        </p:spPr>
        <p:txBody>
          <a:bodyPr/>
          <a:lstStyle/>
          <a:p>
            <a:endParaRPr lang="en-SA"/>
          </a:p>
        </p:txBody>
      </p:sp>
      <p:sp>
        <p:nvSpPr>
          <p:cNvPr id="10" name="Text 8"/>
          <p:cNvSpPr/>
          <p:nvPr/>
        </p:nvSpPr>
        <p:spPr>
          <a:xfrm>
            <a:off x="1115568" y="3639312"/>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Discards unmatched units — changes the estimand.</a:t>
            </a:r>
            <a:endParaRPr lang="en-US" sz="1250" dirty="0"/>
          </a:p>
        </p:txBody>
      </p:sp>
      <p:sp>
        <p:nvSpPr>
          <p:cNvPr id="11" name="Shape 9"/>
          <p:cNvSpPr/>
          <p:nvPr/>
        </p:nvSpPr>
        <p:spPr>
          <a:xfrm>
            <a:off x="877824" y="4315968"/>
            <a:ext cx="118872" cy="118872"/>
          </a:xfrm>
          <a:prstGeom prst="ellipse">
            <a:avLst/>
          </a:prstGeom>
          <a:solidFill>
            <a:srgbClr val="3FA9E0"/>
          </a:solidFill>
          <a:ln/>
        </p:spPr>
        <p:txBody>
          <a:bodyPr/>
          <a:lstStyle/>
          <a:p>
            <a:endParaRPr lang="en-SA"/>
          </a:p>
        </p:txBody>
      </p:sp>
      <p:sp>
        <p:nvSpPr>
          <p:cNvPr id="12" name="Text 10"/>
          <p:cNvSpPr/>
          <p:nvPr/>
        </p:nvSpPr>
        <p:spPr>
          <a:xfrm>
            <a:off x="1115568" y="4261104"/>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Sensitive to distance metric and caliper.</a:t>
            </a:r>
            <a:endParaRPr lang="en-US" sz="1250" dirty="0"/>
          </a:p>
        </p:txBody>
      </p:sp>
      <p:sp>
        <p:nvSpPr>
          <p:cNvPr id="13" name="Shape 11"/>
          <p:cNvSpPr/>
          <p:nvPr/>
        </p:nvSpPr>
        <p:spPr>
          <a:xfrm>
            <a:off x="877824" y="4937760"/>
            <a:ext cx="118872" cy="118872"/>
          </a:xfrm>
          <a:prstGeom prst="ellipse">
            <a:avLst/>
          </a:prstGeom>
          <a:solidFill>
            <a:srgbClr val="3FA9E0"/>
          </a:solidFill>
          <a:ln/>
        </p:spPr>
        <p:txBody>
          <a:bodyPr/>
          <a:lstStyle/>
          <a:p>
            <a:endParaRPr lang="en-SA"/>
          </a:p>
        </p:txBody>
      </p:sp>
      <p:sp>
        <p:nvSpPr>
          <p:cNvPr id="14" name="Text 12"/>
          <p:cNvSpPr/>
          <p:nvPr/>
        </p:nvSpPr>
        <p:spPr>
          <a:xfrm>
            <a:off x="1115568" y="4882896"/>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Great for communicating to non-technical stakeholders.</a:t>
            </a:r>
            <a:endParaRPr lang="en-US" sz="1250" dirty="0"/>
          </a:p>
        </p:txBody>
      </p:sp>
      <p:sp>
        <p:nvSpPr>
          <p:cNvPr id="15" name="Shape 13"/>
          <p:cNvSpPr/>
          <p:nvPr/>
        </p:nvSpPr>
        <p:spPr>
          <a:xfrm>
            <a:off x="6507328" y="1828800"/>
            <a:ext cx="5117440" cy="4160520"/>
          </a:xfrm>
          <a:prstGeom prst="roundRect">
            <a:avLst>
              <a:gd name="adj" fmla="val 2198"/>
            </a:avLst>
          </a:prstGeom>
          <a:solidFill>
            <a:srgbClr val="16233F"/>
          </a:solidFill>
          <a:ln w="12700">
            <a:solidFill>
              <a:srgbClr val="16233F"/>
            </a:solidFill>
            <a:prstDash val="solid"/>
          </a:ln>
        </p:spPr>
        <p:txBody>
          <a:bodyPr/>
          <a:lstStyle/>
          <a:p>
            <a:endParaRPr lang="en-SA"/>
          </a:p>
        </p:txBody>
      </p:sp>
      <p:sp>
        <p:nvSpPr>
          <p:cNvPr id="16" name="Text 14"/>
          <p:cNvSpPr/>
          <p:nvPr/>
        </p:nvSpPr>
        <p:spPr>
          <a:xfrm>
            <a:off x="6799936" y="2084832"/>
            <a:ext cx="4532224" cy="274320"/>
          </a:xfrm>
          <a:prstGeom prst="rect">
            <a:avLst/>
          </a:prstGeom>
          <a:noFill/>
          <a:ln/>
        </p:spPr>
        <p:txBody>
          <a:bodyPr wrap="square" lIns="0" tIns="0" rIns="0" bIns="0" rtlCol="0" anchor="ctr"/>
          <a:lstStyle/>
          <a:p>
            <a:pPr marL="0" indent="0">
              <a:buNone/>
            </a:pPr>
            <a:r>
              <a:rPr lang="en-US" sz="1100" b="1" kern="0" spc="200" dirty="0">
                <a:solidFill>
                  <a:srgbClr val="70C8F2"/>
                </a:solidFill>
                <a:latin typeface="Calibri" pitchFamily="34" charset="0"/>
                <a:ea typeface="Calibri" pitchFamily="34" charset="-122"/>
                <a:cs typeface="Calibri" pitchFamily="34" charset="-120"/>
              </a:rPr>
              <a:t>WEIGHTING</a:t>
            </a:r>
            <a:endParaRPr lang="en-US" sz="1100" dirty="0"/>
          </a:p>
        </p:txBody>
      </p:sp>
      <p:sp>
        <p:nvSpPr>
          <p:cNvPr id="17" name="Text 15"/>
          <p:cNvSpPr/>
          <p:nvPr/>
        </p:nvSpPr>
        <p:spPr>
          <a:xfrm>
            <a:off x="6799936" y="2377440"/>
            <a:ext cx="4532224"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Re-weight the Whole Sample</a:t>
            </a:r>
            <a:endParaRPr lang="en-US" sz="2000" dirty="0"/>
          </a:p>
        </p:txBody>
      </p:sp>
      <p:sp>
        <p:nvSpPr>
          <p:cNvPr id="18" name="Shape 16"/>
          <p:cNvSpPr/>
          <p:nvPr/>
        </p:nvSpPr>
        <p:spPr>
          <a:xfrm>
            <a:off x="6818224" y="3072384"/>
            <a:ext cx="118872" cy="118872"/>
          </a:xfrm>
          <a:prstGeom prst="ellipse">
            <a:avLst/>
          </a:prstGeom>
          <a:solidFill>
            <a:srgbClr val="70C8F2"/>
          </a:solidFill>
          <a:ln/>
        </p:spPr>
        <p:txBody>
          <a:bodyPr/>
          <a:lstStyle/>
          <a:p>
            <a:endParaRPr lang="en-SA"/>
          </a:p>
        </p:txBody>
      </p:sp>
      <p:sp>
        <p:nvSpPr>
          <p:cNvPr id="19" name="Text 17"/>
          <p:cNvSpPr/>
          <p:nvPr/>
        </p:nvSpPr>
        <p:spPr>
          <a:xfrm>
            <a:off x="7055968" y="3017520"/>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C9DAF0"/>
                </a:solidFill>
                <a:latin typeface="Calibri" pitchFamily="34" charset="0"/>
                <a:ea typeface="Calibri" pitchFamily="34" charset="-122"/>
                <a:cs typeface="Calibri" pitchFamily="34" charset="-120"/>
              </a:rPr>
              <a:t>Uses all units; targets ATE or ATT cleanly.</a:t>
            </a:r>
            <a:endParaRPr lang="en-US" sz="1250" dirty="0"/>
          </a:p>
        </p:txBody>
      </p:sp>
      <p:sp>
        <p:nvSpPr>
          <p:cNvPr id="20" name="Shape 18"/>
          <p:cNvSpPr/>
          <p:nvPr/>
        </p:nvSpPr>
        <p:spPr>
          <a:xfrm>
            <a:off x="6818224" y="3694176"/>
            <a:ext cx="118872" cy="118872"/>
          </a:xfrm>
          <a:prstGeom prst="ellipse">
            <a:avLst/>
          </a:prstGeom>
          <a:solidFill>
            <a:srgbClr val="70C8F2"/>
          </a:solidFill>
          <a:ln/>
        </p:spPr>
        <p:txBody>
          <a:bodyPr/>
          <a:lstStyle/>
          <a:p>
            <a:endParaRPr lang="en-SA"/>
          </a:p>
        </p:txBody>
      </p:sp>
      <p:sp>
        <p:nvSpPr>
          <p:cNvPr id="21" name="Text 19"/>
          <p:cNvSpPr/>
          <p:nvPr/>
        </p:nvSpPr>
        <p:spPr>
          <a:xfrm>
            <a:off x="7055968" y="3639312"/>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C9DAF0"/>
                </a:solidFill>
                <a:latin typeface="Calibri" pitchFamily="34" charset="0"/>
                <a:ea typeface="Calibri" pitchFamily="34" charset="-122"/>
                <a:cs typeface="Calibri" pitchFamily="34" charset="-120"/>
              </a:rPr>
              <a:t>Extreme weights inflate variance.</a:t>
            </a:r>
            <a:endParaRPr lang="en-US" sz="1250" dirty="0"/>
          </a:p>
        </p:txBody>
      </p:sp>
      <p:sp>
        <p:nvSpPr>
          <p:cNvPr id="22" name="Shape 20"/>
          <p:cNvSpPr/>
          <p:nvPr/>
        </p:nvSpPr>
        <p:spPr>
          <a:xfrm>
            <a:off x="6818224" y="4315968"/>
            <a:ext cx="118872" cy="118872"/>
          </a:xfrm>
          <a:prstGeom prst="ellipse">
            <a:avLst/>
          </a:prstGeom>
          <a:solidFill>
            <a:srgbClr val="70C8F2"/>
          </a:solidFill>
          <a:ln/>
        </p:spPr>
        <p:txBody>
          <a:bodyPr/>
          <a:lstStyle/>
          <a:p>
            <a:endParaRPr lang="en-SA"/>
          </a:p>
        </p:txBody>
      </p:sp>
      <p:sp>
        <p:nvSpPr>
          <p:cNvPr id="23" name="Text 21"/>
          <p:cNvSpPr/>
          <p:nvPr/>
        </p:nvSpPr>
        <p:spPr>
          <a:xfrm>
            <a:off x="7055968" y="4261104"/>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C9DAF0"/>
                </a:solidFill>
                <a:latin typeface="Calibri" pitchFamily="34" charset="0"/>
                <a:ea typeface="Calibri" pitchFamily="34" charset="-122"/>
                <a:cs typeface="Calibri" pitchFamily="34" charset="-120"/>
              </a:rPr>
              <a:t>Pairs naturally with doubly-robust methods.</a:t>
            </a:r>
            <a:endParaRPr lang="en-US" sz="1250" dirty="0"/>
          </a:p>
        </p:txBody>
      </p:sp>
      <p:sp>
        <p:nvSpPr>
          <p:cNvPr id="24" name="Shape 22"/>
          <p:cNvSpPr/>
          <p:nvPr/>
        </p:nvSpPr>
        <p:spPr>
          <a:xfrm>
            <a:off x="6818224" y="4937760"/>
            <a:ext cx="118872" cy="118872"/>
          </a:xfrm>
          <a:prstGeom prst="ellipse">
            <a:avLst/>
          </a:prstGeom>
          <a:solidFill>
            <a:srgbClr val="70C8F2"/>
          </a:solidFill>
          <a:ln/>
        </p:spPr>
        <p:txBody>
          <a:bodyPr/>
          <a:lstStyle/>
          <a:p>
            <a:endParaRPr lang="en-SA"/>
          </a:p>
        </p:txBody>
      </p:sp>
      <p:sp>
        <p:nvSpPr>
          <p:cNvPr id="25" name="Text 23"/>
          <p:cNvSpPr/>
          <p:nvPr/>
        </p:nvSpPr>
        <p:spPr>
          <a:xfrm>
            <a:off x="7055968" y="4882896"/>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C9DAF0"/>
                </a:solidFill>
                <a:latin typeface="Calibri" pitchFamily="34" charset="0"/>
                <a:ea typeface="Calibri" pitchFamily="34" charset="-122"/>
                <a:cs typeface="Calibri" pitchFamily="34" charset="-120"/>
              </a:rPr>
              <a:t>Needs careful weight diagnostics and trimming.</a:t>
            </a:r>
            <a:endParaRPr lang="en-US" sz="1250" dirty="0"/>
          </a:p>
        </p:txBody>
      </p:sp>
      <p:sp>
        <p:nvSpPr>
          <p:cNvPr id="26" name="Shape 24"/>
          <p:cNvSpPr/>
          <p:nvPr/>
        </p:nvSpPr>
        <p:spPr>
          <a:xfrm>
            <a:off x="5803240" y="3616452"/>
            <a:ext cx="585216" cy="585216"/>
          </a:xfrm>
          <a:prstGeom prst="ellipse">
            <a:avLst/>
          </a:prstGeom>
          <a:solidFill>
            <a:srgbClr val="3FA9E0"/>
          </a:solidFill>
          <a:ln w="25400">
            <a:solidFill>
              <a:srgbClr val="FFFFFF"/>
            </a:solidFill>
            <a:prstDash val="solid"/>
          </a:ln>
        </p:spPr>
        <p:txBody>
          <a:bodyPr/>
          <a:lstStyle/>
          <a:p>
            <a:endParaRPr lang="en-SA"/>
          </a:p>
        </p:txBody>
      </p:sp>
      <p:sp>
        <p:nvSpPr>
          <p:cNvPr id="27" name="Text 25"/>
          <p:cNvSpPr/>
          <p:nvPr/>
        </p:nvSpPr>
        <p:spPr>
          <a:xfrm>
            <a:off x="5803240" y="3616452"/>
            <a:ext cx="585216" cy="58521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VS</a:t>
            </a:r>
            <a:endParaRPr lang="en-US" sz="1500" dirty="0"/>
          </a:p>
        </p:txBody>
      </p:sp>
      <p:sp>
        <p:nvSpPr>
          <p:cNvPr id="28" name="Text 2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ADJUSTMENT</a:t>
            </a:r>
            <a:endParaRPr lang="en-US" sz="900" dirty="0"/>
          </a:p>
        </p:txBody>
      </p:sp>
      <p:sp>
        <p:nvSpPr>
          <p:cNvPr id="29" name="Text 2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99  /  221</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2</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An Observational Estimation Checklist</a:t>
            </a:r>
            <a:endParaRPr lang="en-US" sz="3400" dirty="0"/>
          </a:p>
        </p:txBody>
      </p:sp>
      <p:sp>
        <p:nvSpPr>
          <p:cNvPr id="4" name="Text 2"/>
          <p:cNvSpPr/>
          <p:nvPr/>
        </p:nvSpPr>
        <p:spPr>
          <a:xfrm>
            <a:off x="566928" y="1737360"/>
            <a:ext cx="11057839" cy="64008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Run this sequence every time, in this order.</a:t>
            </a:r>
            <a:endParaRPr lang="en-US" sz="1450" dirty="0"/>
          </a:p>
        </p:txBody>
      </p:sp>
      <p:sp>
        <p:nvSpPr>
          <p:cNvPr id="5" name="Shape 3"/>
          <p:cNvSpPr/>
          <p:nvPr/>
        </p:nvSpPr>
        <p:spPr>
          <a:xfrm>
            <a:off x="566928" y="2578608"/>
            <a:ext cx="137160" cy="137160"/>
          </a:xfrm>
          <a:prstGeom prst="ellipse">
            <a:avLst/>
          </a:prstGeom>
          <a:solidFill>
            <a:srgbClr val="3FA9E0"/>
          </a:solidFill>
          <a:ln/>
        </p:spPr>
        <p:txBody>
          <a:bodyPr/>
          <a:lstStyle/>
          <a:p>
            <a:endParaRPr lang="en-SA"/>
          </a:p>
        </p:txBody>
      </p:sp>
      <p:sp>
        <p:nvSpPr>
          <p:cNvPr id="6" name="Text 4"/>
          <p:cNvSpPr/>
          <p:nvPr/>
        </p:nvSpPr>
        <p:spPr>
          <a:xfrm>
            <a:off x="841248" y="251460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Define the estimand (ATE vs. ATT) and the target population first.</a:t>
            </a:r>
            <a:endParaRPr lang="en-US" sz="1400" dirty="0"/>
          </a:p>
        </p:txBody>
      </p:sp>
      <p:sp>
        <p:nvSpPr>
          <p:cNvPr id="7" name="Shape 5"/>
          <p:cNvSpPr/>
          <p:nvPr/>
        </p:nvSpPr>
        <p:spPr>
          <a:xfrm>
            <a:off x="566928" y="3180588"/>
            <a:ext cx="137160" cy="137160"/>
          </a:xfrm>
          <a:prstGeom prst="ellipse">
            <a:avLst/>
          </a:prstGeom>
          <a:solidFill>
            <a:srgbClr val="5A5BA6"/>
          </a:solidFill>
          <a:ln/>
        </p:spPr>
        <p:txBody>
          <a:bodyPr/>
          <a:lstStyle/>
          <a:p>
            <a:endParaRPr lang="en-SA"/>
          </a:p>
        </p:txBody>
      </p:sp>
      <p:sp>
        <p:nvSpPr>
          <p:cNvPr id="8" name="Text 6"/>
          <p:cNvSpPr/>
          <p:nvPr/>
        </p:nvSpPr>
        <p:spPr>
          <a:xfrm>
            <a:off x="841248" y="311658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Specify the adjustment set from the DAG — not from what improves fit.</a:t>
            </a:r>
            <a:endParaRPr lang="en-US" sz="1400" dirty="0"/>
          </a:p>
        </p:txBody>
      </p:sp>
      <p:sp>
        <p:nvSpPr>
          <p:cNvPr id="9" name="Shape 7"/>
          <p:cNvSpPr/>
          <p:nvPr/>
        </p:nvSpPr>
        <p:spPr>
          <a:xfrm>
            <a:off x="566928" y="3782568"/>
            <a:ext cx="137160" cy="137160"/>
          </a:xfrm>
          <a:prstGeom prst="ellipse">
            <a:avLst/>
          </a:prstGeom>
          <a:solidFill>
            <a:srgbClr val="EA7B38"/>
          </a:solidFill>
          <a:ln/>
        </p:spPr>
        <p:txBody>
          <a:bodyPr/>
          <a:lstStyle/>
          <a:p>
            <a:endParaRPr lang="en-SA"/>
          </a:p>
        </p:txBody>
      </p:sp>
      <p:sp>
        <p:nvSpPr>
          <p:cNvPr id="10" name="Text 8"/>
          <p:cNvSpPr/>
          <p:nvPr/>
        </p:nvSpPr>
        <p:spPr>
          <a:xfrm>
            <a:off x="841248" y="371856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Check overlap; trim or restrict to common support before estimating.</a:t>
            </a:r>
            <a:endParaRPr lang="en-US" sz="1400" dirty="0"/>
          </a:p>
        </p:txBody>
      </p:sp>
      <p:sp>
        <p:nvSpPr>
          <p:cNvPr id="11" name="Shape 9"/>
          <p:cNvSpPr/>
          <p:nvPr/>
        </p:nvSpPr>
        <p:spPr>
          <a:xfrm>
            <a:off x="566928" y="4384548"/>
            <a:ext cx="137160" cy="137160"/>
          </a:xfrm>
          <a:prstGeom prst="ellipse">
            <a:avLst/>
          </a:prstGeom>
          <a:solidFill>
            <a:srgbClr val="3E9B90"/>
          </a:solidFill>
          <a:ln/>
        </p:spPr>
        <p:txBody>
          <a:bodyPr/>
          <a:lstStyle/>
          <a:p>
            <a:endParaRPr lang="en-SA"/>
          </a:p>
        </p:txBody>
      </p:sp>
      <p:sp>
        <p:nvSpPr>
          <p:cNvPr id="12" name="Text 10"/>
          <p:cNvSpPr/>
          <p:nvPr/>
        </p:nvSpPr>
        <p:spPr>
          <a:xfrm>
            <a:off x="841248" y="432054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Verify covariate balance after adjustment (standardized mean differences &lt; 0.1).</a:t>
            </a:r>
            <a:endParaRPr lang="en-US" sz="1400" dirty="0"/>
          </a:p>
        </p:txBody>
      </p:sp>
      <p:sp>
        <p:nvSpPr>
          <p:cNvPr id="13" name="Shape 11"/>
          <p:cNvSpPr/>
          <p:nvPr/>
        </p:nvSpPr>
        <p:spPr>
          <a:xfrm>
            <a:off x="566928" y="4986528"/>
            <a:ext cx="137160" cy="137160"/>
          </a:xfrm>
          <a:prstGeom prst="ellipse">
            <a:avLst/>
          </a:prstGeom>
          <a:solidFill>
            <a:srgbClr val="73BB59"/>
          </a:solidFill>
          <a:ln/>
        </p:spPr>
        <p:txBody>
          <a:bodyPr/>
          <a:lstStyle/>
          <a:p>
            <a:endParaRPr lang="en-SA"/>
          </a:p>
        </p:txBody>
      </p:sp>
      <p:sp>
        <p:nvSpPr>
          <p:cNvPr id="14" name="Text 12"/>
          <p:cNvSpPr/>
          <p:nvPr/>
        </p:nvSpPr>
        <p:spPr>
          <a:xfrm>
            <a:off x="841248" y="492252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Prefer a doubly-robust estimator with cross-fitting; report a proper interval.</a:t>
            </a:r>
            <a:endParaRPr lang="en-US" sz="1400" dirty="0"/>
          </a:p>
        </p:txBody>
      </p:sp>
      <p:sp>
        <p:nvSpPr>
          <p:cNvPr id="15" name="Shape 13"/>
          <p:cNvSpPr/>
          <p:nvPr/>
        </p:nvSpPr>
        <p:spPr>
          <a:xfrm>
            <a:off x="566928" y="5588508"/>
            <a:ext cx="137160" cy="137160"/>
          </a:xfrm>
          <a:prstGeom prst="ellipse">
            <a:avLst/>
          </a:prstGeom>
          <a:solidFill>
            <a:srgbClr val="3FA9E0"/>
          </a:solidFill>
          <a:ln/>
        </p:spPr>
        <p:txBody>
          <a:bodyPr/>
          <a:lstStyle/>
          <a:p>
            <a:endParaRPr lang="en-SA"/>
          </a:p>
        </p:txBody>
      </p:sp>
      <p:sp>
        <p:nvSpPr>
          <p:cNvPr id="16" name="Text 14"/>
          <p:cNvSpPr/>
          <p:nvPr/>
        </p:nvSpPr>
        <p:spPr>
          <a:xfrm>
            <a:off x="841248" y="552450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Follow with a sensitivity analysis for unmeasured confounding.</a:t>
            </a:r>
            <a:endParaRPr lang="en-US" sz="140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ADJUSTMENT</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100  /  221</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2</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Knowledge Check: Adjustment</a:t>
            </a:r>
            <a:endParaRPr lang="en-US" sz="3400" dirty="0"/>
          </a:p>
        </p:txBody>
      </p:sp>
      <p:sp>
        <p:nvSpPr>
          <p:cNvPr id="4" name="Shape 2"/>
          <p:cNvSpPr/>
          <p:nvPr/>
        </p:nvSpPr>
        <p:spPr>
          <a:xfrm>
            <a:off x="566928" y="178308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5" name="Shape 3"/>
          <p:cNvSpPr/>
          <p:nvPr/>
        </p:nvSpPr>
        <p:spPr>
          <a:xfrm>
            <a:off x="768096" y="1965960"/>
            <a:ext cx="384048" cy="384048"/>
          </a:xfrm>
          <a:prstGeom prst="ellipse">
            <a:avLst/>
          </a:prstGeom>
          <a:solidFill>
            <a:srgbClr val="3FA9E0"/>
          </a:solidFill>
          <a:ln/>
        </p:spPr>
        <p:txBody>
          <a:bodyPr/>
          <a:lstStyle/>
          <a:p>
            <a:endParaRPr lang="en-SA"/>
          </a:p>
        </p:txBody>
      </p:sp>
      <p:sp>
        <p:nvSpPr>
          <p:cNvPr id="6" name="Text 4"/>
          <p:cNvSpPr/>
          <p:nvPr/>
        </p:nvSpPr>
        <p:spPr>
          <a:xfrm>
            <a:off x="768096" y="19659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Q1</a:t>
            </a:r>
            <a:endParaRPr lang="en-US" sz="1300" dirty="0"/>
          </a:p>
        </p:txBody>
      </p:sp>
      <p:sp>
        <p:nvSpPr>
          <p:cNvPr id="7" name="Text 5"/>
          <p:cNvSpPr/>
          <p:nvPr/>
        </p:nvSpPr>
        <p:spPr>
          <a:xfrm>
            <a:off x="1344168" y="192938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A doubly-robust estimator is consistent if:</a:t>
            </a:r>
            <a:endParaRPr lang="en-US" sz="1400" dirty="0"/>
          </a:p>
        </p:txBody>
      </p:sp>
      <p:sp>
        <p:nvSpPr>
          <p:cNvPr id="8" name="Text 6"/>
          <p:cNvSpPr/>
          <p:nvPr/>
        </p:nvSpPr>
        <p:spPr>
          <a:xfrm>
            <a:off x="1344168" y="238658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Both models are correct      B) Either model is correct      C) Neither model is needed      D) The sample is large</a:t>
            </a:r>
            <a:endParaRPr lang="en-US" sz="1200" dirty="0"/>
          </a:p>
        </p:txBody>
      </p:sp>
      <p:sp>
        <p:nvSpPr>
          <p:cNvPr id="9" name="Shape 7"/>
          <p:cNvSpPr/>
          <p:nvPr/>
        </p:nvSpPr>
        <p:spPr>
          <a:xfrm>
            <a:off x="566928" y="306324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10" name="Shape 8"/>
          <p:cNvSpPr/>
          <p:nvPr/>
        </p:nvSpPr>
        <p:spPr>
          <a:xfrm>
            <a:off x="768096" y="3246120"/>
            <a:ext cx="384048" cy="384048"/>
          </a:xfrm>
          <a:prstGeom prst="ellipse">
            <a:avLst/>
          </a:prstGeom>
          <a:solidFill>
            <a:srgbClr val="5A5BA6"/>
          </a:solidFill>
          <a:ln/>
        </p:spPr>
        <p:txBody>
          <a:bodyPr/>
          <a:lstStyle/>
          <a:p>
            <a:endParaRPr lang="en-SA"/>
          </a:p>
        </p:txBody>
      </p:sp>
      <p:sp>
        <p:nvSpPr>
          <p:cNvPr id="11" name="Text 9"/>
          <p:cNvSpPr/>
          <p:nvPr/>
        </p:nvSpPr>
        <p:spPr>
          <a:xfrm>
            <a:off x="768096" y="32461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Q2</a:t>
            </a:r>
            <a:endParaRPr lang="en-US" sz="1300" dirty="0"/>
          </a:p>
        </p:txBody>
      </p:sp>
      <p:sp>
        <p:nvSpPr>
          <p:cNvPr id="12" name="Text 10"/>
          <p:cNvSpPr/>
          <p:nvPr/>
        </p:nvSpPr>
        <p:spPr>
          <a:xfrm>
            <a:off x="1344168" y="320954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You should judge a propensity model primarily by its:</a:t>
            </a:r>
            <a:endParaRPr lang="en-US" sz="1400" dirty="0"/>
          </a:p>
        </p:txBody>
      </p:sp>
      <p:sp>
        <p:nvSpPr>
          <p:cNvPr id="13" name="Text 11"/>
          <p:cNvSpPr/>
          <p:nvPr/>
        </p:nvSpPr>
        <p:spPr>
          <a:xfrm>
            <a:off x="1344168" y="366674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AUC      B) Covariate balance achieved      C) Number of features      D) R-squared</a:t>
            </a:r>
            <a:endParaRPr lang="en-US" sz="1200" dirty="0"/>
          </a:p>
        </p:txBody>
      </p:sp>
      <p:sp>
        <p:nvSpPr>
          <p:cNvPr id="14" name="Shape 12"/>
          <p:cNvSpPr/>
          <p:nvPr/>
        </p:nvSpPr>
        <p:spPr>
          <a:xfrm>
            <a:off x="566928" y="434340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15" name="Shape 13"/>
          <p:cNvSpPr/>
          <p:nvPr/>
        </p:nvSpPr>
        <p:spPr>
          <a:xfrm>
            <a:off x="768096" y="4526280"/>
            <a:ext cx="384048" cy="384048"/>
          </a:xfrm>
          <a:prstGeom prst="ellipse">
            <a:avLst/>
          </a:prstGeom>
          <a:solidFill>
            <a:srgbClr val="EA7B38"/>
          </a:solidFill>
          <a:ln/>
        </p:spPr>
        <p:txBody>
          <a:bodyPr/>
          <a:lstStyle/>
          <a:p>
            <a:endParaRPr lang="en-SA"/>
          </a:p>
        </p:txBody>
      </p:sp>
      <p:sp>
        <p:nvSpPr>
          <p:cNvPr id="16" name="Text 14"/>
          <p:cNvSpPr/>
          <p:nvPr/>
        </p:nvSpPr>
        <p:spPr>
          <a:xfrm>
            <a:off x="768096" y="45262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Q3</a:t>
            </a:r>
            <a:endParaRPr lang="en-US" sz="1300" dirty="0"/>
          </a:p>
        </p:txBody>
      </p:sp>
      <p:sp>
        <p:nvSpPr>
          <p:cNvPr id="17" name="Text 15"/>
          <p:cNvSpPr/>
          <p:nvPr/>
        </p:nvSpPr>
        <p:spPr>
          <a:xfrm>
            <a:off x="1344168" y="448970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Propensity scores near 0 or 1 in IPW cause:</a:t>
            </a:r>
            <a:endParaRPr lang="en-US" sz="1400" dirty="0"/>
          </a:p>
        </p:txBody>
      </p:sp>
      <p:sp>
        <p:nvSpPr>
          <p:cNvPr id="18" name="Text 16"/>
          <p:cNvSpPr/>
          <p:nvPr/>
        </p:nvSpPr>
        <p:spPr>
          <a:xfrm>
            <a:off x="1344168" y="494690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Bias only      B) Extreme weights and high variance      C) Better overlap      D) No issue</a:t>
            </a:r>
            <a:endParaRPr lang="en-US" sz="1200" dirty="0"/>
          </a:p>
        </p:txBody>
      </p:sp>
      <p:sp>
        <p:nvSpPr>
          <p:cNvPr id="19" name="Text 17"/>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ADJUSTMENT</a:t>
            </a:r>
            <a:endParaRPr lang="en-US" sz="900" dirty="0"/>
          </a:p>
        </p:txBody>
      </p:sp>
      <p:sp>
        <p:nvSpPr>
          <p:cNvPr id="20" name="Text 18"/>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101  /  221</a:t>
            </a:r>
            <a:endParaRPr lang="en-US" sz="900" dirty="0"/>
          </a:p>
        </p:txBody>
      </p:sp>
      <p:pic>
        <p:nvPicPr>
          <p:cNvPr id="21" name="Picture 20" descr="Day3_Check2.png"/>
          <p:cNvPicPr>
            <a:picLocks noChangeAspect="1"/>
          </p:cNvPicPr>
          <p:nvPr/>
        </p:nvPicPr>
        <p:blipFill>
          <a:blip r:embed="rId3"/>
          <a:stretch>
            <a:fillRect/>
          </a:stretch>
        </p:blipFill>
        <p:spPr>
          <a:xfrm>
            <a:off x="10637520" y="320040"/>
            <a:ext cx="1143000" cy="1143000"/>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DAY 3 · HOUR 3</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Difference-in-Differences &amp; Synthetic Control</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Exploiting timing: parallel trends, two-way fixed effects, event-study diagnostics, and building a synthetic counterfactual.</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DAY 3</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102  /  221</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3</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Difference-in-Differences: The Idea</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When a treatment switches on at a known time for some units, compare their before/after change to the change in never-treated units.</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double difference</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τ = (Y₁ᵖᵒˢᵗ − Y₁ᵖʳᵉ) − (Y₀ᵖᵒˢᵗ − Y₀ᵖʳᵉ). Differencing removes fixed group and time effects.</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What it controls for</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Any time-invariant difference between groups, and any common shock hitting both groups equally.</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What it cannot fix</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Differential trends or shocks that hit the groups unequally — the identifying assumption's Achilles heel.</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THE ESTIMATOR</a:t>
            </a:r>
            <a:endParaRPr lang="en-US" sz="1100" dirty="0"/>
          </a:p>
        </p:txBody>
      </p:sp>
      <p:sp>
        <p:nvSpPr>
          <p:cNvPr id="16" name="Text 14"/>
          <p:cNvSpPr/>
          <p:nvPr/>
        </p:nvSpPr>
        <p:spPr>
          <a:xfrm>
            <a:off x="7744968" y="2331720"/>
            <a:ext cx="3605479" cy="1097280"/>
          </a:xfrm>
          <a:prstGeom prst="rect">
            <a:avLst/>
          </a:prstGeom>
          <a:noFill/>
          <a:ln/>
        </p:spPr>
        <p:txBody>
          <a:bodyPr wrap="square" lIns="0" tIns="0" rIns="0" bIns="0" rtlCol="0" anchor="t"/>
          <a:lstStyle/>
          <a:p>
            <a:pPr marL="0" indent="0">
              <a:buNone/>
            </a:pPr>
            <a:r>
              <a:rPr lang="en-US" sz="5400" b="1" dirty="0">
                <a:solidFill>
                  <a:srgbClr val="16233F"/>
                </a:solidFill>
                <a:latin typeface="Cambria" pitchFamily="34" charset="0"/>
                <a:ea typeface="Cambria" pitchFamily="34" charset="-122"/>
                <a:cs typeface="Cambria" pitchFamily="34" charset="-120"/>
              </a:rPr>
              <a:t>2×2</a:t>
            </a:r>
            <a:endParaRPr lang="en-US" sz="5400" dirty="0"/>
          </a:p>
        </p:txBody>
      </p:sp>
      <p:sp>
        <p:nvSpPr>
          <p:cNvPr id="17" name="Text 15"/>
          <p:cNvSpPr/>
          <p:nvPr/>
        </p:nvSpPr>
        <p:spPr>
          <a:xfrm>
            <a:off x="7744968" y="3520440"/>
            <a:ext cx="3605479" cy="2103120"/>
          </a:xfrm>
          <a:prstGeom prst="rect">
            <a:avLst/>
          </a:prstGeom>
          <a:noFill/>
          <a:ln/>
        </p:spPr>
        <p:txBody>
          <a:bodyPr wrap="square" lIns="0" tIns="0" rIns="0" bIns="0" rtlCol="0" anchor="t"/>
          <a:lstStyle/>
          <a:p>
            <a:pPr marL="0" indent="0">
              <a:lnSpc>
                <a:spcPct val="120000"/>
              </a:lnSpc>
              <a:buNone/>
            </a:pPr>
            <a:r>
              <a:rPr lang="en-US" sz="1300" dirty="0">
                <a:solidFill>
                  <a:srgbClr val="566581"/>
                </a:solidFill>
                <a:latin typeface="Calibri" pitchFamily="34" charset="0"/>
                <a:ea typeface="Calibri" pitchFamily="34" charset="-122"/>
                <a:cs typeface="Calibri" pitchFamily="34" charset="-120"/>
              </a:rPr>
              <a:t>In its simplest form DiD is a table with two groups and two periods. A regression with group and time fixed effects plus an interaction generalises it.</a:t>
            </a:r>
            <a:endParaRPr lang="en-US" sz="1300" dirty="0"/>
          </a:p>
        </p:txBody>
      </p:sp>
      <p:sp>
        <p:nvSpPr>
          <p:cNvPr id="18" name="Text 1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DID</a:t>
            </a:r>
            <a:endParaRPr lang="en-US" sz="900" dirty="0"/>
          </a:p>
        </p:txBody>
      </p:sp>
      <p:sp>
        <p:nvSpPr>
          <p:cNvPr id="19" name="Text 1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103  /  221</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3</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Parallel Trends: The Load-Bearing Assumption</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DiD is credible only if, absent treatment, the treated group's outcome would have moved parallel to the control group's.</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It is counterfactual</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The assumption is about the untreated potential outcome — unobservable after treatment, so never fully testable.</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Probe with pre-trends</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Plot both groups before treatment; visibly parallel pre-periods make the assumption more plausible (not proven).</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Strengthen it</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Add covariate-adjusted or conditional parallel trends, or use a comparison group chosen to match pre-trends.</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CAUTION</a:t>
            </a:r>
            <a:endParaRPr lang="en-US" sz="1100" dirty="0"/>
          </a:p>
        </p:txBody>
      </p:sp>
      <p:sp>
        <p:nvSpPr>
          <p:cNvPr id="16" name="Text 14"/>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dirty="0">
                <a:solidFill>
                  <a:srgbClr val="16233F"/>
                </a:solidFill>
                <a:latin typeface="Calibri" pitchFamily="34" charset="0"/>
                <a:ea typeface="Calibri" pitchFamily="34" charset="-122"/>
                <a:cs typeface="Calibri" pitchFamily="34" charset="-120"/>
              </a:rPr>
              <a:t>Parallel pre-trends support but do not guarantee parallel counterfactual trends — a shock that coincides with treatment can still break identification.</a:t>
            </a:r>
            <a:endParaRPr lang="en-US" sz="13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DID</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104  /  221</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3</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Event Studies &amp; Dynamic Effects</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Replace the single before/after contrast with an effect estimated at each period relative to treatment.</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Leads and lags</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Estimate coefficients for periods before and after adoption; pre-period coefficients near zero support parallel trends.</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Reading the plot</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Flat pre-trends then a clear post-jump is the signature of a credible dynamic effect.</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Staggered adoption warning</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When units adopt at different times, naive two-way fixed effects can be badly biased by ‘forbidden’ comparisons.</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DID</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105  /  221</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3</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Modern DiD: Staggered Adoption</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A wave of recent work shows the classic two-way fixed-effects estimator can mislead when treatment timing varies.</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problem</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TWFE implicitly uses already-treated units as controls for later adopters, which can flip the sign of the estimate.</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diagnosis</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Decompositions reveal how much weight comes from these problematic comparisons.</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fixes</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Use heterogeneity-robust estimators (Callaway–Sant'Anna, Sun–Abraham, de Chaisemartin–D'Haultfœuille) that avoid bad contrasts.</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DID</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106  /  221</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3</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Synthetic Control</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When there is one treated unit and many candidate controls, build a weighted blend of controls that tracks the treated unit before treatment.</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construction</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Choose non-negative weights on control units so the synthetic unit matches the treated unit's pre-treatment path.</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estimate</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The post-treatment gap between the real and synthetic unit is the estimated effect.</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Inference</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Use placebo tests — apply the method to untreated units — to judge whether the observed gap is unusual.</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USE CASE</a:t>
            </a:r>
            <a:endParaRPr lang="en-US" sz="1100" dirty="0"/>
          </a:p>
        </p:txBody>
      </p:sp>
      <p:sp>
        <p:nvSpPr>
          <p:cNvPr id="16" name="Text 14"/>
          <p:cNvSpPr/>
          <p:nvPr/>
        </p:nvSpPr>
        <p:spPr>
          <a:xfrm>
            <a:off x="7744968" y="2331720"/>
            <a:ext cx="3605479" cy="1097280"/>
          </a:xfrm>
          <a:prstGeom prst="rect">
            <a:avLst/>
          </a:prstGeom>
          <a:noFill/>
          <a:ln/>
        </p:spPr>
        <p:txBody>
          <a:bodyPr wrap="square" lIns="0" tIns="0" rIns="0" bIns="0" rtlCol="0" anchor="t"/>
          <a:lstStyle/>
          <a:p>
            <a:pPr marL="0" indent="0">
              <a:buNone/>
            </a:pPr>
            <a:r>
              <a:rPr lang="en-US" sz="5400" b="1" dirty="0">
                <a:solidFill>
                  <a:srgbClr val="16233F"/>
                </a:solidFill>
                <a:latin typeface="Cambria" pitchFamily="34" charset="0"/>
                <a:ea typeface="Cambria" pitchFamily="34" charset="-122"/>
                <a:cs typeface="Cambria" pitchFamily="34" charset="-120"/>
              </a:rPr>
              <a:t>1 vs many</a:t>
            </a:r>
            <a:endParaRPr lang="en-US" sz="5400" dirty="0"/>
          </a:p>
        </p:txBody>
      </p:sp>
      <p:sp>
        <p:nvSpPr>
          <p:cNvPr id="17" name="Text 15"/>
          <p:cNvSpPr/>
          <p:nvPr/>
        </p:nvSpPr>
        <p:spPr>
          <a:xfrm>
            <a:off x="7744968" y="3520440"/>
            <a:ext cx="3605479" cy="2103120"/>
          </a:xfrm>
          <a:prstGeom prst="rect">
            <a:avLst/>
          </a:prstGeom>
          <a:noFill/>
          <a:ln/>
        </p:spPr>
        <p:txBody>
          <a:bodyPr wrap="square" lIns="0" tIns="0" rIns="0" bIns="0" rtlCol="0" anchor="t"/>
          <a:lstStyle/>
          <a:p>
            <a:pPr marL="0" indent="0">
              <a:lnSpc>
                <a:spcPct val="120000"/>
              </a:lnSpc>
              <a:buNone/>
            </a:pPr>
            <a:r>
              <a:rPr lang="en-US" sz="1300" dirty="0">
                <a:solidFill>
                  <a:srgbClr val="566581"/>
                </a:solidFill>
                <a:latin typeface="Calibri" pitchFamily="34" charset="0"/>
                <a:ea typeface="Calibri" pitchFamily="34" charset="-122"/>
                <a:cs typeface="Calibri" pitchFamily="34" charset="-120"/>
              </a:rPr>
              <a:t>Ideal for policy evaluation with a single treated region or firm and a donor pool of comparators — e.g. one province adopts a rule, others do not.</a:t>
            </a:r>
            <a:endParaRPr lang="en-US" sz="1300" dirty="0"/>
          </a:p>
        </p:txBody>
      </p:sp>
      <p:sp>
        <p:nvSpPr>
          <p:cNvPr id="18" name="Text 1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DID</a:t>
            </a:r>
            <a:endParaRPr lang="en-US" sz="900" dirty="0"/>
          </a:p>
        </p:txBody>
      </p:sp>
      <p:sp>
        <p:nvSpPr>
          <p:cNvPr id="19" name="Text 1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107  /  221</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3</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Knowledge Check: DiD</a:t>
            </a:r>
            <a:endParaRPr lang="en-US" sz="3400" dirty="0"/>
          </a:p>
        </p:txBody>
      </p:sp>
      <p:sp>
        <p:nvSpPr>
          <p:cNvPr id="4" name="Shape 2"/>
          <p:cNvSpPr/>
          <p:nvPr/>
        </p:nvSpPr>
        <p:spPr>
          <a:xfrm>
            <a:off x="566928" y="178308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5" name="Shape 3"/>
          <p:cNvSpPr/>
          <p:nvPr/>
        </p:nvSpPr>
        <p:spPr>
          <a:xfrm>
            <a:off x="768096" y="1965960"/>
            <a:ext cx="384048" cy="384048"/>
          </a:xfrm>
          <a:prstGeom prst="ellipse">
            <a:avLst/>
          </a:prstGeom>
          <a:solidFill>
            <a:srgbClr val="3FA9E0"/>
          </a:solidFill>
          <a:ln/>
        </p:spPr>
        <p:txBody>
          <a:bodyPr/>
          <a:lstStyle/>
          <a:p>
            <a:endParaRPr lang="en-SA"/>
          </a:p>
        </p:txBody>
      </p:sp>
      <p:sp>
        <p:nvSpPr>
          <p:cNvPr id="6" name="Text 4"/>
          <p:cNvSpPr/>
          <p:nvPr/>
        </p:nvSpPr>
        <p:spPr>
          <a:xfrm>
            <a:off x="768096" y="19659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Q1</a:t>
            </a:r>
            <a:endParaRPr lang="en-US" sz="1300" dirty="0"/>
          </a:p>
        </p:txBody>
      </p:sp>
      <p:sp>
        <p:nvSpPr>
          <p:cNvPr id="7" name="Text 5"/>
          <p:cNvSpPr/>
          <p:nvPr/>
        </p:nvSpPr>
        <p:spPr>
          <a:xfrm>
            <a:off x="1344168" y="192938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The key identifying assumption of DiD is:</a:t>
            </a:r>
            <a:endParaRPr lang="en-US" sz="1400" dirty="0"/>
          </a:p>
        </p:txBody>
      </p:sp>
      <p:sp>
        <p:nvSpPr>
          <p:cNvPr id="8" name="Text 6"/>
          <p:cNvSpPr/>
          <p:nvPr/>
        </p:nvSpPr>
        <p:spPr>
          <a:xfrm>
            <a:off x="1344168" y="238658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No confounders      B) Parallel trends      C) Perfect overlap      D) A valid instrument</a:t>
            </a:r>
            <a:endParaRPr lang="en-US" sz="1200" dirty="0"/>
          </a:p>
        </p:txBody>
      </p:sp>
      <p:sp>
        <p:nvSpPr>
          <p:cNvPr id="9" name="Shape 7"/>
          <p:cNvSpPr/>
          <p:nvPr/>
        </p:nvSpPr>
        <p:spPr>
          <a:xfrm>
            <a:off x="566928" y="306324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10" name="Shape 8"/>
          <p:cNvSpPr/>
          <p:nvPr/>
        </p:nvSpPr>
        <p:spPr>
          <a:xfrm>
            <a:off x="768096" y="3246120"/>
            <a:ext cx="384048" cy="384048"/>
          </a:xfrm>
          <a:prstGeom prst="ellipse">
            <a:avLst/>
          </a:prstGeom>
          <a:solidFill>
            <a:srgbClr val="5A5BA6"/>
          </a:solidFill>
          <a:ln/>
        </p:spPr>
        <p:txBody>
          <a:bodyPr/>
          <a:lstStyle/>
          <a:p>
            <a:endParaRPr lang="en-SA"/>
          </a:p>
        </p:txBody>
      </p:sp>
      <p:sp>
        <p:nvSpPr>
          <p:cNvPr id="11" name="Text 9"/>
          <p:cNvSpPr/>
          <p:nvPr/>
        </p:nvSpPr>
        <p:spPr>
          <a:xfrm>
            <a:off x="768096" y="32461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Q2</a:t>
            </a:r>
            <a:endParaRPr lang="en-US" sz="1300" dirty="0"/>
          </a:p>
        </p:txBody>
      </p:sp>
      <p:sp>
        <p:nvSpPr>
          <p:cNvPr id="12" name="Text 10"/>
          <p:cNvSpPr/>
          <p:nvPr/>
        </p:nvSpPr>
        <p:spPr>
          <a:xfrm>
            <a:off x="1344168" y="320954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Near-zero pre-period event-study coefficients provide evidence for:</a:t>
            </a:r>
            <a:endParaRPr lang="en-US" sz="1400" dirty="0"/>
          </a:p>
        </p:txBody>
      </p:sp>
      <p:sp>
        <p:nvSpPr>
          <p:cNvPr id="13" name="Text 11"/>
          <p:cNvSpPr/>
          <p:nvPr/>
        </p:nvSpPr>
        <p:spPr>
          <a:xfrm>
            <a:off x="1344168" y="366674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A strong instrument      B) Parallel trends      C) No effect      D) Collider bias</a:t>
            </a:r>
            <a:endParaRPr lang="en-US" sz="1200" dirty="0"/>
          </a:p>
        </p:txBody>
      </p:sp>
      <p:sp>
        <p:nvSpPr>
          <p:cNvPr id="14" name="Shape 12"/>
          <p:cNvSpPr/>
          <p:nvPr/>
        </p:nvSpPr>
        <p:spPr>
          <a:xfrm>
            <a:off x="566928" y="434340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15" name="Shape 13"/>
          <p:cNvSpPr/>
          <p:nvPr/>
        </p:nvSpPr>
        <p:spPr>
          <a:xfrm>
            <a:off x="768096" y="4526280"/>
            <a:ext cx="384048" cy="384048"/>
          </a:xfrm>
          <a:prstGeom prst="ellipse">
            <a:avLst/>
          </a:prstGeom>
          <a:solidFill>
            <a:srgbClr val="EA7B38"/>
          </a:solidFill>
          <a:ln/>
        </p:spPr>
        <p:txBody>
          <a:bodyPr/>
          <a:lstStyle/>
          <a:p>
            <a:endParaRPr lang="en-SA"/>
          </a:p>
        </p:txBody>
      </p:sp>
      <p:sp>
        <p:nvSpPr>
          <p:cNvPr id="16" name="Text 14"/>
          <p:cNvSpPr/>
          <p:nvPr/>
        </p:nvSpPr>
        <p:spPr>
          <a:xfrm>
            <a:off x="768096" y="45262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Q3</a:t>
            </a:r>
            <a:endParaRPr lang="en-US" sz="1300" dirty="0"/>
          </a:p>
        </p:txBody>
      </p:sp>
      <p:sp>
        <p:nvSpPr>
          <p:cNvPr id="17" name="Text 15"/>
          <p:cNvSpPr/>
          <p:nvPr/>
        </p:nvSpPr>
        <p:spPr>
          <a:xfrm>
            <a:off x="1344168" y="448970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With staggered adoption, classic two-way fixed effects can be biased because it uses:</a:t>
            </a:r>
            <a:endParaRPr lang="en-US" sz="1400" dirty="0"/>
          </a:p>
        </p:txBody>
      </p:sp>
      <p:sp>
        <p:nvSpPr>
          <p:cNvPr id="18" name="Text 16"/>
          <p:cNvSpPr/>
          <p:nvPr/>
        </p:nvSpPr>
        <p:spPr>
          <a:xfrm>
            <a:off x="1344168" y="494690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Too few controls      B) Already-treated units as controls      C) Only pre-periods      D) Random weights</a:t>
            </a:r>
            <a:endParaRPr lang="en-US" sz="1200" dirty="0"/>
          </a:p>
        </p:txBody>
      </p:sp>
      <p:sp>
        <p:nvSpPr>
          <p:cNvPr id="19" name="Text 17"/>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DID</a:t>
            </a:r>
            <a:endParaRPr lang="en-US" sz="900" dirty="0"/>
          </a:p>
        </p:txBody>
      </p:sp>
      <p:sp>
        <p:nvSpPr>
          <p:cNvPr id="20" name="Text 18"/>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108  /  221</a:t>
            </a:r>
            <a:endParaRPr lang="en-US" sz="900" dirty="0"/>
          </a:p>
        </p:txBody>
      </p:sp>
      <p:pic>
        <p:nvPicPr>
          <p:cNvPr id="21" name="Picture 20" descr="Day3_Check3.png"/>
          <p:cNvPicPr>
            <a:picLocks noChangeAspect="1"/>
          </p:cNvPicPr>
          <p:nvPr/>
        </p:nvPicPr>
        <p:blipFill>
          <a:blip r:embed="rId3"/>
          <a:stretch>
            <a:fillRect/>
          </a:stretch>
        </p:blipFill>
        <p:spPr>
          <a:xfrm>
            <a:off x="10637520" y="320040"/>
            <a:ext cx="1143000" cy="1143000"/>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DAY 3 · HOUR 4</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Instrumental Variables &amp; Regression Discontinuity</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Two designs that recover causal effects from as-if-random variation: an instrument that shifts treatment, and a threshold that assigns it.</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DAY 3</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109  /  221</a:t>
            </a:r>
            <a:endParaRPr lang="en-US" sz="9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4</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Instrumental Variables: The Logic</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When treatment is confounded, an instrument Z that affects Y only through T lets you isolate the causal effect.</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Relevance</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Z must actually shift treatment: Cov(Z, T) ≠ 0. Weak instruments give unstable, biased estimates.</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Exclusion</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Z affects Y only through T — no direct path and no back-channel. This is an assumption, not a testable fact.</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Independence</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Z is as-good-as-randomly assigned with respect to the potential outcomes (no confounding of Z itself).</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THE ESTIMATOR</a:t>
            </a:r>
            <a:endParaRPr lang="en-US" sz="1100" dirty="0"/>
          </a:p>
        </p:txBody>
      </p:sp>
      <p:sp>
        <p:nvSpPr>
          <p:cNvPr id="16" name="Text 14"/>
          <p:cNvSpPr/>
          <p:nvPr/>
        </p:nvSpPr>
        <p:spPr>
          <a:xfrm>
            <a:off x="7744968" y="2331720"/>
            <a:ext cx="3605479" cy="1097280"/>
          </a:xfrm>
          <a:prstGeom prst="rect">
            <a:avLst/>
          </a:prstGeom>
          <a:noFill/>
          <a:ln/>
        </p:spPr>
        <p:txBody>
          <a:bodyPr wrap="square" lIns="0" tIns="0" rIns="0" bIns="0" rtlCol="0" anchor="t"/>
          <a:lstStyle/>
          <a:p>
            <a:pPr marL="0" indent="0">
              <a:buNone/>
            </a:pPr>
            <a:r>
              <a:rPr lang="en-US" sz="5400" b="1" dirty="0">
                <a:solidFill>
                  <a:srgbClr val="16233F"/>
                </a:solidFill>
                <a:latin typeface="Cambria" pitchFamily="34" charset="0"/>
                <a:ea typeface="Cambria" pitchFamily="34" charset="-122"/>
                <a:cs typeface="Cambria" pitchFamily="34" charset="-120"/>
              </a:rPr>
              <a:t>2SLS</a:t>
            </a:r>
            <a:endParaRPr lang="en-US" sz="5400" dirty="0"/>
          </a:p>
        </p:txBody>
      </p:sp>
      <p:sp>
        <p:nvSpPr>
          <p:cNvPr id="17" name="Text 15"/>
          <p:cNvSpPr/>
          <p:nvPr/>
        </p:nvSpPr>
        <p:spPr>
          <a:xfrm>
            <a:off x="7744968" y="3520440"/>
            <a:ext cx="3605479" cy="2103120"/>
          </a:xfrm>
          <a:prstGeom prst="rect">
            <a:avLst/>
          </a:prstGeom>
          <a:noFill/>
          <a:ln/>
        </p:spPr>
        <p:txBody>
          <a:bodyPr wrap="square" lIns="0" tIns="0" rIns="0" bIns="0" rtlCol="0" anchor="t"/>
          <a:lstStyle/>
          <a:p>
            <a:pPr marL="0" indent="0">
              <a:lnSpc>
                <a:spcPct val="120000"/>
              </a:lnSpc>
              <a:buNone/>
            </a:pPr>
            <a:r>
              <a:rPr lang="en-US" sz="1300" dirty="0">
                <a:solidFill>
                  <a:srgbClr val="566581"/>
                </a:solidFill>
                <a:latin typeface="Calibri" pitchFamily="34" charset="0"/>
                <a:ea typeface="Calibri" pitchFamily="34" charset="-122"/>
                <a:cs typeface="Calibri" pitchFamily="34" charset="-120"/>
              </a:rPr>
              <a:t>Two-stage least squares: regress T on Z (first stage), then Y on the predicted T. The Wald ratio Cov(Z,Y)/Cov(Z,T) is its simplest form.</a:t>
            </a:r>
            <a:endParaRPr lang="en-US" sz="1300" dirty="0"/>
          </a:p>
        </p:txBody>
      </p:sp>
      <p:sp>
        <p:nvSpPr>
          <p:cNvPr id="18" name="Text 1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IV</a:t>
            </a:r>
            <a:endParaRPr lang="en-US" sz="900" dirty="0"/>
          </a:p>
        </p:txBody>
      </p:sp>
      <p:sp>
        <p:nvSpPr>
          <p:cNvPr id="19" name="Text 1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110  /  221</a:t>
            </a:r>
            <a:endParaRPr lang="en-US" sz="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4</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What IV Actually Estimates: LATE</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With imperfect compliance, IV recovers the effect for a specific, often invisible, subpopulation.</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Compliers only</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Under monotonicity, IV identifies the Local Average Treatment Effect — the effect for units whose treatment the instrument moves.</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Not the ATE</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It says nothing about always-takers or never-takers; generalise with care.</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four types</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Compliers, always-takers, never-takers, and (ruled out by monotonicity) defiers.</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INTERPRETATION</a:t>
            </a:r>
            <a:endParaRPr lang="en-US" sz="1100" dirty="0"/>
          </a:p>
        </p:txBody>
      </p:sp>
      <p:sp>
        <p:nvSpPr>
          <p:cNvPr id="16" name="Text 14"/>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dirty="0">
                <a:solidFill>
                  <a:srgbClr val="16233F"/>
                </a:solidFill>
                <a:latin typeface="Calibri" pitchFamily="34" charset="0"/>
                <a:ea typeface="Calibri" pitchFamily="34" charset="-122"/>
                <a:cs typeface="Calibri" pitchFamily="34" charset="-120"/>
              </a:rPr>
              <a:t>‘The effect’ from IV is the effect on those the instrument nudges. A different instrument can yield a different, equally valid, LATE.</a:t>
            </a:r>
            <a:endParaRPr lang="en-US" sz="13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IV</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111  /  221</a:t>
            </a:r>
            <a:endParaRPr lang="en-US" sz="9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4</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Weak Instruments &amp; IV Pitfalls</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IV is powerful and fragile in equal measure; the failure modes are specific and diagnosable.</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Weak-instrument bias</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 low first-stage F-statistic (rule of thumb: below ~10) signals bias toward OLS and unreliable inference.</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Exclusion violations</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Any direct Z→Y path, however small, contaminates the estimate — and cannot be tested from the data alone.</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Defend the design</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Report the first-stage strength, argue exclusion from domain knowledge, and probe robustness.</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IV</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112  /  221</a:t>
            </a:r>
            <a:endParaRPr lang="en-US" sz="9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4</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Regression Discontinuity: The Idea</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When treatment is assigned by whether a running variable crosses a threshold, units just above and just below are comparable — a local experiment.</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As-if random at the cutoff</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Just around the threshold, which side a unit lands on is essentially chance, so the two sides are comparable.</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Sharp vs. fuzzy</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Sharp: crossing the cutoff perfectly determines treatment. Fuzzy: it only changes the probability (IV at the boundary).</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estimate</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The jump in the outcome at the cutoff is the local effect for units near the threshold.</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ESTIMAND</a:t>
            </a:r>
            <a:endParaRPr lang="en-US" sz="1100" dirty="0"/>
          </a:p>
        </p:txBody>
      </p:sp>
      <p:sp>
        <p:nvSpPr>
          <p:cNvPr id="16" name="Text 14"/>
          <p:cNvSpPr/>
          <p:nvPr/>
        </p:nvSpPr>
        <p:spPr>
          <a:xfrm>
            <a:off x="7744968" y="2331720"/>
            <a:ext cx="3605479" cy="1097280"/>
          </a:xfrm>
          <a:prstGeom prst="rect">
            <a:avLst/>
          </a:prstGeom>
          <a:noFill/>
          <a:ln/>
        </p:spPr>
        <p:txBody>
          <a:bodyPr wrap="square" lIns="0" tIns="0" rIns="0" bIns="0" rtlCol="0" anchor="t"/>
          <a:lstStyle/>
          <a:p>
            <a:pPr marL="0" indent="0">
              <a:buNone/>
            </a:pPr>
            <a:r>
              <a:rPr lang="en-US" sz="5400" b="1" dirty="0">
                <a:solidFill>
                  <a:srgbClr val="16233F"/>
                </a:solidFill>
                <a:latin typeface="Cambria" pitchFamily="34" charset="0"/>
                <a:ea typeface="Cambria" pitchFamily="34" charset="-122"/>
                <a:cs typeface="Cambria" pitchFamily="34" charset="-120"/>
              </a:rPr>
              <a:t>Local</a:t>
            </a:r>
            <a:endParaRPr lang="en-US" sz="5400" dirty="0"/>
          </a:p>
        </p:txBody>
      </p:sp>
      <p:sp>
        <p:nvSpPr>
          <p:cNvPr id="17" name="Text 15"/>
          <p:cNvSpPr/>
          <p:nvPr/>
        </p:nvSpPr>
        <p:spPr>
          <a:xfrm>
            <a:off x="7744968" y="3520440"/>
            <a:ext cx="3605479" cy="2103120"/>
          </a:xfrm>
          <a:prstGeom prst="rect">
            <a:avLst/>
          </a:prstGeom>
          <a:noFill/>
          <a:ln/>
        </p:spPr>
        <p:txBody>
          <a:bodyPr wrap="square" lIns="0" tIns="0" rIns="0" bIns="0" rtlCol="0" anchor="t"/>
          <a:lstStyle/>
          <a:p>
            <a:pPr marL="0" indent="0">
              <a:lnSpc>
                <a:spcPct val="120000"/>
              </a:lnSpc>
              <a:buNone/>
            </a:pPr>
            <a:r>
              <a:rPr lang="en-US" sz="1300" dirty="0">
                <a:solidFill>
                  <a:srgbClr val="566581"/>
                </a:solidFill>
                <a:latin typeface="Calibri" pitchFamily="34" charset="0"/>
                <a:ea typeface="Calibri" pitchFamily="34" charset="-122"/>
                <a:cs typeface="Calibri" pitchFamily="34" charset="-120"/>
              </a:rPr>
              <a:t>RDD identifies the effect at the cutoff. Bandwidth choice trades bias (wide) against variance (narrow); report robustness to it.</a:t>
            </a:r>
            <a:endParaRPr lang="en-US" sz="1300" dirty="0"/>
          </a:p>
        </p:txBody>
      </p:sp>
      <p:sp>
        <p:nvSpPr>
          <p:cNvPr id="18" name="Text 1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RDD</a:t>
            </a:r>
            <a:endParaRPr lang="en-US" sz="900" dirty="0"/>
          </a:p>
        </p:txBody>
      </p:sp>
      <p:sp>
        <p:nvSpPr>
          <p:cNvPr id="19" name="Text 1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113  /  221</a:t>
            </a:r>
            <a:endParaRPr lang="en-US" sz="9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4</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RDD Validity Checks</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The design is credible only if units cannot precisely control which side of the cutoff they land on.</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No manipulation</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Test for bunching of the running variable at the threshold (a density test); a spike suggests gaming.</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Covariate continuity</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Pre-treatment covariates should be smooth through the cutoff — a jump signals a confounded discontinuity.</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Bandwidth &amp; functional form</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Show the estimate is stable across sensible bandwidths and local polynomial orders.</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RDD</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114  /  221</a:t>
            </a:r>
            <a:endParaRPr lang="en-US" sz="9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4</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IV vs. RDD</a:t>
            </a:r>
            <a:endParaRPr lang="en-US" sz="3400" dirty="0"/>
          </a:p>
        </p:txBody>
      </p:sp>
      <p:sp>
        <p:nvSpPr>
          <p:cNvPr id="4" name="Shape 2"/>
          <p:cNvSpPr/>
          <p:nvPr/>
        </p:nvSpPr>
        <p:spPr>
          <a:xfrm>
            <a:off x="566928" y="1828800"/>
            <a:ext cx="5117440" cy="4160520"/>
          </a:xfrm>
          <a:prstGeom prst="roundRect">
            <a:avLst>
              <a:gd name="adj" fmla="val 2198"/>
            </a:avLst>
          </a:prstGeom>
          <a:solidFill>
            <a:srgbClr val="F4F7FB"/>
          </a:solidFill>
          <a:ln w="12700">
            <a:solidFill>
              <a:srgbClr val="D9E2F0"/>
            </a:solidFill>
            <a:prstDash val="solid"/>
          </a:ln>
        </p:spPr>
        <p:txBody>
          <a:bodyPr/>
          <a:lstStyle/>
          <a:p>
            <a:endParaRPr lang="en-SA"/>
          </a:p>
        </p:txBody>
      </p:sp>
      <p:sp>
        <p:nvSpPr>
          <p:cNvPr id="5" name="Text 3"/>
          <p:cNvSpPr/>
          <p:nvPr/>
        </p:nvSpPr>
        <p:spPr>
          <a:xfrm>
            <a:off x="859536" y="2084832"/>
            <a:ext cx="4532224"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INSTRUMENTAL VARIABLES</a:t>
            </a:r>
            <a:endParaRPr lang="en-US" sz="1100" dirty="0"/>
          </a:p>
        </p:txBody>
      </p:sp>
      <p:sp>
        <p:nvSpPr>
          <p:cNvPr id="6" name="Text 4"/>
          <p:cNvSpPr/>
          <p:nvPr/>
        </p:nvSpPr>
        <p:spPr>
          <a:xfrm>
            <a:off x="859536" y="2377440"/>
            <a:ext cx="4532224" cy="457200"/>
          </a:xfrm>
          <a:prstGeom prst="rect">
            <a:avLst/>
          </a:prstGeom>
          <a:noFill/>
          <a:ln/>
        </p:spPr>
        <p:txBody>
          <a:bodyPr wrap="square" lIns="0" tIns="0" rIns="0" bIns="0" rtlCol="0" anchor="ctr"/>
          <a:lstStyle/>
          <a:p>
            <a:pPr marL="0" indent="0">
              <a:buNone/>
            </a:pPr>
            <a:r>
              <a:rPr lang="en-US" sz="2000" b="1" dirty="0">
                <a:solidFill>
                  <a:srgbClr val="16233F"/>
                </a:solidFill>
                <a:latin typeface="Cambria" pitchFamily="34" charset="0"/>
                <a:ea typeface="Cambria" pitchFamily="34" charset="-122"/>
                <a:cs typeface="Cambria" pitchFamily="34" charset="-120"/>
              </a:rPr>
              <a:t>Exploit a Nudge</a:t>
            </a:r>
            <a:endParaRPr lang="en-US" sz="2000" dirty="0"/>
          </a:p>
        </p:txBody>
      </p:sp>
      <p:sp>
        <p:nvSpPr>
          <p:cNvPr id="7" name="Shape 5"/>
          <p:cNvSpPr/>
          <p:nvPr/>
        </p:nvSpPr>
        <p:spPr>
          <a:xfrm>
            <a:off x="877824" y="3072384"/>
            <a:ext cx="118872" cy="118872"/>
          </a:xfrm>
          <a:prstGeom prst="ellipse">
            <a:avLst/>
          </a:prstGeom>
          <a:solidFill>
            <a:srgbClr val="3FA9E0"/>
          </a:solidFill>
          <a:ln/>
        </p:spPr>
        <p:txBody>
          <a:bodyPr/>
          <a:lstStyle/>
          <a:p>
            <a:endParaRPr lang="en-SA"/>
          </a:p>
        </p:txBody>
      </p:sp>
      <p:sp>
        <p:nvSpPr>
          <p:cNvPr id="8" name="Text 6"/>
          <p:cNvSpPr/>
          <p:nvPr/>
        </p:nvSpPr>
        <p:spPr>
          <a:xfrm>
            <a:off x="1115568" y="3017520"/>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Needs a variable that shifts treatment only.</a:t>
            </a:r>
            <a:endParaRPr lang="en-US" sz="1250" dirty="0"/>
          </a:p>
        </p:txBody>
      </p:sp>
      <p:sp>
        <p:nvSpPr>
          <p:cNvPr id="9" name="Shape 7"/>
          <p:cNvSpPr/>
          <p:nvPr/>
        </p:nvSpPr>
        <p:spPr>
          <a:xfrm>
            <a:off x="877824" y="3694176"/>
            <a:ext cx="118872" cy="118872"/>
          </a:xfrm>
          <a:prstGeom prst="ellipse">
            <a:avLst/>
          </a:prstGeom>
          <a:solidFill>
            <a:srgbClr val="3FA9E0"/>
          </a:solidFill>
          <a:ln/>
        </p:spPr>
        <p:txBody>
          <a:bodyPr/>
          <a:lstStyle/>
          <a:p>
            <a:endParaRPr lang="en-SA"/>
          </a:p>
        </p:txBody>
      </p:sp>
      <p:sp>
        <p:nvSpPr>
          <p:cNvPr id="10" name="Text 8"/>
          <p:cNvSpPr/>
          <p:nvPr/>
        </p:nvSpPr>
        <p:spPr>
          <a:xfrm>
            <a:off x="1115568" y="3639312"/>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Estimates LATE for compliers.</a:t>
            </a:r>
            <a:endParaRPr lang="en-US" sz="1250" dirty="0"/>
          </a:p>
        </p:txBody>
      </p:sp>
      <p:sp>
        <p:nvSpPr>
          <p:cNvPr id="11" name="Shape 9"/>
          <p:cNvSpPr/>
          <p:nvPr/>
        </p:nvSpPr>
        <p:spPr>
          <a:xfrm>
            <a:off x="877824" y="4315968"/>
            <a:ext cx="118872" cy="118872"/>
          </a:xfrm>
          <a:prstGeom prst="ellipse">
            <a:avLst/>
          </a:prstGeom>
          <a:solidFill>
            <a:srgbClr val="3FA9E0"/>
          </a:solidFill>
          <a:ln/>
        </p:spPr>
        <p:txBody>
          <a:bodyPr/>
          <a:lstStyle/>
          <a:p>
            <a:endParaRPr lang="en-SA"/>
          </a:p>
        </p:txBody>
      </p:sp>
      <p:sp>
        <p:nvSpPr>
          <p:cNvPr id="12" name="Text 10"/>
          <p:cNvSpPr/>
          <p:nvPr/>
        </p:nvSpPr>
        <p:spPr>
          <a:xfrm>
            <a:off x="1115568" y="4261104"/>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Fragile to weak instruments and exclusion.</a:t>
            </a:r>
            <a:endParaRPr lang="en-US" sz="1250" dirty="0"/>
          </a:p>
        </p:txBody>
      </p:sp>
      <p:sp>
        <p:nvSpPr>
          <p:cNvPr id="13" name="Shape 11"/>
          <p:cNvSpPr/>
          <p:nvPr/>
        </p:nvSpPr>
        <p:spPr>
          <a:xfrm>
            <a:off x="877824" y="4937760"/>
            <a:ext cx="118872" cy="118872"/>
          </a:xfrm>
          <a:prstGeom prst="ellipse">
            <a:avLst/>
          </a:prstGeom>
          <a:solidFill>
            <a:srgbClr val="3FA9E0"/>
          </a:solidFill>
          <a:ln/>
        </p:spPr>
        <p:txBody>
          <a:bodyPr/>
          <a:lstStyle/>
          <a:p>
            <a:endParaRPr lang="en-SA"/>
          </a:p>
        </p:txBody>
      </p:sp>
      <p:sp>
        <p:nvSpPr>
          <p:cNvPr id="14" name="Text 12"/>
          <p:cNvSpPr/>
          <p:nvPr/>
        </p:nvSpPr>
        <p:spPr>
          <a:xfrm>
            <a:off x="1115568" y="4882896"/>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Powerful when a credible instrument exists.</a:t>
            </a:r>
            <a:endParaRPr lang="en-US" sz="1250" dirty="0"/>
          </a:p>
        </p:txBody>
      </p:sp>
      <p:sp>
        <p:nvSpPr>
          <p:cNvPr id="15" name="Shape 13"/>
          <p:cNvSpPr/>
          <p:nvPr/>
        </p:nvSpPr>
        <p:spPr>
          <a:xfrm>
            <a:off x="6507328" y="1828800"/>
            <a:ext cx="5117440" cy="4160520"/>
          </a:xfrm>
          <a:prstGeom prst="roundRect">
            <a:avLst>
              <a:gd name="adj" fmla="val 2198"/>
            </a:avLst>
          </a:prstGeom>
          <a:solidFill>
            <a:srgbClr val="16233F"/>
          </a:solidFill>
          <a:ln w="12700">
            <a:solidFill>
              <a:srgbClr val="16233F"/>
            </a:solidFill>
            <a:prstDash val="solid"/>
          </a:ln>
        </p:spPr>
        <p:txBody>
          <a:bodyPr/>
          <a:lstStyle/>
          <a:p>
            <a:endParaRPr lang="en-SA"/>
          </a:p>
        </p:txBody>
      </p:sp>
      <p:sp>
        <p:nvSpPr>
          <p:cNvPr id="16" name="Text 14"/>
          <p:cNvSpPr/>
          <p:nvPr/>
        </p:nvSpPr>
        <p:spPr>
          <a:xfrm>
            <a:off x="6799936" y="2084832"/>
            <a:ext cx="4532224" cy="274320"/>
          </a:xfrm>
          <a:prstGeom prst="rect">
            <a:avLst/>
          </a:prstGeom>
          <a:noFill/>
          <a:ln/>
        </p:spPr>
        <p:txBody>
          <a:bodyPr wrap="square" lIns="0" tIns="0" rIns="0" bIns="0" rtlCol="0" anchor="ctr"/>
          <a:lstStyle/>
          <a:p>
            <a:pPr marL="0" indent="0">
              <a:buNone/>
            </a:pPr>
            <a:r>
              <a:rPr lang="en-US" sz="1100" b="1" kern="0" spc="200" dirty="0">
                <a:solidFill>
                  <a:srgbClr val="70C8F2"/>
                </a:solidFill>
                <a:latin typeface="Calibri" pitchFamily="34" charset="0"/>
                <a:ea typeface="Calibri" pitchFamily="34" charset="-122"/>
                <a:cs typeface="Calibri" pitchFamily="34" charset="-120"/>
              </a:rPr>
              <a:t>REGRESSION DISCONTINUITY</a:t>
            </a:r>
            <a:endParaRPr lang="en-US" sz="1100" dirty="0"/>
          </a:p>
        </p:txBody>
      </p:sp>
      <p:sp>
        <p:nvSpPr>
          <p:cNvPr id="17" name="Text 15"/>
          <p:cNvSpPr/>
          <p:nvPr/>
        </p:nvSpPr>
        <p:spPr>
          <a:xfrm>
            <a:off x="6799936" y="2377440"/>
            <a:ext cx="4532224"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Exploit a Threshold</a:t>
            </a:r>
            <a:endParaRPr lang="en-US" sz="2000" dirty="0"/>
          </a:p>
        </p:txBody>
      </p:sp>
      <p:sp>
        <p:nvSpPr>
          <p:cNvPr id="18" name="Shape 16"/>
          <p:cNvSpPr/>
          <p:nvPr/>
        </p:nvSpPr>
        <p:spPr>
          <a:xfrm>
            <a:off x="6818224" y="3072384"/>
            <a:ext cx="118872" cy="118872"/>
          </a:xfrm>
          <a:prstGeom prst="ellipse">
            <a:avLst/>
          </a:prstGeom>
          <a:solidFill>
            <a:srgbClr val="70C8F2"/>
          </a:solidFill>
          <a:ln/>
        </p:spPr>
        <p:txBody>
          <a:bodyPr/>
          <a:lstStyle/>
          <a:p>
            <a:endParaRPr lang="en-SA"/>
          </a:p>
        </p:txBody>
      </p:sp>
      <p:sp>
        <p:nvSpPr>
          <p:cNvPr id="19" name="Text 17"/>
          <p:cNvSpPr/>
          <p:nvPr/>
        </p:nvSpPr>
        <p:spPr>
          <a:xfrm>
            <a:off x="7055968" y="3017520"/>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C9DAF0"/>
                </a:solidFill>
                <a:latin typeface="Calibri" pitchFamily="34" charset="0"/>
                <a:ea typeface="Calibri" pitchFamily="34" charset="-122"/>
                <a:cs typeface="Calibri" pitchFamily="34" charset="-120"/>
              </a:rPr>
              <a:t>Needs a cutoff rule on a running variable.</a:t>
            </a:r>
            <a:endParaRPr lang="en-US" sz="1250" dirty="0"/>
          </a:p>
        </p:txBody>
      </p:sp>
      <p:sp>
        <p:nvSpPr>
          <p:cNvPr id="20" name="Shape 18"/>
          <p:cNvSpPr/>
          <p:nvPr/>
        </p:nvSpPr>
        <p:spPr>
          <a:xfrm>
            <a:off x="6818224" y="3694176"/>
            <a:ext cx="118872" cy="118872"/>
          </a:xfrm>
          <a:prstGeom prst="ellipse">
            <a:avLst/>
          </a:prstGeom>
          <a:solidFill>
            <a:srgbClr val="70C8F2"/>
          </a:solidFill>
          <a:ln/>
        </p:spPr>
        <p:txBody>
          <a:bodyPr/>
          <a:lstStyle/>
          <a:p>
            <a:endParaRPr lang="en-SA"/>
          </a:p>
        </p:txBody>
      </p:sp>
      <p:sp>
        <p:nvSpPr>
          <p:cNvPr id="21" name="Text 19"/>
          <p:cNvSpPr/>
          <p:nvPr/>
        </p:nvSpPr>
        <p:spPr>
          <a:xfrm>
            <a:off x="7055968" y="3639312"/>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C9DAF0"/>
                </a:solidFill>
                <a:latin typeface="Calibri" pitchFamily="34" charset="0"/>
                <a:ea typeface="Calibri" pitchFamily="34" charset="-122"/>
                <a:cs typeface="Calibri" pitchFamily="34" charset="-120"/>
              </a:rPr>
              <a:t>Estimates a local effect at the cutoff.</a:t>
            </a:r>
            <a:endParaRPr lang="en-US" sz="1250" dirty="0"/>
          </a:p>
        </p:txBody>
      </p:sp>
      <p:sp>
        <p:nvSpPr>
          <p:cNvPr id="22" name="Shape 20"/>
          <p:cNvSpPr/>
          <p:nvPr/>
        </p:nvSpPr>
        <p:spPr>
          <a:xfrm>
            <a:off x="6818224" y="4315968"/>
            <a:ext cx="118872" cy="118872"/>
          </a:xfrm>
          <a:prstGeom prst="ellipse">
            <a:avLst/>
          </a:prstGeom>
          <a:solidFill>
            <a:srgbClr val="70C8F2"/>
          </a:solidFill>
          <a:ln/>
        </p:spPr>
        <p:txBody>
          <a:bodyPr/>
          <a:lstStyle/>
          <a:p>
            <a:endParaRPr lang="en-SA"/>
          </a:p>
        </p:txBody>
      </p:sp>
      <p:sp>
        <p:nvSpPr>
          <p:cNvPr id="23" name="Text 21"/>
          <p:cNvSpPr/>
          <p:nvPr/>
        </p:nvSpPr>
        <p:spPr>
          <a:xfrm>
            <a:off x="7055968" y="4261104"/>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C9DAF0"/>
                </a:solidFill>
                <a:latin typeface="Calibri" pitchFamily="34" charset="0"/>
                <a:ea typeface="Calibri" pitchFamily="34" charset="-122"/>
                <a:cs typeface="Calibri" pitchFamily="34" charset="-120"/>
              </a:rPr>
              <a:t>Fragile to manipulation and bandwidth choice.</a:t>
            </a:r>
            <a:endParaRPr lang="en-US" sz="1250" dirty="0"/>
          </a:p>
        </p:txBody>
      </p:sp>
      <p:sp>
        <p:nvSpPr>
          <p:cNvPr id="24" name="Shape 22"/>
          <p:cNvSpPr/>
          <p:nvPr/>
        </p:nvSpPr>
        <p:spPr>
          <a:xfrm>
            <a:off x="6818224" y="4937760"/>
            <a:ext cx="118872" cy="118872"/>
          </a:xfrm>
          <a:prstGeom prst="ellipse">
            <a:avLst/>
          </a:prstGeom>
          <a:solidFill>
            <a:srgbClr val="70C8F2"/>
          </a:solidFill>
          <a:ln/>
        </p:spPr>
        <p:txBody>
          <a:bodyPr/>
          <a:lstStyle/>
          <a:p>
            <a:endParaRPr lang="en-SA"/>
          </a:p>
        </p:txBody>
      </p:sp>
      <p:sp>
        <p:nvSpPr>
          <p:cNvPr id="25" name="Text 23"/>
          <p:cNvSpPr/>
          <p:nvPr/>
        </p:nvSpPr>
        <p:spPr>
          <a:xfrm>
            <a:off x="7055968" y="4882896"/>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C9DAF0"/>
                </a:solidFill>
                <a:latin typeface="Calibri" pitchFamily="34" charset="0"/>
                <a:ea typeface="Calibri" pitchFamily="34" charset="-122"/>
                <a:cs typeface="Calibri" pitchFamily="34" charset="-120"/>
              </a:rPr>
              <a:t>Highly credible when the cutoff is real and unforeseeable.</a:t>
            </a:r>
            <a:endParaRPr lang="en-US" sz="1250" dirty="0"/>
          </a:p>
        </p:txBody>
      </p:sp>
      <p:sp>
        <p:nvSpPr>
          <p:cNvPr id="26" name="Shape 24"/>
          <p:cNvSpPr/>
          <p:nvPr/>
        </p:nvSpPr>
        <p:spPr>
          <a:xfrm>
            <a:off x="5803240" y="3616452"/>
            <a:ext cx="585216" cy="585216"/>
          </a:xfrm>
          <a:prstGeom prst="ellipse">
            <a:avLst/>
          </a:prstGeom>
          <a:solidFill>
            <a:srgbClr val="3FA9E0"/>
          </a:solidFill>
          <a:ln w="25400">
            <a:solidFill>
              <a:srgbClr val="FFFFFF"/>
            </a:solidFill>
            <a:prstDash val="solid"/>
          </a:ln>
        </p:spPr>
        <p:txBody>
          <a:bodyPr/>
          <a:lstStyle/>
          <a:p>
            <a:endParaRPr lang="en-SA"/>
          </a:p>
        </p:txBody>
      </p:sp>
      <p:sp>
        <p:nvSpPr>
          <p:cNvPr id="27" name="Text 25"/>
          <p:cNvSpPr/>
          <p:nvPr/>
        </p:nvSpPr>
        <p:spPr>
          <a:xfrm>
            <a:off x="5803240" y="3616452"/>
            <a:ext cx="585216" cy="58521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VS</a:t>
            </a:r>
            <a:endParaRPr lang="en-US" sz="1500" dirty="0"/>
          </a:p>
        </p:txBody>
      </p:sp>
      <p:sp>
        <p:nvSpPr>
          <p:cNvPr id="28" name="Text 2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QUASI-EXPERIMENTS</a:t>
            </a:r>
            <a:endParaRPr lang="en-US" sz="900" dirty="0"/>
          </a:p>
        </p:txBody>
      </p:sp>
      <p:sp>
        <p:nvSpPr>
          <p:cNvPr id="29" name="Text 2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115  /  221</a:t>
            </a:r>
            <a:endParaRPr lang="en-US" sz="9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4</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Knowledge Check: IV &amp; RDD</a:t>
            </a:r>
            <a:endParaRPr lang="en-US" sz="3400" dirty="0"/>
          </a:p>
        </p:txBody>
      </p:sp>
      <p:sp>
        <p:nvSpPr>
          <p:cNvPr id="4" name="Shape 2"/>
          <p:cNvSpPr/>
          <p:nvPr/>
        </p:nvSpPr>
        <p:spPr>
          <a:xfrm>
            <a:off x="566928" y="178308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5" name="Shape 3"/>
          <p:cNvSpPr/>
          <p:nvPr/>
        </p:nvSpPr>
        <p:spPr>
          <a:xfrm>
            <a:off x="768096" y="1965960"/>
            <a:ext cx="384048" cy="384048"/>
          </a:xfrm>
          <a:prstGeom prst="ellipse">
            <a:avLst/>
          </a:prstGeom>
          <a:solidFill>
            <a:srgbClr val="3FA9E0"/>
          </a:solidFill>
          <a:ln/>
        </p:spPr>
        <p:txBody>
          <a:bodyPr/>
          <a:lstStyle/>
          <a:p>
            <a:endParaRPr lang="en-SA"/>
          </a:p>
        </p:txBody>
      </p:sp>
      <p:sp>
        <p:nvSpPr>
          <p:cNvPr id="6" name="Text 4"/>
          <p:cNvSpPr/>
          <p:nvPr/>
        </p:nvSpPr>
        <p:spPr>
          <a:xfrm>
            <a:off x="768096" y="19659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Q1</a:t>
            </a:r>
            <a:endParaRPr lang="en-US" sz="1300" dirty="0"/>
          </a:p>
        </p:txBody>
      </p:sp>
      <p:sp>
        <p:nvSpPr>
          <p:cNvPr id="7" name="Text 5"/>
          <p:cNvSpPr/>
          <p:nvPr/>
        </p:nvSpPr>
        <p:spPr>
          <a:xfrm>
            <a:off x="1344168" y="192938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A first-stage F-statistic of 3 indicates:</a:t>
            </a:r>
            <a:endParaRPr lang="en-US" sz="1400" dirty="0"/>
          </a:p>
        </p:txBody>
      </p:sp>
      <p:sp>
        <p:nvSpPr>
          <p:cNvPr id="8" name="Text 6"/>
          <p:cNvSpPr/>
          <p:nvPr/>
        </p:nvSpPr>
        <p:spPr>
          <a:xfrm>
            <a:off x="1344168" y="238658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A strong instrument      B) A weak instrument      C) A valid exclusion      D) A sharp design</a:t>
            </a:r>
            <a:endParaRPr lang="en-US" sz="1200" dirty="0"/>
          </a:p>
        </p:txBody>
      </p:sp>
      <p:sp>
        <p:nvSpPr>
          <p:cNvPr id="9" name="Shape 7"/>
          <p:cNvSpPr/>
          <p:nvPr/>
        </p:nvSpPr>
        <p:spPr>
          <a:xfrm>
            <a:off x="566928" y="306324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10" name="Shape 8"/>
          <p:cNvSpPr/>
          <p:nvPr/>
        </p:nvSpPr>
        <p:spPr>
          <a:xfrm>
            <a:off x="768096" y="3246120"/>
            <a:ext cx="384048" cy="384048"/>
          </a:xfrm>
          <a:prstGeom prst="ellipse">
            <a:avLst/>
          </a:prstGeom>
          <a:solidFill>
            <a:srgbClr val="5A5BA6"/>
          </a:solidFill>
          <a:ln/>
        </p:spPr>
        <p:txBody>
          <a:bodyPr/>
          <a:lstStyle/>
          <a:p>
            <a:endParaRPr lang="en-SA"/>
          </a:p>
        </p:txBody>
      </p:sp>
      <p:sp>
        <p:nvSpPr>
          <p:cNvPr id="11" name="Text 9"/>
          <p:cNvSpPr/>
          <p:nvPr/>
        </p:nvSpPr>
        <p:spPr>
          <a:xfrm>
            <a:off x="768096" y="32461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Q2</a:t>
            </a:r>
            <a:endParaRPr lang="en-US" sz="1300" dirty="0"/>
          </a:p>
        </p:txBody>
      </p:sp>
      <p:sp>
        <p:nvSpPr>
          <p:cNvPr id="12" name="Text 10"/>
          <p:cNvSpPr/>
          <p:nvPr/>
        </p:nvSpPr>
        <p:spPr>
          <a:xfrm>
            <a:off x="1344168" y="320954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IV with imperfect compliance and monotonicity identifies the:</a:t>
            </a:r>
            <a:endParaRPr lang="en-US" sz="1400" dirty="0"/>
          </a:p>
        </p:txBody>
      </p:sp>
      <p:sp>
        <p:nvSpPr>
          <p:cNvPr id="13" name="Text 11"/>
          <p:cNvSpPr/>
          <p:nvPr/>
        </p:nvSpPr>
        <p:spPr>
          <a:xfrm>
            <a:off x="1344168" y="366674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ATE      B) ATT      C) LATE      D) ITT</a:t>
            </a:r>
            <a:endParaRPr lang="en-US" sz="1200" dirty="0"/>
          </a:p>
        </p:txBody>
      </p:sp>
      <p:sp>
        <p:nvSpPr>
          <p:cNvPr id="14" name="Shape 12"/>
          <p:cNvSpPr/>
          <p:nvPr/>
        </p:nvSpPr>
        <p:spPr>
          <a:xfrm>
            <a:off x="566928" y="434340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15" name="Shape 13"/>
          <p:cNvSpPr/>
          <p:nvPr/>
        </p:nvSpPr>
        <p:spPr>
          <a:xfrm>
            <a:off x="768096" y="4526280"/>
            <a:ext cx="384048" cy="384048"/>
          </a:xfrm>
          <a:prstGeom prst="ellipse">
            <a:avLst/>
          </a:prstGeom>
          <a:solidFill>
            <a:srgbClr val="EA7B38"/>
          </a:solidFill>
          <a:ln/>
        </p:spPr>
        <p:txBody>
          <a:bodyPr/>
          <a:lstStyle/>
          <a:p>
            <a:endParaRPr lang="en-SA"/>
          </a:p>
        </p:txBody>
      </p:sp>
      <p:sp>
        <p:nvSpPr>
          <p:cNvPr id="16" name="Text 14"/>
          <p:cNvSpPr/>
          <p:nvPr/>
        </p:nvSpPr>
        <p:spPr>
          <a:xfrm>
            <a:off x="768096" y="45262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Q3</a:t>
            </a:r>
            <a:endParaRPr lang="en-US" sz="1300" dirty="0"/>
          </a:p>
        </p:txBody>
      </p:sp>
      <p:sp>
        <p:nvSpPr>
          <p:cNvPr id="17" name="Text 15"/>
          <p:cNvSpPr/>
          <p:nvPr/>
        </p:nvSpPr>
        <p:spPr>
          <a:xfrm>
            <a:off x="1344168" y="448970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A spike in the running-variable density at the cutoff suggests:</a:t>
            </a:r>
            <a:endParaRPr lang="en-US" sz="1400" dirty="0"/>
          </a:p>
        </p:txBody>
      </p:sp>
      <p:sp>
        <p:nvSpPr>
          <p:cNvPr id="18" name="Text 16"/>
          <p:cNvSpPr/>
          <p:nvPr/>
        </p:nvSpPr>
        <p:spPr>
          <a:xfrm>
            <a:off x="1344168" y="494690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Valid RDD      B) Manipulation / sorting      C) Strong instrument      D) Parallel trends</a:t>
            </a:r>
            <a:endParaRPr lang="en-US" sz="1200" dirty="0"/>
          </a:p>
        </p:txBody>
      </p:sp>
      <p:sp>
        <p:nvSpPr>
          <p:cNvPr id="19" name="Text 17"/>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QUASI-EXPERIMENTS</a:t>
            </a:r>
            <a:endParaRPr lang="en-US" sz="900" dirty="0"/>
          </a:p>
        </p:txBody>
      </p:sp>
      <p:sp>
        <p:nvSpPr>
          <p:cNvPr id="20" name="Text 18"/>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116  /  221</a:t>
            </a:r>
            <a:endParaRPr lang="en-US" sz="900" dirty="0"/>
          </a:p>
        </p:txBody>
      </p:sp>
      <p:pic>
        <p:nvPicPr>
          <p:cNvPr id="21" name="Picture 20" descr="Day3_Check4.png"/>
          <p:cNvPicPr>
            <a:picLocks noChangeAspect="1"/>
          </p:cNvPicPr>
          <p:nvPr/>
        </p:nvPicPr>
        <p:blipFill>
          <a:blip r:embed="rId3"/>
          <a:stretch>
            <a:fillRect/>
          </a:stretch>
        </p:blipFill>
        <p:spPr>
          <a:xfrm>
            <a:off x="10637520" y="320040"/>
            <a:ext cx="1143000" cy="1143000"/>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DAY 3 · HOUR 5</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Lab 3 &amp; Discussion</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Estimate the same treatment effect four ways on one observational dataset — and reconcile what the disagreements reveal.</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DAY 3</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117  /  221</a:t>
            </a:r>
            <a:endParaRPr lang="en-US" sz="9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502920"/>
            <a:ext cx="11057839" cy="292608"/>
          </a:xfrm>
          <a:prstGeom prst="rect">
            <a:avLst/>
          </a:prstGeom>
          <a:noFill/>
          <a:ln/>
        </p:spPr>
        <p:txBody>
          <a:bodyPr wrap="square" lIns="0" tIns="0" rIns="0" bIns="0" rtlCol="0" anchor="ctr"/>
          <a:lstStyle/>
          <a:p>
            <a:pPr marL="0" indent="0">
              <a:buNone/>
            </a:pPr>
            <a:r>
              <a:rPr lang="en-US" sz="1200" b="1" kern="0" spc="300" dirty="0">
                <a:solidFill>
                  <a:srgbClr val="70C8F2"/>
                </a:solidFill>
                <a:latin typeface="Calibri" pitchFamily="34" charset="0"/>
                <a:ea typeface="Calibri" pitchFamily="34" charset="-122"/>
                <a:cs typeface="Calibri" pitchFamily="34" charset="-120"/>
              </a:rPr>
              <a:t>DAY 3 · HANDS-ON LAB 3</a:t>
            </a:r>
            <a:endParaRPr lang="en-US" sz="1200" dirty="0"/>
          </a:p>
        </p:txBody>
      </p:sp>
      <p:sp>
        <p:nvSpPr>
          <p:cNvPr id="3" name="Text 1"/>
          <p:cNvSpPr/>
          <p:nvPr/>
        </p:nvSpPr>
        <p:spPr>
          <a:xfrm>
            <a:off x="566928" y="868680"/>
            <a:ext cx="11057839" cy="82296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Four Estimators, One Question</a:t>
            </a:r>
            <a:endParaRPr lang="en-US" sz="3000" dirty="0"/>
          </a:p>
        </p:txBody>
      </p:sp>
      <p:sp>
        <p:nvSpPr>
          <p:cNvPr id="4" name="Shape 2"/>
          <p:cNvSpPr/>
          <p:nvPr/>
        </p:nvSpPr>
        <p:spPr>
          <a:xfrm>
            <a:off x="566928" y="2011680"/>
            <a:ext cx="3931920" cy="3931920"/>
          </a:xfrm>
          <a:prstGeom prst="roundRect">
            <a:avLst>
              <a:gd name="adj" fmla="val 2326"/>
            </a:avLst>
          </a:prstGeom>
          <a:solidFill>
            <a:srgbClr val="1C2E4E"/>
          </a:solidFill>
          <a:ln w="12700">
            <a:solidFill>
              <a:srgbClr val="2A3E63"/>
            </a:solidFill>
            <a:prstDash val="solid"/>
          </a:ln>
        </p:spPr>
        <p:txBody>
          <a:bodyPr/>
          <a:lstStyle/>
          <a:p>
            <a:endParaRPr lang="en-SA"/>
          </a:p>
        </p:txBody>
      </p:sp>
      <p:sp>
        <p:nvSpPr>
          <p:cNvPr id="5" name="Text 3"/>
          <p:cNvSpPr/>
          <p:nvPr/>
        </p:nvSpPr>
        <p:spPr>
          <a:xfrm>
            <a:off x="841248" y="2240280"/>
            <a:ext cx="3383280" cy="274320"/>
          </a:xfrm>
          <a:prstGeom prst="rect">
            <a:avLst/>
          </a:prstGeom>
          <a:noFill/>
          <a:ln/>
        </p:spPr>
        <p:txBody>
          <a:bodyPr wrap="square" lIns="0" tIns="0" rIns="0" bIns="0" rtlCol="0" anchor="ctr"/>
          <a:lstStyle/>
          <a:p>
            <a:pPr marL="0" indent="0">
              <a:buNone/>
            </a:pPr>
            <a:r>
              <a:rPr lang="en-US" sz="1100" b="1" kern="0" spc="200" dirty="0">
                <a:solidFill>
                  <a:srgbClr val="70C8F2"/>
                </a:solidFill>
                <a:latin typeface="Calibri" pitchFamily="34" charset="0"/>
                <a:ea typeface="Calibri" pitchFamily="34" charset="-122"/>
                <a:cs typeface="Calibri" pitchFamily="34" charset="-120"/>
              </a:rPr>
              <a:t>OBJECTIVE</a:t>
            </a:r>
            <a:endParaRPr lang="en-US" sz="1100" dirty="0"/>
          </a:p>
        </p:txBody>
      </p:sp>
      <p:sp>
        <p:nvSpPr>
          <p:cNvPr id="6" name="Text 4"/>
          <p:cNvSpPr/>
          <p:nvPr/>
        </p:nvSpPr>
        <p:spPr>
          <a:xfrm>
            <a:off x="841248" y="2542032"/>
            <a:ext cx="3383280" cy="1280160"/>
          </a:xfrm>
          <a:prstGeom prst="rect">
            <a:avLst/>
          </a:prstGeom>
          <a:noFill/>
          <a:ln/>
        </p:spPr>
        <p:txBody>
          <a:bodyPr wrap="square" lIns="0" tIns="0" rIns="0" bIns="0" rtlCol="0" anchor="t"/>
          <a:lstStyle/>
          <a:p>
            <a:pPr marL="0" indent="0">
              <a:lnSpc>
                <a:spcPct val="122000"/>
              </a:lnSpc>
              <a:buNone/>
            </a:pPr>
            <a:r>
              <a:rPr lang="en-US" sz="1300" dirty="0">
                <a:solidFill>
                  <a:srgbClr val="C9DAF0"/>
                </a:solidFill>
                <a:latin typeface="Calibri" pitchFamily="34" charset="0"/>
                <a:ea typeface="Calibri" pitchFamily="34" charset="-122"/>
                <a:cs typeface="Calibri" pitchFamily="34" charset="-120"/>
              </a:rPr>
              <a:t>On a realistic observational dataset with known ground truth, estimate the effect with regression, propensity weighting, a doubly-robust learner, and a quasi-experimental design — then explain the spread.</a:t>
            </a:r>
            <a:endParaRPr lang="en-US" sz="1300" dirty="0"/>
          </a:p>
        </p:txBody>
      </p:sp>
      <p:sp>
        <p:nvSpPr>
          <p:cNvPr id="7" name="Text 5"/>
          <p:cNvSpPr/>
          <p:nvPr/>
        </p:nvSpPr>
        <p:spPr>
          <a:xfrm>
            <a:off x="841248" y="4206240"/>
            <a:ext cx="3383280" cy="274320"/>
          </a:xfrm>
          <a:prstGeom prst="rect">
            <a:avLst/>
          </a:prstGeom>
          <a:noFill/>
          <a:ln/>
        </p:spPr>
        <p:txBody>
          <a:bodyPr wrap="square" lIns="0" tIns="0" rIns="0" bIns="0" rtlCol="0" anchor="ctr"/>
          <a:lstStyle/>
          <a:p>
            <a:pPr marL="0" indent="0">
              <a:buNone/>
            </a:pPr>
            <a:r>
              <a:rPr lang="en-US" sz="1100" b="1" kern="0" spc="200" dirty="0">
                <a:solidFill>
                  <a:srgbClr val="70C8F2"/>
                </a:solidFill>
                <a:latin typeface="Calibri" pitchFamily="34" charset="0"/>
                <a:ea typeface="Calibri" pitchFamily="34" charset="-122"/>
                <a:cs typeface="Calibri" pitchFamily="34" charset="-120"/>
              </a:rPr>
              <a:t>DELIVERABLE</a:t>
            </a:r>
            <a:endParaRPr lang="en-US" sz="1100" dirty="0"/>
          </a:p>
        </p:txBody>
      </p:sp>
      <p:sp>
        <p:nvSpPr>
          <p:cNvPr id="8" name="Text 6"/>
          <p:cNvSpPr/>
          <p:nvPr/>
        </p:nvSpPr>
        <p:spPr>
          <a:xfrm>
            <a:off x="841248" y="4498848"/>
            <a:ext cx="3383280" cy="1280160"/>
          </a:xfrm>
          <a:prstGeom prst="rect">
            <a:avLst/>
          </a:prstGeom>
          <a:noFill/>
          <a:ln/>
        </p:spPr>
        <p:txBody>
          <a:bodyPr wrap="square" lIns="0" tIns="0" rIns="0" bIns="0" rtlCol="0" anchor="t"/>
          <a:lstStyle/>
          <a:p>
            <a:pPr marL="0" indent="0">
              <a:lnSpc>
                <a:spcPct val="120000"/>
              </a:lnSpc>
              <a:buNone/>
            </a:pPr>
            <a:r>
              <a:rPr lang="en-US" sz="1250" dirty="0">
                <a:solidFill>
                  <a:srgbClr val="C9DAF0"/>
                </a:solidFill>
                <a:latin typeface="Calibri" pitchFamily="34" charset="0"/>
                <a:ea typeface="Calibri" pitchFamily="34" charset="-122"/>
                <a:cs typeface="Calibri" pitchFamily="34" charset="-120"/>
              </a:rPr>
              <a:t>A notebook comparing four estimates with intervals, overlap and balance diagnostics, and a written reconciliation naming the assumption each relies on.</a:t>
            </a:r>
            <a:endParaRPr lang="en-US" sz="1250" dirty="0"/>
          </a:p>
        </p:txBody>
      </p:sp>
      <p:sp>
        <p:nvSpPr>
          <p:cNvPr id="9" name="Text 7"/>
          <p:cNvSpPr/>
          <p:nvPr/>
        </p:nvSpPr>
        <p:spPr>
          <a:xfrm>
            <a:off x="4864608" y="2029968"/>
            <a:ext cx="676015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STEPS</a:t>
            </a:r>
            <a:endParaRPr lang="en-US" sz="1100" dirty="0"/>
          </a:p>
        </p:txBody>
      </p:sp>
      <p:sp>
        <p:nvSpPr>
          <p:cNvPr id="10" name="Shape 8"/>
          <p:cNvSpPr/>
          <p:nvPr/>
        </p:nvSpPr>
        <p:spPr>
          <a:xfrm>
            <a:off x="4864608" y="2395728"/>
            <a:ext cx="384048" cy="384048"/>
          </a:xfrm>
          <a:prstGeom prst="ellipse">
            <a:avLst/>
          </a:prstGeom>
          <a:solidFill>
            <a:srgbClr val="3FA9E0"/>
          </a:solidFill>
          <a:ln/>
        </p:spPr>
        <p:txBody>
          <a:bodyPr/>
          <a:lstStyle/>
          <a:p>
            <a:endParaRPr lang="en-SA"/>
          </a:p>
        </p:txBody>
      </p:sp>
      <p:sp>
        <p:nvSpPr>
          <p:cNvPr id="11" name="Text 9"/>
          <p:cNvSpPr/>
          <p:nvPr/>
        </p:nvSpPr>
        <p:spPr>
          <a:xfrm>
            <a:off x="4864608" y="23957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2" name="Text 10"/>
          <p:cNvSpPr/>
          <p:nvPr/>
        </p:nvSpPr>
        <p:spPr>
          <a:xfrm>
            <a:off x="5413248" y="2377440"/>
            <a:ext cx="6211519" cy="586740"/>
          </a:xfrm>
          <a:prstGeom prst="rect">
            <a:avLst/>
          </a:prstGeom>
          <a:noFill/>
          <a:ln/>
        </p:spPr>
        <p:txBody>
          <a:bodyPr wrap="square" lIns="0" tIns="0" rIns="0" bIns="0" rtlCol="0" anchor="t"/>
          <a:lstStyle/>
          <a:p>
            <a:pPr marL="0" indent="0">
              <a:lnSpc>
                <a:spcPct val="112000"/>
              </a:lnSpc>
              <a:buNone/>
            </a:pPr>
            <a:r>
              <a:rPr lang="en-US" sz="1250" dirty="0">
                <a:solidFill>
                  <a:srgbClr val="C9DAF0"/>
                </a:solidFill>
                <a:latin typeface="Calibri" pitchFamily="34" charset="0"/>
                <a:ea typeface="Calibri" pitchFamily="34" charset="-122"/>
                <a:cs typeface="Calibri" pitchFamily="34" charset="-120"/>
              </a:rPr>
              <a:t>Draw a DAG for the dataset and select the adjustment set from it.</a:t>
            </a:r>
            <a:endParaRPr lang="en-US" sz="1250" dirty="0"/>
          </a:p>
        </p:txBody>
      </p:sp>
      <p:sp>
        <p:nvSpPr>
          <p:cNvPr id="13" name="Shape 11"/>
          <p:cNvSpPr/>
          <p:nvPr/>
        </p:nvSpPr>
        <p:spPr>
          <a:xfrm>
            <a:off x="4864608" y="2982468"/>
            <a:ext cx="384048" cy="384048"/>
          </a:xfrm>
          <a:prstGeom prst="ellipse">
            <a:avLst/>
          </a:prstGeom>
          <a:solidFill>
            <a:srgbClr val="5A5BA6"/>
          </a:solidFill>
          <a:ln/>
        </p:spPr>
        <p:txBody>
          <a:bodyPr/>
          <a:lstStyle/>
          <a:p>
            <a:endParaRPr lang="en-SA"/>
          </a:p>
        </p:txBody>
      </p:sp>
      <p:sp>
        <p:nvSpPr>
          <p:cNvPr id="14" name="Text 12"/>
          <p:cNvSpPr/>
          <p:nvPr/>
        </p:nvSpPr>
        <p:spPr>
          <a:xfrm>
            <a:off x="4864608" y="298246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5" name="Text 13"/>
          <p:cNvSpPr/>
          <p:nvPr/>
        </p:nvSpPr>
        <p:spPr>
          <a:xfrm>
            <a:off x="5413248" y="2964180"/>
            <a:ext cx="6211519" cy="586740"/>
          </a:xfrm>
          <a:prstGeom prst="rect">
            <a:avLst/>
          </a:prstGeom>
          <a:noFill/>
          <a:ln/>
        </p:spPr>
        <p:txBody>
          <a:bodyPr wrap="square" lIns="0" tIns="0" rIns="0" bIns="0" rtlCol="0" anchor="t"/>
          <a:lstStyle/>
          <a:p>
            <a:pPr marL="0" indent="0">
              <a:lnSpc>
                <a:spcPct val="112000"/>
              </a:lnSpc>
              <a:buNone/>
            </a:pPr>
            <a:r>
              <a:rPr lang="en-US" sz="1250" dirty="0">
                <a:solidFill>
                  <a:srgbClr val="C9DAF0"/>
                </a:solidFill>
                <a:latin typeface="Calibri" pitchFamily="34" charset="0"/>
                <a:ea typeface="Calibri" pitchFamily="34" charset="-122"/>
                <a:cs typeface="Calibri" pitchFamily="34" charset="-120"/>
              </a:rPr>
              <a:t>Estimate the effect by outcome regression (g-formula).</a:t>
            </a:r>
            <a:endParaRPr lang="en-US" sz="1250" dirty="0"/>
          </a:p>
        </p:txBody>
      </p:sp>
      <p:sp>
        <p:nvSpPr>
          <p:cNvPr id="16" name="Shape 14"/>
          <p:cNvSpPr/>
          <p:nvPr/>
        </p:nvSpPr>
        <p:spPr>
          <a:xfrm>
            <a:off x="4864608" y="3569208"/>
            <a:ext cx="384048" cy="384048"/>
          </a:xfrm>
          <a:prstGeom prst="ellipse">
            <a:avLst/>
          </a:prstGeom>
          <a:solidFill>
            <a:srgbClr val="EA7B38"/>
          </a:solidFill>
          <a:ln/>
        </p:spPr>
        <p:txBody>
          <a:bodyPr/>
          <a:lstStyle/>
          <a:p>
            <a:endParaRPr lang="en-SA"/>
          </a:p>
        </p:txBody>
      </p:sp>
      <p:sp>
        <p:nvSpPr>
          <p:cNvPr id="17" name="Text 15"/>
          <p:cNvSpPr/>
          <p:nvPr/>
        </p:nvSpPr>
        <p:spPr>
          <a:xfrm>
            <a:off x="4864608" y="3569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p:nvPr/>
        </p:nvSpPr>
        <p:spPr>
          <a:xfrm>
            <a:off x="5413248" y="3550920"/>
            <a:ext cx="6211519" cy="586740"/>
          </a:xfrm>
          <a:prstGeom prst="rect">
            <a:avLst/>
          </a:prstGeom>
          <a:noFill/>
          <a:ln/>
        </p:spPr>
        <p:txBody>
          <a:bodyPr wrap="square" lIns="0" tIns="0" rIns="0" bIns="0" rtlCol="0" anchor="t"/>
          <a:lstStyle/>
          <a:p>
            <a:pPr marL="0" indent="0">
              <a:lnSpc>
                <a:spcPct val="112000"/>
              </a:lnSpc>
              <a:buNone/>
            </a:pPr>
            <a:r>
              <a:rPr lang="en-US" sz="1250" dirty="0">
                <a:solidFill>
                  <a:srgbClr val="C9DAF0"/>
                </a:solidFill>
                <a:latin typeface="Calibri" pitchFamily="34" charset="0"/>
                <a:ea typeface="Calibri" pitchFamily="34" charset="-122"/>
                <a:cs typeface="Calibri" pitchFamily="34" charset="-120"/>
              </a:rPr>
              <a:t>Estimate by stabilised IPW; inspect the weight distribution and trim.</a:t>
            </a:r>
            <a:endParaRPr lang="en-US" sz="1250" dirty="0"/>
          </a:p>
        </p:txBody>
      </p:sp>
      <p:sp>
        <p:nvSpPr>
          <p:cNvPr id="19" name="Shape 17"/>
          <p:cNvSpPr/>
          <p:nvPr/>
        </p:nvSpPr>
        <p:spPr>
          <a:xfrm>
            <a:off x="4864608" y="4155948"/>
            <a:ext cx="384048" cy="384048"/>
          </a:xfrm>
          <a:prstGeom prst="ellipse">
            <a:avLst/>
          </a:prstGeom>
          <a:solidFill>
            <a:srgbClr val="3E9B90"/>
          </a:solidFill>
          <a:ln/>
        </p:spPr>
        <p:txBody>
          <a:bodyPr/>
          <a:lstStyle/>
          <a:p>
            <a:endParaRPr lang="en-SA"/>
          </a:p>
        </p:txBody>
      </p:sp>
      <p:sp>
        <p:nvSpPr>
          <p:cNvPr id="20" name="Text 18"/>
          <p:cNvSpPr/>
          <p:nvPr/>
        </p:nvSpPr>
        <p:spPr>
          <a:xfrm>
            <a:off x="4864608" y="415594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1" name="Text 19"/>
          <p:cNvSpPr/>
          <p:nvPr/>
        </p:nvSpPr>
        <p:spPr>
          <a:xfrm>
            <a:off x="5413248" y="4137660"/>
            <a:ext cx="6211519" cy="586740"/>
          </a:xfrm>
          <a:prstGeom prst="rect">
            <a:avLst/>
          </a:prstGeom>
          <a:noFill/>
          <a:ln/>
        </p:spPr>
        <p:txBody>
          <a:bodyPr wrap="square" lIns="0" tIns="0" rIns="0" bIns="0" rtlCol="0" anchor="t"/>
          <a:lstStyle/>
          <a:p>
            <a:pPr marL="0" indent="0">
              <a:lnSpc>
                <a:spcPct val="112000"/>
              </a:lnSpc>
              <a:buNone/>
            </a:pPr>
            <a:r>
              <a:rPr lang="en-US" sz="1250" dirty="0">
                <a:solidFill>
                  <a:srgbClr val="C9DAF0"/>
                </a:solidFill>
                <a:latin typeface="Calibri" pitchFamily="34" charset="0"/>
                <a:ea typeface="Calibri" pitchFamily="34" charset="-122"/>
                <a:cs typeface="Calibri" pitchFamily="34" charset="-120"/>
              </a:rPr>
              <a:t>Estimate by a doubly-robust learner with cross-fitting; report the interval.</a:t>
            </a:r>
            <a:endParaRPr lang="en-US" sz="1250" dirty="0"/>
          </a:p>
        </p:txBody>
      </p:sp>
      <p:sp>
        <p:nvSpPr>
          <p:cNvPr id="22" name="Shape 20"/>
          <p:cNvSpPr/>
          <p:nvPr/>
        </p:nvSpPr>
        <p:spPr>
          <a:xfrm>
            <a:off x="4864608" y="4742688"/>
            <a:ext cx="384048" cy="384048"/>
          </a:xfrm>
          <a:prstGeom prst="ellipse">
            <a:avLst/>
          </a:prstGeom>
          <a:solidFill>
            <a:srgbClr val="73BB59"/>
          </a:solidFill>
          <a:ln/>
        </p:spPr>
        <p:txBody>
          <a:bodyPr/>
          <a:lstStyle/>
          <a:p>
            <a:endParaRPr lang="en-SA"/>
          </a:p>
        </p:txBody>
      </p:sp>
      <p:sp>
        <p:nvSpPr>
          <p:cNvPr id="23" name="Text 21"/>
          <p:cNvSpPr/>
          <p:nvPr/>
        </p:nvSpPr>
        <p:spPr>
          <a:xfrm>
            <a:off x="4864608" y="474268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4" name="Text 22"/>
          <p:cNvSpPr/>
          <p:nvPr/>
        </p:nvSpPr>
        <p:spPr>
          <a:xfrm>
            <a:off x="5413248" y="4724400"/>
            <a:ext cx="6211519" cy="586740"/>
          </a:xfrm>
          <a:prstGeom prst="rect">
            <a:avLst/>
          </a:prstGeom>
          <a:noFill/>
          <a:ln/>
        </p:spPr>
        <p:txBody>
          <a:bodyPr wrap="square" lIns="0" tIns="0" rIns="0" bIns="0" rtlCol="0" anchor="t"/>
          <a:lstStyle/>
          <a:p>
            <a:pPr marL="0" indent="0">
              <a:lnSpc>
                <a:spcPct val="112000"/>
              </a:lnSpc>
              <a:buNone/>
            </a:pPr>
            <a:r>
              <a:rPr lang="en-US" sz="1250" dirty="0">
                <a:solidFill>
                  <a:srgbClr val="C9DAF0"/>
                </a:solidFill>
                <a:latin typeface="Calibri" pitchFamily="34" charset="0"/>
                <a:ea typeface="Calibri" pitchFamily="34" charset="-122"/>
                <a:cs typeface="Calibri" pitchFamily="34" charset="-120"/>
              </a:rPr>
              <a:t>Apply one quasi-experimental design (DiD or RDD) to the same question.</a:t>
            </a:r>
            <a:endParaRPr lang="en-US" sz="1250" dirty="0"/>
          </a:p>
        </p:txBody>
      </p:sp>
      <p:sp>
        <p:nvSpPr>
          <p:cNvPr id="25" name="Shape 23"/>
          <p:cNvSpPr/>
          <p:nvPr/>
        </p:nvSpPr>
        <p:spPr>
          <a:xfrm>
            <a:off x="4864608" y="5329428"/>
            <a:ext cx="384048" cy="384048"/>
          </a:xfrm>
          <a:prstGeom prst="ellipse">
            <a:avLst/>
          </a:prstGeom>
          <a:solidFill>
            <a:srgbClr val="3FA9E0"/>
          </a:solidFill>
          <a:ln/>
        </p:spPr>
        <p:txBody>
          <a:bodyPr/>
          <a:lstStyle/>
          <a:p>
            <a:endParaRPr lang="en-SA"/>
          </a:p>
        </p:txBody>
      </p:sp>
      <p:sp>
        <p:nvSpPr>
          <p:cNvPr id="26" name="Text 24"/>
          <p:cNvSpPr/>
          <p:nvPr/>
        </p:nvSpPr>
        <p:spPr>
          <a:xfrm>
            <a:off x="4864608" y="53294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27" name="Text 25"/>
          <p:cNvSpPr/>
          <p:nvPr/>
        </p:nvSpPr>
        <p:spPr>
          <a:xfrm>
            <a:off x="5413248" y="5311140"/>
            <a:ext cx="6211519" cy="586740"/>
          </a:xfrm>
          <a:prstGeom prst="rect">
            <a:avLst/>
          </a:prstGeom>
          <a:noFill/>
          <a:ln/>
        </p:spPr>
        <p:txBody>
          <a:bodyPr wrap="square" lIns="0" tIns="0" rIns="0" bIns="0" rtlCol="0" anchor="t"/>
          <a:lstStyle/>
          <a:p>
            <a:pPr marL="0" indent="0">
              <a:lnSpc>
                <a:spcPct val="112000"/>
              </a:lnSpc>
              <a:buNone/>
            </a:pPr>
            <a:r>
              <a:rPr lang="en-US" sz="1250" dirty="0">
                <a:solidFill>
                  <a:srgbClr val="C9DAF0"/>
                </a:solidFill>
                <a:latin typeface="Calibri" pitchFamily="34" charset="0"/>
                <a:ea typeface="Calibri" pitchFamily="34" charset="-122"/>
                <a:cs typeface="Calibri" pitchFamily="34" charset="-120"/>
              </a:rPr>
              <a:t>Tabulate all estimates against ground truth; explain each gap by its assumptions.</a:t>
            </a:r>
            <a:endParaRPr lang="en-US" sz="1250" dirty="0"/>
          </a:p>
        </p:txBody>
      </p:sp>
      <p:sp>
        <p:nvSpPr>
          <p:cNvPr id="28" name="Text 2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DAY 3 · LAB</a:t>
            </a:r>
            <a:endParaRPr lang="en-US" sz="900" dirty="0"/>
          </a:p>
        </p:txBody>
      </p:sp>
      <p:sp>
        <p:nvSpPr>
          <p:cNvPr id="29" name="Text 2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118  /  221</a:t>
            </a:r>
            <a:endParaRPr lang="en-US" sz="900" dirty="0"/>
          </a:p>
        </p:txBody>
      </p:sp>
      <p:pic>
        <p:nvPicPr>
          <p:cNvPr id="30" name="Picture 29" descr="Submission_Form.png"/>
          <p:cNvPicPr>
            <a:picLocks noChangeAspect="1"/>
          </p:cNvPicPr>
          <p:nvPr/>
        </p:nvPicPr>
        <p:blipFill>
          <a:blip r:embed="rId4"/>
          <a:stretch>
            <a:fillRect/>
          </a:stretch>
        </p:blipFill>
        <p:spPr>
          <a:xfrm>
            <a:off x="10637520" y="320040"/>
            <a:ext cx="1143000" cy="1143000"/>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5</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Lab 3 Debrief</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Disagreement between methods is information, not noise.</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Overlap drives it</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Where overlap is thin, weighting and matching diverge; the doubly-robust estimate is usually the most stable.</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Assumptions differ</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Each method leans on a different premise — so agreement across methods is real evidence of robustness.</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Report the ensemble</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Presenting several estimates with their assumptions is more honest than a single confident number.</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LAB</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119  /  221</a:t>
            </a:r>
            <a:endParaRPr lang="en-US" sz="9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HOUR 5</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Discussion: Choosing a Design</a:t>
            </a:r>
            <a:endParaRPr lang="en-US" sz="3400" dirty="0"/>
          </a:p>
        </p:txBody>
      </p:sp>
      <p:sp>
        <p:nvSpPr>
          <p:cNvPr id="4" name="Text 2"/>
          <p:cNvSpPr/>
          <p:nvPr/>
        </p:nvSpPr>
        <p:spPr>
          <a:xfrm>
            <a:off x="566928" y="1737360"/>
            <a:ext cx="11057839" cy="64008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Given a scenario, groups argue for the most credible identification strategy.</a:t>
            </a:r>
            <a:endParaRPr lang="en-US" sz="1450" dirty="0"/>
          </a:p>
        </p:txBody>
      </p:sp>
      <p:sp>
        <p:nvSpPr>
          <p:cNvPr id="5" name="Shape 3"/>
          <p:cNvSpPr/>
          <p:nvPr/>
        </p:nvSpPr>
        <p:spPr>
          <a:xfrm>
            <a:off x="566928" y="2578608"/>
            <a:ext cx="137160" cy="137160"/>
          </a:xfrm>
          <a:prstGeom prst="ellipse">
            <a:avLst/>
          </a:prstGeom>
          <a:solidFill>
            <a:srgbClr val="3FA9E0"/>
          </a:solidFill>
          <a:ln/>
        </p:spPr>
        <p:txBody>
          <a:bodyPr/>
          <a:lstStyle/>
          <a:p>
            <a:endParaRPr lang="en-SA"/>
          </a:p>
        </p:txBody>
      </p:sp>
      <p:sp>
        <p:nvSpPr>
          <p:cNvPr id="6" name="Text 4"/>
          <p:cNvSpPr/>
          <p:nvPr/>
        </p:nvSpPr>
        <p:spPr>
          <a:xfrm>
            <a:off x="841248" y="2514600"/>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Is there a threshold rule that assigns the treatment? → consider RDD.</a:t>
            </a:r>
            <a:endParaRPr lang="en-US" sz="1400" dirty="0"/>
          </a:p>
        </p:txBody>
      </p:sp>
      <p:sp>
        <p:nvSpPr>
          <p:cNvPr id="7" name="Shape 5"/>
          <p:cNvSpPr/>
          <p:nvPr/>
        </p:nvSpPr>
        <p:spPr>
          <a:xfrm>
            <a:off x="566928" y="3300984"/>
            <a:ext cx="137160" cy="137160"/>
          </a:xfrm>
          <a:prstGeom prst="ellipse">
            <a:avLst/>
          </a:prstGeom>
          <a:solidFill>
            <a:srgbClr val="5A5BA6"/>
          </a:solidFill>
          <a:ln/>
        </p:spPr>
        <p:txBody>
          <a:bodyPr/>
          <a:lstStyle/>
          <a:p>
            <a:endParaRPr lang="en-SA"/>
          </a:p>
        </p:txBody>
      </p:sp>
      <p:sp>
        <p:nvSpPr>
          <p:cNvPr id="8" name="Text 6"/>
          <p:cNvSpPr/>
          <p:nvPr/>
        </p:nvSpPr>
        <p:spPr>
          <a:xfrm>
            <a:off x="841248" y="3236976"/>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Is there a variable that shifts uptake but not the outcome directly? → consider IV.</a:t>
            </a:r>
            <a:endParaRPr lang="en-US" sz="1400" dirty="0"/>
          </a:p>
        </p:txBody>
      </p:sp>
      <p:sp>
        <p:nvSpPr>
          <p:cNvPr id="9" name="Shape 7"/>
          <p:cNvSpPr/>
          <p:nvPr/>
        </p:nvSpPr>
        <p:spPr>
          <a:xfrm>
            <a:off x="566928" y="4023360"/>
            <a:ext cx="137160" cy="137160"/>
          </a:xfrm>
          <a:prstGeom prst="ellipse">
            <a:avLst/>
          </a:prstGeom>
          <a:solidFill>
            <a:srgbClr val="EA7B38"/>
          </a:solidFill>
          <a:ln/>
        </p:spPr>
        <p:txBody>
          <a:bodyPr/>
          <a:lstStyle/>
          <a:p>
            <a:endParaRPr lang="en-SA"/>
          </a:p>
        </p:txBody>
      </p:sp>
      <p:sp>
        <p:nvSpPr>
          <p:cNvPr id="10" name="Text 8"/>
          <p:cNvSpPr/>
          <p:nvPr/>
        </p:nvSpPr>
        <p:spPr>
          <a:xfrm>
            <a:off x="841248" y="3959352"/>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Did treatment switch on at a known time for some units? → consider DiD / synthetic control.</a:t>
            </a:r>
            <a:endParaRPr lang="en-US" sz="1400" dirty="0"/>
          </a:p>
        </p:txBody>
      </p:sp>
      <p:sp>
        <p:nvSpPr>
          <p:cNvPr id="11" name="Shape 9"/>
          <p:cNvSpPr/>
          <p:nvPr/>
        </p:nvSpPr>
        <p:spPr>
          <a:xfrm>
            <a:off x="566928" y="4745736"/>
            <a:ext cx="137160" cy="137160"/>
          </a:xfrm>
          <a:prstGeom prst="ellipse">
            <a:avLst/>
          </a:prstGeom>
          <a:solidFill>
            <a:srgbClr val="3E9B90"/>
          </a:solidFill>
          <a:ln/>
        </p:spPr>
        <p:txBody>
          <a:bodyPr/>
          <a:lstStyle/>
          <a:p>
            <a:endParaRPr lang="en-SA"/>
          </a:p>
        </p:txBody>
      </p:sp>
      <p:sp>
        <p:nvSpPr>
          <p:cNvPr id="12" name="Text 10"/>
          <p:cNvSpPr/>
          <p:nvPr/>
        </p:nvSpPr>
        <p:spPr>
          <a:xfrm>
            <a:off x="841248" y="4681728"/>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Is unconfoundedness plausible given rich covariates? → consider doubly-robust adjustment.</a:t>
            </a:r>
            <a:endParaRPr lang="en-US" sz="1400" dirty="0"/>
          </a:p>
        </p:txBody>
      </p:sp>
      <p:sp>
        <p:nvSpPr>
          <p:cNvPr id="13" name="Shape 11"/>
          <p:cNvSpPr/>
          <p:nvPr/>
        </p:nvSpPr>
        <p:spPr>
          <a:xfrm>
            <a:off x="566928" y="5468112"/>
            <a:ext cx="137160" cy="137160"/>
          </a:xfrm>
          <a:prstGeom prst="ellipse">
            <a:avLst/>
          </a:prstGeom>
          <a:solidFill>
            <a:srgbClr val="73BB59"/>
          </a:solidFill>
          <a:ln/>
        </p:spPr>
        <p:txBody>
          <a:bodyPr/>
          <a:lstStyle/>
          <a:p>
            <a:endParaRPr lang="en-SA"/>
          </a:p>
        </p:txBody>
      </p:sp>
      <p:sp>
        <p:nvSpPr>
          <p:cNvPr id="14" name="Text 12"/>
          <p:cNvSpPr/>
          <p:nvPr/>
        </p:nvSpPr>
        <p:spPr>
          <a:xfrm>
            <a:off x="841248" y="5404104"/>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Always ask: which assumption is least implausible here, and how would I probe it?</a:t>
            </a:r>
            <a:endParaRPr lang="en-US" sz="1400" dirty="0"/>
          </a:p>
        </p:txBody>
      </p:sp>
      <p:sp>
        <p:nvSpPr>
          <p:cNvPr id="15" name="Text 13"/>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DISCUSSION</a:t>
            </a:r>
            <a:endParaRPr lang="en-US" sz="900" dirty="0"/>
          </a:p>
        </p:txBody>
      </p:sp>
      <p:sp>
        <p:nvSpPr>
          <p:cNvPr id="16" name="Text 14"/>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120  /  221</a:t>
            </a:r>
            <a:endParaRPr lang="en-US" sz="9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3 · WRAP</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Day 3 in One Slide</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You now have a toolbox for causal questions when experiments are impossible.</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Structure before statistics</a:t>
            </a:r>
            <a:endParaRPr lang="en-US" sz="1500" dirty="0"/>
          </a:p>
        </p:txBody>
      </p:sp>
      <p:sp>
        <p:nvSpPr>
          <p:cNvPr id="7" name="Text 5"/>
          <p:cNvSpPr/>
          <p:nvPr/>
        </p:nvSpPr>
        <p:spPr>
          <a:xfrm>
            <a:off x="859536" y="283464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 DAG and the backdoor criterion decide the adjustment set; fit does not.</a:t>
            </a:r>
            <a:endParaRPr lang="en-US" sz="1250" dirty="0"/>
          </a:p>
        </p:txBody>
      </p:sp>
      <p:sp>
        <p:nvSpPr>
          <p:cNvPr id="8" name="Shape 6"/>
          <p:cNvSpPr/>
          <p:nvPr/>
        </p:nvSpPr>
        <p:spPr>
          <a:xfrm>
            <a:off x="566928" y="3506724"/>
            <a:ext cx="146304" cy="146304"/>
          </a:xfrm>
          <a:prstGeom prst="ellipse">
            <a:avLst/>
          </a:prstGeom>
          <a:solidFill>
            <a:srgbClr val="5A5BA6"/>
          </a:solidFill>
          <a:ln/>
        </p:spPr>
        <p:txBody>
          <a:bodyPr/>
          <a:lstStyle/>
          <a:p>
            <a:endParaRPr lang="en-SA"/>
          </a:p>
        </p:txBody>
      </p:sp>
      <p:sp>
        <p:nvSpPr>
          <p:cNvPr id="9" name="Text 7"/>
          <p:cNvSpPr/>
          <p:nvPr/>
        </p:nvSpPr>
        <p:spPr>
          <a:xfrm>
            <a:off x="859536" y="345186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Adjust robustly</a:t>
            </a:r>
            <a:endParaRPr lang="en-US" sz="1500" dirty="0"/>
          </a:p>
        </p:txBody>
      </p:sp>
      <p:sp>
        <p:nvSpPr>
          <p:cNvPr id="10" name="Text 8"/>
          <p:cNvSpPr/>
          <p:nvPr/>
        </p:nvSpPr>
        <p:spPr>
          <a:xfrm>
            <a:off x="859536" y="372618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Propensity, IPW, and especially doubly-robust methods with cross-fitting are the modern default.</a:t>
            </a:r>
            <a:endParaRPr lang="en-US" sz="1250" dirty="0"/>
          </a:p>
        </p:txBody>
      </p:sp>
      <p:sp>
        <p:nvSpPr>
          <p:cNvPr id="11" name="Shape 9"/>
          <p:cNvSpPr/>
          <p:nvPr/>
        </p:nvSpPr>
        <p:spPr>
          <a:xfrm>
            <a:off x="566928" y="4398264"/>
            <a:ext cx="146304" cy="146304"/>
          </a:xfrm>
          <a:prstGeom prst="ellipse">
            <a:avLst/>
          </a:prstGeom>
          <a:solidFill>
            <a:srgbClr val="EA7B38"/>
          </a:solidFill>
          <a:ln/>
        </p:spPr>
        <p:txBody>
          <a:bodyPr/>
          <a:lstStyle/>
          <a:p>
            <a:endParaRPr lang="en-SA"/>
          </a:p>
        </p:txBody>
      </p:sp>
      <p:sp>
        <p:nvSpPr>
          <p:cNvPr id="12" name="Text 10"/>
          <p:cNvSpPr/>
          <p:nvPr/>
        </p:nvSpPr>
        <p:spPr>
          <a:xfrm>
            <a:off x="859536" y="434340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Borrow randomization's logic</a:t>
            </a:r>
            <a:endParaRPr lang="en-US" sz="1500" dirty="0"/>
          </a:p>
        </p:txBody>
      </p:sp>
      <p:sp>
        <p:nvSpPr>
          <p:cNvPr id="13" name="Text 11"/>
          <p:cNvSpPr/>
          <p:nvPr/>
        </p:nvSpPr>
        <p:spPr>
          <a:xfrm>
            <a:off x="859536" y="461772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DiD, synthetic control, IV, and RDD each exploit a source of as-if-random variation.</a:t>
            </a:r>
            <a:endParaRPr lang="en-US" sz="1250" dirty="0"/>
          </a:p>
        </p:txBody>
      </p:sp>
      <p:sp>
        <p:nvSpPr>
          <p:cNvPr id="14" name="Shape 12"/>
          <p:cNvSpPr/>
          <p:nvPr/>
        </p:nvSpPr>
        <p:spPr>
          <a:xfrm>
            <a:off x="566928" y="5289804"/>
            <a:ext cx="146304" cy="146304"/>
          </a:xfrm>
          <a:prstGeom prst="ellipse">
            <a:avLst/>
          </a:prstGeom>
          <a:solidFill>
            <a:srgbClr val="3E9B90"/>
          </a:solidFill>
          <a:ln/>
        </p:spPr>
        <p:txBody>
          <a:bodyPr/>
          <a:lstStyle/>
          <a:p>
            <a:endParaRPr lang="en-SA"/>
          </a:p>
        </p:txBody>
      </p:sp>
      <p:sp>
        <p:nvSpPr>
          <p:cNvPr id="15" name="Text 13"/>
          <p:cNvSpPr/>
          <p:nvPr/>
        </p:nvSpPr>
        <p:spPr>
          <a:xfrm>
            <a:off x="859536" y="523494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Every design has one weak point</a:t>
            </a:r>
            <a:endParaRPr lang="en-US" sz="1500" dirty="0"/>
          </a:p>
        </p:txBody>
      </p:sp>
      <p:sp>
        <p:nvSpPr>
          <p:cNvPr id="16" name="Text 14"/>
          <p:cNvSpPr/>
          <p:nvPr/>
        </p:nvSpPr>
        <p:spPr>
          <a:xfrm>
            <a:off x="859536" y="550926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Parallel trends, exclusion, or no-manipulation — name it, probe it, report it.</a:t>
            </a:r>
            <a:endParaRPr lang="en-US" sz="1250" dirty="0"/>
          </a:p>
        </p:txBody>
      </p:sp>
      <p:sp>
        <p:nvSpPr>
          <p:cNvPr id="17" name="Shape 15"/>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8" name="Text 16"/>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TOMORROW</a:t>
            </a:r>
            <a:endParaRPr lang="en-US" sz="1100" dirty="0"/>
          </a:p>
        </p:txBody>
      </p:sp>
      <p:sp>
        <p:nvSpPr>
          <p:cNvPr id="19" name="Text 17"/>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i="1" dirty="0">
                <a:solidFill>
                  <a:srgbClr val="16233F"/>
                </a:solidFill>
                <a:latin typeface="Calibri" pitchFamily="34" charset="0"/>
                <a:ea typeface="Calibri" pitchFamily="34" charset="-122"/>
                <a:cs typeface="Calibri" pitchFamily="34" charset="-120"/>
              </a:rPr>
              <a:t>Day 4: uncertainty done right, the bias taxonomy, sensitivity and external validity, real-world cases, and your capstone.</a:t>
            </a:r>
            <a:endParaRPr lang="en-US" sz="1350" dirty="0"/>
          </a:p>
        </p:txBody>
      </p:sp>
      <p:sp>
        <p:nvSpPr>
          <p:cNvPr id="20" name="Text 18"/>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3 · SUMMARY</a:t>
            </a:r>
            <a:endParaRPr lang="en-US" sz="900" dirty="0"/>
          </a:p>
        </p:txBody>
      </p:sp>
      <p:sp>
        <p:nvSpPr>
          <p:cNvPr id="21" name="Text 19"/>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121  /  221</a:t>
            </a:r>
            <a:endParaRPr lang="en-US" sz="9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DAY 4</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Uncertainty, Bias, Limitations &amp; Capstone</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Quantifying uncertainty honestly, the taxonomy of bias and threats to validity, sensitivity and generalisation, real-world cases, and the capstone.</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DAY 4</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122  /  221</a:t>
            </a:r>
            <a:endParaRPr lang="en-US" sz="9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4 · OVERVIEW</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Today's Five Hours</a:t>
            </a:r>
            <a:endParaRPr lang="en-US" sz="3400" dirty="0"/>
          </a:p>
        </p:txBody>
      </p:sp>
      <p:sp>
        <p:nvSpPr>
          <p:cNvPr id="4" name="Text 2"/>
          <p:cNvSpPr/>
          <p:nvPr/>
        </p:nvSpPr>
        <p:spPr>
          <a:xfrm>
            <a:off x="566928" y="1783080"/>
            <a:ext cx="822960" cy="548640"/>
          </a:xfrm>
          <a:prstGeom prst="rect">
            <a:avLst/>
          </a:prstGeom>
          <a:noFill/>
          <a:ln/>
        </p:spPr>
        <p:txBody>
          <a:bodyPr wrap="square" lIns="0" tIns="0" rIns="0" bIns="0" rtlCol="0" anchor="t"/>
          <a:lstStyle/>
          <a:p>
            <a:pPr marL="0" indent="0">
              <a:buNone/>
            </a:pPr>
            <a:r>
              <a:rPr lang="en-US" sz="3000" b="1" dirty="0">
                <a:solidFill>
                  <a:srgbClr val="3FA9E0"/>
                </a:solidFill>
                <a:latin typeface="Cambria" pitchFamily="34" charset="0"/>
                <a:ea typeface="Cambria" pitchFamily="34" charset="-122"/>
                <a:cs typeface="Cambria" pitchFamily="34" charset="-120"/>
              </a:rPr>
              <a:t>01</a:t>
            </a:r>
            <a:endParaRPr lang="en-US" sz="3000" dirty="0"/>
          </a:p>
        </p:txBody>
      </p:sp>
      <p:sp>
        <p:nvSpPr>
          <p:cNvPr id="5" name="Text 3"/>
          <p:cNvSpPr/>
          <p:nvPr/>
        </p:nvSpPr>
        <p:spPr>
          <a:xfrm>
            <a:off x="1435608" y="1783080"/>
            <a:ext cx="4385920"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Hour 1 — Uncertainty Quantification</a:t>
            </a:r>
            <a:endParaRPr lang="en-US" sz="1600" dirty="0"/>
          </a:p>
        </p:txBody>
      </p:sp>
      <p:sp>
        <p:nvSpPr>
          <p:cNvPr id="6" name="Text 4"/>
          <p:cNvSpPr/>
          <p:nvPr/>
        </p:nvSpPr>
        <p:spPr>
          <a:xfrm>
            <a:off x="1435608" y="2093976"/>
            <a:ext cx="4385920" cy="713232"/>
          </a:xfrm>
          <a:prstGeom prst="rect">
            <a:avLst/>
          </a:prstGeom>
          <a:noFill/>
          <a:ln/>
        </p:spPr>
        <p:txBody>
          <a:bodyPr wrap="square" lIns="0" tIns="0" rIns="0" bIns="0" rtlCol="0" anchor="t"/>
          <a:lstStyle/>
          <a:p>
            <a:pPr marL="0" indent="0">
              <a:lnSpc>
                <a:spcPct val="108000"/>
              </a:lnSpc>
              <a:buNone/>
            </a:pPr>
            <a:r>
              <a:rPr lang="en-US" sz="1150" dirty="0">
                <a:solidFill>
                  <a:srgbClr val="566581"/>
                </a:solidFill>
                <a:latin typeface="Calibri" pitchFamily="34" charset="0"/>
                <a:ea typeface="Calibri" pitchFamily="34" charset="-122"/>
                <a:cs typeface="Calibri" pitchFamily="34" charset="-120"/>
              </a:rPr>
              <a:t>Standard errors done right: analytic, robust, clustered, bootstrap, and design-based.</a:t>
            </a:r>
            <a:endParaRPr lang="en-US" sz="1150" dirty="0"/>
          </a:p>
        </p:txBody>
      </p:sp>
      <p:sp>
        <p:nvSpPr>
          <p:cNvPr id="7" name="Text 5"/>
          <p:cNvSpPr/>
          <p:nvPr/>
        </p:nvSpPr>
        <p:spPr>
          <a:xfrm>
            <a:off x="6324448" y="1783080"/>
            <a:ext cx="822960" cy="548640"/>
          </a:xfrm>
          <a:prstGeom prst="rect">
            <a:avLst/>
          </a:prstGeom>
          <a:noFill/>
          <a:ln/>
        </p:spPr>
        <p:txBody>
          <a:bodyPr wrap="square" lIns="0" tIns="0" rIns="0" bIns="0" rtlCol="0" anchor="t"/>
          <a:lstStyle/>
          <a:p>
            <a:pPr marL="0" indent="0">
              <a:buNone/>
            </a:pPr>
            <a:r>
              <a:rPr lang="en-US" sz="3000" b="1" dirty="0">
                <a:solidFill>
                  <a:srgbClr val="5A5BA6"/>
                </a:solidFill>
                <a:latin typeface="Cambria" pitchFamily="34" charset="0"/>
                <a:ea typeface="Cambria" pitchFamily="34" charset="-122"/>
                <a:cs typeface="Cambria" pitchFamily="34" charset="-120"/>
              </a:rPr>
              <a:t>02</a:t>
            </a:r>
            <a:endParaRPr lang="en-US" sz="3000" dirty="0"/>
          </a:p>
        </p:txBody>
      </p:sp>
      <p:sp>
        <p:nvSpPr>
          <p:cNvPr id="8" name="Text 6"/>
          <p:cNvSpPr/>
          <p:nvPr/>
        </p:nvSpPr>
        <p:spPr>
          <a:xfrm>
            <a:off x="7193128" y="1783080"/>
            <a:ext cx="4385920"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Hour 2 — Bias &amp; Threats to Validity</a:t>
            </a:r>
            <a:endParaRPr lang="en-US" sz="1600" dirty="0"/>
          </a:p>
        </p:txBody>
      </p:sp>
      <p:sp>
        <p:nvSpPr>
          <p:cNvPr id="9" name="Text 7"/>
          <p:cNvSpPr/>
          <p:nvPr/>
        </p:nvSpPr>
        <p:spPr>
          <a:xfrm>
            <a:off x="7193128" y="2093976"/>
            <a:ext cx="4385920" cy="713232"/>
          </a:xfrm>
          <a:prstGeom prst="rect">
            <a:avLst/>
          </a:prstGeom>
          <a:noFill/>
          <a:ln/>
        </p:spPr>
        <p:txBody>
          <a:bodyPr wrap="square" lIns="0" tIns="0" rIns="0" bIns="0" rtlCol="0" anchor="t"/>
          <a:lstStyle/>
          <a:p>
            <a:pPr marL="0" indent="0">
              <a:lnSpc>
                <a:spcPct val="108000"/>
              </a:lnSpc>
              <a:buNone/>
            </a:pPr>
            <a:r>
              <a:rPr lang="en-US" sz="1150" dirty="0">
                <a:solidFill>
                  <a:srgbClr val="566581"/>
                </a:solidFill>
                <a:latin typeface="Calibri" pitchFamily="34" charset="0"/>
                <a:ea typeface="Calibri" pitchFamily="34" charset="-122"/>
                <a:cs typeface="Calibri" pitchFamily="34" charset="-120"/>
              </a:rPr>
              <a:t>A taxonomy of bias, internal vs. external validity, and sensitivity analysis.</a:t>
            </a:r>
            <a:endParaRPr lang="en-US" sz="1150" dirty="0"/>
          </a:p>
        </p:txBody>
      </p:sp>
      <p:sp>
        <p:nvSpPr>
          <p:cNvPr id="10" name="Text 8"/>
          <p:cNvSpPr/>
          <p:nvPr/>
        </p:nvSpPr>
        <p:spPr>
          <a:xfrm>
            <a:off x="566928" y="2880360"/>
            <a:ext cx="822960" cy="548640"/>
          </a:xfrm>
          <a:prstGeom prst="rect">
            <a:avLst/>
          </a:prstGeom>
          <a:noFill/>
          <a:ln/>
        </p:spPr>
        <p:txBody>
          <a:bodyPr wrap="square" lIns="0" tIns="0" rIns="0" bIns="0" rtlCol="0" anchor="t"/>
          <a:lstStyle/>
          <a:p>
            <a:pPr marL="0" indent="0">
              <a:buNone/>
            </a:pPr>
            <a:r>
              <a:rPr lang="en-US" sz="3000" b="1" dirty="0">
                <a:solidFill>
                  <a:srgbClr val="EA7B38"/>
                </a:solidFill>
                <a:latin typeface="Cambria" pitchFamily="34" charset="0"/>
                <a:ea typeface="Cambria" pitchFamily="34" charset="-122"/>
                <a:cs typeface="Cambria" pitchFamily="34" charset="-120"/>
              </a:rPr>
              <a:t>03</a:t>
            </a:r>
            <a:endParaRPr lang="en-US" sz="3000" dirty="0"/>
          </a:p>
        </p:txBody>
      </p:sp>
      <p:sp>
        <p:nvSpPr>
          <p:cNvPr id="11" name="Text 9"/>
          <p:cNvSpPr/>
          <p:nvPr/>
        </p:nvSpPr>
        <p:spPr>
          <a:xfrm>
            <a:off x="1435608" y="2880360"/>
            <a:ext cx="4385920"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Hour 3 — Real-World Case Studies</a:t>
            </a:r>
            <a:endParaRPr lang="en-US" sz="1600" dirty="0"/>
          </a:p>
        </p:txBody>
      </p:sp>
      <p:sp>
        <p:nvSpPr>
          <p:cNvPr id="12" name="Text 10"/>
          <p:cNvSpPr/>
          <p:nvPr/>
        </p:nvSpPr>
        <p:spPr>
          <a:xfrm>
            <a:off x="1435608" y="3191256"/>
            <a:ext cx="4385920" cy="713232"/>
          </a:xfrm>
          <a:prstGeom prst="rect">
            <a:avLst/>
          </a:prstGeom>
          <a:noFill/>
          <a:ln/>
        </p:spPr>
        <p:txBody>
          <a:bodyPr wrap="square" lIns="0" tIns="0" rIns="0" bIns="0" rtlCol="0" anchor="t"/>
          <a:lstStyle/>
          <a:p>
            <a:pPr marL="0" indent="0">
              <a:lnSpc>
                <a:spcPct val="108000"/>
              </a:lnSpc>
              <a:buNone/>
            </a:pPr>
            <a:r>
              <a:rPr lang="en-US" sz="1150" dirty="0">
                <a:solidFill>
                  <a:srgbClr val="566581"/>
                </a:solidFill>
                <a:latin typeface="Calibri" pitchFamily="34" charset="0"/>
                <a:ea typeface="Calibri" pitchFamily="34" charset="-122"/>
                <a:cs typeface="Calibri" pitchFamily="34" charset="-120"/>
              </a:rPr>
              <a:t>Tech experimentation, policy evaluation, and health — decisions under uncertainty.</a:t>
            </a:r>
            <a:endParaRPr lang="en-US" sz="1150" dirty="0"/>
          </a:p>
        </p:txBody>
      </p:sp>
      <p:sp>
        <p:nvSpPr>
          <p:cNvPr id="13" name="Text 11"/>
          <p:cNvSpPr/>
          <p:nvPr/>
        </p:nvSpPr>
        <p:spPr>
          <a:xfrm>
            <a:off x="6324448" y="2880360"/>
            <a:ext cx="822960" cy="548640"/>
          </a:xfrm>
          <a:prstGeom prst="rect">
            <a:avLst/>
          </a:prstGeom>
          <a:noFill/>
          <a:ln/>
        </p:spPr>
        <p:txBody>
          <a:bodyPr wrap="square" lIns="0" tIns="0" rIns="0" bIns="0" rtlCol="0" anchor="t"/>
          <a:lstStyle/>
          <a:p>
            <a:pPr marL="0" indent="0">
              <a:buNone/>
            </a:pPr>
            <a:r>
              <a:rPr lang="en-US" sz="3000" b="1" dirty="0">
                <a:solidFill>
                  <a:srgbClr val="3E9B90"/>
                </a:solidFill>
                <a:latin typeface="Cambria" pitchFamily="34" charset="0"/>
                <a:ea typeface="Cambria" pitchFamily="34" charset="-122"/>
                <a:cs typeface="Cambria" pitchFamily="34" charset="-120"/>
              </a:rPr>
              <a:t>04</a:t>
            </a:r>
            <a:endParaRPr lang="en-US" sz="3000" dirty="0"/>
          </a:p>
        </p:txBody>
      </p:sp>
      <p:sp>
        <p:nvSpPr>
          <p:cNvPr id="14" name="Text 12"/>
          <p:cNvSpPr/>
          <p:nvPr/>
        </p:nvSpPr>
        <p:spPr>
          <a:xfrm>
            <a:off x="7193128" y="2880360"/>
            <a:ext cx="4385920"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Hour 4 — Capstone Lab</a:t>
            </a:r>
            <a:endParaRPr lang="en-US" sz="1600" dirty="0"/>
          </a:p>
        </p:txBody>
      </p:sp>
      <p:sp>
        <p:nvSpPr>
          <p:cNvPr id="15" name="Text 13"/>
          <p:cNvSpPr/>
          <p:nvPr/>
        </p:nvSpPr>
        <p:spPr>
          <a:xfrm>
            <a:off x="7193128" y="3191256"/>
            <a:ext cx="4385920" cy="713232"/>
          </a:xfrm>
          <a:prstGeom prst="rect">
            <a:avLst/>
          </a:prstGeom>
          <a:noFill/>
          <a:ln/>
        </p:spPr>
        <p:txBody>
          <a:bodyPr wrap="square" lIns="0" tIns="0" rIns="0" bIns="0" rtlCol="0" anchor="t"/>
          <a:lstStyle/>
          <a:p>
            <a:pPr marL="0" indent="0">
              <a:lnSpc>
                <a:spcPct val="108000"/>
              </a:lnSpc>
              <a:buNone/>
            </a:pPr>
            <a:r>
              <a:rPr lang="en-US" sz="1150" dirty="0">
                <a:solidFill>
                  <a:srgbClr val="566581"/>
                </a:solidFill>
                <a:latin typeface="Calibri" pitchFamily="34" charset="0"/>
                <a:ea typeface="Calibri" pitchFamily="34" charset="-122"/>
                <a:cs typeface="Calibri" pitchFamily="34" charset="-120"/>
              </a:rPr>
              <a:t>Design, estimate, and report a defensible causal analysis on a provided dataset.</a:t>
            </a:r>
            <a:endParaRPr lang="en-US" sz="1150" dirty="0"/>
          </a:p>
        </p:txBody>
      </p:sp>
      <p:sp>
        <p:nvSpPr>
          <p:cNvPr id="16" name="Text 14"/>
          <p:cNvSpPr/>
          <p:nvPr/>
        </p:nvSpPr>
        <p:spPr>
          <a:xfrm>
            <a:off x="566928" y="3977640"/>
            <a:ext cx="822960" cy="548640"/>
          </a:xfrm>
          <a:prstGeom prst="rect">
            <a:avLst/>
          </a:prstGeom>
          <a:noFill/>
          <a:ln/>
        </p:spPr>
        <p:txBody>
          <a:bodyPr wrap="square" lIns="0" tIns="0" rIns="0" bIns="0" rtlCol="0" anchor="t"/>
          <a:lstStyle/>
          <a:p>
            <a:pPr marL="0" indent="0">
              <a:buNone/>
            </a:pPr>
            <a:r>
              <a:rPr lang="en-US" sz="3000" b="1" dirty="0">
                <a:solidFill>
                  <a:srgbClr val="73BB59"/>
                </a:solidFill>
                <a:latin typeface="Cambria" pitchFamily="34" charset="0"/>
                <a:ea typeface="Cambria" pitchFamily="34" charset="-122"/>
                <a:cs typeface="Cambria" pitchFamily="34" charset="-120"/>
              </a:rPr>
              <a:t>05</a:t>
            </a:r>
            <a:endParaRPr lang="en-US" sz="3000" dirty="0"/>
          </a:p>
        </p:txBody>
      </p:sp>
      <p:sp>
        <p:nvSpPr>
          <p:cNvPr id="17" name="Text 15"/>
          <p:cNvSpPr/>
          <p:nvPr/>
        </p:nvSpPr>
        <p:spPr>
          <a:xfrm>
            <a:off x="1435608" y="3977640"/>
            <a:ext cx="4385920"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Hour 5 — Defense, Post-Test &amp; Close</a:t>
            </a:r>
            <a:endParaRPr lang="en-US" sz="1600" dirty="0"/>
          </a:p>
        </p:txBody>
      </p:sp>
      <p:sp>
        <p:nvSpPr>
          <p:cNvPr id="18" name="Text 16"/>
          <p:cNvSpPr/>
          <p:nvPr/>
        </p:nvSpPr>
        <p:spPr>
          <a:xfrm>
            <a:off x="1435608" y="4288536"/>
            <a:ext cx="4385920" cy="713232"/>
          </a:xfrm>
          <a:prstGeom prst="rect">
            <a:avLst/>
          </a:prstGeom>
          <a:noFill/>
          <a:ln/>
        </p:spPr>
        <p:txBody>
          <a:bodyPr wrap="square" lIns="0" tIns="0" rIns="0" bIns="0" rtlCol="0" anchor="t"/>
          <a:lstStyle/>
          <a:p>
            <a:pPr marL="0" indent="0">
              <a:lnSpc>
                <a:spcPct val="108000"/>
              </a:lnSpc>
              <a:buNone/>
            </a:pPr>
            <a:r>
              <a:rPr lang="en-US" sz="1150" dirty="0">
                <a:solidFill>
                  <a:srgbClr val="566581"/>
                </a:solidFill>
                <a:latin typeface="Calibri" pitchFamily="34" charset="0"/>
                <a:ea typeface="Calibri" pitchFamily="34" charset="-122"/>
                <a:cs typeface="Calibri" pitchFamily="34" charset="-120"/>
              </a:rPr>
              <a:t>Present your capstone, take the summative assessment, and consolidate.</a:t>
            </a:r>
            <a:endParaRPr lang="en-US" sz="1150" dirty="0"/>
          </a:p>
        </p:txBody>
      </p:sp>
      <p:sp>
        <p:nvSpPr>
          <p:cNvPr id="19" name="Text 17"/>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4</a:t>
            </a:r>
            <a:endParaRPr lang="en-US" sz="900" dirty="0"/>
          </a:p>
        </p:txBody>
      </p:sp>
      <p:sp>
        <p:nvSpPr>
          <p:cNvPr id="20" name="Text 18"/>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123  /  221</a:t>
            </a:r>
            <a:endParaRPr lang="en-US" sz="9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4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Two Kinds of Uncertainty</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A causal estimate has more sources of doubt than a single p-value admits.</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Statistical (sampling) uncertainty</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Would the estimate change under a different random sample or re-randomization? This is what standard errors capture.</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Identification uncertainty</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Would it change if the assumptions were slightly wrong? This is what sensitivity analysis captures — and it is usually larger.</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Report both</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 tight confidence interval around a poorly-identified estimate is false precision. Communicate both layers.</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THE TRAP</a:t>
            </a:r>
            <a:endParaRPr lang="en-US" sz="1100" dirty="0"/>
          </a:p>
        </p:txBody>
      </p:sp>
      <p:sp>
        <p:nvSpPr>
          <p:cNvPr id="16" name="Text 14"/>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i="1" dirty="0">
                <a:solidFill>
                  <a:srgbClr val="16233F"/>
                </a:solidFill>
                <a:latin typeface="Calibri" pitchFamily="34" charset="0"/>
                <a:ea typeface="Calibri" pitchFamily="34" charset="-122"/>
                <a:cs typeface="Calibri" pitchFamily="34" charset="-120"/>
              </a:rPr>
              <a:t>Most reported ‘uncertainty’ is only sampling error. For observational work, the uncertainty about whether the design is valid usually dominates.</a:t>
            </a:r>
            <a:endParaRPr lang="en-US" sz="13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4 · UNCERTAINTY</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124  /  221</a:t>
            </a:r>
            <a:endParaRPr lang="en-US" sz="9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4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Choosing the Right Standard Error</a:t>
            </a:r>
            <a:endParaRPr lang="en-US" sz="3400" dirty="0"/>
          </a:p>
        </p:txBody>
      </p:sp>
      <p:sp>
        <p:nvSpPr>
          <p:cNvPr id="4" name="Text 2"/>
          <p:cNvSpPr/>
          <p:nvPr/>
        </p:nvSpPr>
        <p:spPr>
          <a:xfrm>
            <a:off x="566928" y="1783080"/>
            <a:ext cx="11057839" cy="548640"/>
          </a:xfrm>
          <a:prstGeom prst="rect">
            <a:avLst/>
          </a:prstGeom>
          <a:noFill/>
          <a:ln/>
        </p:spPr>
        <p:txBody>
          <a:bodyPr wrap="square" lIns="0" tIns="0" rIns="0" bIns="0" rtlCol="0" anchor="t"/>
          <a:lstStyle/>
          <a:p>
            <a:pPr marL="0" indent="0">
              <a:lnSpc>
                <a:spcPct val="115000"/>
              </a:lnSpc>
              <a:buNone/>
            </a:pPr>
            <a:r>
              <a:rPr lang="en-US" sz="1400" dirty="0">
                <a:solidFill>
                  <a:srgbClr val="566581"/>
                </a:solidFill>
                <a:latin typeface="Calibri" pitchFamily="34" charset="0"/>
                <a:ea typeface="Calibri" pitchFamily="34" charset="-122"/>
                <a:cs typeface="Calibri" pitchFamily="34" charset="-120"/>
              </a:rPr>
              <a:t>The standard error must match how the data were generated and assigned.</a:t>
            </a:r>
            <a:endParaRPr lang="en-US" sz="1400" dirty="0"/>
          </a:p>
        </p:txBody>
      </p:sp>
      <p:sp>
        <p:nvSpPr>
          <p:cNvPr id="5" name="Shape 3"/>
          <p:cNvSpPr/>
          <p:nvPr/>
        </p:nvSpPr>
        <p:spPr>
          <a:xfrm>
            <a:off x="566928" y="2468880"/>
            <a:ext cx="502920" cy="502920"/>
          </a:xfrm>
          <a:prstGeom prst="ellipse">
            <a:avLst/>
          </a:prstGeom>
          <a:solidFill>
            <a:srgbClr val="3FA9E0"/>
          </a:solidFill>
          <a:ln/>
        </p:spPr>
        <p:txBody>
          <a:bodyPr/>
          <a:lstStyle/>
          <a:p>
            <a:endParaRPr lang="en-SA"/>
          </a:p>
        </p:txBody>
      </p:sp>
      <p:sp>
        <p:nvSpPr>
          <p:cNvPr id="6" name="Text 4"/>
          <p:cNvSpPr/>
          <p:nvPr/>
        </p:nvSpPr>
        <p:spPr>
          <a:xfrm>
            <a:off x="566928" y="246888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7" name="Text 5"/>
          <p:cNvSpPr/>
          <p:nvPr/>
        </p:nvSpPr>
        <p:spPr>
          <a:xfrm>
            <a:off x="1298448" y="242316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Classical / homoskedastic</a:t>
            </a:r>
            <a:endParaRPr lang="en-US" sz="1600" dirty="0"/>
          </a:p>
        </p:txBody>
      </p:sp>
      <p:sp>
        <p:nvSpPr>
          <p:cNvPr id="8" name="Text 6"/>
          <p:cNvSpPr/>
          <p:nvPr/>
        </p:nvSpPr>
        <p:spPr>
          <a:xfrm>
            <a:off x="1298448" y="273405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Assumes constant error variance. Rarely defensible for real data; usually too optimistic.</a:t>
            </a:r>
            <a:endParaRPr lang="en-US" sz="1250" dirty="0"/>
          </a:p>
        </p:txBody>
      </p:sp>
      <p:sp>
        <p:nvSpPr>
          <p:cNvPr id="9" name="Shape 7"/>
          <p:cNvSpPr/>
          <p:nvPr/>
        </p:nvSpPr>
        <p:spPr>
          <a:xfrm>
            <a:off x="566928" y="3394710"/>
            <a:ext cx="502920" cy="502920"/>
          </a:xfrm>
          <a:prstGeom prst="ellipse">
            <a:avLst/>
          </a:prstGeom>
          <a:solidFill>
            <a:srgbClr val="5A5BA6"/>
          </a:solidFill>
          <a:ln/>
        </p:spPr>
        <p:txBody>
          <a:bodyPr/>
          <a:lstStyle/>
          <a:p>
            <a:endParaRPr lang="en-SA"/>
          </a:p>
        </p:txBody>
      </p:sp>
      <p:sp>
        <p:nvSpPr>
          <p:cNvPr id="10" name="Text 8"/>
          <p:cNvSpPr/>
          <p:nvPr/>
        </p:nvSpPr>
        <p:spPr>
          <a:xfrm>
            <a:off x="566928" y="339471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1" name="Text 9"/>
          <p:cNvSpPr/>
          <p:nvPr/>
        </p:nvSpPr>
        <p:spPr>
          <a:xfrm>
            <a:off x="1298448" y="334899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Robust (Huber–White, HC2/HC3)</a:t>
            </a:r>
            <a:endParaRPr lang="en-US" sz="1600" dirty="0"/>
          </a:p>
        </p:txBody>
      </p:sp>
      <p:sp>
        <p:nvSpPr>
          <p:cNvPr id="12" name="Text 10"/>
          <p:cNvSpPr/>
          <p:nvPr/>
        </p:nvSpPr>
        <p:spPr>
          <a:xfrm>
            <a:off x="1298448" y="365988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Allows heteroskedasticity. The sensible default for cross-sectional regression estimates.</a:t>
            </a:r>
            <a:endParaRPr lang="en-US" sz="1250" dirty="0"/>
          </a:p>
        </p:txBody>
      </p:sp>
      <p:sp>
        <p:nvSpPr>
          <p:cNvPr id="13" name="Shape 11"/>
          <p:cNvSpPr/>
          <p:nvPr/>
        </p:nvSpPr>
        <p:spPr>
          <a:xfrm>
            <a:off x="566928" y="4320540"/>
            <a:ext cx="502920" cy="502920"/>
          </a:xfrm>
          <a:prstGeom prst="ellipse">
            <a:avLst/>
          </a:prstGeom>
          <a:solidFill>
            <a:srgbClr val="EA7B38"/>
          </a:solidFill>
          <a:ln/>
        </p:spPr>
        <p:txBody>
          <a:bodyPr/>
          <a:lstStyle/>
          <a:p>
            <a:endParaRPr lang="en-SA"/>
          </a:p>
        </p:txBody>
      </p:sp>
      <p:sp>
        <p:nvSpPr>
          <p:cNvPr id="14" name="Text 12"/>
          <p:cNvSpPr/>
          <p:nvPr/>
        </p:nvSpPr>
        <p:spPr>
          <a:xfrm>
            <a:off x="566928" y="43205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15" name="Text 13"/>
          <p:cNvSpPr/>
          <p:nvPr/>
        </p:nvSpPr>
        <p:spPr>
          <a:xfrm>
            <a:off x="1298448" y="427482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Clustered</a:t>
            </a:r>
            <a:endParaRPr lang="en-US" sz="1600" dirty="0"/>
          </a:p>
        </p:txBody>
      </p:sp>
      <p:sp>
        <p:nvSpPr>
          <p:cNvPr id="16" name="Text 14"/>
          <p:cNvSpPr/>
          <p:nvPr/>
        </p:nvSpPr>
        <p:spPr>
          <a:xfrm>
            <a:off x="1298448" y="458571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For grouped assignment or correlated units — cluster at the level of randomization or the treatment shock.</a:t>
            </a:r>
            <a:endParaRPr lang="en-US" sz="1250" dirty="0"/>
          </a:p>
        </p:txBody>
      </p:sp>
      <p:sp>
        <p:nvSpPr>
          <p:cNvPr id="17" name="Shape 15"/>
          <p:cNvSpPr/>
          <p:nvPr/>
        </p:nvSpPr>
        <p:spPr>
          <a:xfrm>
            <a:off x="566928" y="5246370"/>
            <a:ext cx="502920" cy="502920"/>
          </a:xfrm>
          <a:prstGeom prst="ellipse">
            <a:avLst/>
          </a:prstGeom>
          <a:solidFill>
            <a:srgbClr val="3E9B90"/>
          </a:solidFill>
          <a:ln/>
        </p:spPr>
        <p:txBody>
          <a:bodyPr/>
          <a:lstStyle/>
          <a:p>
            <a:endParaRPr lang="en-SA"/>
          </a:p>
        </p:txBody>
      </p:sp>
      <p:sp>
        <p:nvSpPr>
          <p:cNvPr id="18" name="Text 16"/>
          <p:cNvSpPr/>
          <p:nvPr/>
        </p:nvSpPr>
        <p:spPr>
          <a:xfrm>
            <a:off x="566928" y="524637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04</a:t>
            </a:r>
            <a:endParaRPr lang="en-US" sz="1300" dirty="0"/>
          </a:p>
        </p:txBody>
      </p:sp>
      <p:sp>
        <p:nvSpPr>
          <p:cNvPr id="19" name="Text 17"/>
          <p:cNvSpPr/>
          <p:nvPr/>
        </p:nvSpPr>
        <p:spPr>
          <a:xfrm>
            <a:off x="1298448" y="520065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Design-based</a:t>
            </a:r>
            <a:endParaRPr lang="en-US" sz="1600" dirty="0"/>
          </a:p>
        </p:txBody>
      </p:sp>
      <p:sp>
        <p:nvSpPr>
          <p:cNvPr id="20" name="Text 18"/>
          <p:cNvSpPr/>
          <p:nvPr/>
        </p:nvSpPr>
        <p:spPr>
          <a:xfrm>
            <a:off x="1298448" y="551154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Derived from the assignment mechanism itself; the natural choice for experiments.</a:t>
            </a:r>
            <a:endParaRPr lang="en-US" sz="1250" dirty="0"/>
          </a:p>
        </p:txBody>
      </p:sp>
      <p:sp>
        <p:nvSpPr>
          <p:cNvPr id="21" name="Text 19"/>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4 · UNCERTAINTY</a:t>
            </a:r>
            <a:endParaRPr lang="en-US" sz="900" dirty="0"/>
          </a:p>
        </p:txBody>
      </p:sp>
      <p:sp>
        <p:nvSpPr>
          <p:cNvPr id="22" name="Text 20"/>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125  /  221</a:t>
            </a:r>
            <a:endParaRPr lang="en-US" sz="9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4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Clustering: Get the Level Right</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The single most common uncertainty error in applied causal work is clustering at the wrong level — or not at all.</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rule</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Cluster standard errors at the level at which treatment is assigned or the shock occurs — not finer.</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Too few clusters</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With a small number of clusters, standard asymptotics fail; use wild-cluster bootstrap or exact methods.</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consequence of ignoring it</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Treating correlated observations as independent can shrink standard errors several-fold, manufacturing false significance.</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FAILURE MODE</a:t>
            </a:r>
            <a:endParaRPr lang="en-US" sz="1100" dirty="0"/>
          </a:p>
        </p:txBody>
      </p:sp>
      <p:sp>
        <p:nvSpPr>
          <p:cNvPr id="16" name="Text 14"/>
          <p:cNvSpPr/>
          <p:nvPr/>
        </p:nvSpPr>
        <p:spPr>
          <a:xfrm>
            <a:off x="7744968" y="2331720"/>
            <a:ext cx="3605479" cy="1097280"/>
          </a:xfrm>
          <a:prstGeom prst="rect">
            <a:avLst/>
          </a:prstGeom>
          <a:noFill/>
          <a:ln/>
        </p:spPr>
        <p:txBody>
          <a:bodyPr wrap="square" lIns="0" tIns="0" rIns="0" bIns="0" rtlCol="0" anchor="t"/>
          <a:lstStyle/>
          <a:p>
            <a:pPr marL="0" indent="0">
              <a:buNone/>
            </a:pPr>
            <a:r>
              <a:rPr lang="en-US" sz="5400" b="1" dirty="0">
                <a:solidFill>
                  <a:srgbClr val="16233F"/>
                </a:solidFill>
                <a:latin typeface="Cambria" pitchFamily="34" charset="0"/>
                <a:ea typeface="Cambria" pitchFamily="34" charset="-122"/>
                <a:cs typeface="Cambria" pitchFamily="34" charset="-120"/>
              </a:rPr>
              <a:t>√n</a:t>
            </a:r>
            <a:endParaRPr lang="en-US" sz="5400" dirty="0"/>
          </a:p>
        </p:txBody>
      </p:sp>
      <p:sp>
        <p:nvSpPr>
          <p:cNvPr id="17" name="Text 15"/>
          <p:cNvSpPr/>
          <p:nvPr/>
        </p:nvSpPr>
        <p:spPr>
          <a:xfrm>
            <a:off x="7744968" y="3520440"/>
            <a:ext cx="3605479" cy="2103120"/>
          </a:xfrm>
          <a:prstGeom prst="rect">
            <a:avLst/>
          </a:prstGeom>
          <a:noFill/>
          <a:ln/>
        </p:spPr>
        <p:txBody>
          <a:bodyPr wrap="square" lIns="0" tIns="0" rIns="0" bIns="0" rtlCol="0" anchor="t"/>
          <a:lstStyle/>
          <a:p>
            <a:pPr marL="0" indent="0">
              <a:lnSpc>
                <a:spcPct val="120000"/>
              </a:lnSpc>
              <a:buNone/>
            </a:pPr>
            <a:r>
              <a:rPr lang="en-US" sz="1300" dirty="0">
                <a:solidFill>
                  <a:srgbClr val="566581"/>
                </a:solidFill>
                <a:latin typeface="Calibri" pitchFamily="34" charset="0"/>
                <a:ea typeface="Calibri" pitchFamily="34" charset="-122"/>
                <a:cs typeface="Calibri" pitchFamily="34" charset="-120"/>
              </a:rPr>
              <a:t>Ignoring within-cluster correlation makes you count correlated observations as if independent — the classic route to spuriously narrow intervals.</a:t>
            </a:r>
            <a:endParaRPr lang="en-US" sz="1300" dirty="0"/>
          </a:p>
        </p:txBody>
      </p:sp>
      <p:sp>
        <p:nvSpPr>
          <p:cNvPr id="18" name="Text 1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4 · UNCERTAINTY</a:t>
            </a:r>
            <a:endParaRPr lang="en-US" sz="900" dirty="0"/>
          </a:p>
        </p:txBody>
      </p:sp>
      <p:sp>
        <p:nvSpPr>
          <p:cNvPr id="19" name="Text 1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126  /  221</a:t>
            </a:r>
            <a:endParaRPr lang="en-US" sz="9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4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The Bootstrap</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When an analytic standard error is hard to derive, resample the data to approximate the estimator's sampling distribution.</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How it works</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Resample units with replacement many times, recompute the estimate each time, and read uncertainty from the spread.</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Respect the design</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Resample at the unit of independence — the block bootstrap for time series, the cluster bootstrap for grouped data.</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Know its limits</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The naive bootstrap can fail for matching estimators and extreme quantiles; use the method matched to the estimator.</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4 · UNCERTAINTY</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127  /  221</a:t>
            </a:r>
            <a:endParaRPr lang="en-US" sz="9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4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Confidence Intervals, Interpreted Correctly</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Intervals communicate more than tests — if read precisely.</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frequentist meaning</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Across many repetitions, 95% of such intervals would contain the true effect — a property of the procedure, not this one interval.</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Width is the message</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 wide interval spanning zero says ‘underpowered / uncertain’, not ‘no effect’.</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Compatibility framing</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Read the interval as the range of effect sizes reasonably compatible with the data and model.</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4 · UNCERTAINTY</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128  /  221</a:t>
            </a:r>
            <a:endParaRPr lang="en-US" sz="9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4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Uncertainty: A Practitioner's Checklist</a:t>
            </a:r>
            <a:endParaRPr lang="en-US" sz="3400" dirty="0"/>
          </a:p>
        </p:txBody>
      </p:sp>
      <p:sp>
        <p:nvSpPr>
          <p:cNvPr id="4" name="Text 2"/>
          <p:cNvSpPr/>
          <p:nvPr/>
        </p:nvSpPr>
        <p:spPr>
          <a:xfrm>
            <a:off x="566928" y="1737360"/>
            <a:ext cx="11057839" cy="64008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Before reporting any effect, run down this list.</a:t>
            </a:r>
            <a:endParaRPr lang="en-US" sz="1450" dirty="0"/>
          </a:p>
        </p:txBody>
      </p:sp>
      <p:sp>
        <p:nvSpPr>
          <p:cNvPr id="5" name="Shape 3"/>
          <p:cNvSpPr/>
          <p:nvPr/>
        </p:nvSpPr>
        <p:spPr>
          <a:xfrm>
            <a:off x="566928" y="2578608"/>
            <a:ext cx="137160" cy="137160"/>
          </a:xfrm>
          <a:prstGeom prst="ellipse">
            <a:avLst/>
          </a:prstGeom>
          <a:solidFill>
            <a:srgbClr val="3FA9E0"/>
          </a:solidFill>
          <a:ln/>
        </p:spPr>
        <p:txBody>
          <a:bodyPr/>
          <a:lstStyle/>
          <a:p>
            <a:endParaRPr lang="en-SA"/>
          </a:p>
        </p:txBody>
      </p:sp>
      <p:sp>
        <p:nvSpPr>
          <p:cNvPr id="6" name="Text 4"/>
          <p:cNvSpPr/>
          <p:nvPr/>
        </p:nvSpPr>
        <p:spPr>
          <a:xfrm>
            <a:off x="841248" y="2514600"/>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Does the standard error match the assignment mechanism (robust / clustered / design-based)?</a:t>
            </a:r>
            <a:endParaRPr lang="en-US" sz="1400" dirty="0"/>
          </a:p>
        </p:txBody>
      </p:sp>
      <p:sp>
        <p:nvSpPr>
          <p:cNvPr id="7" name="Shape 5"/>
          <p:cNvSpPr/>
          <p:nvPr/>
        </p:nvSpPr>
        <p:spPr>
          <a:xfrm>
            <a:off x="566928" y="3300984"/>
            <a:ext cx="137160" cy="137160"/>
          </a:xfrm>
          <a:prstGeom prst="ellipse">
            <a:avLst/>
          </a:prstGeom>
          <a:solidFill>
            <a:srgbClr val="5A5BA6"/>
          </a:solidFill>
          <a:ln/>
        </p:spPr>
        <p:txBody>
          <a:bodyPr/>
          <a:lstStyle/>
          <a:p>
            <a:endParaRPr lang="en-SA"/>
          </a:p>
        </p:txBody>
      </p:sp>
      <p:sp>
        <p:nvSpPr>
          <p:cNvPr id="8" name="Text 6"/>
          <p:cNvSpPr/>
          <p:nvPr/>
        </p:nvSpPr>
        <p:spPr>
          <a:xfrm>
            <a:off x="841248" y="3236976"/>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Is clustering at the correct level, with enough clusters for the method used?</a:t>
            </a:r>
            <a:endParaRPr lang="en-US" sz="1400" dirty="0"/>
          </a:p>
        </p:txBody>
      </p:sp>
      <p:sp>
        <p:nvSpPr>
          <p:cNvPr id="9" name="Shape 7"/>
          <p:cNvSpPr/>
          <p:nvPr/>
        </p:nvSpPr>
        <p:spPr>
          <a:xfrm>
            <a:off x="566928" y="4023360"/>
            <a:ext cx="137160" cy="137160"/>
          </a:xfrm>
          <a:prstGeom prst="ellipse">
            <a:avLst/>
          </a:prstGeom>
          <a:solidFill>
            <a:srgbClr val="EA7B38"/>
          </a:solidFill>
          <a:ln/>
        </p:spPr>
        <p:txBody>
          <a:bodyPr/>
          <a:lstStyle/>
          <a:p>
            <a:endParaRPr lang="en-SA"/>
          </a:p>
        </p:txBody>
      </p:sp>
      <p:sp>
        <p:nvSpPr>
          <p:cNvPr id="10" name="Text 8"/>
          <p:cNvSpPr/>
          <p:nvPr/>
        </p:nvSpPr>
        <p:spPr>
          <a:xfrm>
            <a:off x="841248" y="3959352"/>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Have you reported an interval, not just a point and a p-value?</a:t>
            </a:r>
            <a:endParaRPr lang="en-US" sz="1400" dirty="0"/>
          </a:p>
        </p:txBody>
      </p:sp>
      <p:sp>
        <p:nvSpPr>
          <p:cNvPr id="11" name="Shape 9"/>
          <p:cNvSpPr/>
          <p:nvPr/>
        </p:nvSpPr>
        <p:spPr>
          <a:xfrm>
            <a:off x="566928" y="4745736"/>
            <a:ext cx="137160" cy="137160"/>
          </a:xfrm>
          <a:prstGeom prst="ellipse">
            <a:avLst/>
          </a:prstGeom>
          <a:solidFill>
            <a:srgbClr val="3E9B90"/>
          </a:solidFill>
          <a:ln/>
        </p:spPr>
        <p:txBody>
          <a:bodyPr/>
          <a:lstStyle/>
          <a:p>
            <a:endParaRPr lang="en-SA"/>
          </a:p>
        </p:txBody>
      </p:sp>
      <p:sp>
        <p:nvSpPr>
          <p:cNvPr id="12" name="Text 10"/>
          <p:cNvSpPr/>
          <p:nvPr/>
        </p:nvSpPr>
        <p:spPr>
          <a:xfrm>
            <a:off x="841248" y="4681728"/>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Have you separated sampling uncertainty from identification uncertainty?</a:t>
            </a:r>
            <a:endParaRPr lang="en-US" sz="1400" dirty="0"/>
          </a:p>
        </p:txBody>
      </p:sp>
      <p:sp>
        <p:nvSpPr>
          <p:cNvPr id="13" name="Shape 11"/>
          <p:cNvSpPr/>
          <p:nvPr/>
        </p:nvSpPr>
        <p:spPr>
          <a:xfrm>
            <a:off x="566928" y="5468112"/>
            <a:ext cx="137160" cy="137160"/>
          </a:xfrm>
          <a:prstGeom prst="ellipse">
            <a:avLst/>
          </a:prstGeom>
          <a:solidFill>
            <a:srgbClr val="73BB59"/>
          </a:solidFill>
          <a:ln/>
        </p:spPr>
        <p:txBody>
          <a:bodyPr/>
          <a:lstStyle/>
          <a:p>
            <a:endParaRPr lang="en-SA"/>
          </a:p>
        </p:txBody>
      </p:sp>
      <p:sp>
        <p:nvSpPr>
          <p:cNvPr id="14" name="Text 12"/>
          <p:cNvSpPr/>
          <p:nvPr/>
        </p:nvSpPr>
        <p:spPr>
          <a:xfrm>
            <a:off x="841248" y="5404104"/>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For a decision, have you translated the interval into expected value and downside risk?</a:t>
            </a:r>
            <a:endParaRPr lang="en-US" sz="1400" dirty="0"/>
          </a:p>
        </p:txBody>
      </p:sp>
      <p:sp>
        <p:nvSpPr>
          <p:cNvPr id="15" name="Text 13"/>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4 · UNCERTAINTY</a:t>
            </a:r>
            <a:endParaRPr lang="en-US" sz="900" dirty="0"/>
          </a:p>
        </p:txBody>
      </p:sp>
      <p:sp>
        <p:nvSpPr>
          <p:cNvPr id="16" name="Text 14"/>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129  /  221</a:t>
            </a:r>
            <a:endParaRPr lang="en-US" sz="9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4 · HOUR 1</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Knowledge Check: Uncertainty</a:t>
            </a:r>
            <a:endParaRPr lang="en-US" sz="3400" dirty="0"/>
          </a:p>
        </p:txBody>
      </p:sp>
      <p:sp>
        <p:nvSpPr>
          <p:cNvPr id="4" name="Shape 2"/>
          <p:cNvSpPr/>
          <p:nvPr/>
        </p:nvSpPr>
        <p:spPr>
          <a:xfrm>
            <a:off x="566928" y="178308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5" name="Shape 3"/>
          <p:cNvSpPr/>
          <p:nvPr/>
        </p:nvSpPr>
        <p:spPr>
          <a:xfrm>
            <a:off x="768096" y="1965960"/>
            <a:ext cx="384048" cy="384048"/>
          </a:xfrm>
          <a:prstGeom prst="ellipse">
            <a:avLst/>
          </a:prstGeom>
          <a:solidFill>
            <a:srgbClr val="3FA9E0"/>
          </a:solidFill>
          <a:ln/>
        </p:spPr>
        <p:txBody>
          <a:bodyPr/>
          <a:lstStyle/>
          <a:p>
            <a:endParaRPr lang="en-SA"/>
          </a:p>
        </p:txBody>
      </p:sp>
      <p:sp>
        <p:nvSpPr>
          <p:cNvPr id="6" name="Text 4"/>
          <p:cNvSpPr/>
          <p:nvPr/>
        </p:nvSpPr>
        <p:spPr>
          <a:xfrm>
            <a:off x="768096" y="19659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Q1</a:t>
            </a:r>
            <a:endParaRPr lang="en-US" sz="1300" dirty="0"/>
          </a:p>
        </p:txBody>
      </p:sp>
      <p:sp>
        <p:nvSpPr>
          <p:cNvPr id="7" name="Text 5"/>
          <p:cNvSpPr/>
          <p:nvPr/>
        </p:nvSpPr>
        <p:spPr>
          <a:xfrm>
            <a:off x="1344168" y="192938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A regional policy is assigned per region, but you have person-level data. Cluster SEs at the level of:</a:t>
            </a:r>
            <a:endParaRPr lang="en-US" sz="1400" dirty="0"/>
          </a:p>
        </p:txBody>
      </p:sp>
      <p:sp>
        <p:nvSpPr>
          <p:cNvPr id="8" name="Text 6"/>
          <p:cNvSpPr/>
          <p:nvPr/>
        </p:nvSpPr>
        <p:spPr>
          <a:xfrm>
            <a:off x="1344168" y="238658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Person      B) Region      C) Household      D) Do not cluster</a:t>
            </a:r>
            <a:endParaRPr lang="en-US" sz="1200" dirty="0"/>
          </a:p>
        </p:txBody>
      </p:sp>
      <p:sp>
        <p:nvSpPr>
          <p:cNvPr id="9" name="Shape 7"/>
          <p:cNvSpPr/>
          <p:nvPr/>
        </p:nvSpPr>
        <p:spPr>
          <a:xfrm>
            <a:off x="566928" y="306324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10" name="Shape 8"/>
          <p:cNvSpPr/>
          <p:nvPr/>
        </p:nvSpPr>
        <p:spPr>
          <a:xfrm>
            <a:off x="768096" y="3246120"/>
            <a:ext cx="384048" cy="384048"/>
          </a:xfrm>
          <a:prstGeom prst="ellipse">
            <a:avLst/>
          </a:prstGeom>
          <a:solidFill>
            <a:srgbClr val="5A5BA6"/>
          </a:solidFill>
          <a:ln/>
        </p:spPr>
        <p:txBody>
          <a:bodyPr/>
          <a:lstStyle/>
          <a:p>
            <a:endParaRPr lang="en-SA"/>
          </a:p>
        </p:txBody>
      </p:sp>
      <p:sp>
        <p:nvSpPr>
          <p:cNvPr id="11" name="Text 9"/>
          <p:cNvSpPr/>
          <p:nvPr/>
        </p:nvSpPr>
        <p:spPr>
          <a:xfrm>
            <a:off x="768096" y="32461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Q2</a:t>
            </a:r>
            <a:endParaRPr lang="en-US" sz="1300" dirty="0"/>
          </a:p>
        </p:txBody>
      </p:sp>
      <p:sp>
        <p:nvSpPr>
          <p:cNvPr id="12" name="Text 10"/>
          <p:cNvSpPr/>
          <p:nvPr/>
        </p:nvSpPr>
        <p:spPr>
          <a:xfrm>
            <a:off x="1344168" y="320954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A 95% CI of [−0.2, 3.4] on a lift means:</a:t>
            </a:r>
            <a:endParaRPr lang="en-US" sz="1400" dirty="0"/>
          </a:p>
        </p:txBody>
      </p:sp>
      <p:sp>
        <p:nvSpPr>
          <p:cNvPr id="13" name="Text 11"/>
          <p:cNvSpPr/>
          <p:nvPr/>
        </p:nvSpPr>
        <p:spPr>
          <a:xfrm>
            <a:off x="1344168" y="366674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No effect      B) Effect is exactly 1.6      C) Data can't rule out a wide range      D) The null is true</a:t>
            </a:r>
            <a:endParaRPr lang="en-US" sz="1200" dirty="0"/>
          </a:p>
        </p:txBody>
      </p:sp>
      <p:sp>
        <p:nvSpPr>
          <p:cNvPr id="14" name="Shape 12"/>
          <p:cNvSpPr/>
          <p:nvPr/>
        </p:nvSpPr>
        <p:spPr>
          <a:xfrm>
            <a:off x="566928" y="434340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15" name="Shape 13"/>
          <p:cNvSpPr/>
          <p:nvPr/>
        </p:nvSpPr>
        <p:spPr>
          <a:xfrm>
            <a:off x="768096" y="4526280"/>
            <a:ext cx="384048" cy="384048"/>
          </a:xfrm>
          <a:prstGeom prst="ellipse">
            <a:avLst/>
          </a:prstGeom>
          <a:solidFill>
            <a:srgbClr val="EA7B38"/>
          </a:solidFill>
          <a:ln/>
        </p:spPr>
        <p:txBody>
          <a:bodyPr/>
          <a:lstStyle/>
          <a:p>
            <a:endParaRPr lang="en-SA"/>
          </a:p>
        </p:txBody>
      </p:sp>
      <p:sp>
        <p:nvSpPr>
          <p:cNvPr id="16" name="Text 14"/>
          <p:cNvSpPr/>
          <p:nvPr/>
        </p:nvSpPr>
        <p:spPr>
          <a:xfrm>
            <a:off x="768096" y="45262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Q3</a:t>
            </a:r>
            <a:endParaRPr lang="en-US" sz="1300" dirty="0"/>
          </a:p>
        </p:txBody>
      </p:sp>
      <p:sp>
        <p:nvSpPr>
          <p:cNvPr id="17" name="Text 15"/>
          <p:cNvSpPr/>
          <p:nvPr/>
        </p:nvSpPr>
        <p:spPr>
          <a:xfrm>
            <a:off x="1344168" y="448970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For a matching estimator, the naive bootstrap is:</a:t>
            </a:r>
            <a:endParaRPr lang="en-US" sz="1400" dirty="0"/>
          </a:p>
        </p:txBody>
      </p:sp>
      <p:sp>
        <p:nvSpPr>
          <p:cNvPr id="18" name="Text 16"/>
          <p:cNvSpPr/>
          <p:nvPr/>
        </p:nvSpPr>
        <p:spPr>
          <a:xfrm>
            <a:off x="1344168" y="494690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Always valid      B) Potentially invalid      C) The only option      D) Design-based</a:t>
            </a:r>
            <a:endParaRPr lang="en-US" sz="1200" dirty="0"/>
          </a:p>
        </p:txBody>
      </p:sp>
      <p:sp>
        <p:nvSpPr>
          <p:cNvPr id="19" name="Text 17"/>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4 · UNCERTAINTY</a:t>
            </a:r>
            <a:endParaRPr lang="en-US" sz="900" dirty="0"/>
          </a:p>
        </p:txBody>
      </p:sp>
      <p:sp>
        <p:nvSpPr>
          <p:cNvPr id="20" name="Text 18"/>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130  /  221</a:t>
            </a:r>
            <a:endParaRPr lang="en-US" sz="900" dirty="0"/>
          </a:p>
        </p:txBody>
      </p:sp>
      <p:pic>
        <p:nvPicPr>
          <p:cNvPr id="21" name="Picture 20" descr="Day4_Check1.png"/>
          <p:cNvPicPr>
            <a:picLocks noChangeAspect="1"/>
          </p:cNvPicPr>
          <p:nvPr/>
        </p:nvPicPr>
        <p:blipFill>
          <a:blip r:embed="rId3"/>
          <a:stretch>
            <a:fillRect/>
          </a:stretch>
        </p:blipFill>
        <p:spPr>
          <a:xfrm>
            <a:off x="10637520" y="320040"/>
            <a:ext cx="1143000" cy="1143000"/>
          </a:xfrm>
          <a:prstGeom prst="rect">
            <a:avLst/>
          </a:prstGeom>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DAY 4 · HOUR 2</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Bias, Validity &amp; Sensitivity</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A working taxonomy of bias, internal vs. external validity, sampling limitations, and how to stress-test a causal claim.</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DAY 4</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131  /  221</a:t>
            </a:r>
            <a:endParaRPr lang="en-US" sz="9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4 · HOUR 2</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A Taxonomy of Bias</a:t>
            </a:r>
            <a:endParaRPr lang="en-US" sz="3400" dirty="0"/>
          </a:p>
        </p:txBody>
      </p:sp>
      <p:sp>
        <p:nvSpPr>
          <p:cNvPr id="4" name="Text 2"/>
          <p:cNvSpPr/>
          <p:nvPr/>
        </p:nvSpPr>
        <p:spPr>
          <a:xfrm>
            <a:off x="566928" y="1783080"/>
            <a:ext cx="11057839" cy="548640"/>
          </a:xfrm>
          <a:prstGeom prst="rect">
            <a:avLst/>
          </a:prstGeom>
          <a:noFill/>
          <a:ln/>
        </p:spPr>
        <p:txBody>
          <a:bodyPr wrap="square" lIns="0" tIns="0" rIns="0" bIns="0" rtlCol="0" anchor="t"/>
          <a:lstStyle/>
          <a:p>
            <a:pPr marL="0" indent="0">
              <a:lnSpc>
                <a:spcPct val="115000"/>
              </a:lnSpc>
              <a:buNone/>
            </a:pPr>
            <a:r>
              <a:rPr lang="en-US" sz="1400" dirty="0">
                <a:solidFill>
                  <a:srgbClr val="566581"/>
                </a:solidFill>
                <a:latin typeface="Calibri" pitchFamily="34" charset="0"/>
                <a:ea typeface="Calibri" pitchFamily="34" charset="-122"/>
                <a:cs typeface="Calibri" pitchFamily="34" charset="-120"/>
              </a:rPr>
              <a:t>Name the bias precisely and you know where in the pipeline to fix it.</a:t>
            </a:r>
            <a:endParaRPr lang="en-US" sz="1400" dirty="0"/>
          </a:p>
        </p:txBody>
      </p:sp>
      <p:sp>
        <p:nvSpPr>
          <p:cNvPr id="5" name="Shape 3"/>
          <p:cNvSpPr/>
          <p:nvPr/>
        </p:nvSpPr>
        <p:spPr>
          <a:xfrm>
            <a:off x="566928" y="2468880"/>
            <a:ext cx="502920" cy="502920"/>
          </a:xfrm>
          <a:prstGeom prst="ellipse">
            <a:avLst/>
          </a:prstGeom>
          <a:solidFill>
            <a:srgbClr val="3FA9E0"/>
          </a:solidFill>
          <a:ln/>
        </p:spPr>
        <p:txBody>
          <a:bodyPr/>
          <a:lstStyle/>
          <a:p>
            <a:endParaRPr lang="en-SA"/>
          </a:p>
        </p:txBody>
      </p:sp>
      <p:sp>
        <p:nvSpPr>
          <p:cNvPr id="6" name="Text 4"/>
          <p:cNvSpPr/>
          <p:nvPr/>
        </p:nvSpPr>
        <p:spPr>
          <a:xfrm>
            <a:off x="566928" y="246888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7" name="Text 5"/>
          <p:cNvSpPr/>
          <p:nvPr/>
        </p:nvSpPr>
        <p:spPr>
          <a:xfrm>
            <a:off x="1298448" y="242316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Confounding bias</a:t>
            </a:r>
            <a:endParaRPr lang="en-US" sz="1600" dirty="0"/>
          </a:p>
        </p:txBody>
      </p:sp>
      <p:sp>
        <p:nvSpPr>
          <p:cNvPr id="8" name="Text 6"/>
          <p:cNvSpPr/>
          <p:nvPr/>
        </p:nvSpPr>
        <p:spPr>
          <a:xfrm>
            <a:off x="1298448" y="273405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A common cause of treatment and outcome distorts the association. Fixed by design or valid adjustment.</a:t>
            </a:r>
            <a:endParaRPr lang="en-US" sz="1250" dirty="0"/>
          </a:p>
        </p:txBody>
      </p:sp>
      <p:sp>
        <p:nvSpPr>
          <p:cNvPr id="9" name="Shape 7"/>
          <p:cNvSpPr/>
          <p:nvPr/>
        </p:nvSpPr>
        <p:spPr>
          <a:xfrm>
            <a:off x="566928" y="3394710"/>
            <a:ext cx="502920" cy="502920"/>
          </a:xfrm>
          <a:prstGeom prst="ellipse">
            <a:avLst/>
          </a:prstGeom>
          <a:solidFill>
            <a:srgbClr val="5A5BA6"/>
          </a:solidFill>
          <a:ln/>
        </p:spPr>
        <p:txBody>
          <a:bodyPr/>
          <a:lstStyle/>
          <a:p>
            <a:endParaRPr lang="en-SA"/>
          </a:p>
        </p:txBody>
      </p:sp>
      <p:sp>
        <p:nvSpPr>
          <p:cNvPr id="10" name="Text 8"/>
          <p:cNvSpPr/>
          <p:nvPr/>
        </p:nvSpPr>
        <p:spPr>
          <a:xfrm>
            <a:off x="566928" y="339471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1" name="Text 9"/>
          <p:cNvSpPr/>
          <p:nvPr/>
        </p:nvSpPr>
        <p:spPr>
          <a:xfrm>
            <a:off x="1298448" y="334899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Selection bias</a:t>
            </a:r>
            <a:endParaRPr lang="en-US" sz="1600" dirty="0"/>
          </a:p>
        </p:txBody>
      </p:sp>
      <p:sp>
        <p:nvSpPr>
          <p:cNvPr id="12" name="Text 10"/>
          <p:cNvSpPr/>
          <p:nvPr/>
        </p:nvSpPr>
        <p:spPr>
          <a:xfrm>
            <a:off x="1298448" y="365988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How units enter (or stay in) the sample is related to treatment and outcome — including collider conditioning and attrition.</a:t>
            </a:r>
            <a:endParaRPr lang="en-US" sz="1250" dirty="0"/>
          </a:p>
        </p:txBody>
      </p:sp>
      <p:sp>
        <p:nvSpPr>
          <p:cNvPr id="13" name="Shape 11"/>
          <p:cNvSpPr/>
          <p:nvPr/>
        </p:nvSpPr>
        <p:spPr>
          <a:xfrm>
            <a:off x="566928" y="4320540"/>
            <a:ext cx="502920" cy="502920"/>
          </a:xfrm>
          <a:prstGeom prst="ellipse">
            <a:avLst/>
          </a:prstGeom>
          <a:solidFill>
            <a:srgbClr val="EA7B38"/>
          </a:solidFill>
          <a:ln/>
        </p:spPr>
        <p:txBody>
          <a:bodyPr/>
          <a:lstStyle/>
          <a:p>
            <a:endParaRPr lang="en-SA"/>
          </a:p>
        </p:txBody>
      </p:sp>
      <p:sp>
        <p:nvSpPr>
          <p:cNvPr id="14" name="Text 12"/>
          <p:cNvSpPr/>
          <p:nvPr/>
        </p:nvSpPr>
        <p:spPr>
          <a:xfrm>
            <a:off x="566928" y="43205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15" name="Text 13"/>
          <p:cNvSpPr/>
          <p:nvPr/>
        </p:nvSpPr>
        <p:spPr>
          <a:xfrm>
            <a:off x="1298448" y="427482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Measurement bias</a:t>
            </a:r>
            <a:endParaRPr lang="en-US" sz="1600" dirty="0"/>
          </a:p>
        </p:txBody>
      </p:sp>
      <p:sp>
        <p:nvSpPr>
          <p:cNvPr id="16" name="Text 14"/>
          <p:cNvSpPr/>
          <p:nvPr/>
        </p:nvSpPr>
        <p:spPr>
          <a:xfrm>
            <a:off x="1298448" y="458571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Systematic error in T, Y, or X — misclassification, proxy metrics, and differential measurement across arms.</a:t>
            </a:r>
            <a:endParaRPr lang="en-US" sz="1250" dirty="0"/>
          </a:p>
        </p:txBody>
      </p:sp>
      <p:sp>
        <p:nvSpPr>
          <p:cNvPr id="17" name="Shape 15"/>
          <p:cNvSpPr/>
          <p:nvPr/>
        </p:nvSpPr>
        <p:spPr>
          <a:xfrm>
            <a:off x="566928" y="5246370"/>
            <a:ext cx="502920" cy="502920"/>
          </a:xfrm>
          <a:prstGeom prst="ellipse">
            <a:avLst/>
          </a:prstGeom>
          <a:solidFill>
            <a:srgbClr val="3E9B90"/>
          </a:solidFill>
          <a:ln/>
        </p:spPr>
        <p:txBody>
          <a:bodyPr/>
          <a:lstStyle/>
          <a:p>
            <a:endParaRPr lang="en-SA"/>
          </a:p>
        </p:txBody>
      </p:sp>
      <p:sp>
        <p:nvSpPr>
          <p:cNvPr id="18" name="Text 16"/>
          <p:cNvSpPr/>
          <p:nvPr/>
        </p:nvSpPr>
        <p:spPr>
          <a:xfrm>
            <a:off x="566928" y="524637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04</a:t>
            </a:r>
            <a:endParaRPr lang="en-US" sz="1300" dirty="0"/>
          </a:p>
        </p:txBody>
      </p:sp>
      <p:sp>
        <p:nvSpPr>
          <p:cNvPr id="19" name="Text 17"/>
          <p:cNvSpPr/>
          <p:nvPr/>
        </p:nvSpPr>
        <p:spPr>
          <a:xfrm>
            <a:off x="1298448" y="520065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Interference / spillover</a:t>
            </a:r>
            <a:endParaRPr lang="en-US" sz="1600" dirty="0"/>
          </a:p>
        </p:txBody>
      </p:sp>
      <p:sp>
        <p:nvSpPr>
          <p:cNvPr id="20" name="Text 18"/>
          <p:cNvSpPr/>
          <p:nvPr/>
        </p:nvSpPr>
        <p:spPr>
          <a:xfrm>
            <a:off x="1298448" y="551154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One unit's treatment changes another's outcome, breaking SUTVA and biasing the contrast.</a:t>
            </a:r>
            <a:endParaRPr lang="en-US" sz="1250" dirty="0"/>
          </a:p>
        </p:txBody>
      </p:sp>
      <p:sp>
        <p:nvSpPr>
          <p:cNvPr id="21" name="Text 19"/>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4 · BIAS</a:t>
            </a:r>
            <a:endParaRPr lang="en-US" sz="900" dirty="0"/>
          </a:p>
        </p:txBody>
      </p:sp>
      <p:sp>
        <p:nvSpPr>
          <p:cNvPr id="22" name="Text 20"/>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132  /  221</a:t>
            </a:r>
            <a:endParaRPr lang="en-US" sz="9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4 · HOUR 2</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Internal vs. External Validity</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Two separate questions: is the estimate right for this sample, and does it transfer beyond it?</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Internal validity</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Does the estimate correctly reflect the causal effect within the study? Threatened by confounding, attrition, and non-compliance.</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External validity</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Does the effect generalise to other populations, settings, times, or treatment versions? A separate, often harder, claim.</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tension</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Tightly controlled designs (RCTs, RDD) buy internal validity but can narrow external validity — the local effect may not travel.</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DO NOT CONFLATE THEM</a:t>
            </a:r>
            <a:endParaRPr lang="en-US" sz="1100" dirty="0"/>
          </a:p>
        </p:txBody>
      </p:sp>
      <p:sp>
        <p:nvSpPr>
          <p:cNvPr id="16" name="Text 14"/>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dirty="0">
                <a:solidFill>
                  <a:srgbClr val="16233F"/>
                </a:solidFill>
                <a:latin typeface="Calibri" pitchFamily="34" charset="0"/>
                <a:ea typeface="Calibri" pitchFamily="34" charset="-122"/>
                <a:cs typeface="Calibri" pitchFamily="34" charset="-120"/>
              </a:rPr>
              <a:t>A perfectly identified effect at a threshold (RDD) or for compliers (IV) can be exactly right internally and still not answer the population question you care about.</a:t>
            </a:r>
            <a:endParaRPr lang="en-US" sz="13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4 · VALIDITY</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133  /  221</a:t>
            </a:r>
            <a:endParaRPr lang="en-US" sz="9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4 · HOUR 2</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Sampling Limitations &amp; Generalisation</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Who is in your data determines who your conclusion is about.</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Coverage</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Convenience samples, opt-in panels, and platform data can systematically exclude the populations a decision must serve.</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Effect transport</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If the effect varies with covariates (CATE) and the target population's mix differs, the sample ATE will not transport.</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Reweighting to target</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Post-stratify or reweight the estimate to the target population's covariate distribution — and state the assumptions that licenses it.</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4 · VALIDITY</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134  /  221</a:t>
            </a:r>
            <a:endParaRPr lang="en-US" sz="9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4 · HOUR 2</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Sensitivity Analysis for Unmeasured Confounding</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Since unconfoundedness is untestable, quantify how strong a hidden confounder would need to be to overturn your result.</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question it answers</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‘How much unmeasured confounding would explain away the effect?’ — a bound, not a point.</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Tools</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E-values, Rosenbaum bounds, and partial-R² / Cinelli–Hazlett benchmarks against observed covariates.</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Reporting</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State the tipping point and benchmark it: ‘a confounder as strong as X would be needed — and none such is plausible.’</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E-VALUE</a:t>
            </a:r>
            <a:endParaRPr lang="en-US" sz="1100" dirty="0"/>
          </a:p>
        </p:txBody>
      </p:sp>
      <p:sp>
        <p:nvSpPr>
          <p:cNvPr id="16" name="Text 14"/>
          <p:cNvSpPr/>
          <p:nvPr/>
        </p:nvSpPr>
        <p:spPr>
          <a:xfrm>
            <a:off x="7744968" y="2331720"/>
            <a:ext cx="3605479" cy="1097280"/>
          </a:xfrm>
          <a:prstGeom prst="rect">
            <a:avLst/>
          </a:prstGeom>
          <a:noFill/>
          <a:ln/>
        </p:spPr>
        <p:txBody>
          <a:bodyPr wrap="square" lIns="0" tIns="0" rIns="0" bIns="0" rtlCol="0" anchor="t"/>
          <a:lstStyle/>
          <a:p>
            <a:pPr marL="0" indent="0">
              <a:buNone/>
            </a:pPr>
            <a:r>
              <a:rPr lang="en-US" sz="5400" b="1" dirty="0">
                <a:solidFill>
                  <a:srgbClr val="16233F"/>
                </a:solidFill>
                <a:latin typeface="Cambria" pitchFamily="34" charset="0"/>
                <a:ea typeface="Cambria" pitchFamily="34" charset="-122"/>
                <a:cs typeface="Cambria" pitchFamily="34" charset="-120"/>
              </a:rPr>
              <a:t>≥ ?</a:t>
            </a:r>
            <a:endParaRPr lang="en-US" sz="5400" dirty="0"/>
          </a:p>
        </p:txBody>
      </p:sp>
      <p:sp>
        <p:nvSpPr>
          <p:cNvPr id="17" name="Text 15"/>
          <p:cNvSpPr/>
          <p:nvPr/>
        </p:nvSpPr>
        <p:spPr>
          <a:xfrm>
            <a:off x="7744968" y="3520440"/>
            <a:ext cx="3605479" cy="2103120"/>
          </a:xfrm>
          <a:prstGeom prst="rect">
            <a:avLst/>
          </a:prstGeom>
          <a:noFill/>
          <a:ln/>
        </p:spPr>
        <p:txBody>
          <a:bodyPr wrap="square" lIns="0" tIns="0" rIns="0" bIns="0" rtlCol="0" anchor="t"/>
          <a:lstStyle/>
          <a:p>
            <a:pPr marL="0" indent="0">
              <a:lnSpc>
                <a:spcPct val="120000"/>
              </a:lnSpc>
              <a:buNone/>
            </a:pPr>
            <a:r>
              <a:rPr lang="en-US" sz="1300" dirty="0">
                <a:solidFill>
                  <a:srgbClr val="566581"/>
                </a:solidFill>
                <a:latin typeface="Calibri" pitchFamily="34" charset="0"/>
                <a:ea typeface="Calibri" pitchFamily="34" charset="-122"/>
                <a:cs typeface="Calibri" pitchFamily="34" charset="-120"/>
              </a:rPr>
              <a:t>The minimum strength of association an unmeasured confounder would need with both treatment and outcome to nullify the estimate. Bigger E-values mean more robust claims.</a:t>
            </a:r>
            <a:endParaRPr lang="en-US" sz="1300" dirty="0"/>
          </a:p>
        </p:txBody>
      </p:sp>
      <p:sp>
        <p:nvSpPr>
          <p:cNvPr id="18" name="Text 1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4 · SENSITIVITY</a:t>
            </a:r>
            <a:endParaRPr lang="en-US" sz="900" dirty="0"/>
          </a:p>
        </p:txBody>
      </p:sp>
      <p:sp>
        <p:nvSpPr>
          <p:cNvPr id="19" name="Text 1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135  /  221</a:t>
            </a:r>
            <a:endParaRPr lang="en-US" sz="9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4 · HOUR 2</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Placebo Tests &amp; Negative Controls</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Falsification checks that would fail if your design were invalid.</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Negative-control outcome</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An outcome the treatment cannot plausibly affect; a ‘detected effect’ there reveals residual confounding.</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Negative-control exposure</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 pseudo-treatment that should show no effect; if it does, the design is suspect.</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Placebo timing / units</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Apply the method where no effect can exist (pre-period, untreated units); a null there supports validity.</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4 · SENSITIVITY</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136  /  221</a:t>
            </a:r>
            <a:endParaRPr lang="en-US" sz="9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4 · HOUR 2</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A Threats-to-Validity Review</a:t>
            </a:r>
            <a:endParaRPr lang="en-US" sz="3400" dirty="0"/>
          </a:p>
        </p:txBody>
      </p:sp>
      <p:sp>
        <p:nvSpPr>
          <p:cNvPr id="4" name="Text 2"/>
          <p:cNvSpPr/>
          <p:nvPr/>
        </p:nvSpPr>
        <p:spPr>
          <a:xfrm>
            <a:off x="566928" y="1737360"/>
            <a:ext cx="11057839" cy="64008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The checklist to run on any causal claim before you act on it.</a:t>
            </a:r>
            <a:endParaRPr lang="en-US" sz="1450" dirty="0"/>
          </a:p>
        </p:txBody>
      </p:sp>
      <p:sp>
        <p:nvSpPr>
          <p:cNvPr id="5" name="Shape 3"/>
          <p:cNvSpPr/>
          <p:nvPr/>
        </p:nvSpPr>
        <p:spPr>
          <a:xfrm>
            <a:off x="566928" y="2578608"/>
            <a:ext cx="137160" cy="137160"/>
          </a:xfrm>
          <a:prstGeom prst="ellipse">
            <a:avLst/>
          </a:prstGeom>
          <a:solidFill>
            <a:srgbClr val="3FA9E0"/>
          </a:solidFill>
          <a:ln/>
        </p:spPr>
        <p:txBody>
          <a:bodyPr/>
          <a:lstStyle/>
          <a:p>
            <a:endParaRPr lang="en-SA"/>
          </a:p>
        </p:txBody>
      </p:sp>
      <p:sp>
        <p:nvSpPr>
          <p:cNvPr id="6" name="Text 4"/>
          <p:cNvSpPr/>
          <p:nvPr/>
        </p:nvSpPr>
        <p:spPr>
          <a:xfrm>
            <a:off x="841248" y="251460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Confounding — is every backdoor blocked, and could an unmeasured confounder remain?</a:t>
            </a:r>
            <a:endParaRPr lang="en-US" sz="1400" dirty="0"/>
          </a:p>
        </p:txBody>
      </p:sp>
      <p:sp>
        <p:nvSpPr>
          <p:cNvPr id="7" name="Shape 5"/>
          <p:cNvSpPr/>
          <p:nvPr/>
        </p:nvSpPr>
        <p:spPr>
          <a:xfrm>
            <a:off x="566928" y="3180588"/>
            <a:ext cx="137160" cy="137160"/>
          </a:xfrm>
          <a:prstGeom prst="ellipse">
            <a:avLst/>
          </a:prstGeom>
          <a:solidFill>
            <a:srgbClr val="5A5BA6"/>
          </a:solidFill>
          <a:ln/>
        </p:spPr>
        <p:txBody>
          <a:bodyPr/>
          <a:lstStyle/>
          <a:p>
            <a:endParaRPr lang="en-SA"/>
          </a:p>
        </p:txBody>
      </p:sp>
      <p:sp>
        <p:nvSpPr>
          <p:cNvPr id="8" name="Text 6"/>
          <p:cNvSpPr/>
          <p:nvPr/>
        </p:nvSpPr>
        <p:spPr>
          <a:xfrm>
            <a:off x="841248" y="311658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Selection / attrition — who dropped out or was excluded, and is it related to treatment?</a:t>
            </a:r>
            <a:endParaRPr lang="en-US" sz="1400" dirty="0"/>
          </a:p>
        </p:txBody>
      </p:sp>
      <p:sp>
        <p:nvSpPr>
          <p:cNvPr id="9" name="Shape 7"/>
          <p:cNvSpPr/>
          <p:nvPr/>
        </p:nvSpPr>
        <p:spPr>
          <a:xfrm>
            <a:off x="566928" y="3782568"/>
            <a:ext cx="137160" cy="137160"/>
          </a:xfrm>
          <a:prstGeom prst="ellipse">
            <a:avLst/>
          </a:prstGeom>
          <a:solidFill>
            <a:srgbClr val="EA7B38"/>
          </a:solidFill>
          <a:ln/>
        </p:spPr>
        <p:txBody>
          <a:bodyPr/>
          <a:lstStyle/>
          <a:p>
            <a:endParaRPr lang="en-SA"/>
          </a:p>
        </p:txBody>
      </p:sp>
      <p:sp>
        <p:nvSpPr>
          <p:cNvPr id="10" name="Text 8"/>
          <p:cNvSpPr/>
          <p:nvPr/>
        </p:nvSpPr>
        <p:spPr>
          <a:xfrm>
            <a:off x="841248" y="371856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Measurement — are T, Y, and X measured the same way across arms?</a:t>
            </a:r>
            <a:endParaRPr lang="en-US" sz="1400" dirty="0"/>
          </a:p>
        </p:txBody>
      </p:sp>
      <p:sp>
        <p:nvSpPr>
          <p:cNvPr id="11" name="Shape 9"/>
          <p:cNvSpPr/>
          <p:nvPr/>
        </p:nvSpPr>
        <p:spPr>
          <a:xfrm>
            <a:off x="566928" y="4384548"/>
            <a:ext cx="137160" cy="137160"/>
          </a:xfrm>
          <a:prstGeom prst="ellipse">
            <a:avLst/>
          </a:prstGeom>
          <a:solidFill>
            <a:srgbClr val="3E9B90"/>
          </a:solidFill>
          <a:ln/>
        </p:spPr>
        <p:txBody>
          <a:bodyPr/>
          <a:lstStyle/>
          <a:p>
            <a:endParaRPr lang="en-SA"/>
          </a:p>
        </p:txBody>
      </p:sp>
      <p:sp>
        <p:nvSpPr>
          <p:cNvPr id="12" name="Text 10"/>
          <p:cNvSpPr/>
          <p:nvPr/>
        </p:nvSpPr>
        <p:spPr>
          <a:xfrm>
            <a:off x="841248" y="432054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Interference — could treated units affect controls?</a:t>
            </a:r>
            <a:endParaRPr lang="en-US" sz="1400" dirty="0"/>
          </a:p>
        </p:txBody>
      </p:sp>
      <p:sp>
        <p:nvSpPr>
          <p:cNvPr id="13" name="Shape 11"/>
          <p:cNvSpPr/>
          <p:nvPr/>
        </p:nvSpPr>
        <p:spPr>
          <a:xfrm>
            <a:off x="566928" y="4986528"/>
            <a:ext cx="137160" cy="137160"/>
          </a:xfrm>
          <a:prstGeom prst="ellipse">
            <a:avLst/>
          </a:prstGeom>
          <a:solidFill>
            <a:srgbClr val="73BB59"/>
          </a:solidFill>
          <a:ln/>
        </p:spPr>
        <p:txBody>
          <a:bodyPr/>
          <a:lstStyle/>
          <a:p>
            <a:endParaRPr lang="en-SA"/>
          </a:p>
        </p:txBody>
      </p:sp>
      <p:sp>
        <p:nvSpPr>
          <p:cNvPr id="14" name="Text 12"/>
          <p:cNvSpPr/>
          <p:nvPr/>
        </p:nvSpPr>
        <p:spPr>
          <a:xfrm>
            <a:off x="841248" y="492252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External validity — does the estimand match the population and setting of the decision?</a:t>
            </a:r>
            <a:endParaRPr lang="en-US" sz="1400" dirty="0"/>
          </a:p>
        </p:txBody>
      </p:sp>
      <p:sp>
        <p:nvSpPr>
          <p:cNvPr id="15" name="Shape 13"/>
          <p:cNvSpPr/>
          <p:nvPr/>
        </p:nvSpPr>
        <p:spPr>
          <a:xfrm>
            <a:off x="566928" y="5588508"/>
            <a:ext cx="137160" cy="137160"/>
          </a:xfrm>
          <a:prstGeom prst="ellipse">
            <a:avLst/>
          </a:prstGeom>
          <a:solidFill>
            <a:srgbClr val="3FA9E0"/>
          </a:solidFill>
          <a:ln/>
        </p:spPr>
        <p:txBody>
          <a:bodyPr/>
          <a:lstStyle/>
          <a:p>
            <a:endParaRPr lang="en-SA"/>
          </a:p>
        </p:txBody>
      </p:sp>
      <p:sp>
        <p:nvSpPr>
          <p:cNvPr id="16" name="Text 14"/>
          <p:cNvSpPr/>
          <p:nvPr/>
        </p:nvSpPr>
        <p:spPr>
          <a:xfrm>
            <a:off x="841248" y="552450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Robustness — do sensitivity, placebo, and negative-control checks hold up?</a:t>
            </a:r>
            <a:endParaRPr lang="en-US" sz="140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4 · VALIDITY</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137  /  221</a:t>
            </a:r>
            <a:endParaRPr lang="en-US" sz="9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4 · HOUR 2</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Knowledge Check: Bias &amp; Validity</a:t>
            </a:r>
            <a:endParaRPr lang="en-US" sz="3400" dirty="0"/>
          </a:p>
        </p:txBody>
      </p:sp>
      <p:sp>
        <p:nvSpPr>
          <p:cNvPr id="4" name="Shape 2"/>
          <p:cNvSpPr/>
          <p:nvPr/>
        </p:nvSpPr>
        <p:spPr>
          <a:xfrm>
            <a:off x="566928" y="178308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5" name="Shape 3"/>
          <p:cNvSpPr/>
          <p:nvPr/>
        </p:nvSpPr>
        <p:spPr>
          <a:xfrm>
            <a:off x="768096" y="1965960"/>
            <a:ext cx="384048" cy="384048"/>
          </a:xfrm>
          <a:prstGeom prst="ellipse">
            <a:avLst/>
          </a:prstGeom>
          <a:solidFill>
            <a:srgbClr val="3FA9E0"/>
          </a:solidFill>
          <a:ln/>
        </p:spPr>
        <p:txBody>
          <a:bodyPr/>
          <a:lstStyle/>
          <a:p>
            <a:endParaRPr lang="en-SA"/>
          </a:p>
        </p:txBody>
      </p:sp>
      <p:sp>
        <p:nvSpPr>
          <p:cNvPr id="6" name="Text 4"/>
          <p:cNvSpPr/>
          <p:nvPr/>
        </p:nvSpPr>
        <p:spPr>
          <a:xfrm>
            <a:off x="768096" y="19659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Q1</a:t>
            </a:r>
            <a:endParaRPr lang="en-US" sz="1300" dirty="0"/>
          </a:p>
        </p:txBody>
      </p:sp>
      <p:sp>
        <p:nvSpPr>
          <p:cNvPr id="7" name="Text 5"/>
          <p:cNvSpPr/>
          <p:nvPr/>
        </p:nvSpPr>
        <p:spPr>
          <a:xfrm>
            <a:off x="1344168" y="192938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An RDD estimate is unbiased at the cutoff but may not generalise. This is a limit of:</a:t>
            </a:r>
            <a:endParaRPr lang="en-US" sz="1400" dirty="0"/>
          </a:p>
        </p:txBody>
      </p:sp>
      <p:sp>
        <p:nvSpPr>
          <p:cNvPr id="8" name="Text 6"/>
          <p:cNvSpPr/>
          <p:nvPr/>
        </p:nvSpPr>
        <p:spPr>
          <a:xfrm>
            <a:off x="1344168" y="238658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Internal validity      B) External validity      C) Measurement      D) Power</a:t>
            </a:r>
            <a:endParaRPr lang="en-US" sz="1200" dirty="0"/>
          </a:p>
        </p:txBody>
      </p:sp>
      <p:sp>
        <p:nvSpPr>
          <p:cNvPr id="9" name="Shape 7"/>
          <p:cNvSpPr/>
          <p:nvPr/>
        </p:nvSpPr>
        <p:spPr>
          <a:xfrm>
            <a:off x="566928" y="306324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10" name="Shape 8"/>
          <p:cNvSpPr/>
          <p:nvPr/>
        </p:nvSpPr>
        <p:spPr>
          <a:xfrm>
            <a:off x="768096" y="3246120"/>
            <a:ext cx="384048" cy="384048"/>
          </a:xfrm>
          <a:prstGeom prst="ellipse">
            <a:avLst/>
          </a:prstGeom>
          <a:solidFill>
            <a:srgbClr val="5A5BA6"/>
          </a:solidFill>
          <a:ln/>
        </p:spPr>
        <p:txBody>
          <a:bodyPr/>
          <a:lstStyle/>
          <a:p>
            <a:endParaRPr lang="en-SA"/>
          </a:p>
        </p:txBody>
      </p:sp>
      <p:sp>
        <p:nvSpPr>
          <p:cNvPr id="11" name="Text 9"/>
          <p:cNvSpPr/>
          <p:nvPr/>
        </p:nvSpPr>
        <p:spPr>
          <a:xfrm>
            <a:off x="768096" y="32461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Q2</a:t>
            </a:r>
            <a:endParaRPr lang="en-US" sz="1300" dirty="0"/>
          </a:p>
        </p:txBody>
      </p:sp>
      <p:sp>
        <p:nvSpPr>
          <p:cNvPr id="12" name="Text 10"/>
          <p:cNvSpPr/>
          <p:nvPr/>
        </p:nvSpPr>
        <p:spPr>
          <a:xfrm>
            <a:off x="1344168" y="320954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A large E-value indicates the finding is:</a:t>
            </a:r>
            <a:endParaRPr lang="en-US" sz="1400" dirty="0"/>
          </a:p>
        </p:txBody>
      </p:sp>
      <p:sp>
        <p:nvSpPr>
          <p:cNvPr id="13" name="Text 11"/>
          <p:cNvSpPr/>
          <p:nvPr/>
        </p:nvSpPr>
        <p:spPr>
          <a:xfrm>
            <a:off x="1344168" y="366674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Fragile to confounding      B) Robust to confounding      C) Underpowered      D) Biased</a:t>
            </a:r>
            <a:endParaRPr lang="en-US" sz="1200" dirty="0"/>
          </a:p>
        </p:txBody>
      </p:sp>
      <p:sp>
        <p:nvSpPr>
          <p:cNvPr id="14" name="Shape 12"/>
          <p:cNvSpPr/>
          <p:nvPr/>
        </p:nvSpPr>
        <p:spPr>
          <a:xfrm>
            <a:off x="566928" y="4343400"/>
            <a:ext cx="11057839" cy="1115568"/>
          </a:xfrm>
          <a:prstGeom prst="roundRect">
            <a:avLst>
              <a:gd name="adj" fmla="val 6557"/>
            </a:avLst>
          </a:prstGeom>
          <a:solidFill>
            <a:srgbClr val="F4F7FB"/>
          </a:solidFill>
          <a:ln w="12700">
            <a:solidFill>
              <a:srgbClr val="D9E2F0"/>
            </a:solidFill>
            <a:prstDash val="solid"/>
          </a:ln>
        </p:spPr>
        <p:txBody>
          <a:bodyPr/>
          <a:lstStyle/>
          <a:p>
            <a:endParaRPr lang="en-SA"/>
          </a:p>
        </p:txBody>
      </p:sp>
      <p:sp>
        <p:nvSpPr>
          <p:cNvPr id="15" name="Shape 13"/>
          <p:cNvSpPr/>
          <p:nvPr/>
        </p:nvSpPr>
        <p:spPr>
          <a:xfrm>
            <a:off x="768096" y="4526280"/>
            <a:ext cx="384048" cy="384048"/>
          </a:xfrm>
          <a:prstGeom prst="ellipse">
            <a:avLst/>
          </a:prstGeom>
          <a:solidFill>
            <a:srgbClr val="EA7B38"/>
          </a:solidFill>
          <a:ln/>
        </p:spPr>
        <p:txBody>
          <a:bodyPr/>
          <a:lstStyle/>
          <a:p>
            <a:endParaRPr lang="en-SA"/>
          </a:p>
        </p:txBody>
      </p:sp>
      <p:sp>
        <p:nvSpPr>
          <p:cNvPr id="16" name="Text 14"/>
          <p:cNvSpPr/>
          <p:nvPr/>
        </p:nvSpPr>
        <p:spPr>
          <a:xfrm>
            <a:off x="768096" y="45262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Q3</a:t>
            </a:r>
            <a:endParaRPr lang="en-US" sz="1300" dirty="0"/>
          </a:p>
        </p:txBody>
      </p:sp>
      <p:sp>
        <p:nvSpPr>
          <p:cNvPr id="17" name="Text 15"/>
          <p:cNvSpPr/>
          <p:nvPr/>
        </p:nvSpPr>
        <p:spPr>
          <a:xfrm>
            <a:off x="1344168" y="448970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Detecting an ‘effect’ on a negative-control outcome suggests:</a:t>
            </a:r>
            <a:endParaRPr lang="en-US" sz="1400" dirty="0"/>
          </a:p>
        </p:txBody>
      </p:sp>
      <p:sp>
        <p:nvSpPr>
          <p:cNvPr id="18" name="Text 16"/>
          <p:cNvSpPr/>
          <p:nvPr/>
        </p:nvSpPr>
        <p:spPr>
          <a:xfrm>
            <a:off x="1344168" y="4946904"/>
            <a:ext cx="10051999" cy="45720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Strong design      B) Residual confounding      C) High power      D) Good overlap</a:t>
            </a:r>
            <a:endParaRPr lang="en-US" sz="1200" dirty="0"/>
          </a:p>
        </p:txBody>
      </p:sp>
      <p:sp>
        <p:nvSpPr>
          <p:cNvPr id="19" name="Text 17"/>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4 · VALIDITY</a:t>
            </a:r>
            <a:endParaRPr lang="en-US" sz="900" dirty="0"/>
          </a:p>
        </p:txBody>
      </p:sp>
      <p:sp>
        <p:nvSpPr>
          <p:cNvPr id="20" name="Text 18"/>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138  /  221</a:t>
            </a:r>
            <a:endParaRPr lang="en-US" sz="900" dirty="0"/>
          </a:p>
        </p:txBody>
      </p:sp>
      <p:pic>
        <p:nvPicPr>
          <p:cNvPr id="21" name="Picture 20" descr="Day4_Check2.png"/>
          <p:cNvPicPr>
            <a:picLocks noChangeAspect="1"/>
          </p:cNvPicPr>
          <p:nvPr/>
        </p:nvPicPr>
        <p:blipFill>
          <a:blip r:embed="rId3"/>
          <a:stretch>
            <a:fillRect/>
          </a:stretch>
        </p:blipFill>
        <p:spPr>
          <a:xfrm>
            <a:off x="10637520" y="320040"/>
            <a:ext cx="1143000" cy="1143000"/>
          </a:xfrm>
          <a:prstGeom prst="rect">
            <a:avLst/>
          </a:prstGeom>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DAY 4 · HOUR 3</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Real-World Case Studies</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Three worked cases across technology, public policy, and health — from question to estimand to design to decision.</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DAY 4</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139  /  221</a:t>
            </a:r>
            <a:endParaRPr lang="en-US" sz="9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6233F"/>
          </a:solidFill>
          <a:ln/>
        </p:spPr>
        <p:txBody>
          <a:bodyPr/>
          <a:lstStyle/>
          <a:p>
            <a:endParaRPr lang="en-SA"/>
          </a:p>
        </p:txBody>
      </p:sp>
      <p:sp>
        <p:nvSpPr>
          <p:cNvPr id="3" name="Text 1"/>
          <p:cNvSpPr/>
          <p:nvPr/>
        </p:nvSpPr>
        <p:spPr>
          <a:xfrm>
            <a:off x="502920" y="548640"/>
            <a:ext cx="3383280" cy="292608"/>
          </a:xfrm>
          <a:prstGeom prst="rect">
            <a:avLst/>
          </a:prstGeom>
          <a:noFill/>
          <a:ln/>
        </p:spPr>
        <p:txBody>
          <a:bodyPr wrap="square" lIns="0" tIns="0" rIns="0" bIns="0" rtlCol="0" anchor="ctr"/>
          <a:lstStyle/>
          <a:p>
            <a:pPr marL="0" indent="0">
              <a:buNone/>
            </a:pPr>
            <a:r>
              <a:rPr lang="en-US" sz="1200" b="1" kern="0" spc="300" dirty="0">
                <a:solidFill>
                  <a:srgbClr val="70C8F2"/>
                </a:solidFill>
                <a:latin typeface="Calibri" pitchFamily="34" charset="0"/>
                <a:ea typeface="Calibri" pitchFamily="34" charset="-122"/>
                <a:cs typeface="Calibri" pitchFamily="34" charset="-120"/>
              </a:rPr>
              <a:t>CASE STUDY 1 · TECHNOLOGY</a:t>
            </a:r>
            <a:endParaRPr lang="en-US" sz="1200" dirty="0"/>
          </a:p>
        </p:txBody>
      </p:sp>
      <p:sp>
        <p:nvSpPr>
          <p:cNvPr id="4" name="Text 2"/>
          <p:cNvSpPr/>
          <p:nvPr/>
        </p:nvSpPr>
        <p:spPr>
          <a:xfrm>
            <a:off x="502920" y="914400"/>
            <a:ext cx="3383280" cy="1371600"/>
          </a:xfrm>
          <a:prstGeom prst="rect">
            <a:avLst/>
          </a:prstGeom>
          <a:noFill/>
          <a:ln/>
        </p:spPr>
        <p:txBody>
          <a:bodyPr wrap="square" lIns="0" tIns="0" rIns="0" bIns="0" rtlCol="0" anchor="t"/>
          <a:lstStyle/>
          <a:p>
            <a:pPr marL="0" indent="0">
              <a:lnSpc>
                <a:spcPct val="103000"/>
              </a:lnSpc>
              <a:buNone/>
            </a:pPr>
            <a:r>
              <a:rPr lang="en-US" sz="2600" b="1" dirty="0">
                <a:solidFill>
                  <a:srgbClr val="FFFFFF"/>
                </a:solidFill>
                <a:latin typeface="Cambria" pitchFamily="34" charset="0"/>
                <a:ea typeface="Cambria" pitchFamily="34" charset="-122"/>
                <a:cs typeface="Cambria" pitchFamily="34" charset="-120"/>
              </a:rPr>
              <a:t>Did the New Ranking Model Grow Engagement?</a:t>
            </a:r>
            <a:endParaRPr lang="en-US" sz="2600" dirty="0"/>
          </a:p>
        </p:txBody>
      </p:sp>
      <p:sp>
        <p:nvSpPr>
          <p:cNvPr id="5" name="Text 3"/>
          <p:cNvSpPr/>
          <p:nvPr/>
        </p:nvSpPr>
        <p:spPr>
          <a:xfrm>
            <a:off x="502920" y="2468880"/>
            <a:ext cx="3383280" cy="274320"/>
          </a:xfrm>
          <a:prstGeom prst="rect">
            <a:avLst/>
          </a:prstGeom>
          <a:noFill/>
          <a:ln/>
        </p:spPr>
        <p:txBody>
          <a:bodyPr wrap="square" lIns="0" tIns="0" rIns="0" bIns="0" rtlCol="0" anchor="ctr"/>
          <a:lstStyle/>
          <a:p>
            <a:pPr marL="0" indent="0">
              <a:buNone/>
            </a:pPr>
            <a:r>
              <a:rPr lang="en-US" sz="1050" b="1" kern="0" spc="200" dirty="0">
                <a:solidFill>
                  <a:srgbClr val="3FA9E0"/>
                </a:solidFill>
                <a:latin typeface="Calibri" pitchFamily="34" charset="0"/>
                <a:ea typeface="Calibri" pitchFamily="34" charset="-122"/>
                <a:cs typeface="Calibri" pitchFamily="34" charset="-120"/>
              </a:rPr>
              <a:t>CONTEXT</a:t>
            </a:r>
            <a:endParaRPr lang="en-US" sz="1050" dirty="0"/>
          </a:p>
        </p:txBody>
      </p:sp>
      <p:sp>
        <p:nvSpPr>
          <p:cNvPr id="6" name="Text 4"/>
          <p:cNvSpPr/>
          <p:nvPr/>
        </p:nvSpPr>
        <p:spPr>
          <a:xfrm>
            <a:off x="502920" y="2761488"/>
            <a:ext cx="3383280" cy="3200400"/>
          </a:xfrm>
          <a:prstGeom prst="rect">
            <a:avLst/>
          </a:prstGeom>
          <a:noFill/>
          <a:ln/>
        </p:spPr>
        <p:txBody>
          <a:bodyPr wrap="square" lIns="0" tIns="0" rIns="0" bIns="0" rtlCol="0" anchor="t"/>
          <a:lstStyle/>
          <a:p>
            <a:pPr marL="0" indent="0">
              <a:lnSpc>
                <a:spcPct val="122000"/>
              </a:lnSpc>
              <a:buNone/>
            </a:pPr>
            <a:r>
              <a:rPr lang="en-US" sz="1250" dirty="0">
                <a:solidFill>
                  <a:srgbClr val="C9DAF0"/>
                </a:solidFill>
                <a:latin typeface="Calibri" pitchFamily="34" charset="0"/>
                <a:ea typeface="Calibri" pitchFamily="34" charset="-122"/>
                <a:cs typeface="Calibri" pitchFamily="34" charset="-120"/>
              </a:rPr>
              <a:t>A platform ships a re-ranked feed. Observational logs show +9% session time for exposed users. Leadership wants to attribute it to the model and roll out globally.</a:t>
            </a:r>
            <a:endParaRPr lang="en-US" sz="1250" dirty="0"/>
          </a:p>
        </p:txBody>
      </p:sp>
      <p:sp>
        <p:nvSpPr>
          <p:cNvPr id="7" name="Text 5"/>
          <p:cNvSpPr/>
          <p:nvPr/>
        </p:nvSpPr>
        <p:spPr>
          <a:xfrm>
            <a:off x="4663440" y="685800"/>
            <a:ext cx="6961327" cy="457200"/>
          </a:xfrm>
          <a:prstGeom prst="rect">
            <a:avLst/>
          </a:prstGeom>
          <a:noFill/>
          <a:ln/>
        </p:spPr>
        <p:txBody>
          <a:bodyPr wrap="square" lIns="0" tIns="0" rIns="0" bIns="0" rtlCol="0" anchor="ctr"/>
          <a:lstStyle/>
          <a:p>
            <a:pPr marL="0" indent="0">
              <a:buNone/>
            </a:pPr>
            <a:r>
              <a:rPr lang="en-US" sz="2000" b="1" dirty="0">
                <a:solidFill>
                  <a:srgbClr val="16233F"/>
                </a:solidFill>
                <a:latin typeface="Cambria" pitchFamily="34" charset="0"/>
                <a:ea typeface="Cambria" pitchFamily="34" charset="-122"/>
                <a:cs typeface="Cambria" pitchFamily="34" charset="-120"/>
              </a:rPr>
              <a:t>How a Rigorous Analyst Proceeds</a:t>
            </a:r>
            <a:endParaRPr lang="en-US" sz="2000" dirty="0"/>
          </a:p>
        </p:txBody>
      </p:sp>
      <p:sp>
        <p:nvSpPr>
          <p:cNvPr id="8" name="Text 6"/>
          <p:cNvSpPr/>
          <p:nvPr/>
        </p:nvSpPr>
        <p:spPr>
          <a:xfrm>
            <a:off x="4663440" y="1325880"/>
            <a:ext cx="6961327" cy="274320"/>
          </a:xfrm>
          <a:prstGeom prst="rect">
            <a:avLst/>
          </a:prstGeom>
          <a:noFill/>
          <a:ln/>
        </p:spPr>
        <p:txBody>
          <a:bodyPr wrap="square" lIns="0" tIns="0" rIns="0" bIns="0" rtlCol="0" anchor="ctr"/>
          <a:lstStyle/>
          <a:p>
            <a:pPr marL="0" indent="0">
              <a:buNone/>
            </a:pPr>
            <a:r>
              <a:rPr lang="en-US" sz="1100" b="1" kern="0" spc="150" dirty="0">
                <a:solidFill>
                  <a:srgbClr val="3FA9E0"/>
                </a:solidFill>
                <a:latin typeface="Calibri" pitchFamily="34" charset="0"/>
                <a:ea typeface="Calibri" pitchFamily="34" charset="-122"/>
                <a:cs typeface="Calibri" pitchFamily="34" charset="-120"/>
              </a:rPr>
              <a:t>ESTIMAND</a:t>
            </a:r>
            <a:endParaRPr lang="en-US" sz="1100" dirty="0"/>
          </a:p>
        </p:txBody>
      </p:sp>
      <p:sp>
        <p:nvSpPr>
          <p:cNvPr id="9" name="Text 7"/>
          <p:cNvSpPr/>
          <p:nvPr/>
        </p:nvSpPr>
        <p:spPr>
          <a:xfrm>
            <a:off x="4663440" y="1600200"/>
            <a:ext cx="6961327" cy="829818"/>
          </a:xfrm>
          <a:prstGeom prst="rect">
            <a:avLst/>
          </a:prstGeom>
          <a:noFill/>
          <a:ln/>
        </p:spPr>
        <p:txBody>
          <a:bodyPr wrap="square" lIns="0" tIns="0" rIns="0" bIns="0" rtlCol="0" anchor="t"/>
          <a:lstStyle/>
          <a:p>
            <a:pPr marL="0" indent="0">
              <a:lnSpc>
                <a:spcPct val="112000"/>
              </a:lnSpc>
              <a:buNone/>
            </a:pPr>
            <a:r>
              <a:rPr lang="en-US" sz="1250" dirty="0">
                <a:solidFill>
                  <a:srgbClr val="566581"/>
                </a:solidFill>
                <a:latin typeface="Calibri" pitchFamily="34" charset="0"/>
                <a:ea typeface="Calibri" pitchFamily="34" charset="-122"/>
                <a:cs typeface="Calibri" pitchFamily="34" charset="-120"/>
              </a:rPr>
              <a:t>ATE of the new ranker on session time for the eligible user base — not the observed exposed-vs-unexposed gap.</a:t>
            </a:r>
            <a:endParaRPr lang="en-US" sz="1250" dirty="0"/>
          </a:p>
        </p:txBody>
      </p:sp>
      <p:sp>
        <p:nvSpPr>
          <p:cNvPr id="10" name="Text 8"/>
          <p:cNvSpPr/>
          <p:nvPr/>
        </p:nvSpPr>
        <p:spPr>
          <a:xfrm>
            <a:off x="4663440" y="2503170"/>
            <a:ext cx="6961327" cy="274320"/>
          </a:xfrm>
          <a:prstGeom prst="rect">
            <a:avLst/>
          </a:prstGeom>
          <a:noFill/>
          <a:ln/>
        </p:spPr>
        <p:txBody>
          <a:bodyPr wrap="square" lIns="0" tIns="0" rIns="0" bIns="0" rtlCol="0" anchor="ctr"/>
          <a:lstStyle/>
          <a:p>
            <a:pPr marL="0" indent="0">
              <a:buNone/>
            </a:pPr>
            <a:r>
              <a:rPr lang="en-US" sz="1100" b="1" kern="0" spc="150" dirty="0">
                <a:solidFill>
                  <a:srgbClr val="5A5BA6"/>
                </a:solidFill>
                <a:latin typeface="Calibri" pitchFamily="34" charset="0"/>
                <a:ea typeface="Calibri" pitchFamily="34" charset="-122"/>
                <a:cs typeface="Calibri" pitchFamily="34" charset="-120"/>
              </a:rPr>
              <a:t>THREATS</a:t>
            </a:r>
            <a:endParaRPr lang="en-US" sz="1100" dirty="0"/>
          </a:p>
        </p:txBody>
      </p:sp>
      <p:sp>
        <p:nvSpPr>
          <p:cNvPr id="11" name="Text 9"/>
          <p:cNvSpPr/>
          <p:nvPr/>
        </p:nvSpPr>
        <p:spPr>
          <a:xfrm>
            <a:off x="4663440" y="2777490"/>
            <a:ext cx="6961327" cy="829818"/>
          </a:xfrm>
          <a:prstGeom prst="rect">
            <a:avLst/>
          </a:prstGeom>
          <a:noFill/>
          <a:ln/>
        </p:spPr>
        <p:txBody>
          <a:bodyPr wrap="square" lIns="0" tIns="0" rIns="0" bIns="0" rtlCol="0" anchor="t"/>
          <a:lstStyle/>
          <a:p>
            <a:pPr marL="0" indent="0">
              <a:lnSpc>
                <a:spcPct val="112000"/>
              </a:lnSpc>
              <a:buNone/>
            </a:pPr>
            <a:r>
              <a:rPr lang="en-US" sz="1250" dirty="0">
                <a:solidFill>
                  <a:srgbClr val="566581"/>
                </a:solidFill>
                <a:latin typeface="Calibri" pitchFamily="34" charset="0"/>
                <a:ea typeface="Calibri" pitchFamily="34" charset="-122"/>
                <a:cs typeface="Calibri" pitchFamily="34" charset="-120"/>
              </a:rPr>
              <a:t>Exposure correlated with app version and power-user status (confounding); ranking changes the marketplace others see (interference).</a:t>
            </a:r>
            <a:endParaRPr lang="en-US" sz="1250" dirty="0"/>
          </a:p>
        </p:txBody>
      </p:sp>
      <p:sp>
        <p:nvSpPr>
          <p:cNvPr id="12" name="Text 10"/>
          <p:cNvSpPr/>
          <p:nvPr/>
        </p:nvSpPr>
        <p:spPr>
          <a:xfrm>
            <a:off x="4663440" y="3680460"/>
            <a:ext cx="6961327" cy="274320"/>
          </a:xfrm>
          <a:prstGeom prst="rect">
            <a:avLst/>
          </a:prstGeom>
          <a:noFill/>
          <a:ln/>
        </p:spPr>
        <p:txBody>
          <a:bodyPr wrap="square" lIns="0" tIns="0" rIns="0" bIns="0" rtlCol="0" anchor="ctr"/>
          <a:lstStyle/>
          <a:p>
            <a:pPr marL="0" indent="0">
              <a:buNone/>
            </a:pPr>
            <a:r>
              <a:rPr lang="en-US" sz="1100" b="1" kern="0" spc="150" dirty="0">
                <a:solidFill>
                  <a:srgbClr val="EA7B38"/>
                </a:solidFill>
                <a:latin typeface="Calibri" pitchFamily="34" charset="0"/>
                <a:ea typeface="Calibri" pitchFamily="34" charset="-122"/>
                <a:cs typeface="Calibri" pitchFamily="34" charset="-120"/>
              </a:rPr>
              <a:t>DESIGN</a:t>
            </a:r>
            <a:endParaRPr lang="en-US" sz="1100" dirty="0"/>
          </a:p>
        </p:txBody>
      </p:sp>
      <p:sp>
        <p:nvSpPr>
          <p:cNvPr id="13" name="Text 11"/>
          <p:cNvSpPr/>
          <p:nvPr/>
        </p:nvSpPr>
        <p:spPr>
          <a:xfrm>
            <a:off x="4663440" y="3954780"/>
            <a:ext cx="6961327" cy="829818"/>
          </a:xfrm>
          <a:prstGeom prst="rect">
            <a:avLst/>
          </a:prstGeom>
          <a:noFill/>
          <a:ln/>
        </p:spPr>
        <p:txBody>
          <a:bodyPr wrap="square" lIns="0" tIns="0" rIns="0" bIns="0" rtlCol="0" anchor="t"/>
          <a:lstStyle/>
          <a:p>
            <a:pPr marL="0" indent="0">
              <a:lnSpc>
                <a:spcPct val="112000"/>
              </a:lnSpc>
              <a:buNone/>
            </a:pPr>
            <a:r>
              <a:rPr lang="en-US" sz="1250" dirty="0">
                <a:solidFill>
                  <a:srgbClr val="566581"/>
                </a:solidFill>
                <a:latin typeface="Calibri" pitchFamily="34" charset="0"/>
                <a:ea typeface="Calibri" pitchFamily="34" charset="-122"/>
                <a:cs typeface="Calibri" pitchFamily="34" charset="-120"/>
              </a:rPr>
              <a:t>Cluster-randomize by user with a hold-back; use CUPED on the pre-period metric; guardrail on latency and revenue.</a:t>
            </a:r>
            <a:endParaRPr lang="en-US" sz="1250" dirty="0"/>
          </a:p>
        </p:txBody>
      </p:sp>
      <p:sp>
        <p:nvSpPr>
          <p:cNvPr id="14" name="Text 12"/>
          <p:cNvSpPr/>
          <p:nvPr/>
        </p:nvSpPr>
        <p:spPr>
          <a:xfrm>
            <a:off x="4663440" y="4857750"/>
            <a:ext cx="6961327" cy="274320"/>
          </a:xfrm>
          <a:prstGeom prst="rect">
            <a:avLst/>
          </a:prstGeom>
          <a:noFill/>
          <a:ln/>
        </p:spPr>
        <p:txBody>
          <a:bodyPr wrap="square" lIns="0" tIns="0" rIns="0" bIns="0" rtlCol="0" anchor="ctr"/>
          <a:lstStyle/>
          <a:p>
            <a:pPr marL="0" indent="0">
              <a:buNone/>
            </a:pPr>
            <a:r>
              <a:rPr lang="en-US" sz="1100" b="1" kern="0" spc="150" dirty="0">
                <a:solidFill>
                  <a:srgbClr val="3E9B90"/>
                </a:solidFill>
                <a:latin typeface="Calibri" pitchFamily="34" charset="0"/>
                <a:ea typeface="Calibri" pitchFamily="34" charset="-122"/>
                <a:cs typeface="Calibri" pitchFamily="34" charset="-120"/>
              </a:rPr>
              <a:t>DECISION</a:t>
            </a:r>
            <a:endParaRPr lang="en-US" sz="1100" dirty="0"/>
          </a:p>
        </p:txBody>
      </p:sp>
      <p:sp>
        <p:nvSpPr>
          <p:cNvPr id="15" name="Text 13"/>
          <p:cNvSpPr/>
          <p:nvPr/>
        </p:nvSpPr>
        <p:spPr>
          <a:xfrm>
            <a:off x="4663440" y="5132070"/>
            <a:ext cx="6961327" cy="829818"/>
          </a:xfrm>
          <a:prstGeom prst="rect">
            <a:avLst/>
          </a:prstGeom>
          <a:noFill/>
          <a:ln/>
        </p:spPr>
        <p:txBody>
          <a:bodyPr wrap="square" lIns="0" tIns="0" rIns="0" bIns="0" rtlCol="0" anchor="t"/>
          <a:lstStyle/>
          <a:p>
            <a:pPr marL="0" indent="0">
              <a:lnSpc>
                <a:spcPct val="112000"/>
              </a:lnSpc>
              <a:buNone/>
            </a:pPr>
            <a:r>
              <a:rPr lang="en-US" sz="1250" dirty="0">
                <a:solidFill>
                  <a:srgbClr val="566581"/>
                </a:solidFill>
                <a:latin typeface="Calibri" pitchFamily="34" charset="0"/>
                <a:ea typeface="Calibri" pitchFamily="34" charset="-122"/>
                <a:cs typeface="Calibri" pitchFamily="34" charset="-120"/>
              </a:rPr>
              <a:t>Ship only if the randomized lift is positive, guardrails hold, and the effect persists past the novelty window.</a:t>
            </a:r>
            <a:endParaRPr lang="en-US" sz="1250" dirty="0"/>
          </a:p>
        </p:txBody>
      </p:sp>
      <p:sp>
        <p:nvSpPr>
          <p:cNvPr id="16" name="Text 1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4 · CASES</a:t>
            </a:r>
            <a:endParaRPr lang="en-US" sz="900" dirty="0"/>
          </a:p>
        </p:txBody>
      </p:sp>
      <p:sp>
        <p:nvSpPr>
          <p:cNvPr id="17" name="Text 1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140  /  221</a:t>
            </a:r>
            <a:endParaRPr lang="en-US" sz="9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6233F"/>
          </a:solidFill>
          <a:ln/>
        </p:spPr>
        <p:txBody>
          <a:bodyPr/>
          <a:lstStyle/>
          <a:p>
            <a:endParaRPr lang="en-SA"/>
          </a:p>
        </p:txBody>
      </p:sp>
      <p:sp>
        <p:nvSpPr>
          <p:cNvPr id="3" name="Text 1"/>
          <p:cNvSpPr/>
          <p:nvPr/>
        </p:nvSpPr>
        <p:spPr>
          <a:xfrm>
            <a:off x="502920" y="548640"/>
            <a:ext cx="3383280" cy="292608"/>
          </a:xfrm>
          <a:prstGeom prst="rect">
            <a:avLst/>
          </a:prstGeom>
          <a:noFill/>
          <a:ln/>
        </p:spPr>
        <p:txBody>
          <a:bodyPr wrap="square" lIns="0" tIns="0" rIns="0" bIns="0" rtlCol="0" anchor="ctr"/>
          <a:lstStyle/>
          <a:p>
            <a:pPr marL="0" indent="0">
              <a:buNone/>
            </a:pPr>
            <a:r>
              <a:rPr lang="en-US" sz="1200" b="1" kern="0" spc="300" dirty="0">
                <a:solidFill>
                  <a:srgbClr val="70C8F2"/>
                </a:solidFill>
                <a:latin typeface="Calibri" pitchFamily="34" charset="0"/>
                <a:ea typeface="Calibri" pitchFamily="34" charset="-122"/>
                <a:cs typeface="Calibri" pitchFamily="34" charset="-120"/>
              </a:rPr>
              <a:t>CASE STUDY 1 · TECHNOLOGY</a:t>
            </a:r>
            <a:endParaRPr lang="en-US" sz="1200" dirty="0"/>
          </a:p>
        </p:txBody>
      </p:sp>
      <p:sp>
        <p:nvSpPr>
          <p:cNvPr id="4" name="Text 2"/>
          <p:cNvSpPr/>
          <p:nvPr/>
        </p:nvSpPr>
        <p:spPr>
          <a:xfrm>
            <a:off x="502920" y="914400"/>
            <a:ext cx="3383280" cy="1371600"/>
          </a:xfrm>
          <a:prstGeom prst="rect">
            <a:avLst/>
          </a:prstGeom>
          <a:noFill/>
          <a:ln/>
        </p:spPr>
        <p:txBody>
          <a:bodyPr wrap="square" lIns="0" tIns="0" rIns="0" bIns="0" rtlCol="0" anchor="t"/>
          <a:lstStyle/>
          <a:p>
            <a:pPr marL="0" indent="0">
              <a:lnSpc>
                <a:spcPct val="103000"/>
              </a:lnSpc>
              <a:buNone/>
            </a:pPr>
            <a:r>
              <a:rPr lang="en-US" sz="2600" b="1" dirty="0">
                <a:solidFill>
                  <a:srgbClr val="FFFFFF"/>
                </a:solidFill>
                <a:latin typeface="Cambria" pitchFamily="34" charset="0"/>
                <a:ea typeface="Cambria" pitchFamily="34" charset="-122"/>
                <a:cs typeface="Cambria" pitchFamily="34" charset="-120"/>
              </a:rPr>
              <a:t>The Novelty-Effect Trap</a:t>
            </a:r>
            <a:endParaRPr lang="en-US" sz="2600" dirty="0"/>
          </a:p>
        </p:txBody>
      </p:sp>
      <p:sp>
        <p:nvSpPr>
          <p:cNvPr id="5" name="Text 3"/>
          <p:cNvSpPr/>
          <p:nvPr/>
        </p:nvSpPr>
        <p:spPr>
          <a:xfrm>
            <a:off x="502920" y="2468880"/>
            <a:ext cx="3383280" cy="274320"/>
          </a:xfrm>
          <a:prstGeom prst="rect">
            <a:avLst/>
          </a:prstGeom>
          <a:noFill/>
          <a:ln/>
        </p:spPr>
        <p:txBody>
          <a:bodyPr wrap="square" lIns="0" tIns="0" rIns="0" bIns="0" rtlCol="0" anchor="ctr"/>
          <a:lstStyle/>
          <a:p>
            <a:pPr marL="0" indent="0">
              <a:buNone/>
            </a:pPr>
            <a:r>
              <a:rPr lang="en-US" sz="1050" b="1" kern="0" spc="200" dirty="0">
                <a:solidFill>
                  <a:srgbClr val="3FA9E0"/>
                </a:solidFill>
                <a:latin typeface="Calibri" pitchFamily="34" charset="0"/>
                <a:ea typeface="Calibri" pitchFamily="34" charset="-122"/>
                <a:cs typeface="Calibri" pitchFamily="34" charset="-120"/>
              </a:rPr>
              <a:t>CONTEXT</a:t>
            </a:r>
            <a:endParaRPr lang="en-US" sz="1050" dirty="0"/>
          </a:p>
        </p:txBody>
      </p:sp>
      <p:sp>
        <p:nvSpPr>
          <p:cNvPr id="6" name="Text 4"/>
          <p:cNvSpPr/>
          <p:nvPr/>
        </p:nvSpPr>
        <p:spPr>
          <a:xfrm>
            <a:off x="502920" y="2761488"/>
            <a:ext cx="3383280" cy="3200400"/>
          </a:xfrm>
          <a:prstGeom prst="rect">
            <a:avLst/>
          </a:prstGeom>
          <a:noFill/>
          <a:ln/>
        </p:spPr>
        <p:txBody>
          <a:bodyPr wrap="square" lIns="0" tIns="0" rIns="0" bIns="0" rtlCol="0" anchor="t"/>
          <a:lstStyle/>
          <a:p>
            <a:pPr marL="0" indent="0">
              <a:lnSpc>
                <a:spcPct val="122000"/>
              </a:lnSpc>
              <a:buNone/>
            </a:pPr>
            <a:r>
              <a:rPr lang="en-US" sz="1250" dirty="0">
                <a:solidFill>
                  <a:srgbClr val="C9DAF0"/>
                </a:solidFill>
                <a:latin typeface="Calibri" pitchFamily="34" charset="0"/>
                <a:ea typeface="Calibri" pitchFamily="34" charset="-122"/>
                <a:cs typeface="Calibri" pitchFamily="34" charset="-120"/>
              </a:rPr>
              <a:t>The randomized test shows +6% in week one, decaying to +1.5% by week four. Which number should govern the rollout decision?</a:t>
            </a:r>
            <a:endParaRPr lang="en-US" sz="1250" dirty="0"/>
          </a:p>
        </p:txBody>
      </p:sp>
      <p:sp>
        <p:nvSpPr>
          <p:cNvPr id="7" name="Text 5"/>
          <p:cNvSpPr/>
          <p:nvPr/>
        </p:nvSpPr>
        <p:spPr>
          <a:xfrm>
            <a:off x="4663440" y="685800"/>
            <a:ext cx="6961327" cy="457200"/>
          </a:xfrm>
          <a:prstGeom prst="rect">
            <a:avLst/>
          </a:prstGeom>
          <a:noFill/>
          <a:ln/>
        </p:spPr>
        <p:txBody>
          <a:bodyPr wrap="square" lIns="0" tIns="0" rIns="0" bIns="0" rtlCol="0" anchor="ctr"/>
          <a:lstStyle/>
          <a:p>
            <a:pPr marL="0" indent="0">
              <a:buNone/>
            </a:pPr>
            <a:r>
              <a:rPr lang="en-US" sz="2000" b="1" dirty="0">
                <a:solidFill>
                  <a:srgbClr val="16233F"/>
                </a:solidFill>
                <a:latin typeface="Cambria" pitchFamily="34" charset="0"/>
                <a:ea typeface="Cambria" pitchFamily="34" charset="-122"/>
                <a:cs typeface="Cambria" pitchFamily="34" charset="-120"/>
              </a:rPr>
              <a:t>Reading a Decaying Effect</a:t>
            </a:r>
            <a:endParaRPr lang="en-US" sz="2000" dirty="0"/>
          </a:p>
        </p:txBody>
      </p:sp>
      <p:sp>
        <p:nvSpPr>
          <p:cNvPr id="8" name="Text 6"/>
          <p:cNvSpPr/>
          <p:nvPr/>
        </p:nvSpPr>
        <p:spPr>
          <a:xfrm>
            <a:off x="4663440" y="1325880"/>
            <a:ext cx="6961327" cy="274320"/>
          </a:xfrm>
          <a:prstGeom prst="rect">
            <a:avLst/>
          </a:prstGeom>
          <a:noFill/>
          <a:ln/>
        </p:spPr>
        <p:txBody>
          <a:bodyPr wrap="square" lIns="0" tIns="0" rIns="0" bIns="0" rtlCol="0" anchor="ctr"/>
          <a:lstStyle/>
          <a:p>
            <a:pPr marL="0" indent="0">
              <a:buNone/>
            </a:pPr>
            <a:r>
              <a:rPr lang="en-US" sz="1100" b="1" kern="0" spc="150" dirty="0">
                <a:solidFill>
                  <a:srgbClr val="3FA9E0"/>
                </a:solidFill>
                <a:latin typeface="Calibri" pitchFamily="34" charset="0"/>
                <a:ea typeface="Calibri" pitchFamily="34" charset="-122"/>
                <a:cs typeface="Calibri" pitchFamily="34" charset="-120"/>
              </a:rPr>
              <a:t>DIAGNOSIS</a:t>
            </a:r>
            <a:endParaRPr lang="en-US" sz="1100" dirty="0"/>
          </a:p>
        </p:txBody>
      </p:sp>
      <p:sp>
        <p:nvSpPr>
          <p:cNvPr id="9" name="Text 7"/>
          <p:cNvSpPr/>
          <p:nvPr/>
        </p:nvSpPr>
        <p:spPr>
          <a:xfrm>
            <a:off x="4663440" y="1600200"/>
            <a:ext cx="6961327" cy="829818"/>
          </a:xfrm>
          <a:prstGeom prst="rect">
            <a:avLst/>
          </a:prstGeom>
          <a:noFill/>
          <a:ln/>
        </p:spPr>
        <p:txBody>
          <a:bodyPr wrap="square" lIns="0" tIns="0" rIns="0" bIns="0" rtlCol="0" anchor="t"/>
          <a:lstStyle/>
          <a:p>
            <a:pPr marL="0" indent="0">
              <a:lnSpc>
                <a:spcPct val="112000"/>
              </a:lnSpc>
              <a:buNone/>
            </a:pPr>
            <a:r>
              <a:rPr lang="en-US" sz="1250" dirty="0">
                <a:solidFill>
                  <a:srgbClr val="566581"/>
                </a:solidFill>
                <a:latin typeface="Calibri" pitchFamily="34" charset="0"/>
                <a:ea typeface="Calibri" pitchFamily="34" charset="-122"/>
                <a:cs typeface="Calibri" pitchFamily="34" charset="-120"/>
              </a:rPr>
              <a:t>A short-lived spike as users react to change, then reversion — the classic novelty (or primacy) effect.</a:t>
            </a:r>
            <a:endParaRPr lang="en-US" sz="1250" dirty="0"/>
          </a:p>
        </p:txBody>
      </p:sp>
      <p:sp>
        <p:nvSpPr>
          <p:cNvPr id="10" name="Text 8"/>
          <p:cNvSpPr/>
          <p:nvPr/>
        </p:nvSpPr>
        <p:spPr>
          <a:xfrm>
            <a:off x="4663440" y="2503170"/>
            <a:ext cx="6961327" cy="274320"/>
          </a:xfrm>
          <a:prstGeom prst="rect">
            <a:avLst/>
          </a:prstGeom>
          <a:noFill/>
          <a:ln/>
        </p:spPr>
        <p:txBody>
          <a:bodyPr wrap="square" lIns="0" tIns="0" rIns="0" bIns="0" rtlCol="0" anchor="ctr"/>
          <a:lstStyle/>
          <a:p>
            <a:pPr marL="0" indent="0">
              <a:buNone/>
            </a:pPr>
            <a:r>
              <a:rPr lang="en-US" sz="1100" b="1" kern="0" spc="150" dirty="0">
                <a:solidFill>
                  <a:srgbClr val="5A5BA6"/>
                </a:solidFill>
                <a:latin typeface="Calibri" pitchFamily="34" charset="0"/>
                <a:ea typeface="Calibri" pitchFamily="34" charset="-122"/>
                <a:cs typeface="Calibri" pitchFamily="34" charset="-120"/>
              </a:rPr>
              <a:t>WHAT TO TRUST</a:t>
            </a:r>
            <a:endParaRPr lang="en-US" sz="1100" dirty="0"/>
          </a:p>
        </p:txBody>
      </p:sp>
      <p:sp>
        <p:nvSpPr>
          <p:cNvPr id="11" name="Text 9"/>
          <p:cNvSpPr/>
          <p:nvPr/>
        </p:nvSpPr>
        <p:spPr>
          <a:xfrm>
            <a:off x="4663440" y="2777490"/>
            <a:ext cx="6961327" cy="829818"/>
          </a:xfrm>
          <a:prstGeom prst="rect">
            <a:avLst/>
          </a:prstGeom>
          <a:noFill/>
          <a:ln/>
        </p:spPr>
        <p:txBody>
          <a:bodyPr wrap="square" lIns="0" tIns="0" rIns="0" bIns="0" rtlCol="0" anchor="t"/>
          <a:lstStyle/>
          <a:p>
            <a:pPr marL="0" indent="0">
              <a:lnSpc>
                <a:spcPct val="112000"/>
              </a:lnSpc>
              <a:buNone/>
            </a:pPr>
            <a:r>
              <a:rPr lang="en-US" sz="1250" dirty="0">
                <a:solidFill>
                  <a:srgbClr val="566581"/>
                </a:solidFill>
                <a:latin typeface="Calibri" pitchFamily="34" charset="0"/>
                <a:ea typeface="Calibri" pitchFamily="34" charset="-122"/>
                <a:cs typeface="Calibri" pitchFamily="34" charset="-120"/>
              </a:rPr>
              <a:t>The steady-state effect after the curve flattens, not the launch-week peak that would justify the ship.</a:t>
            </a:r>
            <a:endParaRPr lang="en-US" sz="1250" dirty="0"/>
          </a:p>
        </p:txBody>
      </p:sp>
      <p:sp>
        <p:nvSpPr>
          <p:cNvPr id="12" name="Text 10"/>
          <p:cNvSpPr/>
          <p:nvPr/>
        </p:nvSpPr>
        <p:spPr>
          <a:xfrm>
            <a:off x="4663440" y="3680460"/>
            <a:ext cx="6961327" cy="274320"/>
          </a:xfrm>
          <a:prstGeom prst="rect">
            <a:avLst/>
          </a:prstGeom>
          <a:noFill/>
          <a:ln/>
        </p:spPr>
        <p:txBody>
          <a:bodyPr wrap="square" lIns="0" tIns="0" rIns="0" bIns="0" rtlCol="0" anchor="ctr"/>
          <a:lstStyle/>
          <a:p>
            <a:pPr marL="0" indent="0">
              <a:buNone/>
            </a:pPr>
            <a:r>
              <a:rPr lang="en-US" sz="1100" b="1" kern="0" spc="150" dirty="0">
                <a:solidFill>
                  <a:srgbClr val="EA7B38"/>
                </a:solidFill>
                <a:latin typeface="Calibri" pitchFamily="34" charset="0"/>
                <a:ea typeface="Calibri" pitchFamily="34" charset="-122"/>
                <a:cs typeface="Calibri" pitchFamily="34" charset="-120"/>
              </a:rPr>
              <a:t>DESIGN RESPONSE</a:t>
            </a:r>
            <a:endParaRPr lang="en-US" sz="1100" dirty="0"/>
          </a:p>
        </p:txBody>
      </p:sp>
      <p:sp>
        <p:nvSpPr>
          <p:cNvPr id="13" name="Text 11"/>
          <p:cNvSpPr/>
          <p:nvPr/>
        </p:nvSpPr>
        <p:spPr>
          <a:xfrm>
            <a:off x="4663440" y="3954780"/>
            <a:ext cx="6961327" cy="829818"/>
          </a:xfrm>
          <a:prstGeom prst="rect">
            <a:avLst/>
          </a:prstGeom>
          <a:noFill/>
          <a:ln/>
        </p:spPr>
        <p:txBody>
          <a:bodyPr wrap="square" lIns="0" tIns="0" rIns="0" bIns="0" rtlCol="0" anchor="t"/>
          <a:lstStyle/>
          <a:p>
            <a:pPr marL="0" indent="0">
              <a:lnSpc>
                <a:spcPct val="112000"/>
              </a:lnSpc>
              <a:buNone/>
            </a:pPr>
            <a:r>
              <a:rPr lang="en-US" sz="1250" dirty="0">
                <a:solidFill>
                  <a:srgbClr val="566581"/>
                </a:solidFill>
                <a:latin typeface="Calibri" pitchFamily="34" charset="0"/>
                <a:ea typeface="Calibri" pitchFamily="34" charset="-122"/>
                <a:cs typeface="Calibri" pitchFamily="34" charset="-120"/>
              </a:rPr>
              <a:t>Run long enough to reach steady state; pre-register the evaluation window; consider a staged holdback to measure long-run impact.</a:t>
            </a:r>
            <a:endParaRPr lang="en-US" sz="1250" dirty="0"/>
          </a:p>
        </p:txBody>
      </p:sp>
      <p:sp>
        <p:nvSpPr>
          <p:cNvPr id="14" name="Text 12"/>
          <p:cNvSpPr/>
          <p:nvPr/>
        </p:nvSpPr>
        <p:spPr>
          <a:xfrm>
            <a:off x="4663440" y="4857750"/>
            <a:ext cx="6961327" cy="274320"/>
          </a:xfrm>
          <a:prstGeom prst="rect">
            <a:avLst/>
          </a:prstGeom>
          <a:noFill/>
          <a:ln/>
        </p:spPr>
        <p:txBody>
          <a:bodyPr wrap="square" lIns="0" tIns="0" rIns="0" bIns="0" rtlCol="0" anchor="ctr"/>
          <a:lstStyle/>
          <a:p>
            <a:pPr marL="0" indent="0">
              <a:buNone/>
            </a:pPr>
            <a:r>
              <a:rPr lang="en-US" sz="1100" b="1" kern="0" spc="150" dirty="0">
                <a:solidFill>
                  <a:srgbClr val="3E9B90"/>
                </a:solidFill>
                <a:latin typeface="Calibri" pitchFamily="34" charset="0"/>
                <a:ea typeface="Calibri" pitchFamily="34" charset="-122"/>
                <a:cs typeface="Calibri" pitchFamily="34" charset="-120"/>
              </a:rPr>
              <a:t>LESSON</a:t>
            </a:r>
            <a:endParaRPr lang="en-US" sz="1100" dirty="0"/>
          </a:p>
        </p:txBody>
      </p:sp>
      <p:sp>
        <p:nvSpPr>
          <p:cNvPr id="15" name="Text 13"/>
          <p:cNvSpPr/>
          <p:nvPr/>
        </p:nvSpPr>
        <p:spPr>
          <a:xfrm>
            <a:off x="4663440" y="5132070"/>
            <a:ext cx="6961327" cy="829818"/>
          </a:xfrm>
          <a:prstGeom prst="rect">
            <a:avLst/>
          </a:prstGeom>
          <a:noFill/>
          <a:ln/>
        </p:spPr>
        <p:txBody>
          <a:bodyPr wrap="square" lIns="0" tIns="0" rIns="0" bIns="0" rtlCol="0" anchor="t"/>
          <a:lstStyle/>
          <a:p>
            <a:pPr marL="0" indent="0">
              <a:lnSpc>
                <a:spcPct val="112000"/>
              </a:lnSpc>
              <a:buNone/>
            </a:pPr>
            <a:r>
              <a:rPr lang="en-US" sz="1250" dirty="0">
                <a:solidFill>
                  <a:srgbClr val="566581"/>
                </a:solidFill>
                <a:latin typeface="Calibri" pitchFamily="34" charset="0"/>
                <a:ea typeface="Calibri" pitchFamily="34" charset="-122"/>
                <a:cs typeface="Calibri" pitchFamily="34" charset="-120"/>
              </a:rPr>
              <a:t>Time is part of the estimand. ‘Effect at week one’ and ‘effect at steady state’ are different quantities.</a:t>
            </a:r>
            <a:endParaRPr lang="en-US" sz="1250" dirty="0"/>
          </a:p>
        </p:txBody>
      </p:sp>
      <p:sp>
        <p:nvSpPr>
          <p:cNvPr id="16" name="Text 1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4 · CASES</a:t>
            </a:r>
            <a:endParaRPr lang="en-US" sz="900" dirty="0"/>
          </a:p>
        </p:txBody>
      </p:sp>
      <p:sp>
        <p:nvSpPr>
          <p:cNvPr id="17" name="Text 1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141  /  221</a:t>
            </a:r>
            <a:endParaRPr lang="en-US" sz="9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6233F"/>
          </a:solidFill>
          <a:ln/>
        </p:spPr>
        <p:txBody>
          <a:bodyPr/>
          <a:lstStyle/>
          <a:p>
            <a:endParaRPr lang="en-SA"/>
          </a:p>
        </p:txBody>
      </p:sp>
      <p:sp>
        <p:nvSpPr>
          <p:cNvPr id="3" name="Text 1"/>
          <p:cNvSpPr/>
          <p:nvPr/>
        </p:nvSpPr>
        <p:spPr>
          <a:xfrm>
            <a:off x="502920" y="548640"/>
            <a:ext cx="3383280" cy="292608"/>
          </a:xfrm>
          <a:prstGeom prst="rect">
            <a:avLst/>
          </a:prstGeom>
          <a:noFill/>
          <a:ln/>
        </p:spPr>
        <p:txBody>
          <a:bodyPr wrap="square" lIns="0" tIns="0" rIns="0" bIns="0" rtlCol="0" anchor="ctr"/>
          <a:lstStyle/>
          <a:p>
            <a:pPr marL="0" indent="0">
              <a:buNone/>
            </a:pPr>
            <a:r>
              <a:rPr lang="en-US" sz="1200" b="1" kern="0" spc="300" dirty="0">
                <a:solidFill>
                  <a:srgbClr val="70C8F2"/>
                </a:solidFill>
                <a:latin typeface="Calibri" pitchFamily="34" charset="0"/>
                <a:ea typeface="Calibri" pitchFamily="34" charset="-122"/>
                <a:cs typeface="Calibri" pitchFamily="34" charset="-120"/>
              </a:rPr>
              <a:t>CASE STUDY 2 · PUBLIC POLICY</a:t>
            </a:r>
            <a:endParaRPr lang="en-US" sz="1200" dirty="0"/>
          </a:p>
        </p:txBody>
      </p:sp>
      <p:sp>
        <p:nvSpPr>
          <p:cNvPr id="4" name="Text 2"/>
          <p:cNvSpPr/>
          <p:nvPr/>
        </p:nvSpPr>
        <p:spPr>
          <a:xfrm>
            <a:off x="502920" y="914400"/>
            <a:ext cx="3383280" cy="1371600"/>
          </a:xfrm>
          <a:prstGeom prst="rect">
            <a:avLst/>
          </a:prstGeom>
          <a:noFill/>
          <a:ln/>
        </p:spPr>
        <p:txBody>
          <a:bodyPr wrap="square" lIns="0" tIns="0" rIns="0" bIns="0" rtlCol="0" anchor="t"/>
          <a:lstStyle/>
          <a:p>
            <a:pPr marL="0" indent="0">
              <a:lnSpc>
                <a:spcPct val="103000"/>
              </a:lnSpc>
              <a:buNone/>
            </a:pPr>
            <a:r>
              <a:rPr lang="en-US" sz="2600" b="1" dirty="0">
                <a:solidFill>
                  <a:srgbClr val="FFFFFF"/>
                </a:solidFill>
                <a:latin typeface="Cambria" pitchFamily="34" charset="0"/>
                <a:ea typeface="Cambria" pitchFamily="34" charset="-122"/>
                <a:cs typeface="Cambria" pitchFamily="34" charset="-120"/>
              </a:rPr>
              <a:t>Did the Training Subsidy Raise Employment?</a:t>
            </a:r>
            <a:endParaRPr lang="en-US" sz="2600" dirty="0"/>
          </a:p>
        </p:txBody>
      </p:sp>
      <p:sp>
        <p:nvSpPr>
          <p:cNvPr id="5" name="Text 3"/>
          <p:cNvSpPr/>
          <p:nvPr/>
        </p:nvSpPr>
        <p:spPr>
          <a:xfrm>
            <a:off x="502920" y="2468880"/>
            <a:ext cx="3383280" cy="274320"/>
          </a:xfrm>
          <a:prstGeom prst="rect">
            <a:avLst/>
          </a:prstGeom>
          <a:noFill/>
          <a:ln/>
        </p:spPr>
        <p:txBody>
          <a:bodyPr wrap="square" lIns="0" tIns="0" rIns="0" bIns="0" rtlCol="0" anchor="ctr"/>
          <a:lstStyle/>
          <a:p>
            <a:pPr marL="0" indent="0">
              <a:buNone/>
            </a:pPr>
            <a:r>
              <a:rPr lang="en-US" sz="1050" b="1" kern="0" spc="200" dirty="0">
                <a:solidFill>
                  <a:srgbClr val="3FA9E0"/>
                </a:solidFill>
                <a:latin typeface="Calibri" pitchFamily="34" charset="0"/>
                <a:ea typeface="Calibri" pitchFamily="34" charset="-122"/>
                <a:cs typeface="Calibri" pitchFamily="34" charset="-120"/>
              </a:rPr>
              <a:t>CONTEXT</a:t>
            </a:r>
            <a:endParaRPr lang="en-US" sz="1050" dirty="0"/>
          </a:p>
        </p:txBody>
      </p:sp>
      <p:sp>
        <p:nvSpPr>
          <p:cNvPr id="6" name="Text 4"/>
          <p:cNvSpPr/>
          <p:nvPr/>
        </p:nvSpPr>
        <p:spPr>
          <a:xfrm>
            <a:off x="502920" y="2761488"/>
            <a:ext cx="3383280" cy="3200400"/>
          </a:xfrm>
          <a:prstGeom prst="rect">
            <a:avLst/>
          </a:prstGeom>
          <a:noFill/>
          <a:ln/>
        </p:spPr>
        <p:txBody>
          <a:bodyPr wrap="square" lIns="0" tIns="0" rIns="0" bIns="0" rtlCol="0" anchor="t"/>
          <a:lstStyle/>
          <a:p>
            <a:pPr marL="0" indent="0">
              <a:lnSpc>
                <a:spcPct val="122000"/>
              </a:lnSpc>
              <a:buNone/>
            </a:pPr>
            <a:r>
              <a:rPr lang="en-US" sz="1250" dirty="0">
                <a:solidFill>
                  <a:srgbClr val="C9DAF0"/>
                </a:solidFill>
                <a:latin typeface="Calibri" pitchFamily="34" charset="0"/>
                <a:ea typeface="Calibri" pitchFamily="34" charset="-122"/>
                <a:cs typeface="Calibri" pitchFamily="34" charset="-120"/>
              </a:rPr>
              <a:t>A region introduces an employment-training subsidy for firms above a headcount threshold, starting in a known year. Employment rose 4 points among adopters.</a:t>
            </a:r>
            <a:endParaRPr lang="en-US" sz="1250" dirty="0"/>
          </a:p>
        </p:txBody>
      </p:sp>
      <p:sp>
        <p:nvSpPr>
          <p:cNvPr id="7" name="Text 5"/>
          <p:cNvSpPr/>
          <p:nvPr/>
        </p:nvSpPr>
        <p:spPr>
          <a:xfrm>
            <a:off x="4663440" y="685800"/>
            <a:ext cx="6961327" cy="457200"/>
          </a:xfrm>
          <a:prstGeom prst="rect">
            <a:avLst/>
          </a:prstGeom>
          <a:noFill/>
          <a:ln/>
        </p:spPr>
        <p:txBody>
          <a:bodyPr wrap="square" lIns="0" tIns="0" rIns="0" bIns="0" rtlCol="0" anchor="ctr"/>
          <a:lstStyle/>
          <a:p>
            <a:pPr marL="0" indent="0">
              <a:buNone/>
            </a:pPr>
            <a:r>
              <a:rPr lang="en-US" sz="2000" b="1" dirty="0">
                <a:solidFill>
                  <a:srgbClr val="16233F"/>
                </a:solidFill>
                <a:latin typeface="Cambria" pitchFamily="34" charset="0"/>
                <a:ea typeface="Cambria" pitchFamily="34" charset="-122"/>
                <a:cs typeface="Cambria" pitchFamily="34" charset="-120"/>
              </a:rPr>
              <a:t>Choosing the Identification Strategy</a:t>
            </a:r>
            <a:endParaRPr lang="en-US" sz="2000" dirty="0"/>
          </a:p>
        </p:txBody>
      </p:sp>
      <p:sp>
        <p:nvSpPr>
          <p:cNvPr id="8" name="Text 6"/>
          <p:cNvSpPr/>
          <p:nvPr/>
        </p:nvSpPr>
        <p:spPr>
          <a:xfrm>
            <a:off x="4663440" y="1325880"/>
            <a:ext cx="6961327" cy="274320"/>
          </a:xfrm>
          <a:prstGeom prst="rect">
            <a:avLst/>
          </a:prstGeom>
          <a:noFill/>
          <a:ln/>
        </p:spPr>
        <p:txBody>
          <a:bodyPr wrap="square" lIns="0" tIns="0" rIns="0" bIns="0" rtlCol="0" anchor="ctr"/>
          <a:lstStyle/>
          <a:p>
            <a:pPr marL="0" indent="0">
              <a:buNone/>
            </a:pPr>
            <a:r>
              <a:rPr lang="en-US" sz="1100" b="1" kern="0" spc="150" dirty="0">
                <a:solidFill>
                  <a:srgbClr val="3FA9E0"/>
                </a:solidFill>
                <a:latin typeface="Calibri" pitchFamily="34" charset="0"/>
                <a:ea typeface="Calibri" pitchFamily="34" charset="-122"/>
                <a:cs typeface="Calibri" pitchFamily="34" charset="-120"/>
              </a:rPr>
              <a:t>TWO NATURAL DESIGNS</a:t>
            </a:r>
            <a:endParaRPr lang="en-US" sz="1100" dirty="0"/>
          </a:p>
        </p:txBody>
      </p:sp>
      <p:sp>
        <p:nvSpPr>
          <p:cNvPr id="9" name="Text 7"/>
          <p:cNvSpPr/>
          <p:nvPr/>
        </p:nvSpPr>
        <p:spPr>
          <a:xfrm>
            <a:off x="4663440" y="1600200"/>
            <a:ext cx="6961327" cy="829818"/>
          </a:xfrm>
          <a:prstGeom prst="rect">
            <a:avLst/>
          </a:prstGeom>
          <a:noFill/>
          <a:ln/>
        </p:spPr>
        <p:txBody>
          <a:bodyPr wrap="square" lIns="0" tIns="0" rIns="0" bIns="0" rtlCol="0" anchor="t"/>
          <a:lstStyle/>
          <a:p>
            <a:pPr marL="0" indent="0">
              <a:lnSpc>
                <a:spcPct val="112000"/>
              </a:lnSpc>
              <a:buNone/>
            </a:pPr>
            <a:r>
              <a:rPr lang="en-US" sz="1250" dirty="0">
                <a:solidFill>
                  <a:srgbClr val="566581"/>
                </a:solidFill>
                <a:latin typeface="Calibri" pitchFamily="34" charset="0"/>
                <a:ea typeface="Calibri" pitchFamily="34" charset="-122"/>
                <a:cs typeface="Calibri" pitchFamily="34" charset="-120"/>
              </a:rPr>
              <a:t>A threshold rule (headcount cutoff) invites RDD; a known start date with comparison regions invites DiD / synthetic control.</a:t>
            </a:r>
            <a:endParaRPr lang="en-US" sz="1250" dirty="0"/>
          </a:p>
        </p:txBody>
      </p:sp>
      <p:sp>
        <p:nvSpPr>
          <p:cNvPr id="10" name="Text 8"/>
          <p:cNvSpPr/>
          <p:nvPr/>
        </p:nvSpPr>
        <p:spPr>
          <a:xfrm>
            <a:off x="4663440" y="2503170"/>
            <a:ext cx="6961327" cy="274320"/>
          </a:xfrm>
          <a:prstGeom prst="rect">
            <a:avLst/>
          </a:prstGeom>
          <a:noFill/>
          <a:ln/>
        </p:spPr>
        <p:txBody>
          <a:bodyPr wrap="square" lIns="0" tIns="0" rIns="0" bIns="0" rtlCol="0" anchor="ctr"/>
          <a:lstStyle/>
          <a:p>
            <a:pPr marL="0" indent="0">
              <a:buNone/>
            </a:pPr>
            <a:r>
              <a:rPr lang="en-US" sz="1100" b="1" kern="0" spc="150" dirty="0">
                <a:solidFill>
                  <a:srgbClr val="5A5BA6"/>
                </a:solidFill>
                <a:latin typeface="Calibri" pitchFamily="34" charset="0"/>
                <a:ea typeface="Calibri" pitchFamily="34" charset="-122"/>
                <a:cs typeface="Calibri" pitchFamily="34" charset="-120"/>
              </a:rPr>
              <a:t>RDD CHECK</a:t>
            </a:r>
            <a:endParaRPr lang="en-US" sz="1100" dirty="0"/>
          </a:p>
        </p:txBody>
      </p:sp>
      <p:sp>
        <p:nvSpPr>
          <p:cNvPr id="11" name="Text 9"/>
          <p:cNvSpPr/>
          <p:nvPr/>
        </p:nvSpPr>
        <p:spPr>
          <a:xfrm>
            <a:off x="4663440" y="2777490"/>
            <a:ext cx="6961327" cy="829818"/>
          </a:xfrm>
          <a:prstGeom prst="rect">
            <a:avLst/>
          </a:prstGeom>
          <a:noFill/>
          <a:ln/>
        </p:spPr>
        <p:txBody>
          <a:bodyPr wrap="square" lIns="0" tIns="0" rIns="0" bIns="0" rtlCol="0" anchor="t"/>
          <a:lstStyle/>
          <a:p>
            <a:pPr marL="0" indent="0">
              <a:lnSpc>
                <a:spcPct val="112000"/>
              </a:lnSpc>
              <a:buNone/>
            </a:pPr>
            <a:r>
              <a:rPr lang="en-US" sz="1250" dirty="0">
                <a:solidFill>
                  <a:srgbClr val="566581"/>
                </a:solidFill>
                <a:latin typeface="Calibri" pitchFamily="34" charset="0"/>
                <a:ea typeface="Calibri" pitchFamily="34" charset="-122"/>
                <a:cs typeface="Calibri" pitchFamily="34" charset="-120"/>
              </a:rPr>
              <a:t>Test for firms bunching just above the cutoff (manipulation) and covariate continuity through it.</a:t>
            </a:r>
            <a:endParaRPr lang="en-US" sz="1250" dirty="0"/>
          </a:p>
        </p:txBody>
      </p:sp>
      <p:sp>
        <p:nvSpPr>
          <p:cNvPr id="12" name="Text 10"/>
          <p:cNvSpPr/>
          <p:nvPr/>
        </p:nvSpPr>
        <p:spPr>
          <a:xfrm>
            <a:off x="4663440" y="3680460"/>
            <a:ext cx="6961327" cy="274320"/>
          </a:xfrm>
          <a:prstGeom prst="rect">
            <a:avLst/>
          </a:prstGeom>
          <a:noFill/>
          <a:ln/>
        </p:spPr>
        <p:txBody>
          <a:bodyPr wrap="square" lIns="0" tIns="0" rIns="0" bIns="0" rtlCol="0" anchor="ctr"/>
          <a:lstStyle/>
          <a:p>
            <a:pPr marL="0" indent="0">
              <a:buNone/>
            </a:pPr>
            <a:r>
              <a:rPr lang="en-US" sz="1100" b="1" kern="0" spc="150" dirty="0">
                <a:solidFill>
                  <a:srgbClr val="EA7B38"/>
                </a:solidFill>
                <a:latin typeface="Calibri" pitchFamily="34" charset="0"/>
                <a:ea typeface="Calibri" pitchFamily="34" charset="-122"/>
                <a:cs typeface="Calibri" pitchFamily="34" charset="-120"/>
              </a:rPr>
              <a:t>DID CHECK</a:t>
            </a:r>
            <a:endParaRPr lang="en-US" sz="1100" dirty="0"/>
          </a:p>
        </p:txBody>
      </p:sp>
      <p:sp>
        <p:nvSpPr>
          <p:cNvPr id="13" name="Text 11"/>
          <p:cNvSpPr/>
          <p:nvPr/>
        </p:nvSpPr>
        <p:spPr>
          <a:xfrm>
            <a:off x="4663440" y="3954780"/>
            <a:ext cx="6961327" cy="829818"/>
          </a:xfrm>
          <a:prstGeom prst="rect">
            <a:avLst/>
          </a:prstGeom>
          <a:noFill/>
          <a:ln/>
        </p:spPr>
        <p:txBody>
          <a:bodyPr wrap="square" lIns="0" tIns="0" rIns="0" bIns="0" rtlCol="0" anchor="t"/>
          <a:lstStyle/>
          <a:p>
            <a:pPr marL="0" indent="0">
              <a:lnSpc>
                <a:spcPct val="112000"/>
              </a:lnSpc>
              <a:buNone/>
            </a:pPr>
            <a:r>
              <a:rPr lang="en-US" sz="1250" dirty="0">
                <a:solidFill>
                  <a:srgbClr val="566581"/>
                </a:solidFill>
                <a:latin typeface="Calibri" pitchFamily="34" charset="0"/>
                <a:ea typeface="Calibri" pitchFamily="34" charset="-122"/>
                <a:cs typeface="Calibri" pitchFamily="34" charset="-120"/>
              </a:rPr>
              <a:t>Inspect pre-trends via an event study; consider staggered-adoption-robust estimators if timing varies.</a:t>
            </a:r>
            <a:endParaRPr lang="en-US" sz="1250" dirty="0"/>
          </a:p>
        </p:txBody>
      </p:sp>
      <p:sp>
        <p:nvSpPr>
          <p:cNvPr id="14" name="Text 12"/>
          <p:cNvSpPr/>
          <p:nvPr/>
        </p:nvSpPr>
        <p:spPr>
          <a:xfrm>
            <a:off x="4663440" y="4857750"/>
            <a:ext cx="6961327" cy="274320"/>
          </a:xfrm>
          <a:prstGeom prst="rect">
            <a:avLst/>
          </a:prstGeom>
          <a:noFill/>
          <a:ln/>
        </p:spPr>
        <p:txBody>
          <a:bodyPr wrap="square" lIns="0" tIns="0" rIns="0" bIns="0" rtlCol="0" anchor="ctr"/>
          <a:lstStyle/>
          <a:p>
            <a:pPr marL="0" indent="0">
              <a:buNone/>
            </a:pPr>
            <a:r>
              <a:rPr lang="en-US" sz="1100" b="1" kern="0" spc="150" dirty="0">
                <a:solidFill>
                  <a:srgbClr val="3E9B90"/>
                </a:solidFill>
                <a:latin typeface="Calibri" pitchFamily="34" charset="0"/>
                <a:ea typeface="Calibri" pitchFamily="34" charset="-122"/>
                <a:cs typeface="Calibri" pitchFamily="34" charset="-120"/>
              </a:rPr>
              <a:t>TRIANGULATE</a:t>
            </a:r>
            <a:endParaRPr lang="en-US" sz="1100" dirty="0"/>
          </a:p>
        </p:txBody>
      </p:sp>
      <p:sp>
        <p:nvSpPr>
          <p:cNvPr id="15" name="Text 13"/>
          <p:cNvSpPr/>
          <p:nvPr/>
        </p:nvSpPr>
        <p:spPr>
          <a:xfrm>
            <a:off x="4663440" y="5132070"/>
            <a:ext cx="6961327" cy="829818"/>
          </a:xfrm>
          <a:prstGeom prst="rect">
            <a:avLst/>
          </a:prstGeom>
          <a:noFill/>
          <a:ln/>
        </p:spPr>
        <p:txBody>
          <a:bodyPr wrap="square" lIns="0" tIns="0" rIns="0" bIns="0" rtlCol="0" anchor="t"/>
          <a:lstStyle/>
          <a:p>
            <a:pPr marL="0" indent="0">
              <a:lnSpc>
                <a:spcPct val="112000"/>
              </a:lnSpc>
              <a:buNone/>
            </a:pPr>
            <a:r>
              <a:rPr lang="en-US" sz="1250" dirty="0">
                <a:solidFill>
                  <a:srgbClr val="566581"/>
                </a:solidFill>
                <a:latin typeface="Calibri" pitchFamily="34" charset="0"/>
                <a:ea typeface="Calibri" pitchFamily="34" charset="-122"/>
                <a:cs typeface="Calibri" pitchFamily="34" charset="-120"/>
              </a:rPr>
              <a:t>Report both designs; agreement across independent assumptions is the strongest evidence available without an experiment.</a:t>
            </a:r>
            <a:endParaRPr lang="en-US" sz="1250" dirty="0"/>
          </a:p>
        </p:txBody>
      </p:sp>
      <p:sp>
        <p:nvSpPr>
          <p:cNvPr id="16" name="Text 1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4 · CASES</a:t>
            </a:r>
            <a:endParaRPr lang="en-US" sz="900" dirty="0"/>
          </a:p>
        </p:txBody>
      </p:sp>
      <p:sp>
        <p:nvSpPr>
          <p:cNvPr id="17" name="Text 1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142  /  221</a:t>
            </a:r>
            <a:endParaRPr lang="en-US" sz="9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6233F"/>
          </a:solidFill>
          <a:ln/>
        </p:spPr>
        <p:txBody>
          <a:bodyPr/>
          <a:lstStyle/>
          <a:p>
            <a:endParaRPr lang="en-SA"/>
          </a:p>
        </p:txBody>
      </p:sp>
      <p:sp>
        <p:nvSpPr>
          <p:cNvPr id="3" name="Text 1"/>
          <p:cNvSpPr/>
          <p:nvPr/>
        </p:nvSpPr>
        <p:spPr>
          <a:xfrm>
            <a:off x="502920" y="548640"/>
            <a:ext cx="3383280" cy="292608"/>
          </a:xfrm>
          <a:prstGeom prst="rect">
            <a:avLst/>
          </a:prstGeom>
          <a:noFill/>
          <a:ln/>
        </p:spPr>
        <p:txBody>
          <a:bodyPr wrap="square" lIns="0" tIns="0" rIns="0" bIns="0" rtlCol="0" anchor="ctr"/>
          <a:lstStyle/>
          <a:p>
            <a:pPr marL="0" indent="0">
              <a:buNone/>
            </a:pPr>
            <a:r>
              <a:rPr lang="en-US" sz="1200" b="1" kern="0" spc="300" dirty="0">
                <a:solidFill>
                  <a:srgbClr val="70C8F2"/>
                </a:solidFill>
                <a:latin typeface="Calibri" pitchFamily="34" charset="0"/>
                <a:ea typeface="Calibri" pitchFamily="34" charset="-122"/>
                <a:cs typeface="Calibri" pitchFamily="34" charset="-120"/>
              </a:rPr>
              <a:t>CASE STUDY 3 · HEALTH</a:t>
            </a:r>
            <a:endParaRPr lang="en-US" sz="1200" dirty="0"/>
          </a:p>
        </p:txBody>
      </p:sp>
      <p:sp>
        <p:nvSpPr>
          <p:cNvPr id="4" name="Text 2"/>
          <p:cNvSpPr/>
          <p:nvPr/>
        </p:nvSpPr>
        <p:spPr>
          <a:xfrm>
            <a:off x="502920" y="914400"/>
            <a:ext cx="3383280" cy="1371600"/>
          </a:xfrm>
          <a:prstGeom prst="rect">
            <a:avLst/>
          </a:prstGeom>
          <a:noFill/>
          <a:ln/>
        </p:spPr>
        <p:txBody>
          <a:bodyPr wrap="square" lIns="0" tIns="0" rIns="0" bIns="0" rtlCol="0" anchor="t"/>
          <a:lstStyle/>
          <a:p>
            <a:pPr marL="0" indent="0">
              <a:lnSpc>
                <a:spcPct val="103000"/>
              </a:lnSpc>
              <a:buNone/>
            </a:pPr>
            <a:r>
              <a:rPr lang="en-US" sz="2600" b="1" dirty="0">
                <a:solidFill>
                  <a:srgbClr val="FFFFFF"/>
                </a:solidFill>
                <a:latin typeface="Cambria" pitchFamily="34" charset="0"/>
                <a:ea typeface="Cambria" pitchFamily="34" charset="-122"/>
                <a:cs typeface="Cambria" pitchFamily="34" charset="-120"/>
              </a:rPr>
              <a:t>Does the New Protocol Reduce Readmissions?</a:t>
            </a:r>
            <a:endParaRPr lang="en-US" sz="2600" dirty="0"/>
          </a:p>
        </p:txBody>
      </p:sp>
      <p:sp>
        <p:nvSpPr>
          <p:cNvPr id="5" name="Text 3"/>
          <p:cNvSpPr/>
          <p:nvPr/>
        </p:nvSpPr>
        <p:spPr>
          <a:xfrm>
            <a:off x="502920" y="2468880"/>
            <a:ext cx="3383280" cy="274320"/>
          </a:xfrm>
          <a:prstGeom prst="rect">
            <a:avLst/>
          </a:prstGeom>
          <a:noFill/>
          <a:ln/>
        </p:spPr>
        <p:txBody>
          <a:bodyPr wrap="square" lIns="0" tIns="0" rIns="0" bIns="0" rtlCol="0" anchor="ctr"/>
          <a:lstStyle/>
          <a:p>
            <a:pPr marL="0" indent="0">
              <a:buNone/>
            </a:pPr>
            <a:r>
              <a:rPr lang="en-US" sz="1050" b="1" kern="0" spc="200" dirty="0">
                <a:solidFill>
                  <a:srgbClr val="3FA9E0"/>
                </a:solidFill>
                <a:latin typeface="Calibri" pitchFamily="34" charset="0"/>
                <a:ea typeface="Calibri" pitchFamily="34" charset="-122"/>
                <a:cs typeface="Calibri" pitchFamily="34" charset="-120"/>
              </a:rPr>
              <a:t>CONTEXT</a:t>
            </a:r>
            <a:endParaRPr lang="en-US" sz="1050" dirty="0"/>
          </a:p>
        </p:txBody>
      </p:sp>
      <p:sp>
        <p:nvSpPr>
          <p:cNvPr id="6" name="Text 4"/>
          <p:cNvSpPr/>
          <p:nvPr/>
        </p:nvSpPr>
        <p:spPr>
          <a:xfrm>
            <a:off x="502920" y="2761488"/>
            <a:ext cx="3383280" cy="3200400"/>
          </a:xfrm>
          <a:prstGeom prst="rect">
            <a:avLst/>
          </a:prstGeom>
          <a:noFill/>
          <a:ln/>
        </p:spPr>
        <p:txBody>
          <a:bodyPr wrap="square" lIns="0" tIns="0" rIns="0" bIns="0" rtlCol="0" anchor="t"/>
          <a:lstStyle/>
          <a:p>
            <a:pPr marL="0" indent="0">
              <a:lnSpc>
                <a:spcPct val="122000"/>
              </a:lnSpc>
              <a:buNone/>
            </a:pPr>
            <a:r>
              <a:rPr lang="en-US" sz="1250" dirty="0">
                <a:solidFill>
                  <a:srgbClr val="C9DAF0"/>
                </a:solidFill>
                <a:latin typeface="Calibri" pitchFamily="34" charset="0"/>
                <a:ea typeface="Calibri" pitchFamily="34" charset="-122"/>
                <a:cs typeface="Calibri" pitchFamily="34" charset="-120"/>
              </a:rPr>
              <a:t>A hospital adopts a discharge protocol. Observational data show treated patients readmit less — but sicker patients were less likely to receive it.</a:t>
            </a:r>
            <a:endParaRPr lang="en-US" sz="1250" dirty="0"/>
          </a:p>
        </p:txBody>
      </p:sp>
      <p:sp>
        <p:nvSpPr>
          <p:cNvPr id="7" name="Text 5"/>
          <p:cNvSpPr/>
          <p:nvPr/>
        </p:nvSpPr>
        <p:spPr>
          <a:xfrm>
            <a:off x="4663440" y="685800"/>
            <a:ext cx="6961327" cy="457200"/>
          </a:xfrm>
          <a:prstGeom prst="rect">
            <a:avLst/>
          </a:prstGeom>
          <a:noFill/>
          <a:ln/>
        </p:spPr>
        <p:txBody>
          <a:bodyPr wrap="square" lIns="0" tIns="0" rIns="0" bIns="0" rtlCol="0" anchor="ctr"/>
          <a:lstStyle/>
          <a:p>
            <a:pPr marL="0" indent="0">
              <a:buNone/>
            </a:pPr>
            <a:r>
              <a:rPr lang="en-US" sz="2000" b="1" dirty="0">
                <a:solidFill>
                  <a:srgbClr val="16233F"/>
                </a:solidFill>
                <a:latin typeface="Cambria" pitchFamily="34" charset="0"/>
                <a:ea typeface="Cambria" pitchFamily="34" charset="-122"/>
                <a:cs typeface="Cambria" pitchFamily="34" charset="-120"/>
              </a:rPr>
              <a:t>Confounding by Indication</a:t>
            </a:r>
            <a:endParaRPr lang="en-US" sz="2000" dirty="0"/>
          </a:p>
        </p:txBody>
      </p:sp>
      <p:sp>
        <p:nvSpPr>
          <p:cNvPr id="8" name="Text 6"/>
          <p:cNvSpPr/>
          <p:nvPr/>
        </p:nvSpPr>
        <p:spPr>
          <a:xfrm>
            <a:off x="4663440" y="1325880"/>
            <a:ext cx="6961327" cy="274320"/>
          </a:xfrm>
          <a:prstGeom prst="rect">
            <a:avLst/>
          </a:prstGeom>
          <a:noFill/>
          <a:ln/>
        </p:spPr>
        <p:txBody>
          <a:bodyPr wrap="square" lIns="0" tIns="0" rIns="0" bIns="0" rtlCol="0" anchor="ctr"/>
          <a:lstStyle/>
          <a:p>
            <a:pPr marL="0" indent="0">
              <a:buNone/>
            </a:pPr>
            <a:r>
              <a:rPr lang="en-US" sz="1100" b="1" kern="0" spc="150" dirty="0">
                <a:solidFill>
                  <a:srgbClr val="3FA9E0"/>
                </a:solidFill>
                <a:latin typeface="Calibri" pitchFamily="34" charset="0"/>
                <a:ea typeface="Calibri" pitchFamily="34" charset="-122"/>
                <a:cs typeface="Calibri" pitchFamily="34" charset="-120"/>
              </a:rPr>
              <a:t>THE CORE THREAT</a:t>
            </a:r>
            <a:endParaRPr lang="en-US" sz="1100" dirty="0"/>
          </a:p>
        </p:txBody>
      </p:sp>
      <p:sp>
        <p:nvSpPr>
          <p:cNvPr id="9" name="Text 7"/>
          <p:cNvSpPr/>
          <p:nvPr/>
        </p:nvSpPr>
        <p:spPr>
          <a:xfrm>
            <a:off x="4663440" y="1600200"/>
            <a:ext cx="6961327" cy="829818"/>
          </a:xfrm>
          <a:prstGeom prst="rect">
            <a:avLst/>
          </a:prstGeom>
          <a:noFill/>
          <a:ln/>
        </p:spPr>
        <p:txBody>
          <a:bodyPr wrap="square" lIns="0" tIns="0" rIns="0" bIns="0" rtlCol="0" anchor="t"/>
          <a:lstStyle/>
          <a:p>
            <a:pPr marL="0" indent="0">
              <a:lnSpc>
                <a:spcPct val="112000"/>
              </a:lnSpc>
              <a:buNone/>
            </a:pPr>
            <a:r>
              <a:rPr lang="en-US" sz="1250" dirty="0">
                <a:solidFill>
                  <a:srgbClr val="566581"/>
                </a:solidFill>
                <a:latin typeface="Calibri" pitchFamily="34" charset="0"/>
                <a:ea typeface="Calibri" pitchFamily="34" charset="-122"/>
                <a:cs typeface="Calibri" pitchFamily="34" charset="-120"/>
              </a:rPr>
              <a:t>Confounding by indication — severity drives both who gets the protocol and the outcome, biasing the naive comparison.</a:t>
            </a:r>
            <a:endParaRPr lang="en-US" sz="1250" dirty="0"/>
          </a:p>
        </p:txBody>
      </p:sp>
      <p:sp>
        <p:nvSpPr>
          <p:cNvPr id="10" name="Text 8"/>
          <p:cNvSpPr/>
          <p:nvPr/>
        </p:nvSpPr>
        <p:spPr>
          <a:xfrm>
            <a:off x="4663440" y="2503170"/>
            <a:ext cx="6961327" cy="274320"/>
          </a:xfrm>
          <a:prstGeom prst="rect">
            <a:avLst/>
          </a:prstGeom>
          <a:noFill/>
          <a:ln/>
        </p:spPr>
        <p:txBody>
          <a:bodyPr wrap="square" lIns="0" tIns="0" rIns="0" bIns="0" rtlCol="0" anchor="ctr"/>
          <a:lstStyle/>
          <a:p>
            <a:pPr marL="0" indent="0">
              <a:buNone/>
            </a:pPr>
            <a:r>
              <a:rPr lang="en-US" sz="1100" b="1" kern="0" spc="150" dirty="0">
                <a:solidFill>
                  <a:srgbClr val="5A5BA6"/>
                </a:solidFill>
                <a:latin typeface="Calibri" pitchFamily="34" charset="0"/>
                <a:ea typeface="Calibri" pitchFamily="34" charset="-122"/>
                <a:cs typeface="Calibri" pitchFamily="34" charset="-120"/>
              </a:rPr>
              <a:t>IF RANDOMIZATION IS BARRED</a:t>
            </a:r>
            <a:endParaRPr lang="en-US" sz="1100" dirty="0"/>
          </a:p>
        </p:txBody>
      </p:sp>
      <p:sp>
        <p:nvSpPr>
          <p:cNvPr id="11" name="Text 9"/>
          <p:cNvSpPr/>
          <p:nvPr/>
        </p:nvSpPr>
        <p:spPr>
          <a:xfrm>
            <a:off x="4663440" y="2777490"/>
            <a:ext cx="6961327" cy="829818"/>
          </a:xfrm>
          <a:prstGeom prst="rect">
            <a:avLst/>
          </a:prstGeom>
          <a:noFill/>
          <a:ln/>
        </p:spPr>
        <p:txBody>
          <a:bodyPr wrap="square" lIns="0" tIns="0" rIns="0" bIns="0" rtlCol="0" anchor="t"/>
          <a:lstStyle/>
          <a:p>
            <a:pPr marL="0" indent="0">
              <a:lnSpc>
                <a:spcPct val="112000"/>
              </a:lnSpc>
              <a:buNone/>
            </a:pPr>
            <a:r>
              <a:rPr lang="en-US" sz="1250" dirty="0">
                <a:solidFill>
                  <a:srgbClr val="566581"/>
                </a:solidFill>
                <a:latin typeface="Calibri" pitchFamily="34" charset="0"/>
                <a:ea typeface="Calibri" pitchFamily="34" charset="-122"/>
                <a:cs typeface="Calibri" pitchFamily="34" charset="-120"/>
              </a:rPr>
              <a:t>Use doubly-robust adjustment on rich clinical covariates; check overlap and balance carefully.</a:t>
            </a:r>
            <a:endParaRPr lang="en-US" sz="1250" dirty="0"/>
          </a:p>
        </p:txBody>
      </p:sp>
      <p:sp>
        <p:nvSpPr>
          <p:cNvPr id="12" name="Text 10"/>
          <p:cNvSpPr/>
          <p:nvPr/>
        </p:nvSpPr>
        <p:spPr>
          <a:xfrm>
            <a:off x="4663440" y="3680460"/>
            <a:ext cx="6961327" cy="274320"/>
          </a:xfrm>
          <a:prstGeom prst="rect">
            <a:avLst/>
          </a:prstGeom>
          <a:noFill/>
          <a:ln/>
        </p:spPr>
        <p:txBody>
          <a:bodyPr wrap="square" lIns="0" tIns="0" rIns="0" bIns="0" rtlCol="0" anchor="ctr"/>
          <a:lstStyle/>
          <a:p>
            <a:pPr marL="0" indent="0">
              <a:buNone/>
            </a:pPr>
            <a:r>
              <a:rPr lang="en-US" sz="1100" b="1" kern="0" spc="150" dirty="0">
                <a:solidFill>
                  <a:srgbClr val="EA7B38"/>
                </a:solidFill>
                <a:latin typeface="Calibri" pitchFamily="34" charset="0"/>
                <a:ea typeface="Calibri" pitchFamily="34" charset="-122"/>
                <a:cs typeface="Calibri" pitchFamily="34" charset="-120"/>
              </a:rPr>
              <a:t>LOOK FOR A NATURAL EXPERIMENT</a:t>
            </a:r>
            <a:endParaRPr lang="en-US" sz="1100" dirty="0"/>
          </a:p>
        </p:txBody>
      </p:sp>
      <p:sp>
        <p:nvSpPr>
          <p:cNvPr id="13" name="Text 11"/>
          <p:cNvSpPr/>
          <p:nvPr/>
        </p:nvSpPr>
        <p:spPr>
          <a:xfrm>
            <a:off x="4663440" y="3954780"/>
            <a:ext cx="6961327" cy="829818"/>
          </a:xfrm>
          <a:prstGeom prst="rect">
            <a:avLst/>
          </a:prstGeom>
          <a:noFill/>
          <a:ln/>
        </p:spPr>
        <p:txBody>
          <a:bodyPr wrap="square" lIns="0" tIns="0" rIns="0" bIns="0" rtlCol="0" anchor="t"/>
          <a:lstStyle/>
          <a:p>
            <a:pPr marL="0" indent="0">
              <a:lnSpc>
                <a:spcPct val="112000"/>
              </a:lnSpc>
              <a:buNone/>
            </a:pPr>
            <a:r>
              <a:rPr lang="en-US" sz="1250" dirty="0">
                <a:solidFill>
                  <a:srgbClr val="566581"/>
                </a:solidFill>
                <a:latin typeface="Calibri" pitchFamily="34" charset="0"/>
                <a:ea typeface="Calibri" pitchFamily="34" charset="-122"/>
                <a:cs typeface="Calibri" pitchFamily="34" charset="-120"/>
              </a:rPr>
              <a:t>Staggered ward rollout (DiD) or a clinical eligibility threshold (RDD) can strengthen identification.</a:t>
            </a:r>
            <a:endParaRPr lang="en-US" sz="1250" dirty="0"/>
          </a:p>
        </p:txBody>
      </p:sp>
      <p:sp>
        <p:nvSpPr>
          <p:cNvPr id="14" name="Text 12"/>
          <p:cNvSpPr/>
          <p:nvPr/>
        </p:nvSpPr>
        <p:spPr>
          <a:xfrm>
            <a:off x="4663440" y="4857750"/>
            <a:ext cx="6961327" cy="274320"/>
          </a:xfrm>
          <a:prstGeom prst="rect">
            <a:avLst/>
          </a:prstGeom>
          <a:noFill/>
          <a:ln/>
        </p:spPr>
        <p:txBody>
          <a:bodyPr wrap="square" lIns="0" tIns="0" rIns="0" bIns="0" rtlCol="0" anchor="ctr"/>
          <a:lstStyle/>
          <a:p>
            <a:pPr marL="0" indent="0">
              <a:buNone/>
            </a:pPr>
            <a:r>
              <a:rPr lang="en-US" sz="1100" b="1" kern="0" spc="150" dirty="0">
                <a:solidFill>
                  <a:srgbClr val="3E9B90"/>
                </a:solidFill>
                <a:latin typeface="Calibri" pitchFamily="34" charset="0"/>
                <a:ea typeface="Calibri" pitchFamily="34" charset="-122"/>
                <a:cs typeface="Calibri" pitchFamily="34" charset="-120"/>
              </a:rPr>
              <a:t>SENSITIVITY</a:t>
            </a:r>
            <a:endParaRPr lang="en-US" sz="1100" dirty="0"/>
          </a:p>
        </p:txBody>
      </p:sp>
      <p:sp>
        <p:nvSpPr>
          <p:cNvPr id="15" name="Text 13"/>
          <p:cNvSpPr/>
          <p:nvPr/>
        </p:nvSpPr>
        <p:spPr>
          <a:xfrm>
            <a:off x="4663440" y="5132070"/>
            <a:ext cx="6961327" cy="829818"/>
          </a:xfrm>
          <a:prstGeom prst="rect">
            <a:avLst/>
          </a:prstGeom>
          <a:noFill/>
          <a:ln/>
        </p:spPr>
        <p:txBody>
          <a:bodyPr wrap="square" lIns="0" tIns="0" rIns="0" bIns="0" rtlCol="0" anchor="t"/>
          <a:lstStyle/>
          <a:p>
            <a:pPr marL="0" indent="0">
              <a:lnSpc>
                <a:spcPct val="112000"/>
              </a:lnSpc>
              <a:buNone/>
            </a:pPr>
            <a:r>
              <a:rPr lang="en-US" sz="1250" dirty="0">
                <a:solidFill>
                  <a:srgbClr val="566581"/>
                </a:solidFill>
                <a:latin typeface="Calibri" pitchFamily="34" charset="0"/>
                <a:ea typeface="Calibri" pitchFamily="34" charset="-122"/>
                <a:cs typeface="Calibri" pitchFamily="34" charset="-120"/>
              </a:rPr>
              <a:t>Report an E-value; a small one here (weak robustness) should block a high-stakes clinical decision.</a:t>
            </a:r>
            <a:endParaRPr lang="en-US" sz="1250" dirty="0"/>
          </a:p>
        </p:txBody>
      </p:sp>
      <p:sp>
        <p:nvSpPr>
          <p:cNvPr id="16" name="Text 1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4 · CASES</a:t>
            </a:r>
            <a:endParaRPr lang="en-US" sz="900" dirty="0"/>
          </a:p>
        </p:txBody>
      </p:sp>
      <p:sp>
        <p:nvSpPr>
          <p:cNvPr id="17" name="Text 1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143  /  221</a:t>
            </a:r>
            <a:endParaRPr lang="en-US" sz="9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4 · HOUR 3</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Decision-Making Under Causal Uncertainty</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The analyst's job ends not at an estimate but at a defensible decision.</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From effect to expected value</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Combine the effect distribution with payoffs and costs to compute expected value and downside risk, not just significance.</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Value of information</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When uncertainty is decision-relevant, quantify what a further experiment would be worth before running it.</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Communicate honestly</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State the estimand, the key assumption, the interval, and the sensitivity — so decision-makers own the risk knowingly.</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PROFESSIONAL STANDARD</a:t>
            </a:r>
            <a:endParaRPr lang="en-US" sz="1100" dirty="0"/>
          </a:p>
        </p:txBody>
      </p:sp>
      <p:sp>
        <p:nvSpPr>
          <p:cNvPr id="16" name="Text 14"/>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i="1" dirty="0">
                <a:solidFill>
                  <a:srgbClr val="16233F"/>
                </a:solidFill>
                <a:latin typeface="Calibri" pitchFamily="34" charset="0"/>
                <a:ea typeface="Calibri" pitchFamily="34" charset="-122"/>
                <a:cs typeface="Calibri" pitchFamily="34" charset="-120"/>
              </a:rPr>
              <a:t>A good causal report lets a reader see exactly which assumption the recommendation rests on — and how the decision would change if it failed.</a:t>
            </a:r>
            <a:endParaRPr lang="en-US" sz="13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4 · CASES</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144  /  221</a:t>
            </a:r>
            <a:endParaRPr lang="en-US" sz="900" dirty="0"/>
          </a:p>
        </p:txBody>
      </p:sp>
      <p:pic>
        <p:nvPicPr>
          <p:cNvPr id="19" name="Picture 18" descr="Day4_Check3.png"/>
          <p:cNvPicPr>
            <a:picLocks noChangeAspect="1"/>
          </p:cNvPicPr>
          <p:nvPr/>
        </p:nvPicPr>
        <p:blipFill>
          <a:blip r:embed="rId3"/>
          <a:stretch>
            <a:fillRect/>
          </a:stretch>
        </p:blipFill>
        <p:spPr>
          <a:xfrm>
            <a:off x="10637520" y="320040"/>
            <a:ext cx="1143000" cy="1143000"/>
          </a:xfrm>
          <a:prstGeom prst="rect">
            <a:avLst/>
          </a:prstGeom>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4 · HOUR 3</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Cross-Case Lessons</a:t>
            </a:r>
            <a:endParaRPr lang="en-US" sz="3400" dirty="0"/>
          </a:p>
        </p:txBody>
      </p:sp>
      <p:sp>
        <p:nvSpPr>
          <p:cNvPr id="4" name="Text 2"/>
          <p:cNvSpPr/>
          <p:nvPr/>
        </p:nvSpPr>
        <p:spPr>
          <a:xfrm>
            <a:off x="566928" y="1737360"/>
            <a:ext cx="11057839" cy="64008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Patterns that recur across every domain.</a:t>
            </a:r>
            <a:endParaRPr lang="en-US" sz="1450" dirty="0"/>
          </a:p>
        </p:txBody>
      </p:sp>
      <p:sp>
        <p:nvSpPr>
          <p:cNvPr id="5" name="Shape 3"/>
          <p:cNvSpPr/>
          <p:nvPr/>
        </p:nvSpPr>
        <p:spPr>
          <a:xfrm>
            <a:off x="566928" y="2578608"/>
            <a:ext cx="137160" cy="137160"/>
          </a:xfrm>
          <a:prstGeom prst="ellipse">
            <a:avLst/>
          </a:prstGeom>
          <a:solidFill>
            <a:srgbClr val="3FA9E0"/>
          </a:solidFill>
          <a:ln/>
        </p:spPr>
        <p:txBody>
          <a:bodyPr/>
          <a:lstStyle/>
          <a:p>
            <a:endParaRPr lang="en-SA"/>
          </a:p>
        </p:txBody>
      </p:sp>
      <p:sp>
        <p:nvSpPr>
          <p:cNvPr id="6" name="Text 4"/>
          <p:cNvSpPr/>
          <p:nvPr/>
        </p:nvSpPr>
        <p:spPr>
          <a:xfrm>
            <a:off x="841248" y="2514600"/>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The naive observational number is almost always the wrong number — and usually too large.</a:t>
            </a:r>
            <a:endParaRPr lang="en-US" sz="1400" dirty="0"/>
          </a:p>
        </p:txBody>
      </p:sp>
      <p:sp>
        <p:nvSpPr>
          <p:cNvPr id="7" name="Shape 5"/>
          <p:cNvSpPr/>
          <p:nvPr/>
        </p:nvSpPr>
        <p:spPr>
          <a:xfrm>
            <a:off x="566928" y="3300984"/>
            <a:ext cx="137160" cy="137160"/>
          </a:xfrm>
          <a:prstGeom prst="ellipse">
            <a:avLst/>
          </a:prstGeom>
          <a:solidFill>
            <a:srgbClr val="5A5BA6"/>
          </a:solidFill>
          <a:ln/>
        </p:spPr>
        <p:txBody>
          <a:bodyPr/>
          <a:lstStyle/>
          <a:p>
            <a:endParaRPr lang="en-SA"/>
          </a:p>
        </p:txBody>
      </p:sp>
      <p:sp>
        <p:nvSpPr>
          <p:cNvPr id="8" name="Text 6"/>
          <p:cNvSpPr/>
          <p:nvPr/>
        </p:nvSpPr>
        <p:spPr>
          <a:xfrm>
            <a:off x="841248" y="3236976"/>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The estimand includes time; short-run and steady-state effects differ.</a:t>
            </a:r>
            <a:endParaRPr lang="en-US" sz="1400" dirty="0"/>
          </a:p>
        </p:txBody>
      </p:sp>
      <p:sp>
        <p:nvSpPr>
          <p:cNvPr id="9" name="Shape 7"/>
          <p:cNvSpPr/>
          <p:nvPr/>
        </p:nvSpPr>
        <p:spPr>
          <a:xfrm>
            <a:off x="566928" y="4023360"/>
            <a:ext cx="137160" cy="137160"/>
          </a:xfrm>
          <a:prstGeom prst="ellipse">
            <a:avLst/>
          </a:prstGeom>
          <a:solidFill>
            <a:srgbClr val="EA7B38"/>
          </a:solidFill>
          <a:ln/>
        </p:spPr>
        <p:txBody>
          <a:bodyPr/>
          <a:lstStyle/>
          <a:p>
            <a:endParaRPr lang="en-SA"/>
          </a:p>
        </p:txBody>
      </p:sp>
      <p:sp>
        <p:nvSpPr>
          <p:cNvPr id="10" name="Text 8"/>
          <p:cNvSpPr/>
          <p:nvPr/>
        </p:nvSpPr>
        <p:spPr>
          <a:xfrm>
            <a:off x="841248" y="3959352"/>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When you cannot randomize, triangulate across designs with different assumptions.</a:t>
            </a:r>
            <a:endParaRPr lang="en-US" sz="1400" dirty="0"/>
          </a:p>
        </p:txBody>
      </p:sp>
      <p:sp>
        <p:nvSpPr>
          <p:cNvPr id="11" name="Shape 9"/>
          <p:cNvSpPr/>
          <p:nvPr/>
        </p:nvSpPr>
        <p:spPr>
          <a:xfrm>
            <a:off x="566928" y="4745736"/>
            <a:ext cx="137160" cy="137160"/>
          </a:xfrm>
          <a:prstGeom prst="ellipse">
            <a:avLst/>
          </a:prstGeom>
          <a:solidFill>
            <a:srgbClr val="3E9B90"/>
          </a:solidFill>
          <a:ln/>
        </p:spPr>
        <p:txBody>
          <a:bodyPr/>
          <a:lstStyle/>
          <a:p>
            <a:endParaRPr lang="en-SA"/>
          </a:p>
        </p:txBody>
      </p:sp>
      <p:sp>
        <p:nvSpPr>
          <p:cNvPr id="12" name="Text 10"/>
          <p:cNvSpPr/>
          <p:nvPr/>
        </p:nvSpPr>
        <p:spPr>
          <a:xfrm>
            <a:off x="841248" y="4681728"/>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High-stakes decisions demand sensitivity analysis, not just a tight interval.</a:t>
            </a:r>
            <a:endParaRPr lang="en-US" sz="1400" dirty="0"/>
          </a:p>
        </p:txBody>
      </p:sp>
      <p:sp>
        <p:nvSpPr>
          <p:cNvPr id="13" name="Shape 11"/>
          <p:cNvSpPr/>
          <p:nvPr/>
        </p:nvSpPr>
        <p:spPr>
          <a:xfrm>
            <a:off x="566928" y="5468112"/>
            <a:ext cx="137160" cy="137160"/>
          </a:xfrm>
          <a:prstGeom prst="ellipse">
            <a:avLst/>
          </a:prstGeom>
          <a:solidFill>
            <a:srgbClr val="73BB59"/>
          </a:solidFill>
          <a:ln/>
        </p:spPr>
        <p:txBody>
          <a:bodyPr/>
          <a:lstStyle/>
          <a:p>
            <a:endParaRPr lang="en-SA"/>
          </a:p>
        </p:txBody>
      </p:sp>
      <p:sp>
        <p:nvSpPr>
          <p:cNvPr id="14" name="Text 12"/>
          <p:cNvSpPr/>
          <p:nvPr/>
        </p:nvSpPr>
        <p:spPr>
          <a:xfrm>
            <a:off x="841248" y="5404104"/>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The deliverable is a decision with owned risk, not a p-value.</a:t>
            </a:r>
            <a:endParaRPr lang="en-US" sz="1400" dirty="0"/>
          </a:p>
        </p:txBody>
      </p:sp>
      <p:sp>
        <p:nvSpPr>
          <p:cNvPr id="15" name="Text 13"/>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4 · CASES</a:t>
            </a:r>
            <a:endParaRPr lang="en-US" sz="900" dirty="0"/>
          </a:p>
        </p:txBody>
      </p:sp>
      <p:sp>
        <p:nvSpPr>
          <p:cNvPr id="16" name="Text 14"/>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145  /  221</a:t>
            </a:r>
            <a:endParaRPr lang="en-US" sz="9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DAY 4 · HOUR 4</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Capstone Project</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Integrate the whole course: define an estimand, choose and defend a design, estimate with valid uncertainty, and report a decision.</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DAY 4</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146  /  221</a:t>
            </a:r>
            <a:endParaRPr lang="en-US" sz="9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502920"/>
            <a:ext cx="11057839" cy="292608"/>
          </a:xfrm>
          <a:prstGeom prst="rect">
            <a:avLst/>
          </a:prstGeom>
          <a:noFill/>
          <a:ln/>
        </p:spPr>
        <p:txBody>
          <a:bodyPr wrap="square" lIns="0" tIns="0" rIns="0" bIns="0" rtlCol="0" anchor="ctr"/>
          <a:lstStyle/>
          <a:p>
            <a:pPr marL="0" indent="0">
              <a:buNone/>
            </a:pPr>
            <a:r>
              <a:rPr lang="en-US" sz="1200" b="1" kern="0" spc="300" dirty="0">
                <a:solidFill>
                  <a:srgbClr val="70C8F2"/>
                </a:solidFill>
                <a:latin typeface="Calibri" pitchFamily="34" charset="0"/>
                <a:ea typeface="Calibri" pitchFamily="34" charset="-122"/>
                <a:cs typeface="Calibri" pitchFamily="34" charset="-120"/>
              </a:rPr>
              <a:t>DAY 4 · CAPSTONE</a:t>
            </a:r>
            <a:endParaRPr lang="en-US" sz="1200" dirty="0"/>
          </a:p>
        </p:txBody>
      </p:sp>
      <p:sp>
        <p:nvSpPr>
          <p:cNvPr id="3" name="Text 1"/>
          <p:cNvSpPr/>
          <p:nvPr/>
        </p:nvSpPr>
        <p:spPr>
          <a:xfrm>
            <a:off x="566928" y="868680"/>
            <a:ext cx="11057839" cy="82296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Design, Estimate, Defend</a:t>
            </a:r>
            <a:endParaRPr lang="en-US" sz="3000" dirty="0"/>
          </a:p>
        </p:txBody>
      </p:sp>
      <p:sp>
        <p:nvSpPr>
          <p:cNvPr id="4" name="Shape 2"/>
          <p:cNvSpPr/>
          <p:nvPr/>
        </p:nvSpPr>
        <p:spPr>
          <a:xfrm>
            <a:off x="566928" y="2011680"/>
            <a:ext cx="3931920" cy="3931920"/>
          </a:xfrm>
          <a:prstGeom prst="roundRect">
            <a:avLst>
              <a:gd name="adj" fmla="val 2326"/>
            </a:avLst>
          </a:prstGeom>
          <a:solidFill>
            <a:srgbClr val="1C2E4E"/>
          </a:solidFill>
          <a:ln w="12700">
            <a:solidFill>
              <a:srgbClr val="2A3E63"/>
            </a:solidFill>
            <a:prstDash val="solid"/>
          </a:ln>
        </p:spPr>
        <p:txBody>
          <a:bodyPr/>
          <a:lstStyle/>
          <a:p>
            <a:endParaRPr lang="en-SA"/>
          </a:p>
        </p:txBody>
      </p:sp>
      <p:sp>
        <p:nvSpPr>
          <p:cNvPr id="5" name="Text 3"/>
          <p:cNvSpPr/>
          <p:nvPr/>
        </p:nvSpPr>
        <p:spPr>
          <a:xfrm>
            <a:off x="841248" y="2240280"/>
            <a:ext cx="3383280" cy="274320"/>
          </a:xfrm>
          <a:prstGeom prst="rect">
            <a:avLst/>
          </a:prstGeom>
          <a:noFill/>
          <a:ln/>
        </p:spPr>
        <p:txBody>
          <a:bodyPr wrap="square" lIns="0" tIns="0" rIns="0" bIns="0" rtlCol="0" anchor="ctr"/>
          <a:lstStyle/>
          <a:p>
            <a:pPr marL="0" indent="0">
              <a:buNone/>
            </a:pPr>
            <a:r>
              <a:rPr lang="en-US" sz="1100" b="1" kern="0" spc="200" dirty="0">
                <a:solidFill>
                  <a:srgbClr val="70C8F2"/>
                </a:solidFill>
                <a:latin typeface="Calibri" pitchFamily="34" charset="0"/>
                <a:ea typeface="Calibri" pitchFamily="34" charset="-122"/>
                <a:cs typeface="Calibri" pitchFamily="34" charset="-120"/>
              </a:rPr>
              <a:t>OBJECTIVE</a:t>
            </a:r>
            <a:endParaRPr lang="en-US" sz="1100" dirty="0"/>
          </a:p>
        </p:txBody>
      </p:sp>
      <p:sp>
        <p:nvSpPr>
          <p:cNvPr id="6" name="Text 4"/>
          <p:cNvSpPr/>
          <p:nvPr/>
        </p:nvSpPr>
        <p:spPr>
          <a:xfrm>
            <a:off x="841248" y="2542032"/>
            <a:ext cx="3383280" cy="1280160"/>
          </a:xfrm>
          <a:prstGeom prst="rect">
            <a:avLst/>
          </a:prstGeom>
          <a:noFill/>
          <a:ln/>
        </p:spPr>
        <p:txBody>
          <a:bodyPr wrap="square" lIns="0" tIns="0" rIns="0" bIns="0" rtlCol="0" anchor="t"/>
          <a:lstStyle/>
          <a:p>
            <a:pPr marL="0" indent="0">
              <a:lnSpc>
                <a:spcPct val="122000"/>
              </a:lnSpc>
              <a:buNone/>
            </a:pPr>
            <a:r>
              <a:rPr lang="en-US" sz="1300" dirty="0">
                <a:solidFill>
                  <a:srgbClr val="C9DAF0"/>
                </a:solidFill>
                <a:latin typeface="Calibri" pitchFamily="34" charset="0"/>
                <a:ea typeface="Calibri" pitchFamily="34" charset="-122"/>
                <a:cs typeface="Calibri" pitchFamily="34" charset="-120"/>
              </a:rPr>
              <a:t>On a provided realistic dataset with a business or policy question, deliver an end-to-end causal analysis that a decision-maker could act on — with every assumption made explicit.</a:t>
            </a:r>
            <a:endParaRPr lang="en-US" sz="1300" dirty="0"/>
          </a:p>
        </p:txBody>
      </p:sp>
      <p:sp>
        <p:nvSpPr>
          <p:cNvPr id="7" name="Text 5"/>
          <p:cNvSpPr/>
          <p:nvPr/>
        </p:nvSpPr>
        <p:spPr>
          <a:xfrm>
            <a:off x="841248" y="4206240"/>
            <a:ext cx="3383280" cy="274320"/>
          </a:xfrm>
          <a:prstGeom prst="rect">
            <a:avLst/>
          </a:prstGeom>
          <a:noFill/>
          <a:ln/>
        </p:spPr>
        <p:txBody>
          <a:bodyPr wrap="square" lIns="0" tIns="0" rIns="0" bIns="0" rtlCol="0" anchor="ctr"/>
          <a:lstStyle/>
          <a:p>
            <a:pPr marL="0" indent="0">
              <a:buNone/>
            </a:pPr>
            <a:r>
              <a:rPr lang="en-US" sz="1100" b="1" kern="0" spc="200" dirty="0">
                <a:solidFill>
                  <a:srgbClr val="70C8F2"/>
                </a:solidFill>
                <a:latin typeface="Calibri" pitchFamily="34" charset="0"/>
                <a:ea typeface="Calibri" pitchFamily="34" charset="-122"/>
                <a:cs typeface="Calibri" pitchFamily="34" charset="-120"/>
              </a:rPr>
              <a:t>DELIVERABLE</a:t>
            </a:r>
            <a:endParaRPr lang="en-US" sz="1100" dirty="0"/>
          </a:p>
        </p:txBody>
      </p:sp>
      <p:sp>
        <p:nvSpPr>
          <p:cNvPr id="8" name="Text 6"/>
          <p:cNvSpPr/>
          <p:nvPr/>
        </p:nvSpPr>
        <p:spPr>
          <a:xfrm>
            <a:off x="841248" y="4498848"/>
            <a:ext cx="3383280" cy="1280160"/>
          </a:xfrm>
          <a:prstGeom prst="rect">
            <a:avLst/>
          </a:prstGeom>
          <a:noFill/>
          <a:ln/>
        </p:spPr>
        <p:txBody>
          <a:bodyPr wrap="square" lIns="0" tIns="0" rIns="0" bIns="0" rtlCol="0" anchor="t"/>
          <a:lstStyle/>
          <a:p>
            <a:pPr marL="0" indent="0">
              <a:lnSpc>
                <a:spcPct val="120000"/>
              </a:lnSpc>
              <a:buNone/>
            </a:pPr>
            <a:r>
              <a:rPr lang="en-US" sz="1250" dirty="0">
                <a:solidFill>
                  <a:srgbClr val="C9DAF0"/>
                </a:solidFill>
                <a:latin typeface="Calibri" pitchFamily="34" charset="0"/>
                <a:ea typeface="Calibri" pitchFamily="34" charset="-122"/>
                <a:cs typeface="Calibri" pitchFamily="34" charset="-120"/>
              </a:rPr>
              <a:t>A notebook + a two-page decision memo: estimand, DAG, design, estimate with interval, diagnostics, sensitivity analysis, and a clear recommendation.</a:t>
            </a:r>
            <a:endParaRPr lang="en-US" sz="1250" dirty="0"/>
          </a:p>
        </p:txBody>
      </p:sp>
      <p:sp>
        <p:nvSpPr>
          <p:cNvPr id="9" name="Text 7"/>
          <p:cNvSpPr/>
          <p:nvPr/>
        </p:nvSpPr>
        <p:spPr>
          <a:xfrm>
            <a:off x="4864608" y="2029968"/>
            <a:ext cx="676015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STEPS</a:t>
            </a:r>
            <a:endParaRPr lang="en-US" sz="1100" dirty="0"/>
          </a:p>
        </p:txBody>
      </p:sp>
      <p:sp>
        <p:nvSpPr>
          <p:cNvPr id="10" name="Shape 8"/>
          <p:cNvSpPr/>
          <p:nvPr/>
        </p:nvSpPr>
        <p:spPr>
          <a:xfrm>
            <a:off x="4864608" y="2395728"/>
            <a:ext cx="384048" cy="384048"/>
          </a:xfrm>
          <a:prstGeom prst="ellipse">
            <a:avLst/>
          </a:prstGeom>
          <a:solidFill>
            <a:srgbClr val="3FA9E0"/>
          </a:solidFill>
          <a:ln/>
        </p:spPr>
        <p:txBody>
          <a:bodyPr/>
          <a:lstStyle/>
          <a:p>
            <a:endParaRPr lang="en-SA"/>
          </a:p>
        </p:txBody>
      </p:sp>
      <p:sp>
        <p:nvSpPr>
          <p:cNvPr id="11" name="Text 9"/>
          <p:cNvSpPr/>
          <p:nvPr/>
        </p:nvSpPr>
        <p:spPr>
          <a:xfrm>
            <a:off x="4864608" y="23957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2" name="Text 10"/>
          <p:cNvSpPr/>
          <p:nvPr/>
        </p:nvSpPr>
        <p:spPr>
          <a:xfrm>
            <a:off x="5413248" y="2377440"/>
            <a:ext cx="6211519" cy="586740"/>
          </a:xfrm>
          <a:prstGeom prst="rect">
            <a:avLst/>
          </a:prstGeom>
          <a:noFill/>
          <a:ln/>
        </p:spPr>
        <p:txBody>
          <a:bodyPr wrap="square" lIns="0" tIns="0" rIns="0" bIns="0" rtlCol="0" anchor="t"/>
          <a:lstStyle/>
          <a:p>
            <a:pPr marL="0" indent="0">
              <a:lnSpc>
                <a:spcPct val="112000"/>
              </a:lnSpc>
              <a:buNone/>
            </a:pPr>
            <a:r>
              <a:rPr lang="en-US" sz="1250" dirty="0">
                <a:solidFill>
                  <a:srgbClr val="C9DAF0"/>
                </a:solidFill>
                <a:latin typeface="Calibri" pitchFamily="34" charset="0"/>
                <a:ea typeface="Calibri" pitchFamily="34" charset="-122"/>
                <a:cs typeface="Calibri" pitchFamily="34" charset="-120"/>
              </a:rPr>
              <a:t>State the decision and translate it into a precise estimand and target population.</a:t>
            </a:r>
            <a:endParaRPr lang="en-US" sz="1250" dirty="0"/>
          </a:p>
        </p:txBody>
      </p:sp>
      <p:sp>
        <p:nvSpPr>
          <p:cNvPr id="13" name="Shape 11"/>
          <p:cNvSpPr/>
          <p:nvPr/>
        </p:nvSpPr>
        <p:spPr>
          <a:xfrm>
            <a:off x="4864608" y="2982468"/>
            <a:ext cx="384048" cy="384048"/>
          </a:xfrm>
          <a:prstGeom prst="ellipse">
            <a:avLst/>
          </a:prstGeom>
          <a:solidFill>
            <a:srgbClr val="5A5BA6"/>
          </a:solidFill>
          <a:ln/>
        </p:spPr>
        <p:txBody>
          <a:bodyPr/>
          <a:lstStyle/>
          <a:p>
            <a:endParaRPr lang="en-SA"/>
          </a:p>
        </p:txBody>
      </p:sp>
      <p:sp>
        <p:nvSpPr>
          <p:cNvPr id="14" name="Text 12"/>
          <p:cNvSpPr/>
          <p:nvPr/>
        </p:nvSpPr>
        <p:spPr>
          <a:xfrm>
            <a:off x="4864608" y="298246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5" name="Text 13"/>
          <p:cNvSpPr/>
          <p:nvPr/>
        </p:nvSpPr>
        <p:spPr>
          <a:xfrm>
            <a:off x="5413248" y="2964180"/>
            <a:ext cx="6211519" cy="586740"/>
          </a:xfrm>
          <a:prstGeom prst="rect">
            <a:avLst/>
          </a:prstGeom>
          <a:noFill/>
          <a:ln/>
        </p:spPr>
        <p:txBody>
          <a:bodyPr wrap="square" lIns="0" tIns="0" rIns="0" bIns="0" rtlCol="0" anchor="t"/>
          <a:lstStyle/>
          <a:p>
            <a:pPr marL="0" indent="0">
              <a:lnSpc>
                <a:spcPct val="112000"/>
              </a:lnSpc>
              <a:buNone/>
            </a:pPr>
            <a:r>
              <a:rPr lang="en-US" sz="1250" dirty="0">
                <a:solidFill>
                  <a:srgbClr val="C9DAF0"/>
                </a:solidFill>
                <a:latin typeface="Calibri" pitchFamily="34" charset="0"/>
                <a:ea typeface="Calibri" pitchFamily="34" charset="-122"/>
                <a:cs typeface="Calibri" pitchFamily="34" charset="-120"/>
              </a:rPr>
              <a:t>Draw the DAG; justify the identification strategy (experiment, adjustment, or quasi-experiment).</a:t>
            </a:r>
            <a:endParaRPr lang="en-US" sz="1250" dirty="0"/>
          </a:p>
        </p:txBody>
      </p:sp>
      <p:sp>
        <p:nvSpPr>
          <p:cNvPr id="16" name="Shape 14"/>
          <p:cNvSpPr/>
          <p:nvPr/>
        </p:nvSpPr>
        <p:spPr>
          <a:xfrm>
            <a:off x="4864608" y="3569208"/>
            <a:ext cx="384048" cy="384048"/>
          </a:xfrm>
          <a:prstGeom prst="ellipse">
            <a:avLst/>
          </a:prstGeom>
          <a:solidFill>
            <a:srgbClr val="EA7B38"/>
          </a:solidFill>
          <a:ln/>
        </p:spPr>
        <p:txBody>
          <a:bodyPr/>
          <a:lstStyle/>
          <a:p>
            <a:endParaRPr lang="en-SA"/>
          </a:p>
        </p:txBody>
      </p:sp>
      <p:sp>
        <p:nvSpPr>
          <p:cNvPr id="17" name="Text 15"/>
          <p:cNvSpPr/>
          <p:nvPr/>
        </p:nvSpPr>
        <p:spPr>
          <a:xfrm>
            <a:off x="4864608" y="3569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p:nvPr/>
        </p:nvSpPr>
        <p:spPr>
          <a:xfrm>
            <a:off x="5413248" y="3550920"/>
            <a:ext cx="6211519" cy="586740"/>
          </a:xfrm>
          <a:prstGeom prst="rect">
            <a:avLst/>
          </a:prstGeom>
          <a:noFill/>
          <a:ln/>
        </p:spPr>
        <p:txBody>
          <a:bodyPr wrap="square" lIns="0" tIns="0" rIns="0" bIns="0" rtlCol="0" anchor="t"/>
          <a:lstStyle/>
          <a:p>
            <a:pPr marL="0" indent="0">
              <a:lnSpc>
                <a:spcPct val="112000"/>
              </a:lnSpc>
              <a:buNone/>
            </a:pPr>
            <a:r>
              <a:rPr lang="en-US" sz="1250" dirty="0">
                <a:solidFill>
                  <a:srgbClr val="C9DAF0"/>
                </a:solidFill>
                <a:latin typeface="Calibri" pitchFamily="34" charset="0"/>
                <a:ea typeface="Calibri" pitchFamily="34" charset="-122"/>
                <a:cs typeface="Calibri" pitchFamily="34" charset="-120"/>
              </a:rPr>
              <a:t>Run overlap, balance, and pre-trend / placebo diagnostics appropriate to the design.</a:t>
            </a:r>
            <a:endParaRPr lang="en-US" sz="1250" dirty="0"/>
          </a:p>
        </p:txBody>
      </p:sp>
      <p:sp>
        <p:nvSpPr>
          <p:cNvPr id="19" name="Shape 17"/>
          <p:cNvSpPr/>
          <p:nvPr/>
        </p:nvSpPr>
        <p:spPr>
          <a:xfrm>
            <a:off x="4864608" y="4155948"/>
            <a:ext cx="384048" cy="384048"/>
          </a:xfrm>
          <a:prstGeom prst="ellipse">
            <a:avLst/>
          </a:prstGeom>
          <a:solidFill>
            <a:srgbClr val="3E9B90"/>
          </a:solidFill>
          <a:ln/>
        </p:spPr>
        <p:txBody>
          <a:bodyPr/>
          <a:lstStyle/>
          <a:p>
            <a:endParaRPr lang="en-SA"/>
          </a:p>
        </p:txBody>
      </p:sp>
      <p:sp>
        <p:nvSpPr>
          <p:cNvPr id="20" name="Text 18"/>
          <p:cNvSpPr/>
          <p:nvPr/>
        </p:nvSpPr>
        <p:spPr>
          <a:xfrm>
            <a:off x="4864608" y="415594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1" name="Text 19"/>
          <p:cNvSpPr/>
          <p:nvPr/>
        </p:nvSpPr>
        <p:spPr>
          <a:xfrm>
            <a:off x="5413248" y="4137660"/>
            <a:ext cx="6211519" cy="586740"/>
          </a:xfrm>
          <a:prstGeom prst="rect">
            <a:avLst/>
          </a:prstGeom>
          <a:noFill/>
          <a:ln/>
        </p:spPr>
        <p:txBody>
          <a:bodyPr wrap="square" lIns="0" tIns="0" rIns="0" bIns="0" rtlCol="0" anchor="t"/>
          <a:lstStyle/>
          <a:p>
            <a:pPr marL="0" indent="0">
              <a:lnSpc>
                <a:spcPct val="112000"/>
              </a:lnSpc>
              <a:buNone/>
            </a:pPr>
            <a:r>
              <a:rPr lang="en-US" sz="1250" dirty="0">
                <a:solidFill>
                  <a:srgbClr val="C9DAF0"/>
                </a:solidFill>
                <a:latin typeface="Calibri" pitchFamily="34" charset="0"/>
                <a:ea typeface="Calibri" pitchFamily="34" charset="-122"/>
                <a:cs typeface="Calibri" pitchFamily="34" charset="-120"/>
              </a:rPr>
              <a:t>Estimate the effect with a design-matched standard error and an honest interval.</a:t>
            </a:r>
            <a:endParaRPr lang="en-US" sz="1250" dirty="0"/>
          </a:p>
        </p:txBody>
      </p:sp>
      <p:sp>
        <p:nvSpPr>
          <p:cNvPr id="22" name="Shape 20"/>
          <p:cNvSpPr/>
          <p:nvPr/>
        </p:nvSpPr>
        <p:spPr>
          <a:xfrm>
            <a:off x="4864608" y="4742688"/>
            <a:ext cx="384048" cy="384048"/>
          </a:xfrm>
          <a:prstGeom prst="ellipse">
            <a:avLst/>
          </a:prstGeom>
          <a:solidFill>
            <a:srgbClr val="73BB59"/>
          </a:solidFill>
          <a:ln/>
        </p:spPr>
        <p:txBody>
          <a:bodyPr/>
          <a:lstStyle/>
          <a:p>
            <a:endParaRPr lang="en-SA"/>
          </a:p>
        </p:txBody>
      </p:sp>
      <p:sp>
        <p:nvSpPr>
          <p:cNvPr id="23" name="Text 21"/>
          <p:cNvSpPr/>
          <p:nvPr/>
        </p:nvSpPr>
        <p:spPr>
          <a:xfrm>
            <a:off x="4864608" y="474268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4" name="Text 22"/>
          <p:cNvSpPr/>
          <p:nvPr/>
        </p:nvSpPr>
        <p:spPr>
          <a:xfrm>
            <a:off x="5413248" y="4724400"/>
            <a:ext cx="6211519" cy="586740"/>
          </a:xfrm>
          <a:prstGeom prst="rect">
            <a:avLst/>
          </a:prstGeom>
          <a:noFill/>
          <a:ln/>
        </p:spPr>
        <p:txBody>
          <a:bodyPr wrap="square" lIns="0" tIns="0" rIns="0" bIns="0" rtlCol="0" anchor="t"/>
          <a:lstStyle/>
          <a:p>
            <a:pPr marL="0" indent="0">
              <a:lnSpc>
                <a:spcPct val="112000"/>
              </a:lnSpc>
              <a:buNone/>
            </a:pPr>
            <a:r>
              <a:rPr lang="en-US" sz="1250" dirty="0">
                <a:solidFill>
                  <a:srgbClr val="C9DAF0"/>
                </a:solidFill>
                <a:latin typeface="Calibri" pitchFamily="34" charset="0"/>
                <a:ea typeface="Calibri" pitchFamily="34" charset="-122"/>
                <a:cs typeface="Calibri" pitchFamily="34" charset="-120"/>
              </a:rPr>
              <a:t>Perform a sensitivity analysis (E-value or bounds) and a robustness check.</a:t>
            </a:r>
            <a:endParaRPr lang="en-US" sz="1250" dirty="0"/>
          </a:p>
        </p:txBody>
      </p:sp>
      <p:sp>
        <p:nvSpPr>
          <p:cNvPr id="25" name="Shape 23"/>
          <p:cNvSpPr/>
          <p:nvPr/>
        </p:nvSpPr>
        <p:spPr>
          <a:xfrm>
            <a:off x="4864608" y="5329428"/>
            <a:ext cx="384048" cy="384048"/>
          </a:xfrm>
          <a:prstGeom prst="ellipse">
            <a:avLst/>
          </a:prstGeom>
          <a:solidFill>
            <a:srgbClr val="3FA9E0"/>
          </a:solidFill>
          <a:ln/>
        </p:spPr>
        <p:txBody>
          <a:bodyPr/>
          <a:lstStyle/>
          <a:p>
            <a:endParaRPr lang="en-SA"/>
          </a:p>
        </p:txBody>
      </p:sp>
      <p:sp>
        <p:nvSpPr>
          <p:cNvPr id="26" name="Text 24"/>
          <p:cNvSpPr/>
          <p:nvPr/>
        </p:nvSpPr>
        <p:spPr>
          <a:xfrm>
            <a:off x="4864608" y="53294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27" name="Text 25"/>
          <p:cNvSpPr/>
          <p:nvPr/>
        </p:nvSpPr>
        <p:spPr>
          <a:xfrm>
            <a:off x="5413248" y="5311140"/>
            <a:ext cx="6211519" cy="586740"/>
          </a:xfrm>
          <a:prstGeom prst="rect">
            <a:avLst/>
          </a:prstGeom>
          <a:noFill/>
          <a:ln/>
        </p:spPr>
        <p:txBody>
          <a:bodyPr wrap="square" lIns="0" tIns="0" rIns="0" bIns="0" rtlCol="0" anchor="t"/>
          <a:lstStyle/>
          <a:p>
            <a:pPr marL="0" indent="0">
              <a:lnSpc>
                <a:spcPct val="112000"/>
              </a:lnSpc>
              <a:buNone/>
            </a:pPr>
            <a:r>
              <a:rPr lang="en-US" sz="1250" dirty="0">
                <a:solidFill>
                  <a:srgbClr val="C9DAF0"/>
                </a:solidFill>
                <a:latin typeface="Calibri" pitchFamily="34" charset="0"/>
                <a:ea typeface="Calibri" pitchFamily="34" charset="-122"/>
                <a:cs typeface="Calibri" pitchFamily="34" charset="-120"/>
              </a:rPr>
              <a:t>Write the decision memo: recommendation, the key assumption, and how the call would change if it failed.</a:t>
            </a:r>
            <a:endParaRPr lang="en-US" sz="1250" dirty="0"/>
          </a:p>
        </p:txBody>
      </p:sp>
      <p:sp>
        <p:nvSpPr>
          <p:cNvPr id="28" name="Text 2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DAY 4 · CAPSTONE</a:t>
            </a:r>
            <a:endParaRPr lang="en-US" sz="900" dirty="0"/>
          </a:p>
        </p:txBody>
      </p:sp>
      <p:sp>
        <p:nvSpPr>
          <p:cNvPr id="29" name="Text 2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147  /  221</a:t>
            </a:r>
            <a:endParaRPr lang="en-US" sz="900" dirty="0"/>
          </a:p>
        </p:txBody>
      </p:sp>
      <p:pic>
        <p:nvPicPr>
          <p:cNvPr id="30" name="Picture 29" descr="Submission_Form.png"/>
          <p:cNvPicPr>
            <a:picLocks noChangeAspect="1"/>
          </p:cNvPicPr>
          <p:nvPr/>
        </p:nvPicPr>
        <p:blipFill>
          <a:blip r:embed="rId4"/>
          <a:stretch>
            <a:fillRect/>
          </a:stretch>
        </p:blipFill>
        <p:spPr>
          <a:xfrm>
            <a:off x="10637520" y="320040"/>
            <a:ext cx="1143000" cy="1143000"/>
          </a:xfrm>
          <a:prstGeom prst="rect">
            <a:avLst/>
          </a:prstGeom>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4 · CAPSTONE</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Capstone Rubric</a:t>
            </a:r>
            <a:endParaRPr lang="en-US" sz="3400" dirty="0"/>
          </a:p>
        </p:txBody>
      </p:sp>
      <p:sp>
        <p:nvSpPr>
          <p:cNvPr id="4" name="Text 2"/>
          <p:cNvSpPr/>
          <p:nvPr/>
        </p:nvSpPr>
        <p:spPr>
          <a:xfrm>
            <a:off x="566928" y="1783080"/>
            <a:ext cx="11057839" cy="457200"/>
          </a:xfrm>
          <a:prstGeom prst="rect">
            <a:avLst/>
          </a:prstGeom>
          <a:noFill/>
          <a:ln/>
        </p:spPr>
        <p:txBody>
          <a:bodyPr wrap="square" lIns="0" tIns="0" rIns="0" bIns="0" rtlCol="0" anchor="t"/>
          <a:lstStyle/>
          <a:p>
            <a:pPr marL="0" indent="0">
              <a:lnSpc>
                <a:spcPct val="112000"/>
              </a:lnSpc>
              <a:buNone/>
            </a:pPr>
            <a:r>
              <a:rPr lang="en-US" sz="1350" dirty="0">
                <a:solidFill>
                  <a:srgbClr val="566581"/>
                </a:solidFill>
                <a:latin typeface="Calibri" pitchFamily="34" charset="0"/>
                <a:ea typeface="Calibri" pitchFamily="34" charset="-122"/>
                <a:cs typeface="Calibri" pitchFamily="34" charset="-120"/>
              </a:rPr>
              <a:t>Scored against five weighted criteria; the memo and the diagnostics carry as much weight as the estimate.</a:t>
            </a:r>
            <a:endParaRPr lang="en-US" sz="1350" dirty="0"/>
          </a:p>
        </p:txBody>
      </p:sp>
      <p:graphicFrame>
        <p:nvGraphicFramePr>
          <p:cNvPr id="150" name="Table 0"/>
          <p:cNvGraphicFramePr>
            <a:graphicFrameLocks noGrp="1"/>
          </p:cNvGraphicFramePr>
          <p:nvPr>
            <p:extLst>
              <p:ext uri="{D42A27DB-BD31-4B8C-83A1-F6EECF244321}">
                <p14:modId xmlns:p14="http://schemas.microsoft.com/office/powerpoint/2010/main" val="1579011935"/>
              </p:ext>
            </p:extLst>
          </p:nvPr>
        </p:nvGraphicFramePr>
        <p:xfrm>
          <a:off x="566928" y="2331720"/>
          <a:ext cx="11073384" cy="3291840"/>
        </p:xfrm>
        <a:graphic>
          <a:graphicData uri="http://schemas.openxmlformats.org/drawingml/2006/table">
            <a:tbl>
              <a:tblPr/>
              <a:tblGrid>
                <a:gridCol w="3108960">
                  <a:extLst>
                    <a:ext uri="{9D8B030D-6E8A-4147-A177-3AD203B41FA5}">
                      <a16:colId xmlns:a16="http://schemas.microsoft.com/office/drawing/2014/main" val="20000"/>
                    </a:ext>
                  </a:extLst>
                </a:gridCol>
                <a:gridCol w="6501384">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54864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Criterion</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What excellence looks like</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Weight</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extLst>
                  <a:ext uri="{0D108BD9-81ED-4DB2-BD59-A6C34878D82A}">
                    <a16:rowId xmlns:a16="http://schemas.microsoft.com/office/drawing/2014/main" val="10000"/>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Estimand &amp; question</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Precise, decision-relevant, correct population</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Identification &amp; design</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Assumptions explicit; design fits the constraints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Estimation &amp; inference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Correct estimator; design-matched, honest uncertainty</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Diagnostics &amp; sensitivity</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Overlap/balance/placebo + sensitivity reported</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Communication &amp; decision</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Clear memo; risk owned; assumption-linked call</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4 · CAPSTONE</a:t>
            </a:r>
            <a:endParaRPr lang="en-US" sz="900" dirty="0"/>
          </a:p>
        </p:txBody>
      </p:sp>
      <p:sp>
        <p:nvSpPr>
          <p:cNvPr id="7" name="Text 4"/>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148  /  221</a:t>
            </a:r>
            <a:endParaRPr lang="en-US" sz="9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4 · CAPSTONE</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Common Capstone Pitfalls to Avoid</a:t>
            </a:r>
            <a:endParaRPr lang="en-US" sz="3400" dirty="0"/>
          </a:p>
        </p:txBody>
      </p:sp>
      <p:sp>
        <p:nvSpPr>
          <p:cNvPr id="4" name="Text 2"/>
          <p:cNvSpPr/>
          <p:nvPr/>
        </p:nvSpPr>
        <p:spPr>
          <a:xfrm>
            <a:off x="566928" y="1737360"/>
            <a:ext cx="11057839" cy="64008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The mistakes that most often cost points — and credibility.</a:t>
            </a:r>
            <a:endParaRPr lang="en-US" sz="1450" dirty="0"/>
          </a:p>
        </p:txBody>
      </p:sp>
      <p:sp>
        <p:nvSpPr>
          <p:cNvPr id="5" name="Shape 3"/>
          <p:cNvSpPr/>
          <p:nvPr/>
        </p:nvSpPr>
        <p:spPr>
          <a:xfrm>
            <a:off x="566928" y="2578608"/>
            <a:ext cx="137160" cy="137160"/>
          </a:xfrm>
          <a:prstGeom prst="ellipse">
            <a:avLst/>
          </a:prstGeom>
          <a:solidFill>
            <a:srgbClr val="3FA9E0"/>
          </a:solidFill>
          <a:ln/>
        </p:spPr>
        <p:txBody>
          <a:bodyPr/>
          <a:lstStyle/>
          <a:p>
            <a:endParaRPr lang="en-SA"/>
          </a:p>
        </p:txBody>
      </p:sp>
      <p:sp>
        <p:nvSpPr>
          <p:cNvPr id="6" name="Text 4"/>
          <p:cNvSpPr/>
          <p:nvPr/>
        </p:nvSpPr>
        <p:spPr>
          <a:xfrm>
            <a:off x="841248" y="2514600"/>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Reporting a naive comparison without naming the identifying assumption.</a:t>
            </a:r>
            <a:endParaRPr lang="en-US" sz="1400" dirty="0"/>
          </a:p>
        </p:txBody>
      </p:sp>
      <p:sp>
        <p:nvSpPr>
          <p:cNvPr id="7" name="Shape 5"/>
          <p:cNvSpPr/>
          <p:nvPr/>
        </p:nvSpPr>
        <p:spPr>
          <a:xfrm>
            <a:off x="566928" y="3300984"/>
            <a:ext cx="137160" cy="137160"/>
          </a:xfrm>
          <a:prstGeom prst="ellipse">
            <a:avLst/>
          </a:prstGeom>
          <a:solidFill>
            <a:srgbClr val="5A5BA6"/>
          </a:solidFill>
          <a:ln/>
        </p:spPr>
        <p:txBody>
          <a:bodyPr/>
          <a:lstStyle/>
          <a:p>
            <a:endParaRPr lang="en-SA"/>
          </a:p>
        </p:txBody>
      </p:sp>
      <p:sp>
        <p:nvSpPr>
          <p:cNvPr id="8" name="Text 6"/>
          <p:cNvSpPr/>
          <p:nvPr/>
        </p:nvSpPr>
        <p:spPr>
          <a:xfrm>
            <a:off x="841248" y="3236976"/>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Adjusting for a post-treatment variable (mediator or collider).</a:t>
            </a:r>
            <a:endParaRPr lang="en-US" sz="1400" dirty="0"/>
          </a:p>
        </p:txBody>
      </p:sp>
      <p:sp>
        <p:nvSpPr>
          <p:cNvPr id="9" name="Shape 7"/>
          <p:cNvSpPr/>
          <p:nvPr/>
        </p:nvSpPr>
        <p:spPr>
          <a:xfrm>
            <a:off x="566928" y="4023360"/>
            <a:ext cx="137160" cy="137160"/>
          </a:xfrm>
          <a:prstGeom prst="ellipse">
            <a:avLst/>
          </a:prstGeom>
          <a:solidFill>
            <a:srgbClr val="EA7B38"/>
          </a:solidFill>
          <a:ln/>
        </p:spPr>
        <p:txBody>
          <a:bodyPr/>
          <a:lstStyle/>
          <a:p>
            <a:endParaRPr lang="en-SA"/>
          </a:p>
        </p:txBody>
      </p:sp>
      <p:sp>
        <p:nvSpPr>
          <p:cNvPr id="10" name="Text 8"/>
          <p:cNvSpPr/>
          <p:nvPr/>
        </p:nvSpPr>
        <p:spPr>
          <a:xfrm>
            <a:off x="841248" y="3959352"/>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A standard error that does not match the design (unclustered grouped data).</a:t>
            </a:r>
            <a:endParaRPr lang="en-US" sz="1400" dirty="0"/>
          </a:p>
        </p:txBody>
      </p:sp>
      <p:sp>
        <p:nvSpPr>
          <p:cNvPr id="11" name="Shape 9"/>
          <p:cNvSpPr/>
          <p:nvPr/>
        </p:nvSpPr>
        <p:spPr>
          <a:xfrm>
            <a:off x="566928" y="4745736"/>
            <a:ext cx="137160" cy="137160"/>
          </a:xfrm>
          <a:prstGeom prst="ellipse">
            <a:avLst/>
          </a:prstGeom>
          <a:solidFill>
            <a:srgbClr val="3E9B90"/>
          </a:solidFill>
          <a:ln/>
        </p:spPr>
        <p:txBody>
          <a:bodyPr/>
          <a:lstStyle/>
          <a:p>
            <a:endParaRPr lang="en-SA"/>
          </a:p>
        </p:txBody>
      </p:sp>
      <p:sp>
        <p:nvSpPr>
          <p:cNvPr id="12" name="Text 10"/>
          <p:cNvSpPr/>
          <p:nvPr/>
        </p:nvSpPr>
        <p:spPr>
          <a:xfrm>
            <a:off x="841248" y="4681728"/>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A confident recommendation with no sensitivity analysis behind it.</a:t>
            </a:r>
            <a:endParaRPr lang="en-US" sz="1400" dirty="0"/>
          </a:p>
        </p:txBody>
      </p:sp>
      <p:sp>
        <p:nvSpPr>
          <p:cNvPr id="13" name="Shape 11"/>
          <p:cNvSpPr/>
          <p:nvPr/>
        </p:nvSpPr>
        <p:spPr>
          <a:xfrm>
            <a:off x="566928" y="5468112"/>
            <a:ext cx="137160" cy="137160"/>
          </a:xfrm>
          <a:prstGeom prst="ellipse">
            <a:avLst/>
          </a:prstGeom>
          <a:solidFill>
            <a:srgbClr val="73BB59"/>
          </a:solidFill>
          <a:ln/>
        </p:spPr>
        <p:txBody>
          <a:bodyPr/>
          <a:lstStyle/>
          <a:p>
            <a:endParaRPr lang="en-SA"/>
          </a:p>
        </p:txBody>
      </p:sp>
      <p:sp>
        <p:nvSpPr>
          <p:cNvPr id="14" name="Text 12"/>
          <p:cNvSpPr/>
          <p:nvPr/>
        </p:nvSpPr>
        <p:spPr>
          <a:xfrm>
            <a:off x="841248" y="5404104"/>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An estimand that quietly differs from the decision the stakeholder must make.</a:t>
            </a:r>
            <a:endParaRPr lang="en-US" sz="1400" dirty="0"/>
          </a:p>
        </p:txBody>
      </p:sp>
      <p:sp>
        <p:nvSpPr>
          <p:cNvPr id="15" name="Text 13"/>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4 · CAPSTONE</a:t>
            </a:r>
            <a:endParaRPr lang="en-US" sz="900" dirty="0"/>
          </a:p>
        </p:txBody>
      </p:sp>
      <p:sp>
        <p:nvSpPr>
          <p:cNvPr id="16" name="Text 14"/>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149  /  221</a:t>
            </a:r>
            <a:endParaRPr lang="en-US" sz="9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4 · CAPSTONE</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What a Great Deliverable Looks Like</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Aim for a report a skeptical reviewer could not easily dismiss.</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Transparent</a:t>
            </a:r>
            <a:endParaRPr lang="en-US" sz="1500" dirty="0"/>
          </a:p>
        </p:txBody>
      </p:sp>
      <p:sp>
        <p:nvSpPr>
          <p:cNvPr id="7" name="Text 5"/>
          <p:cNvSpPr/>
          <p:nvPr/>
        </p:nvSpPr>
        <p:spPr>
          <a:xfrm>
            <a:off x="859536" y="2834640"/>
            <a:ext cx="10692079"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The DAG, the assumptions, and the code are all visible; nothing load-bearing is hidden.</a:t>
            </a:r>
            <a:endParaRPr lang="en-US" sz="1250" dirty="0"/>
          </a:p>
        </p:txBody>
      </p:sp>
      <p:sp>
        <p:nvSpPr>
          <p:cNvPr id="8" name="Shape 6"/>
          <p:cNvSpPr/>
          <p:nvPr/>
        </p:nvSpPr>
        <p:spPr>
          <a:xfrm>
            <a:off x="566928" y="3506724"/>
            <a:ext cx="146304" cy="146304"/>
          </a:xfrm>
          <a:prstGeom prst="ellipse">
            <a:avLst/>
          </a:prstGeom>
          <a:solidFill>
            <a:srgbClr val="5A5BA6"/>
          </a:solidFill>
          <a:ln/>
        </p:spPr>
        <p:txBody>
          <a:bodyPr/>
          <a:lstStyle/>
          <a:p>
            <a:endParaRPr lang="en-SA"/>
          </a:p>
        </p:txBody>
      </p:sp>
      <p:sp>
        <p:nvSpPr>
          <p:cNvPr id="9" name="Text 7"/>
          <p:cNvSpPr/>
          <p:nvPr/>
        </p:nvSpPr>
        <p:spPr>
          <a:xfrm>
            <a:off x="859536" y="345186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Diagnosed</a:t>
            </a:r>
            <a:endParaRPr lang="en-US" sz="1500" dirty="0"/>
          </a:p>
        </p:txBody>
      </p:sp>
      <p:sp>
        <p:nvSpPr>
          <p:cNvPr id="10" name="Text 8"/>
          <p:cNvSpPr/>
          <p:nvPr/>
        </p:nvSpPr>
        <p:spPr>
          <a:xfrm>
            <a:off x="859536" y="3726180"/>
            <a:ext cx="10692079"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Overlap, balance, and design-specific checks are shown, not asserted.</a:t>
            </a:r>
            <a:endParaRPr lang="en-US" sz="1250" dirty="0"/>
          </a:p>
        </p:txBody>
      </p:sp>
      <p:sp>
        <p:nvSpPr>
          <p:cNvPr id="11" name="Shape 9"/>
          <p:cNvSpPr/>
          <p:nvPr/>
        </p:nvSpPr>
        <p:spPr>
          <a:xfrm>
            <a:off x="566928" y="4398264"/>
            <a:ext cx="146304" cy="146304"/>
          </a:xfrm>
          <a:prstGeom prst="ellipse">
            <a:avLst/>
          </a:prstGeom>
          <a:solidFill>
            <a:srgbClr val="EA7B38"/>
          </a:solidFill>
          <a:ln/>
        </p:spPr>
        <p:txBody>
          <a:bodyPr/>
          <a:lstStyle/>
          <a:p>
            <a:endParaRPr lang="en-SA"/>
          </a:p>
        </p:txBody>
      </p:sp>
      <p:sp>
        <p:nvSpPr>
          <p:cNvPr id="12" name="Text 10"/>
          <p:cNvSpPr/>
          <p:nvPr/>
        </p:nvSpPr>
        <p:spPr>
          <a:xfrm>
            <a:off x="859536" y="434340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Honest about uncertainty</a:t>
            </a:r>
            <a:endParaRPr lang="en-US" sz="1500" dirty="0"/>
          </a:p>
        </p:txBody>
      </p:sp>
      <p:sp>
        <p:nvSpPr>
          <p:cNvPr id="13" name="Text 11"/>
          <p:cNvSpPr/>
          <p:nvPr/>
        </p:nvSpPr>
        <p:spPr>
          <a:xfrm>
            <a:off x="859536" y="4617720"/>
            <a:ext cx="10692079"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Both sampling and identification uncertainty are communicated, with a sensitivity bound.</a:t>
            </a:r>
            <a:endParaRPr lang="en-US" sz="1250" dirty="0"/>
          </a:p>
        </p:txBody>
      </p:sp>
      <p:sp>
        <p:nvSpPr>
          <p:cNvPr id="14" name="Shape 12"/>
          <p:cNvSpPr/>
          <p:nvPr/>
        </p:nvSpPr>
        <p:spPr>
          <a:xfrm>
            <a:off x="566928" y="5289804"/>
            <a:ext cx="146304" cy="146304"/>
          </a:xfrm>
          <a:prstGeom prst="ellipse">
            <a:avLst/>
          </a:prstGeom>
          <a:solidFill>
            <a:srgbClr val="3E9B90"/>
          </a:solidFill>
          <a:ln/>
        </p:spPr>
        <p:txBody>
          <a:bodyPr/>
          <a:lstStyle/>
          <a:p>
            <a:endParaRPr lang="en-SA"/>
          </a:p>
        </p:txBody>
      </p:sp>
      <p:sp>
        <p:nvSpPr>
          <p:cNvPr id="15" name="Text 13"/>
          <p:cNvSpPr/>
          <p:nvPr/>
        </p:nvSpPr>
        <p:spPr>
          <a:xfrm>
            <a:off x="859536" y="523494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Actionable</a:t>
            </a:r>
            <a:endParaRPr lang="en-US" sz="1500" dirty="0"/>
          </a:p>
        </p:txBody>
      </p:sp>
      <p:sp>
        <p:nvSpPr>
          <p:cNvPr id="16" name="Text 14"/>
          <p:cNvSpPr/>
          <p:nvPr/>
        </p:nvSpPr>
        <p:spPr>
          <a:xfrm>
            <a:off x="859536" y="5509260"/>
            <a:ext cx="10692079"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It ends in a decision, with the risk explicitly owned by the reader.</a:t>
            </a:r>
            <a:endParaRPr lang="en-US" sz="12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4 · CAPSTONE</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150  /  221</a:t>
            </a:r>
            <a:endParaRPr lang="en-US" sz="9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DAY 4 · HOUR 5</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Defense, Post-Test &amp; Close</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Present and defend the capstone, complete the summative assessment, and consolidate the course into durable judgment.</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DAY 4</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151  /  221</a:t>
            </a:r>
            <a:endParaRPr lang="en-US" sz="9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4 · HOUR 5</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Capstone Defense Format</a:t>
            </a:r>
            <a:endParaRPr lang="en-US" sz="3400" dirty="0"/>
          </a:p>
        </p:txBody>
      </p:sp>
      <p:sp>
        <p:nvSpPr>
          <p:cNvPr id="4" name="Text 2"/>
          <p:cNvSpPr/>
          <p:nvPr/>
        </p:nvSpPr>
        <p:spPr>
          <a:xfrm>
            <a:off x="566928" y="1737360"/>
            <a:ext cx="11057839" cy="64008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A short, high-signal defense that mirrors a real stakeholder review.</a:t>
            </a:r>
            <a:endParaRPr lang="en-US" sz="1450" dirty="0"/>
          </a:p>
        </p:txBody>
      </p:sp>
      <p:sp>
        <p:nvSpPr>
          <p:cNvPr id="5" name="Shape 3"/>
          <p:cNvSpPr/>
          <p:nvPr/>
        </p:nvSpPr>
        <p:spPr>
          <a:xfrm>
            <a:off x="566928" y="2578608"/>
            <a:ext cx="137160" cy="137160"/>
          </a:xfrm>
          <a:prstGeom prst="ellipse">
            <a:avLst/>
          </a:prstGeom>
          <a:solidFill>
            <a:srgbClr val="3FA9E0"/>
          </a:solidFill>
          <a:ln/>
        </p:spPr>
        <p:txBody>
          <a:bodyPr/>
          <a:lstStyle/>
          <a:p>
            <a:endParaRPr lang="en-SA"/>
          </a:p>
        </p:txBody>
      </p:sp>
      <p:sp>
        <p:nvSpPr>
          <p:cNvPr id="6" name="Text 4"/>
          <p:cNvSpPr/>
          <p:nvPr/>
        </p:nvSpPr>
        <p:spPr>
          <a:xfrm>
            <a:off x="841248" y="2514600"/>
            <a:ext cx="10783519" cy="749808"/>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Five-minute presentation: question, estimand, design, estimate, decision.</a:t>
            </a:r>
            <a:endParaRPr lang="en-US" sz="1400" dirty="0"/>
          </a:p>
        </p:txBody>
      </p:sp>
      <p:sp>
        <p:nvSpPr>
          <p:cNvPr id="7" name="Shape 5"/>
          <p:cNvSpPr/>
          <p:nvPr/>
        </p:nvSpPr>
        <p:spPr>
          <a:xfrm>
            <a:off x="566928" y="3328416"/>
            <a:ext cx="137160" cy="137160"/>
          </a:xfrm>
          <a:prstGeom prst="ellipse">
            <a:avLst/>
          </a:prstGeom>
          <a:solidFill>
            <a:srgbClr val="5A5BA6"/>
          </a:solidFill>
          <a:ln/>
        </p:spPr>
        <p:txBody>
          <a:bodyPr/>
          <a:lstStyle/>
          <a:p>
            <a:endParaRPr lang="en-SA"/>
          </a:p>
        </p:txBody>
      </p:sp>
      <p:sp>
        <p:nvSpPr>
          <p:cNvPr id="8" name="Text 6"/>
          <p:cNvSpPr/>
          <p:nvPr/>
        </p:nvSpPr>
        <p:spPr>
          <a:xfrm>
            <a:off x="841248" y="3264408"/>
            <a:ext cx="10783519" cy="749808"/>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Peer and facilitator challenge: ‘which assumption is doing the work, and how do you know?’</a:t>
            </a:r>
            <a:endParaRPr lang="en-US" sz="1400" dirty="0"/>
          </a:p>
        </p:txBody>
      </p:sp>
      <p:sp>
        <p:nvSpPr>
          <p:cNvPr id="9" name="Shape 7"/>
          <p:cNvSpPr/>
          <p:nvPr/>
        </p:nvSpPr>
        <p:spPr>
          <a:xfrm>
            <a:off x="566928" y="4078224"/>
            <a:ext cx="137160" cy="137160"/>
          </a:xfrm>
          <a:prstGeom prst="ellipse">
            <a:avLst/>
          </a:prstGeom>
          <a:solidFill>
            <a:srgbClr val="EA7B38"/>
          </a:solidFill>
          <a:ln/>
        </p:spPr>
        <p:txBody>
          <a:bodyPr/>
          <a:lstStyle/>
          <a:p>
            <a:endParaRPr lang="en-SA"/>
          </a:p>
        </p:txBody>
      </p:sp>
      <p:sp>
        <p:nvSpPr>
          <p:cNvPr id="10" name="Text 8"/>
          <p:cNvSpPr/>
          <p:nvPr/>
        </p:nvSpPr>
        <p:spPr>
          <a:xfrm>
            <a:off x="841248" y="4014216"/>
            <a:ext cx="10783519" cy="749808"/>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Defend your sensitivity analysis and the robustness of the recommendation.</a:t>
            </a:r>
            <a:endParaRPr lang="en-US" sz="1400" dirty="0"/>
          </a:p>
        </p:txBody>
      </p:sp>
      <p:sp>
        <p:nvSpPr>
          <p:cNvPr id="11" name="Shape 9"/>
          <p:cNvSpPr/>
          <p:nvPr/>
        </p:nvSpPr>
        <p:spPr>
          <a:xfrm>
            <a:off x="566928" y="4828032"/>
            <a:ext cx="137160" cy="137160"/>
          </a:xfrm>
          <a:prstGeom prst="ellipse">
            <a:avLst/>
          </a:prstGeom>
          <a:solidFill>
            <a:srgbClr val="3E9B90"/>
          </a:solidFill>
          <a:ln/>
        </p:spPr>
        <p:txBody>
          <a:bodyPr/>
          <a:lstStyle/>
          <a:p>
            <a:endParaRPr lang="en-SA"/>
          </a:p>
        </p:txBody>
      </p:sp>
      <p:sp>
        <p:nvSpPr>
          <p:cNvPr id="12" name="Text 10"/>
          <p:cNvSpPr/>
          <p:nvPr/>
        </p:nvSpPr>
        <p:spPr>
          <a:xfrm>
            <a:off x="841248" y="4764024"/>
            <a:ext cx="10783519" cy="749808"/>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Reflect: what would you measure next to reduce the residual uncertainty?</a:t>
            </a:r>
            <a:endParaRPr lang="en-US" sz="1400" dirty="0"/>
          </a:p>
        </p:txBody>
      </p:sp>
      <p:sp>
        <p:nvSpPr>
          <p:cNvPr id="13" name="Text 11"/>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4 · CLOSE</a:t>
            </a:r>
            <a:endParaRPr lang="en-US" sz="900" dirty="0"/>
          </a:p>
        </p:txBody>
      </p:sp>
      <p:sp>
        <p:nvSpPr>
          <p:cNvPr id="14" name="Text 12"/>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152  /  221</a:t>
            </a:r>
            <a:endParaRPr lang="en-US" sz="9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4 · HOUR 5</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Post-Test: Sample Items</a:t>
            </a:r>
            <a:endParaRPr lang="en-US" sz="3400" dirty="0"/>
          </a:p>
        </p:txBody>
      </p:sp>
      <p:sp>
        <p:nvSpPr>
          <p:cNvPr id="4" name="Text 2"/>
          <p:cNvSpPr/>
          <p:nvPr/>
        </p:nvSpPr>
        <p:spPr>
          <a:xfrm>
            <a:off x="566928" y="1783080"/>
            <a:ext cx="11057839" cy="457200"/>
          </a:xfrm>
          <a:prstGeom prst="rect">
            <a:avLst/>
          </a:prstGeom>
          <a:noFill/>
          <a:ln/>
        </p:spPr>
        <p:txBody>
          <a:bodyPr wrap="square" lIns="0" tIns="0" rIns="0" bIns="0" rtlCol="0" anchor="t"/>
          <a:lstStyle/>
          <a:p>
            <a:pPr marL="0" indent="0">
              <a:lnSpc>
                <a:spcPct val="112000"/>
              </a:lnSpc>
              <a:buNone/>
            </a:pPr>
            <a:r>
              <a:rPr lang="en-US" sz="1350" dirty="0">
                <a:solidFill>
                  <a:srgbClr val="566581"/>
                </a:solidFill>
                <a:latin typeface="Calibri" pitchFamily="34" charset="0"/>
                <a:ea typeface="Calibri" pitchFamily="34" charset="-122"/>
                <a:cs typeface="Calibri" pitchFamily="34" charset="-120"/>
              </a:rPr>
              <a:t>A preview of the summative post-test's style; the full test has 20 items across the course.</a:t>
            </a:r>
            <a:endParaRPr lang="en-US" sz="1350" dirty="0"/>
          </a:p>
        </p:txBody>
      </p:sp>
      <p:sp>
        <p:nvSpPr>
          <p:cNvPr id="5" name="Shape 3"/>
          <p:cNvSpPr/>
          <p:nvPr/>
        </p:nvSpPr>
        <p:spPr>
          <a:xfrm>
            <a:off x="566928" y="2331720"/>
            <a:ext cx="11057839" cy="1100328"/>
          </a:xfrm>
          <a:prstGeom prst="roundRect">
            <a:avLst>
              <a:gd name="adj" fmla="val 6648"/>
            </a:avLst>
          </a:prstGeom>
          <a:solidFill>
            <a:srgbClr val="F4F7FB"/>
          </a:solidFill>
          <a:ln w="12700">
            <a:solidFill>
              <a:srgbClr val="D9E2F0"/>
            </a:solidFill>
            <a:prstDash val="solid"/>
          </a:ln>
        </p:spPr>
        <p:txBody>
          <a:bodyPr/>
          <a:lstStyle/>
          <a:p>
            <a:endParaRPr lang="en-SA"/>
          </a:p>
        </p:txBody>
      </p:sp>
      <p:sp>
        <p:nvSpPr>
          <p:cNvPr id="6" name="Shape 4"/>
          <p:cNvSpPr/>
          <p:nvPr/>
        </p:nvSpPr>
        <p:spPr>
          <a:xfrm>
            <a:off x="768096" y="2514600"/>
            <a:ext cx="384048" cy="384048"/>
          </a:xfrm>
          <a:prstGeom prst="ellipse">
            <a:avLst/>
          </a:prstGeom>
          <a:solidFill>
            <a:srgbClr val="3FA9E0"/>
          </a:solidFill>
          <a:ln/>
        </p:spPr>
        <p:txBody>
          <a:bodyPr/>
          <a:lstStyle/>
          <a:p>
            <a:endParaRPr lang="en-SA"/>
          </a:p>
        </p:txBody>
      </p:sp>
      <p:sp>
        <p:nvSpPr>
          <p:cNvPr id="7" name="Text 5"/>
          <p:cNvSpPr/>
          <p:nvPr/>
        </p:nvSpPr>
        <p:spPr>
          <a:xfrm>
            <a:off x="768096" y="25146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Q1</a:t>
            </a:r>
            <a:endParaRPr lang="en-US" sz="1300" dirty="0"/>
          </a:p>
        </p:txBody>
      </p:sp>
      <p:sp>
        <p:nvSpPr>
          <p:cNvPr id="8" name="Text 6"/>
          <p:cNvSpPr/>
          <p:nvPr/>
        </p:nvSpPr>
        <p:spPr>
          <a:xfrm>
            <a:off x="1344168" y="247802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You have grouped assignment, thin overlap, and a threshold rule. Which design is most defensible?</a:t>
            </a:r>
            <a:endParaRPr lang="en-US" sz="1400" dirty="0"/>
          </a:p>
        </p:txBody>
      </p:sp>
      <p:sp>
        <p:nvSpPr>
          <p:cNvPr id="9" name="Text 7"/>
          <p:cNvSpPr/>
          <p:nvPr/>
        </p:nvSpPr>
        <p:spPr>
          <a:xfrm>
            <a:off x="1344168" y="2935224"/>
            <a:ext cx="10051999" cy="44196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Naive comparison      B) RDD at the threshold      C) Unclustered OLS      D) Peeked A/B</a:t>
            </a:r>
            <a:endParaRPr lang="en-US" sz="1200" dirty="0"/>
          </a:p>
        </p:txBody>
      </p:sp>
      <p:sp>
        <p:nvSpPr>
          <p:cNvPr id="10" name="Shape 8"/>
          <p:cNvSpPr/>
          <p:nvPr/>
        </p:nvSpPr>
        <p:spPr>
          <a:xfrm>
            <a:off x="566928" y="3596640"/>
            <a:ext cx="11057839" cy="1100328"/>
          </a:xfrm>
          <a:prstGeom prst="roundRect">
            <a:avLst>
              <a:gd name="adj" fmla="val 6648"/>
            </a:avLst>
          </a:prstGeom>
          <a:solidFill>
            <a:srgbClr val="F4F7FB"/>
          </a:solidFill>
          <a:ln w="12700">
            <a:solidFill>
              <a:srgbClr val="D9E2F0"/>
            </a:solidFill>
            <a:prstDash val="solid"/>
          </a:ln>
        </p:spPr>
        <p:txBody>
          <a:bodyPr/>
          <a:lstStyle/>
          <a:p>
            <a:endParaRPr lang="en-SA"/>
          </a:p>
        </p:txBody>
      </p:sp>
      <p:sp>
        <p:nvSpPr>
          <p:cNvPr id="11" name="Shape 9"/>
          <p:cNvSpPr/>
          <p:nvPr/>
        </p:nvSpPr>
        <p:spPr>
          <a:xfrm>
            <a:off x="768096" y="3779520"/>
            <a:ext cx="384048" cy="384048"/>
          </a:xfrm>
          <a:prstGeom prst="ellipse">
            <a:avLst/>
          </a:prstGeom>
          <a:solidFill>
            <a:srgbClr val="5A5BA6"/>
          </a:solidFill>
          <a:ln/>
        </p:spPr>
        <p:txBody>
          <a:bodyPr/>
          <a:lstStyle/>
          <a:p>
            <a:endParaRPr lang="en-SA"/>
          </a:p>
        </p:txBody>
      </p:sp>
      <p:sp>
        <p:nvSpPr>
          <p:cNvPr id="12" name="Text 10"/>
          <p:cNvSpPr/>
          <p:nvPr/>
        </p:nvSpPr>
        <p:spPr>
          <a:xfrm>
            <a:off x="768096" y="37795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Q2</a:t>
            </a:r>
            <a:endParaRPr lang="en-US" sz="1300" dirty="0"/>
          </a:p>
        </p:txBody>
      </p:sp>
      <p:sp>
        <p:nvSpPr>
          <p:cNvPr id="13" name="Text 11"/>
          <p:cNvSpPr/>
          <p:nvPr/>
        </p:nvSpPr>
        <p:spPr>
          <a:xfrm>
            <a:off x="1344168" y="374294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An observational effect with E-value 1.1 should be treated as:</a:t>
            </a:r>
            <a:endParaRPr lang="en-US" sz="1400" dirty="0"/>
          </a:p>
        </p:txBody>
      </p:sp>
      <p:sp>
        <p:nvSpPr>
          <p:cNvPr id="14" name="Text 12"/>
          <p:cNvSpPr/>
          <p:nvPr/>
        </p:nvSpPr>
        <p:spPr>
          <a:xfrm>
            <a:off x="1344168" y="4200144"/>
            <a:ext cx="10051999" cy="44196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Robust      B) Fragile to confounding      C) Randomized      D) Design-based</a:t>
            </a:r>
            <a:endParaRPr lang="en-US" sz="1200" dirty="0"/>
          </a:p>
        </p:txBody>
      </p:sp>
      <p:sp>
        <p:nvSpPr>
          <p:cNvPr id="15" name="Shape 13"/>
          <p:cNvSpPr/>
          <p:nvPr/>
        </p:nvSpPr>
        <p:spPr>
          <a:xfrm>
            <a:off x="566928" y="4861560"/>
            <a:ext cx="11057839" cy="1100328"/>
          </a:xfrm>
          <a:prstGeom prst="roundRect">
            <a:avLst>
              <a:gd name="adj" fmla="val 6648"/>
            </a:avLst>
          </a:prstGeom>
          <a:solidFill>
            <a:srgbClr val="F4F7FB"/>
          </a:solidFill>
          <a:ln w="12700">
            <a:solidFill>
              <a:srgbClr val="D9E2F0"/>
            </a:solidFill>
            <a:prstDash val="solid"/>
          </a:ln>
        </p:spPr>
        <p:txBody>
          <a:bodyPr/>
          <a:lstStyle/>
          <a:p>
            <a:endParaRPr lang="en-SA"/>
          </a:p>
        </p:txBody>
      </p:sp>
      <p:sp>
        <p:nvSpPr>
          <p:cNvPr id="16" name="Shape 14"/>
          <p:cNvSpPr/>
          <p:nvPr/>
        </p:nvSpPr>
        <p:spPr>
          <a:xfrm>
            <a:off x="768096" y="5044440"/>
            <a:ext cx="384048" cy="384048"/>
          </a:xfrm>
          <a:prstGeom prst="ellipse">
            <a:avLst/>
          </a:prstGeom>
          <a:solidFill>
            <a:srgbClr val="EA7B38"/>
          </a:solidFill>
          <a:ln/>
        </p:spPr>
        <p:txBody>
          <a:bodyPr/>
          <a:lstStyle/>
          <a:p>
            <a:endParaRPr lang="en-SA"/>
          </a:p>
        </p:txBody>
      </p:sp>
      <p:sp>
        <p:nvSpPr>
          <p:cNvPr id="17" name="Text 15"/>
          <p:cNvSpPr/>
          <p:nvPr/>
        </p:nvSpPr>
        <p:spPr>
          <a:xfrm>
            <a:off x="768096" y="504444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Q3</a:t>
            </a:r>
            <a:endParaRPr lang="en-US" sz="1300" dirty="0"/>
          </a:p>
        </p:txBody>
      </p:sp>
      <p:sp>
        <p:nvSpPr>
          <p:cNvPr id="18" name="Text 16"/>
          <p:cNvSpPr/>
          <p:nvPr/>
        </p:nvSpPr>
        <p:spPr>
          <a:xfrm>
            <a:off x="1344168" y="5007864"/>
            <a:ext cx="10051999" cy="457200"/>
          </a:xfrm>
          <a:prstGeom prst="rect">
            <a:avLst/>
          </a:prstGeom>
          <a:noFill/>
          <a:ln/>
        </p:spPr>
        <p:txBody>
          <a:bodyPr wrap="square" lIns="0" tIns="0" rIns="0" bIns="0" rtlCol="0" anchor="t"/>
          <a:lstStyle/>
          <a:p>
            <a:pPr marL="0" indent="0">
              <a:lnSpc>
                <a:spcPct val="105000"/>
              </a:lnSpc>
              <a:buNone/>
            </a:pPr>
            <a:r>
              <a:rPr lang="en-US" sz="1400" b="1" dirty="0">
                <a:solidFill>
                  <a:srgbClr val="16233F"/>
                </a:solidFill>
                <a:latin typeface="Cambria" pitchFamily="34" charset="0"/>
                <a:ea typeface="Cambria" pitchFamily="34" charset="-122"/>
                <a:cs typeface="Cambria" pitchFamily="34" charset="-120"/>
              </a:rPr>
              <a:t>The single best summary of causal-inference craft is:</a:t>
            </a:r>
            <a:endParaRPr lang="en-US" sz="1400" dirty="0"/>
          </a:p>
        </p:txBody>
      </p:sp>
      <p:sp>
        <p:nvSpPr>
          <p:cNvPr id="19" name="Text 17"/>
          <p:cNvSpPr/>
          <p:nvPr/>
        </p:nvSpPr>
        <p:spPr>
          <a:xfrm>
            <a:off x="1344168" y="5465064"/>
            <a:ext cx="10051999" cy="441960"/>
          </a:xfrm>
          <a:prstGeom prst="rect">
            <a:avLst/>
          </a:prstGeom>
          <a:noFill/>
          <a:ln/>
        </p:spPr>
        <p:txBody>
          <a:bodyPr wrap="square" lIns="0" tIns="0" rIns="0" bIns="0" rtlCol="0" anchor="t"/>
          <a:lstStyle/>
          <a:p>
            <a:pPr marL="0" indent="0">
              <a:lnSpc>
                <a:spcPct val="110000"/>
              </a:lnSpc>
              <a:buNone/>
            </a:pPr>
            <a:r>
              <a:rPr lang="en-US" sz="1200" dirty="0">
                <a:solidFill>
                  <a:srgbClr val="566581"/>
                </a:solidFill>
                <a:latin typeface="Calibri" pitchFamily="34" charset="0"/>
                <a:ea typeface="Calibri" pitchFamily="34" charset="-122"/>
                <a:cs typeface="Calibri" pitchFamily="34" charset="-120"/>
              </a:rPr>
              <a:t>A) Maximise R²      B) Design and identify before you estimate      C) Always add more controls      D) Trust the p-value</a:t>
            </a:r>
            <a:endParaRPr lang="en-US" sz="1200" dirty="0"/>
          </a:p>
        </p:txBody>
      </p:sp>
      <p:sp>
        <p:nvSpPr>
          <p:cNvPr id="20" name="Text 18"/>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4 · CLOSE</a:t>
            </a:r>
            <a:endParaRPr lang="en-US" sz="900" dirty="0"/>
          </a:p>
        </p:txBody>
      </p:sp>
      <p:sp>
        <p:nvSpPr>
          <p:cNvPr id="21" name="Text 19"/>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153  /  221</a:t>
            </a:r>
            <a:endParaRPr lang="en-US" sz="900" dirty="0"/>
          </a:p>
        </p:txBody>
      </p:sp>
      <p:pic>
        <p:nvPicPr>
          <p:cNvPr id="22" name="Picture 21" descr="Day4_Check4.png"/>
          <p:cNvPicPr>
            <a:picLocks noChangeAspect="1"/>
          </p:cNvPicPr>
          <p:nvPr/>
        </p:nvPicPr>
        <p:blipFill>
          <a:blip r:embed="rId3"/>
          <a:stretch>
            <a:fillRect/>
          </a:stretch>
        </p:blipFill>
        <p:spPr>
          <a:xfrm>
            <a:off x="10637520" y="320040"/>
            <a:ext cx="1143000" cy="1143000"/>
          </a:xfrm>
          <a:prstGeom prst="rect">
            <a:avLst/>
          </a:prstGeom>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DAY 4 · WRAP</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The Whole Course in One Slide</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Four days, one discipline.</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Potential outcomes</a:t>
            </a:r>
            <a:endParaRPr lang="en-US" sz="1500" dirty="0"/>
          </a:p>
        </p:txBody>
      </p:sp>
      <p:sp>
        <p:nvSpPr>
          <p:cNvPr id="7" name="Text 5"/>
          <p:cNvSpPr/>
          <p:nvPr/>
        </p:nvSpPr>
        <p:spPr>
          <a:xfrm>
            <a:off x="859536" y="283464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Every effect is a contrast of counterfactuals; the missing one is the problem to solve.</a:t>
            </a:r>
            <a:endParaRPr lang="en-US" sz="1250" dirty="0"/>
          </a:p>
        </p:txBody>
      </p:sp>
      <p:sp>
        <p:nvSpPr>
          <p:cNvPr id="8" name="Shape 6"/>
          <p:cNvSpPr/>
          <p:nvPr/>
        </p:nvSpPr>
        <p:spPr>
          <a:xfrm>
            <a:off x="566928" y="3506724"/>
            <a:ext cx="146304" cy="146304"/>
          </a:xfrm>
          <a:prstGeom prst="ellipse">
            <a:avLst/>
          </a:prstGeom>
          <a:solidFill>
            <a:srgbClr val="5A5BA6"/>
          </a:solidFill>
          <a:ln/>
        </p:spPr>
        <p:txBody>
          <a:bodyPr/>
          <a:lstStyle/>
          <a:p>
            <a:endParaRPr lang="en-SA"/>
          </a:p>
        </p:txBody>
      </p:sp>
      <p:sp>
        <p:nvSpPr>
          <p:cNvPr id="9" name="Text 7"/>
          <p:cNvSpPr/>
          <p:nvPr/>
        </p:nvSpPr>
        <p:spPr>
          <a:xfrm>
            <a:off x="859536" y="345186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Design &amp; identification first</a:t>
            </a:r>
            <a:endParaRPr lang="en-US" sz="1500" dirty="0"/>
          </a:p>
        </p:txBody>
      </p:sp>
      <p:sp>
        <p:nvSpPr>
          <p:cNvPr id="10" name="Text 8"/>
          <p:cNvSpPr/>
          <p:nvPr/>
        </p:nvSpPr>
        <p:spPr>
          <a:xfrm>
            <a:off x="859536" y="372618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Randomize when you can; when you cannot, borrow its logic and name your assumption.</a:t>
            </a:r>
            <a:endParaRPr lang="en-US" sz="1250" dirty="0"/>
          </a:p>
        </p:txBody>
      </p:sp>
      <p:sp>
        <p:nvSpPr>
          <p:cNvPr id="11" name="Shape 9"/>
          <p:cNvSpPr/>
          <p:nvPr/>
        </p:nvSpPr>
        <p:spPr>
          <a:xfrm>
            <a:off x="566928" y="4398264"/>
            <a:ext cx="146304" cy="146304"/>
          </a:xfrm>
          <a:prstGeom prst="ellipse">
            <a:avLst/>
          </a:prstGeom>
          <a:solidFill>
            <a:srgbClr val="EA7B38"/>
          </a:solidFill>
          <a:ln/>
        </p:spPr>
        <p:txBody>
          <a:bodyPr/>
          <a:lstStyle/>
          <a:p>
            <a:endParaRPr lang="en-SA"/>
          </a:p>
        </p:txBody>
      </p:sp>
      <p:sp>
        <p:nvSpPr>
          <p:cNvPr id="12" name="Text 10"/>
          <p:cNvSpPr/>
          <p:nvPr/>
        </p:nvSpPr>
        <p:spPr>
          <a:xfrm>
            <a:off x="859536" y="434340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Estimate then stress-test</a:t>
            </a:r>
            <a:endParaRPr lang="en-US" sz="1500" dirty="0"/>
          </a:p>
        </p:txBody>
      </p:sp>
      <p:sp>
        <p:nvSpPr>
          <p:cNvPr id="13" name="Text 11"/>
          <p:cNvSpPr/>
          <p:nvPr/>
        </p:nvSpPr>
        <p:spPr>
          <a:xfrm>
            <a:off x="859536" y="461772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Match the estimator and the standard error to the design; quantify uncertainty at both layers.</a:t>
            </a:r>
            <a:endParaRPr lang="en-US" sz="1250" dirty="0"/>
          </a:p>
        </p:txBody>
      </p:sp>
      <p:sp>
        <p:nvSpPr>
          <p:cNvPr id="14" name="Shape 12"/>
          <p:cNvSpPr/>
          <p:nvPr/>
        </p:nvSpPr>
        <p:spPr>
          <a:xfrm>
            <a:off x="566928" y="5289804"/>
            <a:ext cx="146304" cy="146304"/>
          </a:xfrm>
          <a:prstGeom prst="ellipse">
            <a:avLst/>
          </a:prstGeom>
          <a:solidFill>
            <a:srgbClr val="3E9B90"/>
          </a:solidFill>
          <a:ln/>
        </p:spPr>
        <p:txBody>
          <a:bodyPr/>
          <a:lstStyle/>
          <a:p>
            <a:endParaRPr lang="en-SA"/>
          </a:p>
        </p:txBody>
      </p:sp>
      <p:sp>
        <p:nvSpPr>
          <p:cNvPr id="15" name="Text 13"/>
          <p:cNvSpPr/>
          <p:nvPr/>
        </p:nvSpPr>
        <p:spPr>
          <a:xfrm>
            <a:off x="859536" y="523494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Decide, honestly</a:t>
            </a:r>
            <a:endParaRPr lang="en-US" sz="1500" dirty="0"/>
          </a:p>
        </p:txBody>
      </p:sp>
      <p:sp>
        <p:nvSpPr>
          <p:cNvPr id="16" name="Text 14"/>
          <p:cNvSpPr/>
          <p:nvPr/>
        </p:nvSpPr>
        <p:spPr>
          <a:xfrm>
            <a:off x="859536" y="550926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End in a recommendation whose risk the reader can see and own.</a:t>
            </a:r>
            <a:endParaRPr lang="en-US" sz="1250" dirty="0"/>
          </a:p>
        </p:txBody>
      </p:sp>
      <p:sp>
        <p:nvSpPr>
          <p:cNvPr id="17" name="Shape 15"/>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8" name="Text 16"/>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YOUR STANDARD</a:t>
            </a:r>
            <a:endParaRPr lang="en-US" sz="1100" dirty="0"/>
          </a:p>
        </p:txBody>
      </p:sp>
      <p:sp>
        <p:nvSpPr>
          <p:cNvPr id="19" name="Text 17"/>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i="1" dirty="0">
                <a:solidFill>
                  <a:srgbClr val="16233F"/>
                </a:solidFill>
                <a:latin typeface="Calibri" pitchFamily="34" charset="0"/>
                <a:ea typeface="Calibri" pitchFamily="34" charset="-122"/>
                <a:cs typeface="Calibri" pitchFamily="34" charset="-120"/>
              </a:rPr>
              <a:t>You are now equipped to turn ‘what is associated’ into ‘what happens if we act’ — and to say exactly how much to trust the answer.</a:t>
            </a:r>
            <a:endParaRPr lang="en-US" sz="1350" dirty="0"/>
          </a:p>
        </p:txBody>
      </p:sp>
      <p:sp>
        <p:nvSpPr>
          <p:cNvPr id="20" name="Text 18"/>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DAY 4 · SUMMARY</a:t>
            </a:r>
            <a:endParaRPr lang="en-US" sz="900" dirty="0"/>
          </a:p>
        </p:txBody>
      </p:sp>
      <p:sp>
        <p:nvSpPr>
          <p:cNvPr id="21" name="Text 19"/>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154  /  221</a:t>
            </a:r>
            <a:endParaRPr lang="en-US" sz="9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914400"/>
            <a:ext cx="1828800" cy="1371600"/>
          </a:xfrm>
          <a:prstGeom prst="rect">
            <a:avLst/>
          </a:prstGeom>
          <a:noFill/>
          <a:ln/>
        </p:spPr>
        <p:txBody>
          <a:bodyPr wrap="square" lIns="0" tIns="0" rIns="0" bIns="0" rtlCol="0" anchor="ctr"/>
          <a:lstStyle/>
          <a:p>
            <a:pPr marL="0" indent="0">
              <a:buNone/>
            </a:pPr>
            <a:r>
              <a:rPr lang="en-US" sz="12000" b="1" dirty="0">
                <a:solidFill>
                  <a:srgbClr val="3FA9E0"/>
                </a:solidFill>
                <a:latin typeface="Cambria" pitchFamily="34" charset="0"/>
                <a:ea typeface="Cambria" pitchFamily="34" charset="-122"/>
                <a:cs typeface="Cambria" pitchFamily="34" charset="-120"/>
              </a:rPr>
              <a:t>“</a:t>
            </a:r>
            <a:endParaRPr lang="en-US" sz="12000" dirty="0"/>
          </a:p>
        </p:txBody>
      </p:sp>
      <p:sp>
        <p:nvSpPr>
          <p:cNvPr id="3" name="Text 1"/>
          <p:cNvSpPr/>
          <p:nvPr/>
        </p:nvSpPr>
        <p:spPr>
          <a:xfrm>
            <a:off x="749808" y="2194560"/>
            <a:ext cx="10515600" cy="2377440"/>
          </a:xfrm>
          <a:prstGeom prst="rect">
            <a:avLst/>
          </a:prstGeom>
          <a:noFill/>
          <a:ln/>
        </p:spPr>
        <p:txBody>
          <a:bodyPr wrap="square" lIns="0" tIns="0" rIns="0" bIns="0" rtlCol="0" anchor="t"/>
          <a:lstStyle/>
          <a:p>
            <a:pPr marL="0" indent="0">
              <a:lnSpc>
                <a:spcPct val="112000"/>
              </a:lnSpc>
              <a:buNone/>
            </a:pPr>
            <a:r>
              <a:rPr lang="en-US" sz="3000" i="1" dirty="0">
                <a:solidFill>
                  <a:srgbClr val="FFFFFF"/>
                </a:solidFill>
                <a:latin typeface="Cambria" pitchFamily="34" charset="0"/>
                <a:ea typeface="Cambria" pitchFamily="34" charset="-122"/>
                <a:cs typeface="Cambria" pitchFamily="34" charset="-120"/>
              </a:rPr>
              <a:t>The credibility of a causal estimate is set before you fit a model. Design and identification carry the weight; estimation is bookkeeping.</a:t>
            </a:r>
            <a:endParaRPr lang="en-US" sz="3000" dirty="0"/>
          </a:p>
        </p:txBody>
      </p:sp>
      <p:sp>
        <p:nvSpPr>
          <p:cNvPr id="4" name="Shape 2"/>
          <p:cNvSpPr/>
          <p:nvPr/>
        </p:nvSpPr>
        <p:spPr>
          <a:xfrm>
            <a:off x="749808" y="4846320"/>
            <a:ext cx="1371600" cy="0"/>
          </a:xfrm>
          <a:prstGeom prst="line">
            <a:avLst/>
          </a:prstGeom>
          <a:noFill/>
          <a:ln w="25400">
            <a:solidFill>
              <a:srgbClr val="3FA9E0"/>
            </a:solidFill>
            <a:prstDash val="solid"/>
          </a:ln>
        </p:spPr>
        <p:txBody>
          <a:bodyPr/>
          <a:lstStyle/>
          <a:p>
            <a:endParaRPr lang="en-SA"/>
          </a:p>
        </p:txBody>
      </p:sp>
      <p:sp>
        <p:nvSpPr>
          <p:cNvPr id="5" name="Text 3"/>
          <p:cNvSpPr/>
          <p:nvPr/>
        </p:nvSpPr>
        <p:spPr>
          <a:xfrm>
            <a:off x="749808" y="5029200"/>
            <a:ext cx="9144000" cy="365760"/>
          </a:xfrm>
          <a:prstGeom prst="rect">
            <a:avLst/>
          </a:prstGeom>
          <a:noFill/>
          <a:ln/>
        </p:spPr>
        <p:txBody>
          <a:bodyPr wrap="square" lIns="0" tIns="0" rIns="0" bIns="0" rtlCol="0" anchor="ctr"/>
          <a:lstStyle/>
          <a:p>
            <a:pPr marL="0" indent="0">
              <a:buNone/>
            </a:pPr>
            <a:r>
              <a:rPr lang="en-US" sz="1500" b="1" dirty="0">
                <a:solidFill>
                  <a:srgbClr val="C9DAF0"/>
                </a:solidFill>
                <a:latin typeface="Calibri" pitchFamily="34" charset="0"/>
                <a:ea typeface="Calibri" pitchFamily="34" charset="-122"/>
                <a:cs typeface="Calibri" pitchFamily="34" charset="-120"/>
              </a:rPr>
              <a:t>The discipline of causal inference</a:t>
            </a:r>
            <a:endParaRPr lang="en-US" sz="1500" dirty="0"/>
          </a:p>
        </p:txBody>
      </p:sp>
      <p:sp>
        <p:nvSpPr>
          <p:cNvPr id="6" name="Text 4"/>
          <p:cNvSpPr/>
          <p:nvPr/>
        </p:nvSpPr>
        <p:spPr>
          <a:xfrm>
            <a:off x="749808" y="5394960"/>
            <a:ext cx="9144000" cy="365760"/>
          </a:xfrm>
          <a:prstGeom prst="rect">
            <a:avLst/>
          </a:prstGeom>
          <a:noFill/>
          <a:ln/>
        </p:spPr>
        <p:txBody>
          <a:bodyPr wrap="square" lIns="0" tIns="0" rIns="0" bIns="0" rtlCol="0" anchor="ctr"/>
          <a:lstStyle/>
          <a:p>
            <a:pPr marL="0" indent="0">
              <a:buNone/>
            </a:pPr>
            <a:r>
              <a:rPr lang="en-US" sz="1250" dirty="0">
                <a:solidFill>
                  <a:srgbClr val="9FB0C8"/>
                </a:solidFill>
                <a:latin typeface="Calibri" pitchFamily="34" charset="0"/>
                <a:ea typeface="Calibri" pitchFamily="34" charset="-122"/>
                <a:cs typeface="Calibri" pitchFamily="34" charset="-120"/>
              </a:rPr>
              <a:t>The core stance of this course</a:t>
            </a:r>
            <a:endParaRPr lang="en-US" sz="1250" dirty="0"/>
          </a:p>
        </p:txBody>
      </p:sp>
      <p:sp>
        <p:nvSpPr>
          <p:cNvPr id="7" name="Text 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DAY 4 · CLOSE</a:t>
            </a:r>
            <a:endParaRPr lang="en-US" sz="900" dirty="0"/>
          </a:p>
        </p:txBody>
      </p:sp>
      <p:sp>
        <p:nvSpPr>
          <p:cNvPr id="8" name="Text 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155  /  221</a:t>
            </a:r>
            <a:endParaRPr lang="en-US" sz="9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CORE CURRICULUM COMPLETE</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What Follows: Advanced Topics &amp; Reference</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The four core days are complete. The remaining sections are supplementary: advanced deep-dives facilitators can weave in, and a standalone reference toolkit to keep after the course.</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TRANSITION</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156  /  221</a:t>
            </a:r>
            <a:endParaRPr lang="en-US" sz="9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ADVANCED TOPICS</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Deep-Dives for the Expert Practitioner</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Selected advanced topics facilitators can weave into the four days or run as extension sessions: adaptive and interference-aware experimentation, advanced identification, and long-run effects.</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ADVANCED</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157  /  221</a:t>
            </a:r>
            <a:endParaRPr lang="en-US" sz="90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ADVANCED · EXPERIMENTATION</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Beyond the Basic A/B Test</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Adaptive designs, interference-robust experiments, and the subtle statistical traps in production testing.</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ADVANCED</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158  /  221</a:t>
            </a:r>
            <a:endParaRPr lang="en-US" sz="9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ADVANCED · EXPERIMENTATION</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Simpson's Paradox in Experiments</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An aggregate result can reverse within every subgroup when group mix differs across arms — a live risk with uneven traffic.</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mechanism</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If arms have different mixes of a strong covariate, pooling can flip the sign relative to every stratum.</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Why experiments are not immune</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Imbalanced randomization, ramped rollouts, or mid-test traffic shifts can induce it even under nominal randomization.</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guard</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Stratify or block the design, verify balance, and inspect effects within key strata before pooling.</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WATCH FOR</a:t>
            </a:r>
            <a:endParaRPr lang="en-US" sz="1100" dirty="0"/>
          </a:p>
        </p:txBody>
      </p:sp>
      <p:sp>
        <p:nvSpPr>
          <p:cNvPr id="16" name="Text 14"/>
          <p:cNvSpPr/>
          <p:nvPr/>
        </p:nvSpPr>
        <p:spPr>
          <a:xfrm>
            <a:off x="7744968" y="2331720"/>
            <a:ext cx="3605479" cy="1097280"/>
          </a:xfrm>
          <a:prstGeom prst="rect">
            <a:avLst/>
          </a:prstGeom>
          <a:noFill/>
          <a:ln/>
        </p:spPr>
        <p:txBody>
          <a:bodyPr wrap="square" lIns="0" tIns="0" rIns="0" bIns="0" rtlCol="0" anchor="t"/>
          <a:lstStyle/>
          <a:p>
            <a:pPr marL="0" indent="0">
              <a:buNone/>
            </a:pPr>
            <a:r>
              <a:rPr lang="en-US" sz="5400" b="1" dirty="0">
                <a:solidFill>
                  <a:srgbClr val="16233F"/>
                </a:solidFill>
                <a:latin typeface="Cambria" pitchFamily="34" charset="0"/>
                <a:ea typeface="Cambria" pitchFamily="34" charset="-122"/>
                <a:cs typeface="Cambria" pitchFamily="34" charset="-120"/>
              </a:rPr>
              <a:t>Reversal</a:t>
            </a:r>
            <a:endParaRPr lang="en-US" sz="5400" dirty="0"/>
          </a:p>
        </p:txBody>
      </p:sp>
      <p:sp>
        <p:nvSpPr>
          <p:cNvPr id="17" name="Text 15"/>
          <p:cNvSpPr/>
          <p:nvPr/>
        </p:nvSpPr>
        <p:spPr>
          <a:xfrm>
            <a:off x="7744968" y="3520440"/>
            <a:ext cx="3605479" cy="2103120"/>
          </a:xfrm>
          <a:prstGeom prst="rect">
            <a:avLst/>
          </a:prstGeom>
          <a:noFill/>
          <a:ln/>
        </p:spPr>
        <p:txBody>
          <a:bodyPr wrap="square" lIns="0" tIns="0" rIns="0" bIns="0" rtlCol="0" anchor="t"/>
          <a:lstStyle/>
          <a:p>
            <a:pPr marL="0" indent="0">
              <a:lnSpc>
                <a:spcPct val="120000"/>
              </a:lnSpc>
              <a:buNone/>
            </a:pPr>
            <a:r>
              <a:rPr lang="en-US" sz="1300" dirty="0">
                <a:solidFill>
                  <a:srgbClr val="566581"/>
                </a:solidFill>
                <a:latin typeface="Calibri" pitchFamily="34" charset="0"/>
                <a:ea typeface="Calibri" pitchFamily="34" charset="-122"/>
                <a:cs typeface="Calibri" pitchFamily="34" charset="-120"/>
              </a:rPr>
              <a:t>When the pooled effect and every subgroup effect disagree in sign, the pooled number is a mix artifact — trust the design-consistent, stratified estimate.</a:t>
            </a:r>
            <a:endParaRPr lang="en-US" sz="1300" dirty="0"/>
          </a:p>
        </p:txBody>
      </p:sp>
      <p:sp>
        <p:nvSpPr>
          <p:cNvPr id="18" name="Text 1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ADVANCED · EXPERIMENTATION</a:t>
            </a:r>
            <a:endParaRPr lang="en-US" sz="900" dirty="0"/>
          </a:p>
        </p:txBody>
      </p:sp>
      <p:sp>
        <p:nvSpPr>
          <p:cNvPr id="19" name="Text 1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159  /  221</a:t>
            </a:r>
            <a:endParaRPr lang="en-US" sz="9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ADVANCED · EXPERIMENTATION</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Reading an A/A Test</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Running two identical arms is the cheapest, most under-used integrity check in experimentation.</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What it validates</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Assignment fairness, logging correctness, and the calibration of your significance procedure — all before a real test.</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What ‘failure’ means</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Frequent ‘significant’ A/A results signal a broken pipeline, a sample-ratio issue, or an invalid variance estimate.</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Cadence</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Keep a continuous A/A running as a canary; a sudden A/A alarm often precedes a bad ship decision.</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ADVANCED · EXPERIMENTATION</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160  /  221</a:t>
            </a:r>
            <a:endParaRPr lang="en-US" sz="9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ADVANCED · EXPERIMENTATION</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A/B Testing vs. Multi-Armed Bandits</a:t>
            </a:r>
            <a:endParaRPr lang="en-US" sz="3400" dirty="0"/>
          </a:p>
        </p:txBody>
      </p:sp>
      <p:sp>
        <p:nvSpPr>
          <p:cNvPr id="4" name="Shape 2"/>
          <p:cNvSpPr/>
          <p:nvPr/>
        </p:nvSpPr>
        <p:spPr>
          <a:xfrm>
            <a:off x="566928" y="1828800"/>
            <a:ext cx="5117440" cy="4160520"/>
          </a:xfrm>
          <a:prstGeom prst="roundRect">
            <a:avLst>
              <a:gd name="adj" fmla="val 2198"/>
            </a:avLst>
          </a:prstGeom>
          <a:solidFill>
            <a:srgbClr val="F4F7FB"/>
          </a:solidFill>
          <a:ln w="12700">
            <a:solidFill>
              <a:srgbClr val="D9E2F0"/>
            </a:solidFill>
            <a:prstDash val="solid"/>
          </a:ln>
        </p:spPr>
        <p:txBody>
          <a:bodyPr/>
          <a:lstStyle/>
          <a:p>
            <a:endParaRPr lang="en-SA"/>
          </a:p>
        </p:txBody>
      </p:sp>
      <p:sp>
        <p:nvSpPr>
          <p:cNvPr id="5" name="Text 3"/>
          <p:cNvSpPr/>
          <p:nvPr/>
        </p:nvSpPr>
        <p:spPr>
          <a:xfrm>
            <a:off x="859536" y="2084832"/>
            <a:ext cx="4532224"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FIXED A/B</a:t>
            </a:r>
            <a:endParaRPr lang="en-US" sz="1100" dirty="0"/>
          </a:p>
        </p:txBody>
      </p:sp>
      <p:sp>
        <p:nvSpPr>
          <p:cNvPr id="6" name="Text 4"/>
          <p:cNvSpPr/>
          <p:nvPr/>
        </p:nvSpPr>
        <p:spPr>
          <a:xfrm>
            <a:off x="859536" y="2377440"/>
            <a:ext cx="4532224" cy="457200"/>
          </a:xfrm>
          <a:prstGeom prst="rect">
            <a:avLst/>
          </a:prstGeom>
          <a:noFill/>
          <a:ln/>
        </p:spPr>
        <p:txBody>
          <a:bodyPr wrap="square" lIns="0" tIns="0" rIns="0" bIns="0" rtlCol="0" anchor="ctr"/>
          <a:lstStyle/>
          <a:p>
            <a:pPr marL="0" indent="0">
              <a:buNone/>
            </a:pPr>
            <a:r>
              <a:rPr lang="en-US" sz="2000" b="1" dirty="0">
                <a:solidFill>
                  <a:srgbClr val="16233F"/>
                </a:solidFill>
                <a:latin typeface="Cambria" pitchFamily="34" charset="0"/>
                <a:ea typeface="Cambria" pitchFamily="34" charset="-122"/>
                <a:cs typeface="Cambria" pitchFamily="34" charset="-120"/>
              </a:rPr>
              <a:t>Learn, Then Ship</a:t>
            </a:r>
            <a:endParaRPr lang="en-US" sz="2000" dirty="0"/>
          </a:p>
        </p:txBody>
      </p:sp>
      <p:sp>
        <p:nvSpPr>
          <p:cNvPr id="7" name="Shape 5"/>
          <p:cNvSpPr/>
          <p:nvPr/>
        </p:nvSpPr>
        <p:spPr>
          <a:xfrm>
            <a:off x="877824" y="3072384"/>
            <a:ext cx="118872" cy="118872"/>
          </a:xfrm>
          <a:prstGeom prst="ellipse">
            <a:avLst/>
          </a:prstGeom>
          <a:solidFill>
            <a:srgbClr val="3FA9E0"/>
          </a:solidFill>
          <a:ln/>
        </p:spPr>
        <p:txBody>
          <a:bodyPr/>
          <a:lstStyle/>
          <a:p>
            <a:endParaRPr lang="en-SA"/>
          </a:p>
        </p:txBody>
      </p:sp>
      <p:sp>
        <p:nvSpPr>
          <p:cNvPr id="8" name="Text 6"/>
          <p:cNvSpPr/>
          <p:nvPr/>
        </p:nvSpPr>
        <p:spPr>
          <a:xfrm>
            <a:off x="1115568" y="3017520"/>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Fixed allocation until a pre-set horizon.</a:t>
            </a:r>
            <a:endParaRPr lang="en-US" sz="1250" dirty="0"/>
          </a:p>
        </p:txBody>
      </p:sp>
      <p:sp>
        <p:nvSpPr>
          <p:cNvPr id="9" name="Shape 7"/>
          <p:cNvSpPr/>
          <p:nvPr/>
        </p:nvSpPr>
        <p:spPr>
          <a:xfrm>
            <a:off x="877824" y="3694176"/>
            <a:ext cx="118872" cy="118872"/>
          </a:xfrm>
          <a:prstGeom prst="ellipse">
            <a:avLst/>
          </a:prstGeom>
          <a:solidFill>
            <a:srgbClr val="3FA9E0"/>
          </a:solidFill>
          <a:ln/>
        </p:spPr>
        <p:txBody>
          <a:bodyPr/>
          <a:lstStyle/>
          <a:p>
            <a:endParaRPr lang="en-SA"/>
          </a:p>
        </p:txBody>
      </p:sp>
      <p:sp>
        <p:nvSpPr>
          <p:cNvPr id="10" name="Text 8"/>
          <p:cNvSpPr/>
          <p:nvPr/>
        </p:nvSpPr>
        <p:spPr>
          <a:xfrm>
            <a:off x="1115568" y="3639312"/>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Clean, unbiased effect estimates for all arms.</a:t>
            </a:r>
            <a:endParaRPr lang="en-US" sz="1250" dirty="0"/>
          </a:p>
        </p:txBody>
      </p:sp>
      <p:sp>
        <p:nvSpPr>
          <p:cNvPr id="11" name="Shape 9"/>
          <p:cNvSpPr/>
          <p:nvPr/>
        </p:nvSpPr>
        <p:spPr>
          <a:xfrm>
            <a:off x="877824" y="4315968"/>
            <a:ext cx="118872" cy="118872"/>
          </a:xfrm>
          <a:prstGeom prst="ellipse">
            <a:avLst/>
          </a:prstGeom>
          <a:solidFill>
            <a:srgbClr val="3FA9E0"/>
          </a:solidFill>
          <a:ln/>
        </p:spPr>
        <p:txBody>
          <a:bodyPr/>
          <a:lstStyle/>
          <a:p>
            <a:endParaRPr lang="en-SA"/>
          </a:p>
        </p:txBody>
      </p:sp>
      <p:sp>
        <p:nvSpPr>
          <p:cNvPr id="12" name="Text 10"/>
          <p:cNvSpPr/>
          <p:nvPr/>
        </p:nvSpPr>
        <p:spPr>
          <a:xfrm>
            <a:off x="1115568" y="4261104"/>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Best when you need a defensible causal number.</a:t>
            </a:r>
            <a:endParaRPr lang="en-US" sz="1250" dirty="0"/>
          </a:p>
        </p:txBody>
      </p:sp>
      <p:sp>
        <p:nvSpPr>
          <p:cNvPr id="13" name="Shape 11"/>
          <p:cNvSpPr/>
          <p:nvPr/>
        </p:nvSpPr>
        <p:spPr>
          <a:xfrm>
            <a:off x="877824" y="4937760"/>
            <a:ext cx="118872" cy="118872"/>
          </a:xfrm>
          <a:prstGeom prst="ellipse">
            <a:avLst/>
          </a:prstGeom>
          <a:solidFill>
            <a:srgbClr val="3FA9E0"/>
          </a:solidFill>
          <a:ln/>
        </p:spPr>
        <p:txBody>
          <a:bodyPr/>
          <a:lstStyle/>
          <a:p>
            <a:endParaRPr lang="en-SA"/>
          </a:p>
        </p:txBody>
      </p:sp>
      <p:sp>
        <p:nvSpPr>
          <p:cNvPr id="14" name="Text 12"/>
          <p:cNvSpPr/>
          <p:nvPr/>
        </p:nvSpPr>
        <p:spPr>
          <a:xfrm>
            <a:off x="1115568" y="4882896"/>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‘Wastes’ traffic on losing arms while running.</a:t>
            </a:r>
            <a:endParaRPr lang="en-US" sz="1250" dirty="0"/>
          </a:p>
        </p:txBody>
      </p:sp>
      <p:sp>
        <p:nvSpPr>
          <p:cNvPr id="15" name="Shape 13"/>
          <p:cNvSpPr/>
          <p:nvPr/>
        </p:nvSpPr>
        <p:spPr>
          <a:xfrm>
            <a:off x="6507328" y="1828800"/>
            <a:ext cx="5117440" cy="4160520"/>
          </a:xfrm>
          <a:prstGeom prst="roundRect">
            <a:avLst>
              <a:gd name="adj" fmla="val 2198"/>
            </a:avLst>
          </a:prstGeom>
          <a:solidFill>
            <a:srgbClr val="16233F"/>
          </a:solidFill>
          <a:ln w="12700">
            <a:solidFill>
              <a:srgbClr val="16233F"/>
            </a:solidFill>
            <a:prstDash val="solid"/>
          </a:ln>
        </p:spPr>
        <p:txBody>
          <a:bodyPr/>
          <a:lstStyle/>
          <a:p>
            <a:endParaRPr lang="en-SA"/>
          </a:p>
        </p:txBody>
      </p:sp>
      <p:sp>
        <p:nvSpPr>
          <p:cNvPr id="16" name="Text 14"/>
          <p:cNvSpPr/>
          <p:nvPr/>
        </p:nvSpPr>
        <p:spPr>
          <a:xfrm>
            <a:off x="6799936" y="2084832"/>
            <a:ext cx="4532224" cy="274320"/>
          </a:xfrm>
          <a:prstGeom prst="rect">
            <a:avLst/>
          </a:prstGeom>
          <a:noFill/>
          <a:ln/>
        </p:spPr>
        <p:txBody>
          <a:bodyPr wrap="square" lIns="0" tIns="0" rIns="0" bIns="0" rtlCol="0" anchor="ctr"/>
          <a:lstStyle/>
          <a:p>
            <a:pPr marL="0" indent="0">
              <a:buNone/>
            </a:pPr>
            <a:r>
              <a:rPr lang="en-US" sz="1100" b="1" kern="0" spc="200" dirty="0">
                <a:solidFill>
                  <a:srgbClr val="70C8F2"/>
                </a:solidFill>
                <a:latin typeface="Calibri" pitchFamily="34" charset="0"/>
                <a:ea typeface="Calibri" pitchFamily="34" charset="-122"/>
                <a:cs typeface="Calibri" pitchFamily="34" charset="-120"/>
              </a:rPr>
              <a:t>BANDIT</a:t>
            </a:r>
            <a:endParaRPr lang="en-US" sz="1100" dirty="0"/>
          </a:p>
        </p:txBody>
      </p:sp>
      <p:sp>
        <p:nvSpPr>
          <p:cNvPr id="17" name="Text 15"/>
          <p:cNvSpPr/>
          <p:nvPr/>
        </p:nvSpPr>
        <p:spPr>
          <a:xfrm>
            <a:off x="6799936" y="2377440"/>
            <a:ext cx="4532224"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Earn While You Learn</a:t>
            </a:r>
            <a:endParaRPr lang="en-US" sz="2000" dirty="0"/>
          </a:p>
        </p:txBody>
      </p:sp>
      <p:sp>
        <p:nvSpPr>
          <p:cNvPr id="18" name="Shape 16"/>
          <p:cNvSpPr/>
          <p:nvPr/>
        </p:nvSpPr>
        <p:spPr>
          <a:xfrm>
            <a:off x="6818224" y="3072384"/>
            <a:ext cx="118872" cy="118872"/>
          </a:xfrm>
          <a:prstGeom prst="ellipse">
            <a:avLst/>
          </a:prstGeom>
          <a:solidFill>
            <a:srgbClr val="70C8F2"/>
          </a:solidFill>
          <a:ln/>
        </p:spPr>
        <p:txBody>
          <a:bodyPr/>
          <a:lstStyle/>
          <a:p>
            <a:endParaRPr lang="en-SA"/>
          </a:p>
        </p:txBody>
      </p:sp>
      <p:sp>
        <p:nvSpPr>
          <p:cNvPr id="19" name="Text 17"/>
          <p:cNvSpPr/>
          <p:nvPr/>
        </p:nvSpPr>
        <p:spPr>
          <a:xfrm>
            <a:off x="7055968" y="3017520"/>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C9DAF0"/>
                </a:solidFill>
                <a:latin typeface="Calibri" pitchFamily="34" charset="0"/>
                <a:ea typeface="Calibri" pitchFamily="34" charset="-122"/>
                <a:cs typeface="Calibri" pitchFamily="34" charset="-120"/>
              </a:rPr>
              <a:t>Allocation adapts toward better-performing arms.</a:t>
            </a:r>
            <a:endParaRPr lang="en-US" sz="1250" dirty="0"/>
          </a:p>
        </p:txBody>
      </p:sp>
      <p:sp>
        <p:nvSpPr>
          <p:cNvPr id="20" name="Shape 18"/>
          <p:cNvSpPr/>
          <p:nvPr/>
        </p:nvSpPr>
        <p:spPr>
          <a:xfrm>
            <a:off x="6818224" y="3694176"/>
            <a:ext cx="118872" cy="118872"/>
          </a:xfrm>
          <a:prstGeom prst="ellipse">
            <a:avLst/>
          </a:prstGeom>
          <a:solidFill>
            <a:srgbClr val="70C8F2"/>
          </a:solidFill>
          <a:ln/>
        </p:spPr>
        <p:txBody>
          <a:bodyPr/>
          <a:lstStyle/>
          <a:p>
            <a:endParaRPr lang="en-SA"/>
          </a:p>
        </p:txBody>
      </p:sp>
      <p:sp>
        <p:nvSpPr>
          <p:cNvPr id="21" name="Text 19"/>
          <p:cNvSpPr/>
          <p:nvPr/>
        </p:nvSpPr>
        <p:spPr>
          <a:xfrm>
            <a:off x="7055968" y="3639312"/>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C9DAF0"/>
                </a:solidFill>
                <a:latin typeface="Calibri" pitchFamily="34" charset="0"/>
                <a:ea typeface="Calibri" pitchFamily="34" charset="-122"/>
                <a:cs typeface="Calibri" pitchFamily="34" charset="-120"/>
              </a:rPr>
              <a:t>Minimises regret; maximises reward during the test.</a:t>
            </a:r>
            <a:endParaRPr lang="en-US" sz="1250" dirty="0"/>
          </a:p>
        </p:txBody>
      </p:sp>
      <p:sp>
        <p:nvSpPr>
          <p:cNvPr id="22" name="Shape 20"/>
          <p:cNvSpPr/>
          <p:nvPr/>
        </p:nvSpPr>
        <p:spPr>
          <a:xfrm>
            <a:off x="6818224" y="4315968"/>
            <a:ext cx="118872" cy="118872"/>
          </a:xfrm>
          <a:prstGeom prst="ellipse">
            <a:avLst/>
          </a:prstGeom>
          <a:solidFill>
            <a:srgbClr val="70C8F2"/>
          </a:solidFill>
          <a:ln/>
        </p:spPr>
        <p:txBody>
          <a:bodyPr/>
          <a:lstStyle/>
          <a:p>
            <a:endParaRPr lang="en-SA"/>
          </a:p>
        </p:txBody>
      </p:sp>
      <p:sp>
        <p:nvSpPr>
          <p:cNvPr id="23" name="Text 21"/>
          <p:cNvSpPr/>
          <p:nvPr/>
        </p:nvSpPr>
        <p:spPr>
          <a:xfrm>
            <a:off x="7055968" y="4261104"/>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C9DAF0"/>
                </a:solidFill>
                <a:latin typeface="Calibri" pitchFamily="34" charset="0"/>
                <a:ea typeface="Calibri" pitchFamily="34" charset="-122"/>
                <a:cs typeface="Calibri" pitchFamily="34" charset="-120"/>
              </a:rPr>
              <a:t>Best for many variants and continuous optimisation.</a:t>
            </a:r>
            <a:endParaRPr lang="en-US" sz="1250" dirty="0"/>
          </a:p>
        </p:txBody>
      </p:sp>
      <p:sp>
        <p:nvSpPr>
          <p:cNvPr id="24" name="Shape 22"/>
          <p:cNvSpPr/>
          <p:nvPr/>
        </p:nvSpPr>
        <p:spPr>
          <a:xfrm>
            <a:off x="6818224" y="4937760"/>
            <a:ext cx="118872" cy="118872"/>
          </a:xfrm>
          <a:prstGeom prst="ellipse">
            <a:avLst/>
          </a:prstGeom>
          <a:solidFill>
            <a:srgbClr val="70C8F2"/>
          </a:solidFill>
          <a:ln/>
        </p:spPr>
        <p:txBody>
          <a:bodyPr/>
          <a:lstStyle/>
          <a:p>
            <a:endParaRPr lang="en-SA"/>
          </a:p>
        </p:txBody>
      </p:sp>
      <p:sp>
        <p:nvSpPr>
          <p:cNvPr id="25" name="Text 23"/>
          <p:cNvSpPr/>
          <p:nvPr/>
        </p:nvSpPr>
        <p:spPr>
          <a:xfrm>
            <a:off x="7055968" y="4882896"/>
            <a:ext cx="4294480" cy="621792"/>
          </a:xfrm>
          <a:prstGeom prst="rect">
            <a:avLst/>
          </a:prstGeom>
          <a:noFill/>
          <a:ln/>
        </p:spPr>
        <p:txBody>
          <a:bodyPr wrap="square" lIns="0" tIns="0" rIns="0" bIns="0" rtlCol="0" anchor="t"/>
          <a:lstStyle/>
          <a:p>
            <a:pPr marL="0" indent="0">
              <a:lnSpc>
                <a:spcPct val="110000"/>
              </a:lnSpc>
              <a:buNone/>
            </a:pPr>
            <a:r>
              <a:rPr lang="en-US" sz="1250" dirty="0">
                <a:solidFill>
                  <a:srgbClr val="C9DAF0"/>
                </a:solidFill>
                <a:latin typeface="Calibri" pitchFamily="34" charset="0"/>
                <a:ea typeface="Calibri" pitchFamily="34" charset="-122"/>
                <a:cs typeface="Calibri" pitchFamily="34" charset="-120"/>
              </a:rPr>
              <a:t>Adaptive allocation complicates unbiased inference.</a:t>
            </a:r>
            <a:endParaRPr lang="en-US" sz="1250" dirty="0"/>
          </a:p>
        </p:txBody>
      </p:sp>
      <p:sp>
        <p:nvSpPr>
          <p:cNvPr id="26" name="Shape 24"/>
          <p:cNvSpPr/>
          <p:nvPr/>
        </p:nvSpPr>
        <p:spPr>
          <a:xfrm>
            <a:off x="5803240" y="3616452"/>
            <a:ext cx="585216" cy="585216"/>
          </a:xfrm>
          <a:prstGeom prst="ellipse">
            <a:avLst/>
          </a:prstGeom>
          <a:solidFill>
            <a:srgbClr val="3FA9E0"/>
          </a:solidFill>
          <a:ln w="25400">
            <a:solidFill>
              <a:srgbClr val="FFFFFF"/>
            </a:solidFill>
            <a:prstDash val="solid"/>
          </a:ln>
        </p:spPr>
        <p:txBody>
          <a:bodyPr/>
          <a:lstStyle/>
          <a:p>
            <a:endParaRPr lang="en-SA"/>
          </a:p>
        </p:txBody>
      </p:sp>
      <p:sp>
        <p:nvSpPr>
          <p:cNvPr id="27" name="Text 25"/>
          <p:cNvSpPr/>
          <p:nvPr/>
        </p:nvSpPr>
        <p:spPr>
          <a:xfrm>
            <a:off x="5803240" y="3616452"/>
            <a:ext cx="585216" cy="585216"/>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VS</a:t>
            </a:r>
            <a:endParaRPr lang="en-US" sz="1500" dirty="0"/>
          </a:p>
        </p:txBody>
      </p:sp>
      <p:sp>
        <p:nvSpPr>
          <p:cNvPr id="28" name="Text 2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ADVANCED · EXPERIMENTATION</a:t>
            </a:r>
            <a:endParaRPr lang="en-US" sz="900" dirty="0"/>
          </a:p>
        </p:txBody>
      </p:sp>
      <p:sp>
        <p:nvSpPr>
          <p:cNvPr id="29" name="Text 2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161  /  221</a:t>
            </a:r>
            <a:endParaRPr lang="en-US" sz="90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ADVANCED · EXPERIMENTATION</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Adaptive Designs &amp; Their Inference Cost</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Adapting allocation as data arrive improves efficiency but breaks naive analysis.</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benefit</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Bandits and response-adaptive designs cut the cost of exploration and speed up finding the best arm.</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catch</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Because allocation depends on interim outcomes, standard errors and effect estimates need adaptive-aware corrections.</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remedy</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Use inference designed for adaptivity (e.g. adaptively-weighted estimators) when you still need a valid effect, not just a winner.</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RULE OF THUMB</a:t>
            </a:r>
            <a:endParaRPr lang="en-US" sz="1100" dirty="0"/>
          </a:p>
        </p:txBody>
      </p:sp>
      <p:sp>
        <p:nvSpPr>
          <p:cNvPr id="16" name="Text 14"/>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dirty="0">
                <a:solidFill>
                  <a:srgbClr val="16233F"/>
                </a:solidFill>
                <a:latin typeface="Calibri" pitchFamily="34" charset="0"/>
                <a:ea typeface="Calibri" pitchFamily="34" charset="-122"/>
                <a:cs typeface="Calibri" pitchFamily="34" charset="-120"/>
              </a:rPr>
              <a:t>Use bandits to optimise a decision; use fixed A/B when you must report a trustworthy effect size. Do not analyse bandit data with fixed-horizon formulas.</a:t>
            </a:r>
            <a:endParaRPr lang="en-US" sz="13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ADVANCED · EXPERIMENTATION</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162  /  221</a:t>
            </a:r>
            <a:endParaRPr lang="en-US" sz="9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ADVANCED · EXPERIMENTATION</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Interference: Switchback &amp; Cluster Designs</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In marketplaces and networks, treating some units changes the environment for others — breaking SUTVA. The design must absorb the spillover.</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Switchback experiments</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Alternate the whole system between treatment and control over time windows; the unit becomes a time slice, containing spillover.</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Cluster / ego-network designs</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Randomize connected groups together so interference stays within, not across, arms.</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Exposure modelling</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Define an exposure mapping (how much treatment a unit is effectively exposed to) and estimate effects against it.</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MARKETPLACE</a:t>
            </a:r>
            <a:endParaRPr lang="en-US" sz="1100" dirty="0"/>
          </a:p>
        </p:txBody>
      </p:sp>
      <p:sp>
        <p:nvSpPr>
          <p:cNvPr id="16" name="Text 14"/>
          <p:cNvSpPr/>
          <p:nvPr/>
        </p:nvSpPr>
        <p:spPr>
          <a:xfrm>
            <a:off x="7744968" y="2331720"/>
            <a:ext cx="3605479" cy="1097280"/>
          </a:xfrm>
          <a:prstGeom prst="rect">
            <a:avLst/>
          </a:prstGeom>
          <a:noFill/>
          <a:ln/>
        </p:spPr>
        <p:txBody>
          <a:bodyPr wrap="square" lIns="0" tIns="0" rIns="0" bIns="0" rtlCol="0" anchor="t"/>
          <a:lstStyle/>
          <a:p>
            <a:pPr marL="0" indent="0">
              <a:buNone/>
            </a:pPr>
            <a:r>
              <a:rPr lang="en-US" sz="5400" b="1" dirty="0">
                <a:solidFill>
                  <a:srgbClr val="16233F"/>
                </a:solidFill>
                <a:latin typeface="Cambria" pitchFamily="34" charset="0"/>
                <a:ea typeface="Cambria" pitchFamily="34" charset="-122"/>
                <a:cs typeface="Cambria" pitchFamily="34" charset="-120"/>
              </a:rPr>
              <a:t>Time</a:t>
            </a:r>
            <a:endParaRPr lang="en-US" sz="5400" dirty="0"/>
          </a:p>
        </p:txBody>
      </p:sp>
      <p:sp>
        <p:nvSpPr>
          <p:cNvPr id="17" name="Text 15"/>
          <p:cNvSpPr/>
          <p:nvPr/>
        </p:nvSpPr>
        <p:spPr>
          <a:xfrm>
            <a:off x="7744968" y="3520440"/>
            <a:ext cx="3605479" cy="2103120"/>
          </a:xfrm>
          <a:prstGeom prst="rect">
            <a:avLst/>
          </a:prstGeom>
          <a:noFill/>
          <a:ln/>
        </p:spPr>
        <p:txBody>
          <a:bodyPr wrap="square" lIns="0" tIns="0" rIns="0" bIns="0" rtlCol="0" anchor="t"/>
          <a:lstStyle/>
          <a:p>
            <a:pPr marL="0" indent="0">
              <a:lnSpc>
                <a:spcPct val="120000"/>
              </a:lnSpc>
              <a:buNone/>
            </a:pPr>
            <a:r>
              <a:rPr lang="en-US" sz="1300" dirty="0">
                <a:solidFill>
                  <a:srgbClr val="566581"/>
                </a:solidFill>
                <a:latin typeface="Calibri" pitchFamily="34" charset="0"/>
                <a:ea typeface="Calibri" pitchFamily="34" charset="-122"/>
                <a:cs typeface="Calibri" pitchFamily="34" charset="-120"/>
              </a:rPr>
              <a:t>When users share supply, randomizing by time (switchback) or by market cluster is often the only way to get an unbiased effect.</a:t>
            </a:r>
            <a:endParaRPr lang="en-US" sz="1300" dirty="0"/>
          </a:p>
        </p:txBody>
      </p:sp>
      <p:sp>
        <p:nvSpPr>
          <p:cNvPr id="18" name="Text 1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ADVANCED · EXPERIMENTATION</a:t>
            </a:r>
            <a:endParaRPr lang="en-US" sz="900" dirty="0"/>
          </a:p>
        </p:txBody>
      </p:sp>
      <p:sp>
        <p:nvSpPr>
          <p:cNvPr id="19" name="Text 1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163  /  221</a:t>
            </a:r>
            <a:endParaRPr lang="en-US" sz="90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ADVANCED · EXPERIMENTATION</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Sequential Testing, Quantified</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A concrete look at how continuous monitoring inflates error — and how boundaries restore validity.</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inflation</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Checking a nominal-5% test daily for a month can push the true false-positive rate toward 20–30%.</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Alpha spending</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Group-sequential boundaries allocate the 5% budget across looks; O'Brien–Fleming is strict early, generous late.</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Always-valid</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Confidence sequences and e-values hold at every sample size and any stopping time — look as often as you like.</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ADVANCED · EXPERIMENTATION</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164  /  221</a:t>
            </a:r>
            <a:endParaRPr lang="en-US" sz="9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ADVANCED · EXPERIMENTATION</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Bayesian A/B Testing</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A complementary framework that reports probabilities decision-makers find intuitive — with its own discipline.</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outputs</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P(variant better), the posterior effect distribution, and expected loss from shipping the wrong arm.</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appeal</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Decision-relevant statements and coherent early stopping via expected loss, if priors and rules are pre-set.</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caution</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Priors and the decision rule must be fixed in advance; ‘Bayesian’ is not a licence to peek without a plan.</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ADVANCED · EXPERIMENTATION</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165  /  221</a:t>
            </a:r>
            <a:endParaRPr lang="en-US" sz="90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ADVANCED · EXPERIMENTATION</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The Winner's Curse &amp; Shrinkage</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The variant that clears the bar to ship tends to have an over-estimated effect — selection acts on the estimate itself.</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Why it happens</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Among many tested ideas, those that reach significance are disproportionately those that got lucky upward.</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consequence</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Realised production lift routinely underperforms the test estimate that justified the launch.</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fix</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Shrink effect estimates toward the prior mean (empirical-Bayes / hierarchical models), especially across many experiments.</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EXPECTATION MANAGEMENT</a:t>
            </a:r>
            <a:endParaRPr lang="en-US" sz="1100" dirty="0"/>
          </a:p>
        </p:txBody>
      </p:sp>
      <p:sp>
        <p:nvSpPr>
          <p:cNvPr id="16" name="Text 14"/>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dirty="0">
                <a:solidFill>
                  <a:srgbClr val="16233F"/>
                </a:solidFill>
                <a:latin typeface="Calibri" pitchFamily="34" charset="0"/>
                <a:ea typeface="Calibri" pitchFamily="34" charset="-122"/>
                <a:cs typeface="Calibri" pitchFamily="34" charset="-120"/>
              </a:rPr>
              <a:t>Report a shrunk, de-biased estimate for planning. The raw ‘winning’ lift is an optimistic ceiling, not a forecast.</a:t>
            </a:r>
            <a:endParaRPr lang="en-US" sz="13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ADVANCED · EXPERIMENTATION</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166  /  221</a:t>
            </a:r>
            <a:endParaRPr lang="en-US" sz="9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ADVANCED · EXPERIMENTATION</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A Guardrail-Metric Framework</a:t>
            </a:r>
            <a:endParaRPr lang="en-US" sz="3400" dirty="0"/>
          </a:p>
        </p:txBody>
      </p:sp>
      <p:sp>
        <p:nvSpPr>
          <p:cNvPr id="4" name="Text 2"/>
          <p:cNvSpPr/>
          <p:nvPr/>
        </p:nvSpPr>
        <p:spPr>
          <a:xfrm>
            <a:off x="566928" y="1783080"/>
            <a:ext cx="11057839" cy="548640"/>
          </a:xfrm>
          <a:prstGeom prst="rect">
            <a:avLst/>
          </a:prstGeom>
          <a:noFill/>
          <a:ln/>
        </p:spPr>
        <p:txBody>
          <a:bodyPr wrap="square" lIns="0" tIns="0" rIns="0" bIns="0" rtlCol="0" anchor="t"/>
          <a:lstStyle/>
          <a:p>
            <a:pPr marL="0" indent="0">
              <a:lnSpc>
                <a:spcPct val="115000"/>
              </a:lnSpc>
              <a:buNone/>
            </a:pPr>
            <a:r>
              <a:rPr lang="en-US" sz="1400" dirty="0">
                <a:solidFill>
                  <a:srgbClr val="566581"/>
                </a:solidFill>
                <a:latin typeface="Calibri" pitchFamily="34" charset="0"/>
                <a:ea typeface="Calibri" pitchFamily="34" charset="-122"/>
                <a:cs typeface="Calibri" pitchFamily="34" charset="-120"/>
              </a:rPr>
              <a:t>Guardrails turn ‘the primary metric won’ into ‘shipping is safe’.</a:t>
            </a:r>
            <a:endParaRPr lang="en-US" sz="1400" dirty="0"/>
          </a:p>
        </p:txBody>
      </p:sp>
      <p:sp>
        <p:nvSpPr>
          <p:cNvPr id="5" name="Shape 3"/>
          <p:cNvSpPr/>
          <p:nvPr/>
        </p:nvSpPr>
        <p:spPr>
          <a:xfrm>
            <a:off x="566928" y="2468880"/>
            <a:ext cx="502920" cy="502920"/>
          </a:xfrm>
          <a:prstGeom prst="ellipse">
            <a:avLst/>
          </a:prstGeom>
          <a:solidFill>
            <a:srgbClr val="3FA9E0"/>
          </a:solidFill>
          <a:ln/>
        </p:spPr>
        <p:txBody>
          <a:bodyPr/>
          <a:lstStyle/>
          <a:p>
            <a:endParaRPr lang="en-SA"/>
          </a:p>
        </p:txBody>
      </p:sp>
      <p:sp>
        <p:nvSpPr>
          <p:cNvPr id="6" name="Text 4"/>
          <p:cNvSpPr/>
          <p:nvPr/>
        </p:nvSpPr>
        <p:spPr>
          <a:xfrm>
            <a:off x="566928" y="246888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7" name="Text 5"/>
          <p:cNvSpPr/>
          <p:nvPr/>
        </p:nvSpPr>
        <p:spPr>
          <a:xfrm>
            <a:off x="1298448" y="242316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Quality guardrails</a:t>
            </a:r>
            <a:endParaRPr lang="en-US" sz="1600" dirty="0"/>
          </a:p>
        </p:txBody>
      </p:sp>
      <p:sp>
        <p:nvSpPr>
          <p:cNvPr id="8" name="Text 6"/>
          <p:cNvSpPr/>
          <p:nvPr/>
        </p:nvSpPr>
        <p:spPr>
          <a:xfrm>
            <a:off x="1298448" y="273405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Latency, error rate, crash rate — a win that degrades reliability does not ship.</a:t>
            </a:r>
            <a:endParaRPr lang="en-US" sz="1250" dirty="0"/>
          </a:p>
        </p:txBody>
      </p:sp>
      <p:sp>
        <p:nvSpPr>
          <p:cNvPr id="9" name="Shape 7"/>
          <p:cNvSpPr/>
          <p:nvPr/>
        </p:nvSpPr>
        <p:spPr>
          <a:xfrm>
            <a:off x="566928" y="3394710"/>
            <a:ext cx="502920" cy="502920"/>
          </a:xfrm>
          <a:prstGeom prst="ellipse">
            <a:avLst/>
          </a:prstGeom>
          <a:solidFill>
            <a:srgbClr val="5A5BA6"/>
          </a:solidFill>
          <a:ln/>
        </p:spPr>
        <p:txBody>
          <a:bodyPr/>
          <a:lstStyle/>
          <a:p>
            <a:endParaRPr lang="en-SA"/>
          </a:p>
        </p:txBody>
      </p:sp>
      <p:sp>
        <p:nvSpPr>
          <p:cNvPr id="10" name="Text 8"/>
          <p:cNvSpPr/>
          <p:nvPr/>
        </p:nvSpPr>
        <p:spPr>
          <a:xfrm>
            <a:off x="566928" y="339471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1" name="Text 9"/>
          <p:cNvSpPr/>
          <p:nvPr/>
        </p:nvSpPr>
        <p:spPr>
          <a:xfrm>
            <a:off x="1298448" y="334899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Business guardrails</a:t>
            </a:r>
            <a:endParaRPr lang="en-US" sz="1600" dirty="0"/>
          </a:p>
        </p:txBody>
      </p:sp>
      <p:sp>
        <p:nvSpPr>
          <p:cNvPr id="12" name="Text 10"/>
          <p:cNvSpPr/>
          <p:nvPr/>
        </p:nvSpPr>
        <p:spPr>
          <a:xfrm>
            <a:off x="1298448" y="365988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Revenue, cost, and unit economics must not silently regress behind an engagement lift.</a:t>
            </a:r>
            <a:endParaRPr lang="en-US" sz="1250" dirty="0"/>
          </a:p>
        </p:txBody>
      </p:sp>
      <p:sp>
        <p:nvSpPr>
          <p:cNvPr id="13" name="Shape 11"/>
          <p:cNvSpPr/>
          <p:nvPr/>
        </p:nvSpPr>
        <p:spPr>
          <a:xfrm>
            <a:off x="566928" y="4320540"/>
            <a:ext cx="502920" cy="502920"/>
          </a:xfrm>
          <a:prstGeom prst="ellipse">
            <a:avLst/>
          </a:prstGeom>
          <a:solidFill>
            <a:srgbClr val="EA7B38"/>
          </a:solidFill>
          <a:ln/>
        </p:spPr>
        <p:txBody>
          <a:bodyPr/>
          <a:lstStyle/>
          <a:p>
            <a:endParaRPr lang="en-SA"/>
          </a:p>
        </p:txBody>
      </p:sp>
      <p:sp>
        <p:nvSpPr>
          <p:cNvPr id="14" name="Text 12"/>
          <p:cNvSpPr/>
          <p:nvPr/>
        </p:nvSpPr>
        <p:spPr>
          <a:xfrm>
            <a:off x="566928" y="43205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15" name="Text 13"/>
          <p:cNvSpPr/>
          <p:nvPr/>
        </p:nvSpPr>
        <p:spPr>
          <a:xfrm>
            <a:off x="1298448" y="427482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Trust &amp; safety guardrails</a:t>
            </a:r>
            <a:endParaRPr lang="en-US" sz="1600" dirty="0"/>
          </a:p>
        </p:txBody>
      </p:sp>
      <p:sp>
        <p:nvSpPr>
          <p:cNvPr id="16" name="Text 14"/>
          <p:cNvSpPr/>
          <p:nvPr/>
        </p:nvSpPr>
        <p:spPr>
          <a:xfrm>
            <a:off x="1298448" y="458571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Complaints, policy violations, and fairness metrics protect users and reputation.</a:t>
            </a:r>
            <a:endParaRPr lang="en-US" sz="1250" dirty="0"/>
          </a:p>
        </p:txBody>
      </p:sp>
      <p:sp>
        <p:nvSpPr>
          <p:cNvPr id="17" name="Shape 15"/>
          <p:cNvSpPr/>
          <p:nvPr/>
        </p:nvSpPr>
        <p:spPr>
          <a:xfrm>
            <a:off x="566928" y="5246370"/>
            <a:ext cx="502920" cy="502920"/>
          </a:xfrm>
          <a:prstGeom prst="ellipse">
            <a:avLst/>
          </a:prstGeom>
          <a:solidFill>
            <a:srgbClr val="3E9B90"/>
          </a:solidFill>
          <a:ln/>
        </p:spPr>
        <p:txBody>
          <a:bodyPr/>
          <a:lstStyle/>
          <a:p>
            <a:endParaRPr lang="en-SA"/>
          </a:p>
        </p:txBody>
      </p:sp>
      <p:sp>
        <p:nvSpPr>
          <p:cNvPr id="18" name="Text 16"/>
          <p:cNvSpPr/>
          <p:nvPr/>
        </p:nvSpPr>
        <p:spPr>
          <a:xfrm>
            <a:off x="566928" y="524637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04</a:t>
            </a:r>
            <a:endParaRPr lang="en-US" sz="1300" dirty="0"/>
          </a:p>
        </p:txBody>
      </p:sp>
      <p:sp>
        <p:nvSpPr>
          <p:cNvPr id="19" name="Text 17"/>
          <p:cNvSpPr/>
          <p:nvPr/>
        </p:nvSpPr>
        <p:spPr>
          <a:xfrm>
            <a:off x="1298448" y="520065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Counter-metrics</a:t>
            </a:r>
            <a:endParaRPr lang="en-US" sz="1600" dirty="0"/>
          </a:p>
        </p:txBody>
      </p:sp>
      <p:sp>
        <p:nvSpPr>
          <p:cNvPr id="20" name="Text 18"/>
          <p:cNvSpPr/>
          <p:nvPr/>
        </p:nvSpPr>
        <p:spPr>
          <a:xfrm>
            <a:off x="1298448" y="551154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Metrics that would move if the primary metric is being gamed rather than genuinely improved.</a:t>
            </a:r>
            <a:endParaRPr lang="en-US" sz="1250" dirty="0"/>
          </a:p>
        </p:txBody>
      </p:sp>
      <p:sp>
        <p:nvSpPr>
          <p:cNvPr id="21" name="Text 19"/>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ADVANCED · EXPERIMENTATION</a:t>
            </a:r>
            <a:endParaRPr lang="en-US" sz="900" dirty="0"/>
          </a:p>
        </p:txBody>
      </p:sp>
      <p:sp>
        <p:nvSpPr>
          <p:cNvPr id="22" name="Text 20"/>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167  /  221</a:t>
            </a:r>
            <a:endParaRPr lang="en-US" sz="90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ADVANCED · IDENTIFICATION</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Advanced Identification</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Front-door adjustment, mediation, time-varying treatments, and the modern machine-learning toolkit for effects.</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ADVANCED</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168  /  221</a:t>
            </a:r>
            <a:endParaRPr lang="en-US" sz="90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ADVANCED · IDENTIFICATION</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The Front-Door Criterion</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When a confounder is unmeasured but a fully-mediating mechanism is observed, the effect can still be identified.</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structure</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 → M → Y with unmeasured U confounding T and Y, but U not affecting M except through T.</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two-step logic</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Identify T→M (unconfounded) and M→Y (adjusting for T), then chain them to recover the total effect of T on Y.</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When it helps</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Rare but powerful — a credible, fully-observed mediating mechanism can rescue an otherwise-confounded question.</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ADVANCED · IDENTIFICATION</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169  /  221</a:t>
            </a:r>
            <a:endParaRPr lang="en-US" sz="90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ADVANCED · IDENTIFICATION</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Mediation: Direct vs. Indirect Effects</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Sometimes the question is not ‘does it work’ but ‘how’ — how much of the effect runs through a mechanism.</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decomposition</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The total effect splits into a direct effect and an indirect (through-mediator) effect.</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extra assumptions</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Mediation needs stronger, often untestable, no-confounding assumptions on the mediator–outcome link.</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caution</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Do not ‘control for the mediator’ to get a direct effect naively — that reintroduces bias; use proper mediation estimators.</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MECHANISM ≠ FREE</a:t>
            </a:r>
            <a:endParaRPr lang="en-US" sz="1100" dirty="0"/>
          </a:p>
        </p:txBody>
      </p:sp>
      <p:sp>
        <p:nvSpPr>
          <p:cNvPr id="16" name="Text 14"/>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dirty="0">
                <a:solidFill>
                  <a:srgbClr val="16233F"/>
                </a:solidFill>
                <a:latin typeface="Calibri" pitchFamily="34" charset="0"/>
                <a:ea typeface="Calibri" pitchFamily="34" charset="-122"/>
                <a:cs typeface="Calibri" pitchFamily="34" charset="-120"/>
              </a:rPr>
              <a:t>Mechanism questions are valuable but demand more assumptions than total-effect questions. Be explicit that you are climbing to a harder rung.</a:t>
            </a:r>
            <a:endParaRPr lang="en-US" sz="13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ADVANCED · IDENTIFICATION</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170  /  221</a:t>
            </a:r>
            <a:endParaRPr lang="en-US" sz="9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ADVANCED · IDENTIFICATION</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Time-Varying Treatments &amp; g-Methods</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When treatment and confounders evolve over time and influence each other, standard regression fails — even with the ‘right’ controls.</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trap</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 time-varying confounder that is also affected by past treatment is a confounder and a mediator at once; adjusting for it biases the effect either way.</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tools</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g-computation, marginal structural models with IPW, and g-estimation handle the feedback correctly.</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Where it matters</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Sequential decisions — dynamic treatment regimes, repeated interventions, longitudinal policy — need g-methods, not plain regression.</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ADVANCED · IDENTIFICATION</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171  /  221</a:t>
            </a:r>
            <a:endParaRPr lang="en-US" sz="90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ADVANCED · IDENTIFICATION</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Double / Debiased Machine Learning</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How to use flexible ML for nuisance functions without contaminating the effect estimate.</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Neyman orthogonality</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Build the estimator so small errors in the nuisance models do not, to first order, bias the effect.</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Cross-fitting</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Estimate nuisances on one fold and the effect on another, breaking the over-fitting that would invalidate inference.</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payoff</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Gradient boosting, forests, or neural nets can model E[Y|X] and e(x) while the effect keeps valid confidence intervals.</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WHY IT WORKS</a:t>
            </a:r>
            <a:endParaRPr lang="en-US" sz="1100" dirty="0"/>
          </a:p>
        </p:txBody>
      </p:sp>
      <p:sp>
        <p:nvSpPr>
          <p:cNvPr id="16" name="Text 14"/>
          <p:cNvSpPr/>
          <p:nvPr/>
        </p:nvSpPr>
        <p:spPr>
          <a:xfrm>
            <a:off x="7744968" y="2331720"/>
            <a:ext cx="3605479" cy="1097280"/>
          </a:xfrm>
          <a:prstGeom prst="rect">
            <a:avLst/>
          </a:prstGeom>
          <a:noFill/>
          <a:ln/>
        </p:spPr>
        <p:txBody>
          <a:bodyPr wrap="square" lIns="0" tIns="0" rIns="0" bIns="0" rtlCol="0" anchor="t"/>
          <a:lstStyle/>
          <a:p>
            <a:pPr marL="0" indent="0">
              <a:buNone/>
            </a:pPr>
            <a:r>
              <a:rPr lang="en-US" sz="5400" b="1" dirty="0">
                <a:solidFill>
                  <a:srgbClr val="16233F"/>
                </a:solidFill>
                <a:latin typeface="Cambria" pitchFamily="34" charset="0"/>
                <a:ea typeface="Cambria" pitchFamily="34" charset="-122"/>
                <a:cs typeface="Cambria" pitchFamily="34" charset="-120"/>
              </a:rPr>
              <a:t>⊥ + split</a:t>
            </a:r>
            <a:endParaRPr lang="en-US" sz="5400" dirty="0"/>
          </a:p>
        </p:txBody>
      </p:sp>
      <p:sp>
        <p:nvSpPr>
          <p:cNvPr id="17" name="Text 15"/>
          <p:cNvSpPr/>
          <p:nvPr/>
        </p:nvSpPr>
        <p:spPr>
          <a:xfrm>
            <a:off x="7744968" y="3520440"/>
            <a:ext cx="3605479" cy="2103120"/>
          </a:xfrm>
          <a:prstGeom prst="rect">
            <a:avLst/>
          </a:prstGeom>
          <a:noFill/>
          <a:ln/>
        </p:spPr>
        <p:txBody>
          <a:bodyPr wrap="square" lIns="0" tIns="0" rIns="0" bIns="0" rtlCol="0" anchor="t"/>
          <a:lstStyle/>
          <a:p>
            <a:pPr marL="0" indent="0">
              <a:lnSpc>
                <a:spcPct val="120000"/>
              </a:lnSpc>
              <a:buNone/>
            </a:pPr>
            <a:r>
              <a:rPr lang="en-US" sz="1300" dirty="0">
                <a:solidFill>
                  <a:srgbClr val="566581"/>
                </a:solidFill>
                <a:latin typeface="Calibri" pitchFamily="34" charset="0"/>
                <a:ea typeface="Calibri" pitchFamily="34" charset="-122"/>
                <a:cs typeface="Calibri" pitchFamily="34" charset="-120"/>
              </a:rPr>
              <a:t>Orthogonal scores plus cross-fitting are what let modern ML power causal estimates without the usual regularisation bias.</a:t>
            </a:r>
            <a:endParaRPr lang="en-US" sz="1300" dirty="0"/>
          </a:p>
        </p:txBody>
      </p:sp>
      <p:sp>
        <p:nvSpPr>
          <p:cNvPr id="18" name="Text 16"/>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ADVANCED · IDENTIFICATION</a:t>
            </a:r>
            <a:endParaRPr lang="en-US" sz="900" dirty="0"/>
          </a:p>
        </p:txBody>
      </p:sp>
      <p:sp>
        <p:nvSpPr>
          <p:cNvPr id="19" name="Text 17"/>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172  /  221</a:t>
            </a:r>
            <a:endParaRPr lang="en-US" sz="90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ADVANCED · IDENTIFICATION</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Causal Forests for Heterogeneity</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A principled way to estimate how the effect τ(x) varies — with honest uncertainty for each subgroup.</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Honest splitting</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Separate the data used to choose splits from the data used to estimate effects, avoiding over-fit CATEs.</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Local effects</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Each leaf yields a locally near-randomized comparison, giving an effect estimate conditioned on covariates.</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Uses</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Targeting policies, identifying who benefits or is harmed, and surfacing effect modifiers to test next.</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ADVANCED · IDENTIFICATION</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173  /  221</a:t>
            </a:r>
            <a:endParaRPr lang="en-US" sz="90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ADVANCED · IDENTIFICATION</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From CATE to Policy</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Estimating heterogeneous effects is a means; the end is a decision rule about whom to treat.</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Policy learning</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Turn τ(x) into a treatment rule that maximises total benefit subject to budget or fairness constraints.</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Uplift, not response</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Target those the treatment changes (high uplift), not those with high outcomes regardless — a common, costly confusion.</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Evaluate the policy</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Estimate the value of a learned rule with a held-out set or a follow-up experiment before deploying it.</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TARGETING INSIGHT</a:t>
            </a:r>
            <a:endParaRPr lang="en-US" sz="1100" dirty="0"/>
          </a:p>
        </p:txBody>
      </p:sp>
      <p:sp>
        <p:nvSpPr>
          <p:cNvPr id="16" name="Text 14"/>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dirty="0">
                <a:solidFill>
                  <a:srgbClr val="16233F"/>
                </a:solidFill>
                <a:latin typeface="Calibri" pitchFamily="34" charset="0"/>
                <a:ea typeface="Calibri" pitchFamily="34" charset="-122"/>
                <a:cs typeface="Calibri" pitchFamily="34" charset="-120"/>
              </a:rPr>
              <a:t>Ranking users by predicted outcome and ranking by predicted uplift give different lists. Only the uplift list improves the decision.</a:t>
            </a:r>
            <a:endParaRPr lang="en-US" sz="13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ADVANCED · IDENTIFICATION</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174  /  221</a:t>
            </a:r>
            <a:endParaRPr lang="en-US" sz="90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ADVANCED · MEASUREMENT</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Long-Run Effects &amp; Measurement</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Surrogates, novelty, regression to the mean, and combining evidence across studies.</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ADVANCED</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175  /  221</a:t>
            </a:r>
            <a:endParaRPr lang="en-US" sz="90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ADVANCED · MEASUREMENT</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Short-Term Proxies &amp; Surrogate Metrics</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Decisions are often about long-run outcomes we cannot wait to measure — so we lean on surrogates, at our peril.</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temptation</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Use an early, fast-moving proxy (clicks) to predict a slow, real goal (retention, lifetime value).</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surrogacy condition</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 valid surrogate fully mediates the treatment's effect on the true outcome — a strong, checkable-in-part assumption.</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risk</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Optimising a broken surrogate can move the proxy while harming the real goal (proxy gaming).</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ADVANCED · MEASUREMENT</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176  /  221</a:t>
            </a:r>
            <a:endParaRPr lang="en-US" sz="90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ADVANCED · MEASUREMENT</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Novelty &amp; Primacy Effects</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Users react to change itself, not only to the treatment — and those reactions fade.</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Novelty effect</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 transient boost as users engage with something new; it decays toward the true steady-state effect.</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Primacy effect</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 transient dip as users adjust to a change; the true effect emerges only after adaptation.</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design response</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Run to steady state, pre-register the evaluation window, and consider a long-run holdback to measure durable impact.</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ESTIMAND INCLUDES TIME</a:t>
            </a:r>
            <a:endParaRPr lang="en-US" sz="1100" dirty="0"/>
          </a:p>
        </p:txBody>
      </p:sp>
      <p:sp>
        <p:nvSpPr>
          <p:cNvPr id="16" name="Text 14"/>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dirty="0">
                <a:solidFill>
                  <a:srgbClr val="16233F"/>
                </a:solidFill>
                <a:latin typeface="Calibri" pitchFamily="34" charset="0"/>
                <a:ea typeface="Calibri" pitchFamily="34" charset="-122"/>
                <a:cs typeface="Calibri" pitchFamily="34" charset="-120"/>
              </a:rPr>
              <a:t>‘Effect at week one’ and ‘effect at steady state’ are different quantities. Decide which the decision needs before you launch.</a:t>
            </a:r>
            <a:endParaRPr lang="en-US" sz="13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ADVANCED · MEASUREMENT</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177  /  221</a:t>
            </a:r>
            <a:endParaRPr lang="en-US" sz="90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ADVANCED · MEASUREMENT</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Regression to the Mean</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Selecting units because they were extreme, then re-measuring, guarantees apparent improvement — with no treatment at all.</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mechanism</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Extreme observations contain extreme noise; on re-measurement, the noise averages out and values move toward the mean.</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false story</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Targeting ‘worst performers’ for an intervention then seeing them improve can be pure regression to the mean.</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control</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 randomized control group experiences the same regression, so the between-arm difference remains a valid effect.</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ADVANCED · MEASUREMENT</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178  /  221</a:t>
            </a:r>
            <a:endParaRPr lang="en-US" sz="90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ADVANCED · MEASUREMENT</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Combining Evidence Across Experiments</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One experiment is a data point; a programme of experiments is knowledge — if combined correctly.</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Meta-analysis</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Pool effects across studies with proper weighting; model between-study heterogeneity rather than assuming one true effect.</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Hierarchical shrinkage</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Partial pooling stabilises noisy individual estimates and tempers the winner's curse across many tests.</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Institutional memory</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 searchable experiment repository turns scattered results into compounding organisational learning.</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ADVANCED · MEASUREMENT</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179  /  221</a:t>
            </a:r>
            <a:endParaRPr lang="en-US" sz="90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ADVANCED · MEASUREMENT</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A Catalogue of Causal Fallacies</a:t>
            </a:r>
            <a:endParaRPr lang="en-US" sz="3400" dirty="0"/>
          </a:p>
        </p:txBody>
      </p:sp>
      <p:sp>
        <p:nvSpPr>
          <p:cNvPr id="4" name="Text 2"/>
          <p:cNvSpPr/>
          <p:nvPr/>
        </p:nvSpPr>
        <p:spPr>
          <a:xfrm>
            <a:off x="566928" y="1737360"/>
            <a:ext cx="11057839" cy="64008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Named errors are easier to catch. Keep this list at hand during reviews.</a:t>
            </a:r>
            <a:endParaRPr lang="en-US" sz="1450" dirty="0"/>
          </a:p>
        </p:txBody>
      </p:sp>
      <p:sp>
        <p:nvSpPr>
          <p:cNvPr id="5" name="Shape 3"/>
          <p:cNvSpPr/>
          <p:nvPr/>
        </p:nvSpPr>
        <p:spPr>
          <a:xfrm>
            <a:off x="566928" y="2578608"/>
            <a:ext cx="137160" cy="137160"/>
          </a:xfrm>
          <a:prstGeom prst="ellipse">
            <a:avLst/>
          </a:prstGeom>
          <a:solidFill>
            <a:srgbClr val="3FA9E0"/>
          </a:solidFill>
          <a:ln/>
        </p:spPr>
        <p:txBody>
          <a:bodyPr/>
          <a:lstStyle/>
          <a:p>
            <a:endParaRPr lang="en-SA"/>
          </a:p>
        </p:txBody>
      </p:sp>
      <p:sp>
        <p:nvSpPr>
          <p:cNvPr id="6" name="Text 4"/>
          <p:cNvSpPr/>
          <p:nvPr/>
        </p:nvSpPr>
        <p:spPr>
          <a:xfrm>
            <a:off x="841248" y="251460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Post hoc ergo propter hoc — ‘after, therefore because of’; sequence mistaken for cause.</a:t>
            </a:r>
            <a:endParaRPr lang="en-US" sz="1400" dirty="0"/>
          </a:p>
        </p:txBody>
      </p:sp>
      <p:sp>
        <p:nvSpPr>
          <p:cNvPr id="7" name="Shape 5"/>
          <p:cNvSpPr/>
          <p:nvPr/>
        </p:nvSpPr>
        <p:spPr>
          <a:xfrm>
            <a:off x="566928" y="3180588"/>
            <a:ext cx="137160" cy="137160"/>
          </a:xfrm>
          <a:prstGeom prst="ellipse">
            <a:avLst/>
          </a:prstGeom>
          <a:solidFill>
            <a:srgbClr val="5A5BA6"/>
          </a:solidFill>
          <a:ln/>
        </p:spPr>
        <p:txBody>
          <a:bodyPr/>
          <a:lstStyle/>
          <a:p>
            <a:endParaRPr lang="en-SA"/>
          </a:p>
        </p:txBody>
      </p:sp>
      <p:sp>
        <p:nvSpPr>
          <p:cNvPr id="8" name="Text 6"/>
          <p:cNvSpPr/>
          <p:nvPr/>
        </p:nvSpPr>
        <p:spPr>
          <a:xfrm>
            <a:off x="841248" y="311658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Confounding by indication — who gets treated is driven by the very risk that drives the outcome.</a:t>
            </a:r>
            <a:endParaRPr lang="en-US" sz="1400" dirty="0"/>
          </a:p>
        </p:txBody>
      </p:sp>
      <p:sp>
        <p:nvSpPr>
          <p:cNvPr id="9" name="Shape 7"/>
          <p:cNvSpPr/>
          <p:nvPr/>
        </p:nvSpPr>
        <p:spPr>
          <a:xfrm>
            <a:off x="566928" y="3782568"/>
            <a:ext cx="137160" cy="137160"/>
          </a:xfrm>
          <a:prstGeom prst="ellipse">
            <a:avLst/>
          </a:prstGeom>
          <a:solidFill>
            <a:srgbClr val="EA7B38"/>
          </a:solidFill>
          <a:ln/>
        </p:spPr>
        <p:txBody>
          <a:bodyPr/>
          <a:lstStyle/>
          <a:p>
            <a:endParaRPr lang="en-SA"/>
          </a:p>
        </p:txBody>
      </p:sp>
      <p:sp>
        <p:nvSpPr>
          <p:cNvPr id="10" name="Text 8"/>
          <p:cNvSpPr/>
          <p:nvPr/>
        </p:nvSpPr>
        <p:spPr>
          <a:xfrm>
            <a:off x="841248" y="371856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Collider / selection bias — conditioning on a common effect invents association.</a:t>
            </a:r>
            <a:endParaRPr lang="en-US" sz="1400" dirty="0"/>
          </a:p>
        </p:txBody>
      </p:sp>
      <p:sp>
        <p:nvSpPr>
          <p:cNvPr id="11" name="Shape 9"/>
          <p:cNvSpPr/>
          <p:nvPr/>
        </p:nvSpPr>
        <p:spPr>
          <a:xfrm>
            <a:off x="566928" y="4384548"/>
            <a:ext cx="137160" cy="137160"/>
          </a:xfrm>
          <a:prstGeom prst="ellipse">
            <a:avLst/>
          </a:prstGeom>
          <a:solidFill>
            <a:srgbClr val="3E9B90"/>
          </a:solidFill>
          <a:ln/>
        </p:spPr>
        <p:txBody>
          <a:bodyPr/>
          <a:lstStyle/>
          <a:p>
            <a:endParaRPr lang="en-SA"/>
          </a:p>
        </p:txBody>
      </p:sp>
      <p:sp>
        <p:nvSpPr>
          <p:cNvPr id="12" name="Text 10"/>
          <p:cNvSpPr/>
          <p:nvPr/>
        </p:nvSpPr>
        <p:spPr>
          <a:xfrm>
            <a:off x="841248" y="432054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Survivorship bias — analysing only the units that remained, ignoring those that dropped out.</a:t>
            </a:r>
            <a:endParaRPr lang="en-US" sz="1400" dirty="0"/>
          </a:p>
        </p:txBody>
      </p:sp>
      <p:sp>
        <p:nvSpPr>
          <p:cNvPr id="13" name="Shape 11"/>
          <p:cNvSpPr/>
          <p:nvPr/>
        </p:nvSpPr>
        <p:spPr>
          <a:xfrm>
            <a:off x="566928" y="4986528"/>
            <a:ext cx="137160" cy="137160"/>
          </a:xfrm>
          <a:prstGeom prst="ellipse">
            <a:avLst/>
          </a:prstGeom>
          <a:solidFill>
            <a:srgbClr val="73BB59"/>
          </a:solidFill>
          <a:ln/>
        </p:spPr>
        <p:txBody>
          <a:bodyPr/>
          <a:lstStyle/>
          <a:p>
            <a:endParaRPr lang="en-SA"/>
          </a:p>
        </p:txBody>
      </p:sp>
      <p:sp>
        <p:nvSpPr>
          <p:cNvPr id="14" name="Text 12"/>
          <p:cNvSpPr/>
          <p:nvPr/>
        </p:nvSpPr>
        <p:spPr>
          <a:xfrm>
            <a:off x="841248" y="492252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Immortal time bias — mis-classifying a period during which the outcome could not occur.</a:t>
            </a:r>
            <a:endParaRPr lang="en-US" sz="1400" dirty="0"/>
          </a:p>
        </p:txBody>
      </p:sp>
      <p:sp>
        <p:nvSpPr>
          <p:cNvPr id="15" name="Shape 13"/>
          <p:cNvSpPr/>
          <p:nvPr/>
        </p:nvSpPr>
        <p:spPr>
          <a:xfrm>
            <a:off x="566928" y="5588508"/>
            <a:ext cx="137160" cy="137160"/>
          </a:xfrm>
          <a:prstGeom prst="ellipse">
            <a:avLst/>
          </a:prstGeom>
          <a:solidFill>
            <a:srgbClr val="3FA9E0"/>
          </a:solidFill>
          <a:ln/>
        </p:spPr>
        <p:txBody>
          <a:bodyPr/>
          <a:lstStyle/>
          <a:p>
            <a:endParaRPr lang="en-SA"/>
          </a:p>
        </p:txBody>
      </p:sp>
      <p:sp>
        <p:nvSpPr>
          <p:cNvPr id="16" name="Text 14"/>
          <p:cNvSpPr/>
          <p:nvPr/>
        </p:nvSpPr>
        <p:spPr>
          <a:xfrm>
            <a:off x="841248" y="552450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Ecological fallacy — inferring individual effects from group-level correlations.</a:t>
            </a:r>
            <a:endParaRPr lang="en-US" sz="140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ADVANCED · MEASUREMENT</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180  /  221</a:t>
            </a:r>
            <a:endParaRPr lang="en-US" sz="90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ADVANCED · MEASUREMENT</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Communicating a Causal Result</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The last mile: turning a defensible estimate into a decision a stakeholder can own.</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Lead with the decision</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State the recommendation and the effect in the metric's real units before any methodology.</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Show the interval and the assumption</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Pair the estimate with its interval and the single load-bearing assumption, in plain language.</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Make the risk visible</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Say how the decision would change if the key assumption failed — so the reader owns the residual risk.</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THE TEST OF A REPORT</a:t>
            </a:r>
            <a:endParaRPr lang="en-US" sz="1100" dirty="0"/>
          </a:p>
        </p:txBody>
      </p:sp>
      <p:sp>
        <p:nvSpPr>
          <p:cNvPr id="16" name="Text 14"/>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i="1" dirty="0">
                <a:solidFill>
                  <a:srgbClr val="16233F"/>
                </a:solidFill>
                <a:latin typeface="Calibri" pitchFamily="34" charset="0"/>
                <a:ea typeface="Calibri" pitchFamily="34" charset="-122"/>
                <a:cs typeface="Calibri" pitchFamily="34" charset="-120"/>
              </a:rPr>
              <a:t>A skeptical reader should be able to find, in under a minute, the estimand, the interval, the key assumption, and the sensitivity. If they cannot, rewrite it.</a:t>
            </a:r>
            <a:endParaRPr lang="en-US" sz="13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ADVANCED · MEASUREMENT</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181  /  221</a:t>
            </a:r>
            <a:endParaRPr lang="en-US" sz="90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914400"/>
            <a:ext cx="1828800" cy="1371600"/>
          </a:xfrm>
          <a:prstGeom prst="rect">
            <a:avLst/>
          </a:prstGeom>
          <a:noFill/>
          <a:ln/>
        </p:spPr>
        <p:txBody>
          <a:bodyPr wrap="square" lIns="0" tIns="0" rIns="0" bIns="0" rtlCol="0" anchor="ctr"/>
          <a:lstStyle/>
          <a:p>
            <a:pPr marL="0" indent="0">
              <a:buNone/>
            </a:pPr>
            <a:r>
              <a:rPr lang="en-US" sz="12000" b="1" dirty="0">
                <a:solidFill>
                  <a:srgbClr val="3FA9E0"/>
                </a:solidFill>
                <a:latin typeface="Cambria" pitchFamily="34" charset="0"/>
                <a:ea typeface="Cambria" pitchFamily="34" charset="-122"/>
                <a:cs typeface="Cambria" pitchFamily="34" charset="-120"/>
              </a:rPr>
              <a:t>“</a:t>
            </a:r>
            <a:endParaRPr lang="en-US" sz="12000" dirty="0"/>
          </a:p>
        </p:txBody>
      </p:sp>
      <p:sp>
        <p:nvSpPr>
          <p:cNvPr id="3" name="Text 1"/>
          <p:cNvSpPr/>
          <p:nvPr/>
        </p:nvSpPr>
        <p:spPr>
          <a:xfrm>
            <a:off x="749808" y="2194560"/>
            <a:ext cx="10515600" cy="2377440"/>
          </a:xfrm>
          <a:prstGeom prst="rect">
            <a:avLst/>
          </a:prstGeom>
          <a:noFill/>
          <a:ln/>
        </p:spPr>
        <p:txBody>
          <a:bodyPr wrap="square" lIns="0" tIns="0" rIns="0" bIns="0" rtlCol="0" anchor="t"/>
          <a:lstStyle/>
          <a:p>
            <a:pPr marL="0" indent="0">
              <a:lnSpc>
                <a:spcPct val="112000"/>
              </a:lnSpc>
              <a:buNone/>
            </a:pPr>
            <a:r>
              <a:rPr lang="en-US" sz="3000" i="1" dirty="0">
                <a:solidFill>
                  <a:srgbClr val="FFFFFF"/>
                </a:solidFill>
                <a:latin typeface="Cambria" pitchFamily="34" charset="0"/>
                <a:ea typeface="Cambria" pitchFamily="34" charset="-122"/>
                <a:cs typeface="Cambria" pitchFamily="34" charset="-120"/>
              </a:rPr>
              <a:t>Every method in this course is a different answer to one question: how do we see the outcome that did not happen?</a:t>
            </a:r>
            <a:endParaRPr lang="en-US" sz="3000" dirty="0"/>
          </a:p>
        </p:txBody>
      </p:sp>
      <p:sp>
        <p:nvSpPr>
          <p:cNvPr id="4" name="Shape 2"/>
          <p:cNvSpPr/>
          <p:nvPr/>
        </p:nvSpPr>
        <p:spPr>
          <a:xfrm>
            <a:off x="749808" y="4846320"/>
            <a:ext cx="1371600" cy="0"/>
          </a:xfrm>
          <a:prstGeom prst="line">
            <a:avLst/>
          </a:prstGeom>
          <a:noFill/>
          <a:ln w="25400">
            <a:solidFill>
              <a:srgbClr val="3FA9E0"/>
            </a:solidFill>
            <a:prstDash val="solid"/>
          </a:ln>
        </p:spPr>
        <p:txBody>
          <a:bodyPr/>
          <a:lstStyle/>
          <a:p>
            <a:endParaRPr lang="en-SA"/>
          </a:p>
        </p:txBody>
      </p:sp>
      <p:sp>
        <p:nvSpPr>
          <p:cNvPr id="5" name="Text 3"/>
          <p:cNvSpPr/>
          <p:nvPr/>
        </p:nvSpPr>
        <p:spPr>
          <a:xfrm>
            <a:off x="749808" y="5029200"/>
            <a:ext cx="9144000" cy="365760"/>
          </a:xfrm>
          <a:prstGeom prst="rect">
            <a:avLst/>
          </a:prstGeom>
          <a:noFill/>
          <a:ln/>
        </p:spPr>
        <p:txBody>
          <a:bodyPr wrap="square" lIns="0" tIns="0" rIns="0" bIns="0" rtlCol="0" anchor="ctr"/>
          <a:lstStyle/>
          <a:p>
            <a:pPr marL="0" indent="0">
              <a:buNone/>
            </a:pPr>
            <a:r>
              <a:rPr lang="en-US" sz="1500" b="1" dirty="0">
                <a:solidFill>
                  <a:srgbClr val="C9DAF0"/>
                </a:solidFill>
                <a:latin typeface="Calibri" pitchFamily="34" charset="0"/>
                <a:ea typeface="Calibri" pitchFamily="34" charset="-122"/>
                <a:cs typeface="Calibri" pitchFamily="34" charset="-120"/>
              </a:rPr>
              <a:t>The through-line of causal inference</a:t>
            </a:r>
            <a:endParaRPr lang="en-US" sz="1500" dirty="0"/>
          </a:p>
        </p:txBody>
      </p:sp>
      <p:sp>
        <p:nvSpPr>
          <p:cNvPr id="6" name="Text 4"/>
          <p:cNvSpPr/>
          <p:nvPr/>
        </p:nvSpPr>
        <p:spPr>
          <a:xfrm>
            <a:off x="749808" y="5394960"/>
            <a:ext cx="9144000" cy="365760"/>
          </a:xfrm>
          <a:prstGeom prst="rect">
            <a:avLst/>
          </a:prstGeom>
          <a:noFill/>
          <a:ln/>
        </p:spPr>
        <p:txBody>
          <a:bodyPr wrap="square" lIns="0" tIns="0" rIns="0" bIns="0" rtlCol="0" anchor="ctr"/>
          <a:lstStyle/>
          <a:p>
            <a:pPr marL="0" indent="0">
              <a:buNone/>
            </a:pPr>
            <a:r>
              <a:rPr lang="en-US" sz="1250" dirty="0">
                <a:solidFill>
                  <a:srgbClr val="9FB0C8"/>
                </a:solidFill>
                <a:latin typeface="Calibri" pitchFamily="34" charset="0"/>
                <a:ea typeface="Calibri" pitchFamily="34" charset="-122"/>
                <a:cs typeface="Calibri" pitchFamily="34" charset="-120"/>
              </a:rPr>
              <a:t>From potential outcomes to policy</a:t>
            </a:r>
            <a:endParaRPr lang="en-US" sz="1250" dirty="0"/>
          </a:p>
        </p:txBody>
      </p:sp>
      <p:sp>
        <p:nvSpPr>
          <p:cNvPr id="7" name="Text 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ADVANCED</a:t>
            </a:r>
            <a:endParaRPr lang="en-US" sz="900" dirty="0"/>
          </a:p>
        </p:txBody>
      </p:sp>
      <p:sp>
        <p:nvSpPr>
          <p:cNvPr id="8" name="Text 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182  /  221</a:t>
            </a:r>
            <a:endParaRPr lang="en-US" sz="90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PART 5</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Reference, Toolkit &amp; Extended Examples</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A working reference: extended numerical walkthroughs, cheat-sheets, checklists, professional-practice notes, glossary, and facilitator materials.</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REFERENCE</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183  /  221</a:t>
            </a:r>
            <a:endParaRPr lang="en-US" sz="90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REFERENCE · WORKED EXAMPLES</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Extended Numerical Walkthroughs</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Six estimators, each carried through concrete numbers you can reproduce in the labs.</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REFERENCE</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184  /  221</a:t>
            </a:r>
            <a:endParaRPr lang="en-US" sz="90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WORKED EXAMPLE · MATCHING</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Propensity Matching, Step by Step</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Estimating the ATT by matching each treated unit to its nearest control on the propensity score.</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1 · Fit the propensity model</a:t>
            </a:r>
            <a:endParaRPr lang="en-US" sz="1500" dirty="0"/>
          </a:p>
        </p:txBody>
      </p:sp>
      <p:sp>
        <p:nvSpPr>
          <p:cNvPr id="7" name="Text 5"/>
          <p:cNvSpPr/>
          <p:nvPr/>
        </p:nvSpPr>
        <p:spPr>
          <a:xfrm>
            <a:off x="859536" y="283464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Model e(x)=P(T=1|X) (e.g. logistic or gradient boosting) using only pre-treatment covariates.</a:t>
            </a:r>
            <a:endParaRPr lang="en-US" sz="1250" dirty="0"/>
          </a:p>
        </p:txBody>
      </p:sp>
      <p:sp>
        <p:nvSpPr>
          <p:cNvPr id="8" name="Shape 6"/>
          <p:cNvSpPr/>
          <p:nvPr/>
        </p:nvSpPr>
        <p:spPr>
          <a:xfrm>
            <a:off x="566928" y="3506724"/>
            <a:ext cx="146304" cy="146304"/>
          </a:xfrm>
          <a:prstGeom prst="ellipse">
            <a:avLst/>
          </a:prstGeom>
          <a:solidFill>
            <a:srgbClr val="5A5BA6"/>
          </a:solidFill>
          <a:ln/>
        </p:spPr>
        <p:txBody>
          <a:bodyPr/>
          <a:lstStyle/>
          <a:p>
            <a:endParaRPr lang="en-SA"/>
          </a:p>
        </p:txBody>
      </p:sp>
      <p:sp>
        <p:nvSpPr>
          <p:cNvPr id="9" name="Text 7"/>
          <p:cNvSpPr/>
          <p:nvPr/>
        </p:nvSpPr>
        <p:spPr>
          <a:xfrm>
            <a:off x="859536" y="345186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2 · Match on the score</a:t>
            </a:r>
            <a:endParaRPr lang="en-US" sz="1500" dirty="0"/>
          </a:p>
        </p:txBody>
      </p:sp>
      <p:sp>
        <p:nvSpPr>
          <p:cNvPr id="10" name="Text 8"/>
          <p:cNvSpPr/>
          <p:nvPr/>
        </p:nvSpPr>
        <p:spPr>
          <a:xfrm>
            <a:off x="859536" y="372618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For each treated unit, find the nearest control by |ê(xᵢ) − ê(xⱼ)| within a caliper (e.g. 0.2 × SD of the logit).</a:t>
            </a:r>
            <a:endParaRPr lang="en-US" sz="1250" dirty="0"/>
          </a:p>
        </p:txBody>
      </p:sp>
      <p:sp>
        <p:nvSpPr>
          <p:cNvPr id="11" name="Shape 9"/>
          <p:cNvSpPr/>
          <p:nvPr/>
        </p:nvSpPr>
        <p:spPr>
          <a:xfrm>
            <a:off x="566928" y="4398264"/>
            <a:ext cx="146304" cy="146304"/>
          </a:xfrm>
          <a:prstGeom prst="ellipse">
            <a:avLst/>
          </a:prstGeom>
          <a:solidFill>
            <a:srgbClr val="EA7B38"/>
          </a:solidFill>
          <a:ln/>
        </p:spPr>
        <p:txBody>
          <a:bodyPr/>
          <a:lstStyle/>
          <a:p>
            <a:endParaRPr lang="en-SA"/>
          </a:p>
        </p:txBody>
      </p:sp>
      <p:sp>
        <p:nvSpPr>
          <p:cNvPr id="12" name="Text 10"/>
          <p:cNvSpPr/>
          <p:nvPr/>
        </p:nvSpPr>
        <p:spPr>
          <a:xfrm>
            <a:off x="859536" y="434340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3 · Check balance</a:t>
            </a:r>
            <a:endParaRPr lang="en-US" sz="1500" dirty="0"/>
          </a:p>
        </p:txBody>
      </p:sp>
      <p:sp>
        <p:nvSpPr>
          <p:cNvPr id="13" name="Text 11"/>
          <p:cNvSpPr/>
          <p:nvPr/>
        </p:nvSpPr>
        <p:spPr>
          <a:xfrm>
            <a:off x="859536" y="461772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Compute standardized mean differences after matching; all should fall below 0.1 for a credible comparison.</a:t>
            </a:r>
            <a:endParaRPr lang="en-US" sz="1250" dirty="0"/>
          </a:p>
        </p:txBody>
      </p:sp>
      <p:sp>
        <p:nvSpPr>
          <p:cNvPr id="14" name="Shape 12"/>
          <p:cNvSpPr/>
          <p:nvPr/>
        </p:nvSpPr>
        <p:spPr>
          <a:xfrm>
            <a:off x="566928" y="5289804"/>
            <a:ext cx="146304" cy="146304"/>
          </a:xfrm>
          <a:prstGeom prst="ellipse">
            <a:avLst/>
          </a:prstGeom>
          <a:solidFill>
            <a:srgbClr val="3E9B90"/>
          </a:solidFill>
          <a:ln/>
        </p:spPr>
        <p:txBody>
          <a:bodyPr/>
          <a:lstStyle/>
          <a:p>
            <a:endParaRPr lang="en-SA"/>
          </a:p>
        </p:txBody>
      </p:sp>
      <p:sp>
        <p:nvSpPr>
          <p:cNvPr id="15" name="Text 13"/>
          <p:cNvSpPr/>
          <p:nvPr/>
        </p:nvSpPr>
        <p:spPr>
          <a:xfrm>
            <a:off x="859536" y="523494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4 · Estimate the ATT</a:t>
            </a:r>
            <a:endParaRPr lang="en-US" sz="1500" dirty="0"/>
          </a:p>
        </p:txBody>
      </p:sp>
      <p:sp>
        <p:nvSpPr>
          <p:cNvPr id="16" name="Text 14"/>
          <p:cNvSpPr/>
          <p:nvPr/>
        </p:nvSpPr>
        <p:spPr>
          <a:xfrm>
            <a:off x="859536" y="550926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Average the within-pair outcome differences; get the SE by a matching-appropriate method (not the naive bootstrap).</a:t>
            </a:r>
            <a:endParaRPr lang="en-US" sz="1250" dirty="0"/>
          </a:p>
        </p:txBody>
      </p:sp>
      <p:sp>
        <p:nvSpPr>
          <p:cNvPr id="17" name="Shape 15"/>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8" name="Text 16"/>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BALANCE TARGET</a:t>
            </a:r>
            <a:endParaRPr lang="en-US" sz="1100" dirty="0"/>
          </a:p>
        </p:txBody>
      </p:sp>
      <p:sp>
        <p:nvSpPr>
          <p:cNvPr id="19" name="Text 17"/>
          <p:cNvSpPr/>
          <p:nvPr/>
        </p:nvSpPr>
        <p:spPr>
          <a:xfrm>
            <a:off x="7744968" y="2331720"/>
            <a:ext cx="3605479" cy="1097280"/>
          </a:xfrm>
          <a:prstGeom prst="rect">
            <a:avLst/>
          </a:prstGeom>
          <a:noFill/>
          <a:ln/>
        </p:spPr>
        <p:txBody>
          <a:bodyPr wrap="square" lIns="0" tIns="0" rIns="0" bIns="0" rtlCol="0" anchor="t"/>
          <a:lstStyle/>
          <a:p>
            <a:pPr marL="0" indent="0">
              <a:buNone/>
            </a:pPr>
            <a:r>
              <a:rPr lang="en-US" sz="5400" b="1" dirty="0">
                <a:solidFill>
                  <a:srgbClr val="16233F"/>
                </a:solidFill>
                <a:latin typeface="Cambria" pitchFamily="34" charset="0"/>
                <a:ea typeface="Cambria" pitchFamily="34" charset="-122"/>
                <a:cs typeface="Cambria" pitchFamily="34" charset="-120"/>
              </a:rPr>
              <a:t>SMD&lt;0.1</a:t>
            </a:r>
            <a:endParaRPr lang="en-US" sz="5400" dirty="0"/>
          </a:p>
        </p:txBody>
      </p:sp>
      <p:sp>
        <p:nvSpPr>
          <p:cNvPr id="20" name="Text 18"/>
          <p:cNvSpPr/>
          <p:nvPr/>
        </p:nvSpPr>
        <p:spPr>
          <a:xfrm>
            <a:off x="7744968" y="3520440"/>
            <a:ext cx="3605479" cy="2103120"/>
          </a:xfrm>
          <a:prstGeom prst="rect">
            <a:avLst/>
          </a:prstGeom>
          <a:noFill/>
          <a:ln/>
        </p:spPr>
        <p:txBody>
          <a:bodyPr wrap="square" lIns="0" tIns="0" rIns="0" bIns="0" rtlCol="0" anchor="t"/>
          <a:lstStyle/>
          <a:p>
            <a:pPr marL="0" indent="0">
              <a:lnSpc>
                <a:spcPct val="120000"/>
              </a:lnSpc>
              <a:buNone/>
            </a:pPr>
            <a:r>
              <a:rPr lang="en-US" sz="1300" dirty="0">
                <a:solidFill>
                  <a:srgbClr val="566581"/>
                </a:solidFill>
                <a:latin typeface="Calibri" pitchFamily="34" charset="0"/>
                <a:ea typeface="Calibri" pitchFamily="34" charset="-122"/>
                <a:cs typeface="Calibri" pitchFamily="34" charset="-120"/>
              </a:rPr>
              <a:t>Matching is judged by the balance it achieves, not by the propensity model's accuracy. Report a love-plot of SMDs before and after.</a:t>
            </a:r>
            <a:endParaRPr lang="en-US" sz="1300" dirty="0"/>
          </a:p>
        </p:txBody>
      </p:sp>
      <p:sp>
        <p:nvSpPr>
          <p:cNvPr id="21" name="Text 19"/>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EXAMPLES</a:t>
            </a:r>
            <a:endParaRPr lang="en-US" sz="900" dirty="0"/>
          </a:p>
        </p:txBody>
      </p:sp>
      <p:sp>
        <p:nvSpPr>
          <p:cNvPr id="22" name="Text 20"/>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185  /  221</a:t>
            </a:r>
            <a:endParaRPr lang="en-US" sz="90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WORKED EXAMPLE · IPW</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Inverse-Probability Weights, Numerically</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How a propensity score becomes a weight — and why extremes are dangerous.</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Treated unit, ê=0.8</a:t>
            </a:r>
            <a:endParaRPr lang="en-US" sz="1500" dirty="0"/>
          </a:p>
        </p:txBody>
      </p:sp>
      <p:sp>
        <p:nvSpPr>
          <p:cNvPr id="7" name="Text 5"/>
          <p:cNvSpPr/>
          <p:nvPr/>
        </p:nvSpPr>
        <p:spPr>
          <a:xfrm>
            <a:off x="859536" y="283464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Weight = 1/0.8 = 1.25. A treated unit that ‘looks treated’ gets modest weight.</a:t>
            </a:r>
            <a:endParaRPr lang="en-US" sz="1250" dirty="0"/>
          </a:p>
        </p:txBody>
      </p:sp>
      <p:sp>
        <p:nvSpPr>
          <p:cNvPr id="8" name="Shape 6"/>
          <p:cNvSpPr/>
          <p:nvPr/>
        </p:nvSpPr>
        <p:spPr>
          <a:xfrm>
            <a:off x="566928" y="3506724"/>
            <a:ext cx="146304" cy="146304"/>
          </a:xfrm>
          <a:prstGeom prst="ellipse">
            <a:avLst/>
          </a:prstGeom>
          <a:solidFill>
            <a:srgbClr val="5A5BA6"/>
          </a:solidFill>
          <a:ln/>
        </p:spPr>
        <p:txBody>
          <a:bodyPr/>
          <a:lstStyle/>
          <a:p>
            <a:endParaRPr lang="en-SA"/>
          </a:p>
        </p:txBody>
      </p:sp>
      <p:sp>
        <p:nvSpPr>
          <p:cNvPr id="9" name="Text 7"/>
          <p:cNvSpPr/>
          <p:nvPr/>
        </p:nvSpPr>
        <p:spPr>
          <a:xfrm>
            <a:off x="859536" y="345186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Treated unit, ê=0.05</a:t>
            </a:r>
            <a:endParaRPr lang="en-US" sz="1500" dirty="0"/>
          </a:p>
        </p:txBody>
      </p:sp>
      <p:sp>
        <p:nvSpPr>
          <p:cNvPr id="10" name="Text 8"/>
          <p:cNvSpPr/>
          <p:nvPr/>
        </p:nvSpPr>
        <p:spPr>
          <a:xfrm>
            <a:off x="859536" y="372618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Weight = 1/0.05 = 20. A treated unit that ‘looks like a control’ dominates the estimate — a red flag.</a:t>
            </a:r>
            <a:endParaRPr lang="en-US" sz="1250" dirty="0"/>
          </a:p>
        </p:txBody>
      </p:sp>
      <p:sp>
        <p:nvSpPr>
          <p:cNvPr id="11" name="Shape 9"/>
          <p:cNvSpPr/>
          <p:nvPr/>
        </p:nvSpPr>
        <p:spPr>
          <a:xfrm>
            <a:off x="566928" y="4398264"/>
            <a:ext cx="146304" cy="146304"/>
          </a:xfrm>
          <a:prstGeom prst="ellipse">
            <a:avLst/>
          </a:prstGeom>
          <a:solidFill>
            <a:srgbClr val="EA7B38"/>
          </a:solidFill>
          <a:ln/>
        </p:spPr>
        <p:txBody>
          <a:bodyPr/>
          <a:lstStyle/>
          <a:p>
            <a:endParaRPr lang="en-SA"/>
          </a:p>
        </p:txBody>
      </p:sp>
      <p:sp>
        <p:nvSpPr>
          <p:cNvPr id="12" name="Text 10"/>
          <p:cNvSpPr/>
          <p:nvPr/>
        </p:nvSpPr>
        <p:spPr>
          <a:xfrm>
            <a:off x="859536" y="434340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Control unit, ê=0.9</a:t>
            </a:r>
            <a:endParaRPr lang="en-US" sz="1500" dirty="0"/>
          </a:p>
        </p:txBody>
      </p:sp>
      <p:sp>
        <p:nvSpPr>
          <p:cNvPr id="13" name="Text 11"/>
          <p:cNvSpPr/>
          <p:nvPr/>
        </p:nvSpPr>
        <p:spPr>
          <a:xfrm>
            <a:off x="859536" y="461772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Weight = 1/(1−0.9) = 10. Symmetrically, near-certain-treated controls get huge weight.</a:t>
            </a:r>
            <a:endParaRPr lang="en-US" sz="1250" dirty="0"/>
          </a:p>
        </p:txBody>
      </p:sp>
      <p:sp>
        <p:nvSpPr>
          <p:cNvPr id="14" name="Shape 12"/>
          <p:cNvSpPr/>
          <p:nvPr/>
        </p:nvSpPr>
        <p:spPr>
          <a:xfrm>
            <a:off x="566928" y="5289804"/>
            <a:ext cx="146304" cy="146304"/>
          </a:xfrm>
          <a:prstGeom prst="ellipse">
            <a:avLst/>
          </a:prstGeom>
          <a:solidFill>
            <a:srgbClr val="3E9B90"/>
          </a:solidFill>
          <a:ln/>
        </p:spPr>
        <p:txBody>
          <a:bodyPr/>
          <a:lstStyle/>
          <a:p>
            <a:endParaRPr lang="en-SA"/>
          </a:p>
        </p:txBody>
      </p:sp>
      <p:sp>
        <p:nvSpPr>
          <p:cNvPr id="15" name="Text 13"/>
          <p:cNvSpPr/>
          <p:nvPr/>
        </p:nvSpPr>
        <p:spPr>
          <a:xfrm>
            <a:off x="859536" y="523494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Stabilise</a:t>
            </a:r>
            <a:endParaRPr lang="en-US" sz="1500" dirty="0"/>
          </a:p>
        </p:txBody>
      </p:sp>
      <p:sp>
        <p:nvSpPr>
          <p:cNvPr id="16" name="Text 14"/>
          <p:cNvSpPr/>
          <p:nvPr/>
        </p:nvSpPr>
        <p:spPr>
          <a:xfrm>
            <a:off x="859536" y="550926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Multiply by the marginal treatment probability (stabilised weights) or trim/winsorise to tame the tail.</a:t>
            </a:r>
            <a:endParaRPr lang="en-US" sz="1250" dirty="0"/>
          </a:p>
        </p:txBody>
      </p:sp>
      <p:sp>
        <p:nvSpPr>
          <p:cNvPr id="17" name="Shape 15"/>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8" name="Text 16"/>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DIAGNOSTIC</a:t>
            </a:r>
            <a:endParaRPr lang="en-US" sz="1100" dirty="0"/>
          </a:p>
        </p:txBody>
      </p:sp>
      <p:sp>
        <p:nvSpPr>
          <p:cNvPr id="19" name="Text 17"/>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dirty="0">
                <a:solidFill>
                  <a:srgbClr val="16233F"/>
                </a:solidFill>
                <a:latin typeface="Calibri" pitchFamily="34" charset="0"/>
                <a:ea typeface="Calibri" pitchFamily="34" charset="-122"/>
                <a:cs typeface="Calibri" pitchFamily="34" charset="-120"/>
              </a:rPr>
              <a:t>Always print the max and 99th-percentile weight. A handful of weights above ~10 means your effective sample is a few units — revisit overlap.</a:t>
            </a:r>
            <a:endParaRPr lang="en-US" sz="1350" dirty="0"/>
          </a:p>
        </p:txBody>
      </p:sp>
      <p:sp>
        <p:nvSpPr>
          <p:cNvPr id="20" name="Text 18"/>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EXAMPLES</a:t>
            </a:r>
            <a:endParaRPr lang="en-US" sz="900" dirty="0"/>
          </a:p>
        </p:txBody>
      </p:sp>
      <p:sp>
        <p:nvSpPr>
          <p:cNvPr id="21" name="Text 19"/>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186  /  221</a:t>
            </a:r>
            <a:endParaRPr lang="en-US" sz="90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WORKED EXAMPLE · DID</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A 2×2 Difference-in-Differences Table</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The whole estimator in four numbers.</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cells</a:t>
            </a:r>
            <a:endParaRPr lang="en-US" sz="1500" dirty="0"/>
          </a:p>
        </p:txBody>
      </p:sp>
      <p:sp>
        <p:nvSpPr>
          <p:cNvPr id="7" name="Text 5"/>
          <p:cNvSpPr/>
          <p:nvPr/>
        </p:nvSpPr>
        <p:spPr>
          <a:xfrm>
            <a:off x="859536" y="283464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Treated: 40 (pre) → 52 (post). Control: 38 (pre) → 44 (post).</a:t>
            </a:r>
            <a:endParaRPr lang="en-US" sz="1250" dirty="0"/>
          </a:p>
        </p:txBody>
      </p:sp>
      <p:sp>
        <p:nvSpPr>
          <p:cNvPr id="8" name="Shape 6"/>
          <p:cNvSpPr/>
          <p:nvPr/>
        </p:nvSpPr>
        <p:spPr>
          <a:xfrm>
            <a:off x="566928" y="3506724"/>
            <a:ext cx="146304" cy="146304"/>
          </a:xfrm>
          <a:prstGeom prst="ellipse">
            <a:avLst/>
          </a:prstGeom>
          <a:solidFill>
            <a:srgbClr val="5A5BA6"/>
          </a:solidFill>
          <a:ln/>
        </p:spPr>
        <p:txBody>
          <a:bodyPr/>
          <a:lstStyle/>
          <a:p>
            <a:endParaRPr lang="en-SA"/>
          </a:p>
        </p:txBody>
      </p:sp>
      <p:sp>
        <p:nvSpPr>
          <p:cNvPr id="9" name="Text 7"/>
          <p:cNvSpPr/>
          <p:nvPr/>
        </p:nvSpPr>
        <p:spPr>
          <a:xfrm>
            <a:off x="859536" y="345186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First differences</a:t>
            </a:r>
            <a:endParaRPr lang="en-US" sz="1500" dirty="0"/>
          </a:p>
        </p:txBody>
      </p:sp>
      <p:sp>
        <p:nvSpPr>
          <p:cNvPr id="10" name="Text 8"/>
          <p:cNvSpPr/>
          <p:nvPr/>
        </p:nvSpPr>
        <p:spPr>
          <a:xfrm>
            <a:off x="859536" y="372618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Treated change = 52 − 40 = 12. Control change = 44 − 38 = 6.</a:t>
            </a:r>
            <a:endParaRPr lang="en-US" sz="1250" dirty="0"/>
          </a:p>
        </p:txBody>
      </p:sp>
      <p:sp>
        <p:nvSpPr>
          <p:cNvPr id="11" name="Shape 9"/>
          <p:cNvSpPr/>
          <p:nvPr/>
        </p:nvSpPr>
        <p:spPr>
          <a:xfrm>
            <a:off x="566928" y="4398264"/>
            <a:ext cx="146304" cy="146304"/>
          </a:xfrm>
          <a:prstGeom prst="ellipse">
            <a:avLst/>
          </a:prstGeom>
          <a:solidFill>
            <a:srgbClr val="EA7B38"/>
          </a:solidFill>
          <a:ln/>
        </p:spPr>
        <p:txBody>
          <a:bodyPr/>
          <a:lstStyle/>
          <a:p>
            <a:endParaRPr lang="en-SA"/>
          </a:p>
        </p:txBody>
      </p:sp>
      <p:sp>
        <p:nvSpPr>
          <p:cNvPr id="12" name="Text 10"/>
          <p:cNvSpPr/>
          <p:nvPr/>
        </p:nvSpPr>
        <p:spPr>
          <a:xfrm>
            <a:off x="859536" y="434340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double difference</a:t>
            </a:r>
            <a:endParaRPr lang="en-US" sz="1500" dirty="0"/>
          </a:p>
        </p:txBody>
      </p:sp>
      <p:sp>
        <p:nvSpPr>
          <p:cNvPr id="13" name="Text 11"/>
          <p:cNvSpPr/>
          <p:nvPr/>
        </p:nvSpPr>
        <p:spPr>
          <a:xfrm>
            <a:off x="859536" y="461772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DiD estimate = 12 − 6 = +6 — the effect, net of the common time trend of +6.</a:t>
            </a:r>
            <a:endParaRPr lang="en-US" sz="1250" dirty="0"/>
          </a:p>
        </p:txBody>
      </p:sp>
      <p:sp>
        <p:nvSpPr>
          <p:cNvPr id="14" name="Shape 12"/>
          <p:cNvSpPr/>
          <p:nvPr/>
        </p:nvSpPr>
        <p:spPr>
          <a:xfrm>
            <a:off x="566928" y="5289804"/>
            <a:ext cx="146304" cy="146304"/>
          </a:xfrm>
          <a:prstGeom prst="ellipse">
            <a:avLst/>
          </a:prstGeom>
          <a:solidFill>
            <a:srgbClr val="3E9B90"/>
          </a:solidFill>
          <a:ln/>
        </p:spPr>
        <p:txBody>
          <a:bodyPr/>
          <a:lstStyle/>
          <a:p>
            <a:endParaRPr lang="en-SA"/>
          </a:p>
        </p:txBody>
      </p:sp>
      <p:sp>
        <p:nvSpPr>
          <p:cNvPr id="15" name="Text 13"/>
          <p:cNvSpPr/>
          <p:nvPr/>
        </p:nvSpPr>
        <p:spPr>
          <a:xfrm>
            <a:off x="859536" y="523494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assumption</a:t>
            </a:r>
            <a:endParaRPr lang="en-US" sz="1500" dirty="0"/>
          </a:p>
        </p:txBody>
      </p:sp>
      <p:sp>
        <p:nvSpPr>
          <p:cNvPr id="16" name="Text 14"/>
          <p:cNvSpPr/>
          <p:nvPr/>
        </p:nvSpPr>
        <p:spPr>
          <a:xfrm>
            <a:off x="859536" y="550926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Valid only if, absent treatment, the treated group would also have risen by +6 (parallel trends).</a:t>
            </a:r>
            <a:endParaRPr lang="en-US" sz="1250" dirty="0"/>
          </a:p>
        </p:txBody>
      </p:sp>
      <p:sp>
        <p:nvSpPr>
          <p:cNvPr id="17" name="Shape 15"/>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8" name="Text 16"/>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DID</a:t>
            </a:r>
            <a:endParaRPr lang="en-US" sz="1100" dirty="0"/>
          </a:p>
        </p:txBody>
      </p:sp>
      <p:sp>
        <p:nvSpPr>
          <p:cNvPr id="19" name="Text 17"/>
          <p:cNvSpPr/>
          <p:nvPr/>
        </p:nvSpPr>
        <p:spPr>
          <a:xfrm>
            <a:off x="7744968" y="2331720"/>
            <a:ext cx="3605479" cy="1097280"/>
          </a:xfrm>
          <a:prstGeom prst="rect">
            <a:avLst/>
          </a:prstGeom>
          <a:noFill/>
          <a:ln/>
        </p:spPr>
        <p:txBody>
          <a:bodyPr wrap="square" lIns="0" tIns="0" rIns="0" bIns="0" rtlCol="0" anchor="t"/>
          <a:lstStyle/>
          <a:p>
            <a:pPr marL="0" indent="0">
              <a:buNone/>
            </a:pPr>
            <a:r>
              <a:rPr lang="en-US" sz="5400" b="1" dirty="0">
                <a:solidFill>
                  <a:srgbClr val="16233F"/>
                </a:solidFill>
                <a:latin typeface="Cambria" pitchFamily="34" charset="0"/>
                <a:ea typeface="Cambria" pitchFamily="34" charset="-122"/>
                <a:cs typeface="Cambria" pitchFamily="34" charset="-120"/>
              </a:rPr>
              <a:t>12 − 6</a:t>
            </a:r>
            <a:endParaRPr lang="en-US" sz="5400" dirty="0"/>
          </a:p>
        </p:txBody>
      </p:sp>
      <p:sp>
        <p:nvSpPr>
          <p:cNvPr id="20" name="Text 18"/>
          <p:cNvSpPr/>
          <p:nvPr/>
        </p:nvSpPr>
        <p:spPr>
          <a:xfrm>
            <a:off x="7744968" y="3520440"/>
            <a:ext cx="3605479" cy="2103120"/>
          </a:xfrm>
          <a:prstGeom prst="rect">
            <a:avLst/>
          </a:prstGeom>
          <a:noFill/>
          <a:ln/>
        </p:spPr>
        <p:txBody>
          <a:bodyPr wrap="square" lIns="0" tIns="0" rIns="0" bIns="0" rtlCol="0" anchor="t"/>
          <a:lstStyle/>
          <a:p>
            <a:pPr marL="0" indent="0">
              <a:lnSpc>
                <a:spcPct val="120000"/>
              </a:lnSpc>
              <a:buNone/>
            </a:pPr>
            <a:r>
              <a:rPr lang="en-US" sz="1300" dirty="0">
                <a:solidFill>
                  <a:srgbClr val="566581"/>
                </a:solidFill>
                <a:latin typeface="Calibri" pitchFamily="34" charset="0"/>
                <a:ea typeface="Calibri" pitchFamily="34" charset="-122"/>
                <a:cs typeface="Calibri" pitchFamily="34" charset="-120"/>
              </a:rPr>
              <a:t>Subtracting the control's change removes any shock common to both groups. The remaining +6 is causal only under parallel trends.</a:t>
            </a:r>
            <a:endParaRPr lang="en-US" sz="1300" dirty="0"/>
          </a:p>
        </p:txBody>
      </p:sp>
      <p:sp>
        <p:nvSpPr>
          <p:cNvPr id="21" name="Text 19"/>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EXAMPLES</a:t>
            </a:r>
            <a:endParaRPr lang="en-US" sz="900" dirty="0"/>
          </a:p>
        </p:txBody>
      </p:sp>
      <p:sp>
        <p:nvSpPr>
          <p:cNvPr id="22" name="Text 20"/>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187  /  221</a:t>
            </a:r>
            <a:endParaRPr lang="en-US" sz="90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WORKED EXAMPLE · IV</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The Wald Estimator</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The simplest instrumental-variables estimate: a ratio of two differences.</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setup</a:t>
            </a:r>
            <a:endParaRPr lang="en-US" sz="1500" dirty="0"/>
          </a:p>
        </p:txBody>
      </p:sp>
      <p:sp>
        <p:nvSpPr>
          <p:cNvPr id="7" name="Text 5"/>
          <p:cNvSpPr/>
          <p:nvPr/>
        </p:nvSpPr>
        <p:spPr>
          <a:xfrm>
            <a:off x="859536" y="283464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A random encouragement Z raises uptake of treatment T; we want the effect of T on Y among compliers.</a:t>
            </a:r>
            <a:endParaRPr lang="en-US" sz="1250" dirty="0"/>
          </a:p>
        </p:txBody>
      </p:sp>
      <p:sp>
        <p:nvSpPr>
          <p:cNvPr id="8" name="Shape 6"/>
          <p:cNvSpPr/>
          <p:nvPr/>
        </p:nvSpPr>
        <p:spPr>
          <a:xfrm>
            <a:off x="566928" y="3506724"/>
            <a:ext cx="146304" cy="146304"/>
          </a:xfrm>
          <a:prstGeom prst="ellipse">
            <a:avLst/>
          </a:prstGeom>
          <a:solidFill>
            <a:srgbClr val="5A5BA6"/>
          </a:solidFill>
          <a:ln/>
        </p:spPr>
        <p:txBody>
          <a:bodyPr/>
          <a:lstStyle/>
          <a:p>
            <a:endParaRPr lang="en-SA"/>
          </a:p>
        </p:txBody>
      </p:sp>
      <p:sp>
        <p:nvSpPr>
          <p:cNvPr id="9" name="Text 7"/>
          <p:cNvSpPr/>
          <p:nvPr/>
        </p:nvSpPr>
        <p:spPr>
          <a:xfrm>
            <a:off x="859536" y="345186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Reduced form</a:t>
            </a:r>
            <a:endParaRPr lang="en-US" sz="1500" dirty="0"/>
          </a:p>
        </p:txBody>
      </p:sp>
      <p:sp>
        <p:nvSpPr>
          <p:cNvPr id="10" name="Text 8"/>
          <p:cNvSpPr/>
          <p:nvPr/>
        </p:nvSpPr>
        <p:spPr>
          <a:xfrm>
            <a:off x="859536" y="372618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Effect of Z on Y = 0.9 percentage points (intention-to-treat on the outcome).</a:t>
            </a:r>
            <a:endParaRPr lang="en-US" sz="1250" dirty="0"/>
          </a:p>
        </p:txBody>
      </p:sp>
      <p:sp>
        <p:nvSpPr>
          <p:cNvPr id="11" name="Shape 9"/>
          <p:cNvSpPr/>
          <p:nvPr/>
        </p:nvSpPr>
        <p:spPr>
          <a:xfrm>
            <a:off x="566928" y="4398264"/>
            <a:ext cx="146304" cy="146304"/>
          </a:xfrm>
          <a:prstGeom prst="ellipse">
            <a:avLst/>
          </a:prstGeom>
          <a:solidFill>
            <a:srgbClr val="EA7B38"/>
          </a:solidFill>
          <a:ln/>
        </p:spPr>
        <p:txBody>
          <a:bodyPr/>
          <a:lstStyle/>
          <a:p>
            <a:endParaRPr lang="en-SA"/>
          </a:p>
        </p:txBody>
      </p:sp>
      <p:sp>
        <p:nvSpPr>
          <p:cNvPr id="12" name="Text 10"/>
          <p:cNvSpPr/>
          <p:nvPr/>
        </p:nvSpPr>
        <p:spPr>
          <a:xfrm>
            <a:off x="859536" y="434340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First stage</a:t>
            </a:r>
            <a:endParaRPr lang="en-US" sz="1500" dirty="0"/>
          </a:p>
        </p:txBody>
      </p:sp>
      <p:sp>
        <p:nvSpPr>
          <p:cNvPr id="13" name="Text 11"/>
          <p:cNvSpPr/>
          <p:nvPr/>
        </p:nvSpPr>
        <p:spPr>
          <a:xfrm>
            <a:off x="859536" y="461772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Effect of Z on T = 0.30 (the encouragement raised uptake by 30 points).</a:t>
            </a:r>
            <a:endParaRPr lang="en-US" sz="1250" dirty="0"/>
          </a:p>
        </p:txBody>
      </p:sp>
      <p:sp>
        <p:nvSpPr>
          <p:cNvPr id="14" name="Shape 12"/>
          <p:cNvSpPr/>
          <p:nvPr/>
        </p:nvSpPr>
        <p:spPr>
          <a:xfrm>
            <a:off x="566928" y="5289804"/>
            <a:ext cx="146304" cy="146304"/>
          </a:xfrm>
          <a:prstGeom prst="ellipse">
            <a:avLst/>
          </a:prstGeom>
          <a:solidFill>
            <a:srgbClr val="3E9B90"/>
          </a:solidFill>
          <a:ln/>
        </p:spPr>
        <p:txBody>
          <a:bodyPr/>
          <a:lstStyle/>
          <a:p>
            <a:endParaRPr lang="en-SA"/>
          </a:p>
        </p:txBody>
      </p:sp>
      <p:sp>
        <p:nvSpPr>
          <p:cNvPr id="15" name="Text 13"/>
          <p:cNvSpPr/>
          <p:nvPr/>
        </p:nvSpPr>
        <p:spPr>
          <a:xfrm>
            <a:off x="859536" y="523494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Wald ratio (LATE)</a:t>
            </a:r>
            <a:endParaRPr lang="en-US" sz="1500" dirty="0"/>
          </a:p>
        </p:txBody>
      </p:sp>
      <p:sp>
        <p:nvSpPr>
          <p:cNvPr id="16" name="Text 14"/>
          <p:cNvSpPr/>
          <p:nvPr/>
        </p:nvSpPr>
        <p:spPr>
          <a:xfrm>
            <a:off x="859536" y="550926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0.9 / 0.30 = 3.0 — the effect for compliers, scaling the ITT up by the compliance rate.</a:t>
            </a:r>
            <a:endParaRPr lang="en-US" sz="1250" dirty="0"/>
          </a:p>
        </p:txBody>
      </p:sp>
      <p:sp>
        <p:nvSpPr>
          <p:cNvPr id="17" name="Shape 15"/>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8" name="Text 16"/>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READ CAREFULLY</a:t>
            </a:r>
            <a:endParaRPr lang="en-US" sz="1100" dirty="0"/>
          </a:p>
        </p:txBody>
      </p:sp>
      <p:sp>
        <p:nvSpPr>
          <p:cNvPr id="19" name="Text 17"/>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dirty="0">
                <a:solidFill>
                  <a:srgbClr val="16233F"/>
                </a:solidFill>
                <a:latin typeface="Calibri" pitchFamily="34" charset="0"/>
                <a:ea typeface="Calibri" pitchFamily="34" charset="-122"/>
                <a:cs typeface="Calibri" pitchFamily="34" charset="-120"/>
              </a:rPr>
              <a:t>A weak first stage (small denominator) makes the ratio explode and its inference unreliable — always report the first-stage strength.</a:t>
            </a:r>
            <a:endParaRPr lang="en-US" sz="1350" dirty="0"/>
          </a:p>
        </p:txBody>
      </p:sp>
      <p:sp>
        <p:nvSpPr>
          <p:cNvPr id="20" name="Text 18"/>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EXAMPLES</a:t>
            </a:r>
            <a:endParaRPr lang="en-US" sz="900" dirty="0"/>
          </a:p>
        </p:txBody>
      </p:sp>
      <p:sp>
        <p:nvSpPr>
          <p:cNvPr id="21" name="Text 19"/>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188  /  221</a:t>
            </a:r>
            <a:endParaRPr lang="en-US" sz="90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WORKED EXAMPLE · RDD</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Estimating the Jump at a Cutoff</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A sharp regression-discontinuity effect is the gap in fitted outcomes at the threshold.</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running variable</a:t>
            </a:r>
            <a:endParaRPr lang="en-US" sz="1500" dirty="0"/>
          </a:p>
        </p:txBody>
      </p:sp>
      <p:sp>
        <p:nvSpPr>
          <p:cNvPr id="7" name="Text 5"/>
          <p:cNvSpPr/>
          <p:nvPr/>
        </p:nvSpPr>
        <p:spPr>
          <a:xfrm>
            <a:off x="859536" y="283464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Firms with a score ≥ 70 receive the subsidy; below 70 do not. The score is the running variable, 70 the cutoff.</a:t>
            </a:r>
            <a:endParaRPr lang="en-US" sz="1250" dirty="0"/>
          </a:p>
        </p:txBody>
      </p:sp>
      <p:sp>
        <p:nvSpPr>
          <p:cNvPr id="8" name="Shape 6"/>
          <p:cNvSpPr/>
          <p:nvPr/>
        </p:nvSpPr>
        <p:spPr>
          <a:xfrm>
            <a:off x="566928" y="3506724"/>
            <a:ext cx="146304" cy="146304"/>
          </a:xfrm>
          <a:prstGeom prst="ellipse">
            <a:avLst/>
          </a:prstGeom>
          <a:solidFill>
            <a:srgbClr val="5A5BA6"/>
          </a:solidFill>
          <a:ln/>
        </p:spPr>
        <p:txBody>
          <a:bodyPr/>
          <a:lstStyle/>
          <a:p>
            <a:endParaRPr lang="en-SA"/>
          </a:p>
        </p:txBody>
      </p:sp>
      <p:sp>
        <p:nvSpPr>
          <p:cNvPr id="9" name="Text 7"/>
          <p:cNvSpPr/>
          <p:nvPr/>
        </p:nvSpPr>
        <p:spPr>
          <a:xfrm>
            <a:off x="859536" y="345186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Local fits</a:t>
            </a:r>
            <a:endParaRPr lang="en-US" sz="1500" dirty="0"/>
          </a:p>
        </p:txBody>
      </p:sp>
      <p:sp>
        <p:nvSpPr>
          <p:cNvPr id="10" name="Text 8"/>
          <p:cNvSpPr/>
          <p:nvPr/>
        </p:nvSpPr>
        <p:spPr>
          <a:xfrm>
            <a:off x="859536" y="372618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Fit a flexible local regression just below and just above 70 within a chosen bandwidth.</a:t>
            </a:r>
            <a:endParaRPr lang="en-US" sz="1250" dirty="0"/>
          </a:p>
        </p:txBody>
      </p:sp>
      <p:sp>
        <p:nvSpPr>
          <p:cNvPr id="11" name="Shape 9"/>
          <p:cNvSpPr/>
          <p:nvPr/>
        </p:nvSpPr>
        <p:spPr>
          <a:xfrm>
            <a:off x="566928" y="4398264"/>
            <a:ext cx="146304" cy="146304"/>
          </a:xfrm>
          <a:prstGeom prst="ellipse">
            <a:avLst/>
          </a:prstGeom>
          <a:solidFill>
            <a:srgbClr val="EA7B38"/>
          </a:solidFill>
          <a:ln/>
        </p:spPr>
        <p:txBody>
          <a:bodyPr/>
          <a:lstStyle/>
          <a:p>
            <a:endParaRPr lang="en-SA"/>
          </a:p>
        </p:txBody>
      </p:sp>
      <p:sp>
        <p:nvSpPr>
          <p:cNvPr id="12" name="Text 10"/>
          <p:cNvSpPr/>
          <p:nvPr/>
        </p:nvSpPr>
        <p:spPr>
          <a:xfrm>
            <a:off x="859536" y="434340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estimate</a:t>
            </a:r>
            <a:endParaRPr lang="en-US" sz="1500" dirty="0"/>
          </a:p>
        </p:txBody>
      </p:sp>
      <p:sp>
        <p:nvSpPr>
          <p:cNvPr id="13" name="Text 11"/>
          <p:cNvSpPr/>
          <p:nvPr/>
        </p:nvSpPr>
        <p:spPr>
          <a:xfrm>
            <a:off x="859536" y="461772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Predicted outcome at 70⁺ minus at 70⁻ — say 44 vs. 40 — gives a local effect of +4.</a:t>
            </a:r>
            <a:endParaRPr lang="en-US" sz="1250" dirty="0"/>
          </a:p>
        </p:txBody>
      </p:sp>
      <p:sp>
        <p:nvSpPr>
          <p:cNvPr id="14" name="Shape 12"/>
          <p:cNvSpPr/>
          <p:nvPr/>
        </p:nvSpPr>
        <p:spPr>
          <a:xfrm>
            <a:off x="566928" y="5289804"/>
            <a:ext cx="146304" cy="146304"/>
          </a:xfrm>
          <a:prstGeom prst="ellipse">
            <a:avLst/>
          </a:prstGeom>
          <a:solidFill>
            <a:srgbClr val="3E9B90"/>
          </a:solidFill>
          <a:ln/>
        </p:spPr>
        <p:txBody>
          <a:bodyPr/>
          <a:lstStyle/>
          <a:p>
            <a:endParaRPr lang="en-SA"/>
          </a:p>
        </p:txBody>
      </p:sp>
      <p:sp>
        <p:nvSpPr>
          <p:cNvPr id="15" name="Text 13"/>
          <p:cNvSpPr/>
          <p:nvPr/>
        </p:nvSpPr>
        <p:spPr>
          <a:xfrm>
            <a:off x="859536" y="523494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Robustness</a:t>
            </a:r>
            <a:endParaRPr lang="en-US" sz="1500" dirty="0"/>
          </a:p>
        </p:txBody>
      </p:sp>
      <p:sp>
        <p:nvSpPr>
          <p:cNvPr id="16" name="Text 14"/>
          <p:cNvSpPr/>
          <p:nvPr/>
        </p:nvSpPr>
        <p:spPr>
          <a:xfrm>
            <a:off x="859536" y="550926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Re-estimate across bandwidths and polynomial orders; run a density (McCrary) test for manipulation at 70.</a:t>
            </a:r>
            <a:endParaRPr lang="en-US" sz="1250" dirty="0"/>
          </a:p>
        </p:txBody>
      </p:sp>
      <p:sp>
        <p:nvSpPr>
          <p:cNvPr id="17" name="Shape 15"/>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8" name="Text 16"/>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LOCAL EFFECT</a:t>
            </a:r>
            <a:endParaRPr lang="en-US" sz="1100" dirty="0"/>
          </a:p>
        </p:txBody>
      </p:sp>
      <p:sp>
        <p:nvSpPr>
          <p:cNvPr id="19" name="Text 17"/>
          <p:cNvSpPr/>
          <p:nvPr/>
        </p:nvSpPr>
        <p:spPr>
          <a:xfrm>
            <a:off x="7744968" y="2331720"/>
            <a:ext cx="3605479" cy="1097280"/>
          </a:xfrm>
          <a:prstGeom prst="rect">
            <a:avLst/>
          </a:prstGeom>
          <a:noFill/>
          <a:ln/>
        </p:spPr>
        <p:txBody>
          <a:bodyPr wrap="square" lIns="0" tIns="0" rIns="0" bIns="0" rtlCol="0" anchor="t"/>
          <a:lstStyle/>
          <a:p>
            <a:pPr marL="0" indent="0">
              <a:buNone/>
            </a:pPr>
            <a:r>
              <a:rPr lang="en-US" sz="5400" b="1" dirty="0">
                <a:solidFill>
                  <a:srgbClr val="16233F"/>
                </a:solidFill>
                <a:latin typeface="Cambria" pitchFamily="34" charset="0"/>
                <a:ea typeface="Cambria" pitchFamily="34" charset="-122"/>
                <a:cs typeface="Cambria" pitchFamily="34" charset="-120"/>
              </a:rPr>
              <a:t>44 − 40</a:t>
            </a:r>
            <a:endParaRPr lang="en-US" sz="5400" dirty="0"/>
          </a:p>
        </p:txBody>
      </p:sp>
      <p:sp>
        <p:nvSpPr>
          <p:cNvPr id="20" name="Text 18"/>
          <p:cNvSpPr/>
          <p:nvPr/>
        </p:nvSpPr>
        <p:spPr>
          <a:xfrm>
            <a:off x="7744968" y="3520440"/>
            <a:ext cx="3605479" cy="2103120"/>
          </a:xfrm>
          <a:prstGeom prst="rect">
            <a:avLst/>
          </a:prstGeom>
          <a:noFill/>
          <a:ln/>
        </p:spPr>
        <p:txBody>
          <a:bodyPr wrap="square" lIns="0" tIns="0" rIns="0" bIns="0" rtlCol="0" anchor="t"/>
          <a:lstStyle/>
          <a:p>
            <a:pPr marL="0" indent="0">
              <a:lnSpc>
                <a:spcPct val="120000"/>
              </a:lnSpc>
              <a:buNone/>
            </a:pPr>
            <a:r>
              <a:rPr lang="en-US" sz="1300" dirty="0">
                <a:solidFill>
                  <a:srgbClr val="566581"/>
                </a:solidFill>
                <a:latin typeface="Calibri" pitchFamily="34" charset="0"/>
                <a:ea typeface="Calibri" pitchFamily="34" charset="-122"/>
                <a:cs typeface="Calibri" pitchFamily="34" charset="-120"/>
              </a:rPr>
              <a:t>RDD identifies the effect for units at the cutoff. Its credibility rests on smoothness of everything else through the threshold.</a:t>
            </a:r>
            <a:endParaRPr lang="en-US" sz="1300" dirty="0"/>
          </a:p>
        </p:txBody>
      </p:sp>
      <p:sp>
        <p:nvSpPr>
          <p:cNvPr id="21" name="Text 19"/>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EXAMPLES</a:t>
            </a:r>
            <a:endParaRPr lang="en-US" sz="900" dirty="0"/>
          </a:p>
        </p:txBody>
      </p:sp>
      <p:sp>
        <p:nvSpPr>
          <p:cNvPr id="22" name="Text 20"/>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189  /  221</a:t>
            </a:r>
            <a:endParaRPr lang="en-US" sz="90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WORKED EXAMPLE · POWER</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A Sample-Size Calculation</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Sizing an A/B test for a conversion metric, end to end.</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Baseline &amp; target</a:t>
            </a:r>
            <a:endParaRPr lang="en-US" sz="1500" dirty="0"/>
          </a:p>
        </p:txBody>
      </p:sp>
      <p:sp>
        <p:nvSpPr>
          <p:cNvPr id="7" name="Text 5"/>
          <p:cNvSpPr/>
          <p:nvPr/>
        </p:nvSpPr>
        <p:spPr>
          <a:xfrm>
            <a:off x="859536" y="283464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Baseline conversion 10%; we want to detect a relative lift of 5% (absolute +0.5 pt) at α = 0.05, power 0.8.</a:t>
            </a:r>
            <a:endParaRPr lang="en-US" sz="1250" dirty="0"/>
          </a:p>
        </p:txBody>
      </p:sp>
      <p:sp>
        <p:nvSpPr>
          <p:cNvPr id="8" name="Shape 6"/>
          <p:cNvSpPr/>
          <p:nvPr/>
        </p:nvSpPr>
        <p:spPr>
          <a:xfrm>
            <a:off x="566928" y="3506724"/>
            <a:ext cx="146304" cy="146304"/>
          </a:xfrm>
          <a:prstGeom prst="ellipse">
            <a:avLst/>
          </a:prstGeom>
          <a:solidFill>
            <a:srgbClr val="5A5BA6"/>
          </a:solidFill>
          <a:ln/>
        </p:spPr>
        <p:txBody>
          <a:bodyPr/>
          <a:lstStyle/>
          <a:p>
            <a:endParaRPr lang="en-SA"/>
          </a:p>
        </p:txBody>
      </p:sp>
      <p:sp>
        <p:nvSpPr>
          <p:cNvPr id="9" name="Text 7"/>
          <p:cNvSpPr/>
          <p:nvPr/>
        </p:nvSpPr>
        <p:spPr>
          <a:xfrm>
            <a:off x="859536" y="345186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Per-arm formula</a:t>
            </a:r>
            <a:endParaRPr lang="en-US" sz="1500" dirty="0"/>
          </a:p>
        </p:txBody>
      </p:sp>
      <p:sp>
        <p:nvSpPr>
          <p:cNvPr id="10" name="Text 8"/>
          <p:cNvSpPr/>
          <p:nvPr/>
        </p:nvSpPr>
        <p:spPr>
          <a:xfrm>
            <a:off x="859536" y="372618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n per arm ≈ (z_{0.025}+z_{0.20})² · 2·p(1−p) / δ² with p≈0.10, δ = 0.005.</a:t>
            </a:r>
            <a:endParaRPr lang="en-US" sz="1250" dirty="0"/>
          </a:p>
        </p:txBody>
      </p:sp>
      <p:sp>
        <p:nvSpPr>
          <p:cNvPr id="11" name="Shape 9"/>
          <p:cNvSpPr/>
          <p:nvPr/>
        </p:nvSpPr>
        <p:spPr>
          <a:xfrm>
            <a:off x="566928" y="4398264"/>
            <a:ext cx="146304" cy="146304"/>
          </a:xfrm>
          <a:prstGeom prst="ellipse">
            <a:avLst/>
          </a:prstGeom>
          <a:solidFill>
            <a:srgbClr val="EA7B38"/>
          </a:solidFill>
          <a:ln/>
        </p:spPr>
        <p:txBody>
          <a:bodyPr/>
          <a:lstStyle/>
          <a:p>
            <a:endParaRPr lang="en-SA"/>
          </a:p>
        </p:txBody>
      </p:sp>
      <p:sp>
        <p:nvSpPr>
          <p:cNvPr id="12" name="Text 10"/>
          <p:cNvSpPr/>
          <p:nvPr/>
        </p:nvSpPr>
        <p:spPr>
          <a:xfrm>
            <a:off x="859536" y="434340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The number</a:t>
            </a:r>
            <a:endParaRPr lang="en-US" sz="1500" dirty="0"/>
          </a:p>
        </p:txBody>
      </p:sp>
      <p:sp>
        <p:nvSpPr>
          <p:cNvPr id="13" name="Text 11"/>
          <p:cNvSpPr/>
          <p:nvPr/>
        </p:nvSpPr>
        <p:spPr>
          <a:xfrm>
            <a:off x="859536" y="461772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 (1.96+0.84)² · 2(0.09) / 0.000025 ≈ 56,400 per arm — about 113k total.</a:t>
            </a:r>
            <a:endParaRPr lang="en-US" sz="1250" dirty="0"/>
          </a:p>
        </p:txBody>
      </p:sp>
      <p:sp>
        <p:nvSpPr>
          <p:cNvPr id="14" name="Shape 12"/>
          <p:cNvSpPr/>
          <p:nvPr/>
        </p:nvSpPr>
        <p:spPr>
          <a:xfrm>
            <a:off x="566928" y="5289804"/>
            <a:ext cx="146304" cy="146304"/>
          </a:xfrm>
          <a:prstGeom prst="ellipse">
            <a:avLst/>
          </a:prstGeom>
          <a:solidFill>
            <a:srgbClr val="3E9B90"/>
          </a:solidFill>
          <a:ln/>
        </p:spPr>
        <p:txBody>
          <a:bodyPr/>
          <a:lstStyle/>
          <a:p>
            <a:endParaRPr lang="en-SA"/>
          </a:p>
        </p:txBody>
      </p:sp>
      <p:sp>
        <p:nvSpPr>
          <p:cNvPr id="15" name="Text 13"/>
          <p:cNvSpPr/>
          <p:nvPr/>
        </p:nvSpPr>
        <p:spPr>
          <a:xfrm>
            <a:off x="859536" y="523494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Lever</a:t>
            </a:r>
            <a:endParaRPr lang="en-US" sz="1500" dirty="0"/>
          </a:p>
        </p:txBody>
      </p:sp>
      <p:sp>
        <p:nvSpPr>
          <p:cNvPr id="16" name="Text 14"/>
          <p:cNvSpPr/>
          <p:nvPr/>
        </p:nvSpPr>
        <p:spPr>
          <a:xfrm>
            <a:off x="859536" y="5509260"/>
            <a:ext cx="6217920"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CUPED or a lower target lift changes this sharply: n scales with 1/δ² and with residual variance.</a:t>
            </a:r>
            <a:endParaRPr lang="en-US" sz="1250" dirty="0"/>
          </a:p>
        </p:txBody>
      </p:sp>
      <p:sp>
        <p:nvSpPr>
          <p:cNvPr id="17" name="Shape 15"/>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8" name="Text 16"/>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SANITY CHECK</a:t>
            </a:r>
            <a:endParaRPr lang="en-US" sz="1100" dirty="0"/>
          </a:p>
        </p:txBody>
      </p:sp>
      <p:sp>
        <p:nvSpPr>
          <p:cNvPr id="19" name="Text 17"/>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dirty="0">
                <a:solidFill>
                  <a:srgbClr val="16233F"/>
                </a:solidFill>
                <a:latin typeface="Calibri" pitchFamily="34" charset="0"/>
                <a:ea typeface="Calibri" pitchFamily="34" charset="-122"/>
                <a:cs typeface="Calibri" pitchFamily="34" charset="-120"/>
              </a:rPr>
              <a:t>If the required runtime exceeds a few weeks at your traffic, either accept a larger MDE, add variance reduction, or reconsider the test.</a:t>
            </a:r>
            <a:endParaRPr lang="en-US" sz="1350" dirty="0"/>
          </a:p>
        </p:txBody>
      </p:sp>
      <p:sp>
        <p:nvSpPr>
          <p:cNvPr id="20" name="Text 18"/>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EXAMPLES</a:t>
            </a:r>
            <a:endParaRPr lang="en-US" sz="900" dirty="0"/>
          </a:p>
        </p:txBody>
      </p:sp>
      <p:sp>
        <p:nvSpPr>
          <p:cNvPr id="21" name="Text 19"/>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190  /  221</a:t>
            </a:r>
            <a:endParaRPr lang="en-US" sz="90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REFERENCE · CHEAT-SHEETS</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Decision &amp; Method References</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One-glance tables for estimands, assumptions, estimators, standard errors, and design selection.</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REFERENCE</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191  /  221</a:t>
            </a:r>
            <a:endParaRPr lang="en-US" sz="90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REFERENCE · SELECTION</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Which Design Should I Use?</a:t>
            </a:r>
            <a:endParaRPr lang="en-US" sz="3400" dirty="0"/>
          </a:p>
        </p:txBody>
      </p:sp>
      <p:sp>
        <p:nvSpPr>
          <p:cNvPr id="4" name="Text 2"/>
          <p:cNvSpPr/>
          <p:nvPr/>
        </p:nvSpPr>
        <p:spPr>
          <a:xfrm>
            <a:off x="566928" y="1783080"/>
            <a:ext cx="11057839" cy="548640"/>
          </a:xfrm>
          <a:prstGeom prst="rect">
            <a:avLst/>
          </a:prstGeom>
          <a:noFill/>
          <a:ln/>
        </p:spPr>
        <p:txBody>
          <a:bodyPr wrap="square" lIns="0" tIns="0" rIns="0" bIns="0" rtlCol="0" anchor="t"/>
          <a:lstStyle/>
          <a:p>
            <a:pPr marL="0" indent="0">
              <a:lnSpc>
                <a:spcPct val="115000"/>
              </a:lnSpc>
              <a:buNone/>
            </a:pPr>
            <a:r>
              <a:rPr lang="en-US" sz="1400" dirty="0">
                <a:solidFill>
                  <a:srgbClr val="566581"/>
                </a:solidFill>
                <a:latin typeface="Calibri" pitchFamily="34" charset="0"/>
                <a:ea typeface="Calibri" pitchFamily="34" charset="-122"/>
                <a:cs typeface="Calibri" pitchFamily="34" charset="-120"/>
              </a:rPr>
              <a:t>A quick decision path from constraints to a credible design.</a:t>
            </a:r>
            <a:endParaRPr lang="en-US" sz="1400" dirty="0"/>
          </a:p>
        </p:txBody>
      </p:sp>
      <p:sp>
        <p:nvSpPr>
          <p:cNvPr id="5" name="Shape 3"/>
          <p:cNvSpPr/>
          <p:nvPr/>
        </p:nvSpPr>
        <p:spPr>
          <a:xfrm>
            <a:off x="566928" y="2468880"/>
            <a:ext cx="502920" cy="502920"/>
          </a:xfrm>
          <a:prstGeom prst="ellipse">
            <a:avLst/>
          </a:prstGeom>
          <a:solidFill>
            <a:srgbClr val="3FA9E0"/>
          </a:solidFill>
          <a:ln/>
        </p:spPr>
        <p:txBody>
          <a:bodyPr/>
          <a:lstStyle/>
          <a:p>
            <a:endParaRPr lang="en-SA"/>
          </a:p>
        </p:txBody>
      </p:sp>
      <p:sp>
        <p:nvSpPr>
          <p:cNvPr id="6" name="Text 4"/>
          <p:cNvSpPr/>
          <p:nvPr/>
        </p:nvSpPr>
        <p:spPr>
          <a:xfrm>
            <a:off x="566928" y="246888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p:nvPr/>
        </p:nvSpPr>
        <p:spPr>
          <a:xfrm>
            <a:off x="1298448" y="242316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Can you randomize?</a:t>
            </a:r>
            <a:endParaRPr lang="en-US" sz="1600" dirty="0"/>
          </a:p>
        </p:txBody>
      </p:sp>
      <p:sp>
        <p:nvSpPr>
          <p:cNvPr id="8" name="Text 6"/>
          <p:cNvSpPr/>
          <p:nvPr/>
        </p:nvSpPr>
        <p:spPr>
          <a:xfrm>
            <a:off x="1298448" y="2734056"/>
            <a:ext cx="10234879" cy="374904"/>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Yes → run an experiment (Day 2). It is the gold standard; everything else approximates it.</a:t>
            </a:r>
            <a:endParaRPr lang="en-US" sz="1250" dirty="0"/>
          </a:p>
        </p:txBody>
      </p:sp>
      <p:sp>
        <p:nvSpPr>
          <p:cNvPr id="9" name="Shape 7"/>
          <p:cNvSpPr/>
          <p:nvPr/>
        </p:nvSpPr>
        <p:spPr>
          <a:xfrm>
            <a:off x="566928" y="3209544"/>
            <a:ext cx="502920" cy="502920"/>
          </a:xfrm>
          <a:prstGeom prst="ellipse">
            <a:avLst/>
          </a:prstGeom>
          <a:solidFill>
            <a:srgbClr val="5A5BA6"/>
          </a:solidFill>
          <a:ln/>
        </p:spPr>
        <p:txBody>
          <a:bodyPr/>
          <a:lstStyle/>
          <a:p>
            <a:endParaRPr lang="en-SA"/>
          </a:p>
        </p:txBody>
      </p:sp>
      <p:sp>
        <p:nvSpPr>
          <p:cNvPr id="10" name="Text 8"/>
          <p:cNvSpPr/>
          <p:nvPr/>
        </p:nvSpPr>
        <p:spPr>
          <a:xfrm>
            <a:off x="566928" y="3209544"/>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1" name="Text 9"/>
          <p:cNvSpPr/>
          <p:nvPr/>
        </p:nvSpPr>
        <p:spPr>
          <a:xfrm>
            <a:off x="1298448" y="3163824"/>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Is there a threshold rule?</a:t>
            </a:r>
            <a:endParaRPr lang="en-US" sz="1600" dirty="0"/>
          </a:p>
        </p:txBody>
      </p:sp>
      <p:sp>
        <p:nvSpPr>
          <p:cNvPr id="12" name="Text 10"/>
          <p:cNvSpPr/>
          <p:nvPr/>
        </p:nvSpPr>
        <p:spPr>
          <a:xfrm>
            <a:off x="1298448" y="3474720"/>
            <a:ext cx="10234879" cy="374904"/>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A cutoff on a running variable → regression discontinuity (sharp or fuzzy).</a:t>
            </a:r>
            <a:endParaRPr lang="en-US" sz="1250" dirty="0"/>
          </a:p>
        </p:txBody>
      </p:sp>
      <p:sp>
        <p:nvSpPr>
          <p:cNvPr id="13" name="Shape 11"/>
          <p:cNvSpPr/>
          <p:nvPr/>
        </p:nvSpPr>
        <p:spPr>
          <a:xfrm>
            <a:off x="566928" y="3950208"/>
            <a:ext cx="502920" cy="502920"/>
          </a:xfrm>
          <a:prstGeom prst="ellipse">
            <a:avLst/>
          </a:prstGeom>
          <a:solidFill>
            <a:srgbClr val="EA7B38"/>
          </a:solidFill>
          <a:ln/>
        </p:spPr>
        <p:txBody>
          <a:bodyPr/>
          <a:lstStyle/>
          <a:p>
            <a:endParaRPr lang="en-SA"/>
          </a:p>
        </p:txBody>
      </p:sp>
      <p:sp>
        <p:nvSpPr>
          <p:cNvPr id="14" name="Text 12"/>
          <p:cNvSpPr/>
          <p:nvPr/>
        </p:nvSpPr>
        <p:spPr>
          <a:xfrm>
            <a:off x="566928" y="3950208"/>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5" name="Text 13"/>
          <p:cNvSpPr/>
          <p:nvPr/>
        </p:nvSpPr>
        <p:spPr>
          <a:xfrm>
            <a:off x="1298448" y="3904488"/>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A nudge that shifts uptake only?</a:t>
            </a:r>
            <a:endParaRPr lang="en-US" sz="1600" dirty="0"/>
          </a:p>
        </p:txBody>
      </p:sp>
      <p:sp>
        <p:nvSpPr>
          <p:cNvPr id="16" name="Text 14"/>
          <p:cNvSpPr/>
          <p:nvPr/>
        </p:nvSpPr>
        <p:spPr>
          <a:xfrm>
            <a:off x="1298448" y="4215384"/>
            <a:ext cx="10234879" cy="374904"/>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A valid instrument → IV / 2SLS, estimating the LATE for compliers.</a:t>
            </a:r>
            <a:endParaRPr lang="en-US" sz="1250" dirty="0"/>
          </a:p>
        </p:txBody>
      </p:sp>
      <p:sp>
        <p:nvSpPr>
          <p:cNvPr id="17" name="Shape 15"/>
          <p:cNvSpPr/>
          <p:nvPr/>
        </p:nvSpPr>
        <p:spPr>
          <a:xfrm>
            <a:off x="566928" y="4690872"/>
            <a:ext cx="502920" cy="502920"/>
          </a:xfrm>
          <a:prstGeom prst="ellipse">
            <a:avLst/>
          </a:prstGeom>
          <a:solidFill>
            <a:srgbClr val="3E9B90"/>
          </a:solidFill>
          <a:ln/>
        </p:spPr>
        <p:txBody>
          <a:bodyPr/>
          <a:lstStyle/>
          <a:p>
            <a:endParaRPr lang="en-SA"/>
          </a:p>
        </p:txBody>
      </p:sp>
      <p:sp>
        <p:nvSpPr>
          <p:cNvPr id="18" name="Text 16"/>
          <p:cNvSpPr/>
          <p:nvPr/>
        </p:nvSpPr>
        <p:spPr>
          <a:xfrm>
            <a:off x="566928" y="4690872"/>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9" name="Text 17"/>
          <p:cNvSpPr/>
          <p:nvPr/>
        </p:nvSpPr>
        <p:spPr>
          <a:xfrm>
            <a:off x="1298448" y="4645152"/>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A known switch-on time + comparisons?</a:t>
            </a:r>
            <a:endParaRPr lang="en-US" sz="1600" dirty="0"/>
          </a:p>
        </p:txBody>
      </p:sp>
      <p:sp>
        <p:nvSpPr>
          <p:cNvPr id="20" name="Text 18"/>
          <p:cNvSpPr/>
          <p:nvPr/>
        </p:nvSpPr>
        <p:spPr>
          <a:xfrm>
            <a:off x="1298448" y="4956048"/>
            <a:ext cx="10234879" cy="374904"/>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Difference-in-differences or synthetic control, checking pre-trends.</a:t>
            </a:r>
            <a:endParaRPr lang="en-US" sz="1250" dirty="0"/>
          </a:p>
        </p:txBody>
      </p:sp>
      <p:sp>
        <p:nvSpPr>
          <p:cNvPr id="21" name="Shape 19"/>
          <p:cNvSpPr/>
          <p:nvPr/>
        </p:nvSpPr>
        <p:spPr>
          <a:xfrm>
            <a:off x="566928" y="5431536"/>
            <a:ext cx="502920" cy="502920"/>
          </a:xfrm>
          <a:prstGeom prst="ellipse">
            <a:avLst/>
          </a:prstGeom>
          <a:solidFill>
            <a:srgbClr val="73BB59"/>
          </a:solidFill>
          <a:ln/>
        </p:spPr>
        <p:txBody>
          <a:bodyPr/>
          <a:lstStyle/>
          <a:p>
            <a:endParaRPr lang="en-SA"/>
          </a:p>
        </p:txBody>
      </p:sp>
      <p:sp>
        <p:nvSpPr>
          <p:cNvPr id="22" name="Text 20"/>
          <p:cNvSpPr/>
          <p:nvPr/>
        </p:nvSpPr>
        <p:spPr>
          <a:xfrm>
            <a:off x="566928" y="5431536"/>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3" name="Text 21"/>
          <p:cNvSpPr/>
          <p:nvPr/>
        </p:nvSpPr>
        <p:spPr>
          <a:xfrm>
            <a:off x="1298448" y="5385816"/>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Rich covariates, plausibly no hidden confounder?</a:t>
            </a:r>
            <a:endParaRPr lang="en-US" sz="1600" dirty="0"/>
          </a:p>
        </p:txBody>
      </p:sp>
      <p:sp>
        <p:nvSpPr>
          <p:cNvPr id="24" name="Text 22"/>
          <p:cNvSpPr/>
          <p:nvPr/>
        </p:nvSpPr>
        <p:spPr>
          <a:xfrm>
            <a:off x="1298448" y="5696712"/>
            <a:ext cx="10234879" cy="374904"/>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Doubly-robust adjustment with cross-fitting, plus a sensitivity analysis.</a:t>
            </a:r>
            <a:endParaRPr lang="en-US" sz="1250" dirty="0"/>
          </a:p>
        </p:txBody>
      </p:sp>
      <p:sp>
        <p:nvSpPr>
          <p:cNvPr id="25" name="Text 23"/>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CHEAT-SHEETS</a:t>
            </a:r>
            <a:endParaRPr lang="en-US" sz="900" dirty="0"/>
          </a:p>
        </p:txBody>
      </p:sp>
      <p:sp>
        <p:nvSpPr>
          <p:cNvPr id="26" name="Text 24"/>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192  /  221</a:t>
            </a:r>
            <a:endParaRPr lang="en-US" sz="90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REFERENCE · CHEAT-SHEETS</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Estimand Cheat-Sheet</a:t>
            </a:r>
            <a:endParaRPr lang="en-US" sz="3400" dirty="0"/>
          </a:p>
        </p:txBody>
      </p:sp>
      <p:graphicFrame>
        <p:nvGraphicFramePr>
          <p:cNvPr id="195"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73384" cy="3840480"/>
        </p:xfrm>
        <a:graphic>
          <a:graphicData uri="http://schemas.openxmlformats.org/drawingml/2006/table">
            <a:tbl>
              <a:tblPr/>
              <a:tblGrid>
                <a:gridCol w="201168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489704">
                  <a:extLst>
                    <a:ext uri="{9D8B030D-6E8A-4147-A177-3AD203B41FA5}">
                      <a16:colId xmlns:a16="http://schemas.microsoft.com/office/drawing/2014/main" val="20002"/>
                    </a:ext>
                  </a:extLst>
                </a:gridCol>
              </a:tblGrid>
              <a:tr h="54864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Estimand</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Definition</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When to target it</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extLst>
                  <a:ext uri="{0D108BD9-81ED-4DB2-BD59-A6C34878D82A}">
                    <a16:rowId xmlns:a16="http://schemas.microsoft.com/office/drawing/2014/main" val="10000"/>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ATE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E[Y(1) − Y(0)]</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Population-wide ‘treat everyone vs. no one’ decisions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ATT</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E[Y(1) − Y(0) | T=1]</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Value of a treatment for those who actually received it</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ATC</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E[Y(1) − Y(0) | T=0]</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Whether to extend treatment to the currently untreated</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CATE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E[Y(1) − Y(0) | X=x]</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Targeting, personalisation, fairness, heterogeneity</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ITT</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Effect of assignment</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Realistic rollout impact under imperfect compliance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LATE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Effect on compliers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IV / encouragement designs with partial compliance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6"/>
                  </a:ext>
                </a:extLst>
              </a:tr>
            </a:tbl>
          </a:graphicData>
        </a:graphic>
      </p:graphicFrame>
      <p:sp>
        <p:nvSpPr>
          <p:cNvPr id="5" name="Text 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CHEAT-SHEETS</a:t>
            </a:r>
            <a:endParaRPr lang="en-US" sz="900" dirty="0"/>
          </a:p>
        </p:txBody>
      </p:sp>
      <p:sp>
        <p:nvSpPr>
          <p:cNvPr id="6" name="Text 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193  /  221</a:t>
            </a:r>
            <a:endParaRPr lang="en-US" sz="90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REFERENCE · CHEAT-SHEETS</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Assumptions Cheat-Sheet</a:t>
            </a:r>
            <a:endParaRPr lang="en-US" sz="3400" dirty="0"/>
          </a:p>
        </p:txBody>
      </p:sp>
      <p:graphicFrame>
        <p:nvGraphicFramePr>
          <p:cNvPr id="196"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73384" cy="3840480"/>
        </p:xfrm>
        <a:graphic>
          <a:graphicData uri="http://schemas.openxmlformats.org/drawingml/2006/table">
            <a:tbl>
              <a:tblPr/>
              <a:tblGrid>
                <a:gridCol w="210312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3758184">
                  <a:extLst>
                    <a:ext uri="{9D8B030D-6E8A-4147-A177-3AD203B41FA5}">
                      <a16:colId xmlns:a16="http://schemas.microsoft.com/office/drawing/2014/main" val="20003"/>
                    </a:ext>
                  </a:extLst>
                </a:gridCol>
              </a:tblGrid>
              <a:tr h="54864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Assumption</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Statement</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Testable?</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Fix / probe</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extLst>
                  <a:ext uri="{0D108BD9-81ED-4DB2-BD59-A6C34878D82A}">
                    <a16:rowId xmlns:a16="http://schemas.microsoft.com/office/drawing/2014/main" val="10000"/>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SUTVA</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No interference; one treatment version</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Partly</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Cluster-randomize; model spillovers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Ignorability</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{Y(1),Y(0)} ⊥ T | X</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Randomize; sensitivity analysis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Positivity</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0 &lt; e(x) &lt; 1</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Trim; common-support; redefine estimand</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Consistency</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Y = Y(T)</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Define the intervention precisely</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Parallel trends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Equal counterfactual trends (DiD)</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Partly</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Event study; matched comparison</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Exclusion</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Z affects Y only via T (IV)</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Argue from domain; over-ID tests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6"/>
                  </a:ext>
                </a:extLst>
              </a:tr>
            </a:tbl>
          </a:graphicData>
        </a:graphic>
      </p:graphicFrame>
      <p:sp>
        <p:nvSpPr>
          <p:cNvPr id="5" name="Text 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CHEAT-SHEETS</a:t>
            </a:r>
            <a:endParaRPr lang="en-US" sz="900" dirty="0"/>
          </a:p>
        </p:txBody>
      </p:sp>
      <p:sp>
        <p:nvSpPr>
          <p:cNvPr id="6" name="Text 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194  /  221</a:t>
            </a:r>
            <a:endParaRPr lang="en-US" sz="90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REFERENCE · CHEAT-SHEETS</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Estimator Cheat-Sheet</a:t>
            </a:r>
            <a:endParaRPr lang="en-US" sz="3400" dirty="0"/>
          </a:p>
        </p:txBody>
      </p:sp>
      <p:graphicFrame>
        <p:nvGraphicFramePr>
          <p:cNvPr id="197"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73384" cy="3291840"/>
        </p:xfrm>
        <a:graphic>
          <a:graphicData uri="http://schemas.openxmlformats.org/drawingml/2006/table">
            <a:tbl>
              <a:tblPr/>
              <a:tblGrid>
                <a:gridCol w="23774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2752344">
                  <a:extLst>
                    <a:ext uri="{9D8B030D-6E8A-4147-A177-3AD203B41FA5}">
                      <a16:colId xmlns:a16="http://schemas.microsoft.com/office/drawing/2014/main" val="20003"/>
                    </a:ext>
                  </a:extLst>
                </a:gridCol>
              </a:tblGrid>
              <a:tr h="54864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Estimator</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Models</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Fails when</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Notes</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extLst>
                  <a:ext uri="{0D108BD9-81ED-4DB2-BD59-A6C34878D82A}">
                    <a16:rowId xmlns:a16="http://schemas.microsoft.com/office/drawing/2014/main" val="10000"/>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Outcome regression</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E[Y|T,X]</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Outcome model wrong</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The g-formula; simple, extrapolates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Matching</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Distance on X / e(x)</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Poor overlap</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Transparent; changes estimand</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IPW</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e(x)</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Extreme propensities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Stabilise / trim weights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Doubly-robust</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Both (either right)</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Both wrong</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AIPW / TMLE; default choice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Double ML</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Both, cross-fit</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Both wrong</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Uses flexible ML safely</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CHEAT-SHEETS</a:t>
            </a:r>
            <a:endParaRPr lang="en-US" sz="900" dirty="0"/>
          </a:p>
        </p:txBody>
      </p:sp>
      <p:sp>
        <p:nvSpPr>
          <p:cNvPr id="6" name="Text 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195  /  221</a:t>
            </a:r>
            <a:endParaRPr lang="en-US" sz="90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REFERENCE · CHEAT-SHEETS</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Standard-Error Selection</a:t>
            </a:r>
            <a:endParaRPr lang="en-US" sz="3400" dirty="0"/>
          </a:p>
        </p:txBody>
      </p:sp>
      <p:graphicFrame>
        <p:nvGraphicFramePr>
          <p:cNvPr id="198"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73384" cy="3291840"/>
        </p:xfrm>
        <a:graphic>
          <a:graphicData uri="http://schemas.openxmlformats.org/drawingml/2006/table">
            <a:tbl>
              <a:tblPr/>
              <a:tblGrid>
                <a:gridCol w="38404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4123944">
                  <a:extLst>
                    <a:ext uri="{9D8B030D-6E8A-4147-A177-3AD203B41FA5}">
                      <a16:colId xmlns:a16="http://schemas.microsoft.com/office/drawing/2014/main" val="20002"/>
                    </a:ext>
                  </a:extLst>
                </a:gridCol>
              </a:tblGrid>
              <a:tr h="54864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Situation</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Use</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extLst>
                  <a:ext uri="{0D108BD9-81ED-4DB2-BD59-A6C34878D82A}">
                    <a16:rowId xmlns:a16="http://schemas.microsoft.com/office/drawing/2014/main" val="10000"/>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Simple randomized experiment</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Robust (HC2) / design-based</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Matches complete randomization</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Grouped / cluster assignment</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Cluster-robust SEs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Accounts for within-cluster correlation</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Few clusters (&lt; ~40)</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Wild-cluster bootstrap</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Asymptotics unreliable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Complex / matching estimator</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Estimator-specific / bootstrap</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Naive analytic SE invalid</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Time-series / panels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Newey–West / block bootstrap</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Serial correlation</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CHEAT-SHEETS</a:t>
            </a:r>
            <a:endParaRPr lang="en-US" sz="900" dirty="0"/>
          </a:p>
        </p:txBody>
      </p:sp>
      <p:sp>
        <p:nvSpPr>
          <p:cNvPr id="6" name="Text 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196  /  221</a:t>
            </a:r>
            <a:endParaRPr lang="en-US" sz="90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REFERENCE · CHEAT-SHEETS</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DAG Pattern Library</a:t>
            </a:r>
            <a:endParaRPr lang="en-US" sz="3400" dirty="0"/>
          </a:p>
        </p:txBody>
      </p:sp>
      <p:sp>
        <p:nvSpPr>
          <p:cNvPr id="4" name="Text 2"/>
          <p:cNvSpPr/>
          <p:nvPr/>
        </p:nvSpPr>
        <p:spPr>
          <a:xfrm>
            <a:off x="566928" y="1783080"/>
            <a:ext cx="11057839" cy="548640"/>
          </a:xfrm>
          <a:prstGeom prst="rect">
            <a:avLst/>
          </a:prstGeom>
          <a:noFill/>
          <a:ln/>
        </p:spPr>
        <p:txBody>
          <a:bodyPr wrap="square" lIns="0" tIns="0" rIns="0" bIns="0" rtlCol="0" anchor="t"/>
          <a:lstStyle/>
          <a:p>
            <a:pPr marL="0" indent="0">
              <a:lnSpc>
                <a:spcPct val="115000"/>
              </a:lnSpc>
              <a:buNone/>
            </a:pPr>
            <a:r>
              <a:rPr lang="en-US" sz="1400" dirty="0">
                <a:solidFill>
                  <a:srgbClr val="566581"/>
                </a:solidFill>
                <a:latin typeface="Calibri" pitchFamily="34" charset="0"/>
                <a:ea typeface="Calibri" pitchFamily="34" charset="-122"/>
                <a:cs typeface="Calibri" pitchFamily="34" charset="-120"/>
              </a:rPr>
              <a:t>The recurring structures and what each demands.</a:t>
            </a:r>
            <a:endParaRPr lang="en-US" sz="1400" dirty="0"/>
          </a:p>
        </p:txBody>
      </p:sp>
      <p:sp>
        <p:nvSpPr>
          <p:cNvPr id="5" name="Shape 3"/>
          <p:cNvSpPr/>
          <p:nvPr/>
        </p:nvSpPr>
        <p:spPr>
          <a:xfrm>
            <a:off x="566928" y="2468880"/>
            <a:ext cx="502920" cy="502920"/>
          </a:xfrm>
          <a:prstGeom prst="ellipse">
            <a:avLst/>
          </a:prstGeom>
          <a:solidFill>
            <a:srgbClr val="3FA9E0"/>
          </a:solidFill>
          <a:ln/>
        </p:spPr>
        <p:txBody>
          <a:bodyPr/>
          <a:lstStyle/>
          <a:p>
            <a:endParaRPr lang="en-SA"/>
          </a:p>
        </p:txBody>
      </p:sp>
      <p:sp>
        <p:nvSpPr>
          <p:cNvPr id="6" name="Text 4"/>
          <p:cNvSpPr/>
          <p:nvPr/>
        </p:nvSpPr>
        <p:spPr>
          <a:xfrm>
            <a:off x="566928" y="246888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t>
            </a:r>
            <a:endParaRPr lang="en-US" sz="1300" dirty="0"/>
          </a:p>
        </p:txBody>
      </p:sp>
      <p:sp>
        <p:nvSpPr>
          <p:cNvPr id="7" name="Text 5"/>
          <p:cNvSpPr/>
          <p:nvPr/>
        </p:nvSpPr>
        <p:spPr>
          <a:xfrm>
            <a:off x="1298448" y="242316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Confounder (fork)</a:t>
            </a:r>
            <a:endParaRPr lang="en-US" sz="1600" dirty="0"/>
          </a:p>
        </p:txBody>
      </p:sp>
      <p:sp>
        <p:nvSpPr>
          <p:cNvPr id="8" name="Text 6"/>
          <p:cNvSpPr/>
          <p:nvPr/>
        </p:nvSpPr>
        <p:spPr>
          <a:xfrm>
            <a:off x="1298448" y="273405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T ← X → Y. Adjust for X to close the backdoor.</a:t>
            </a:r>
            <a:endParaRPr lang="en-US" sz="1250" dirty="0"/>
          </a:p>
        </p:txBody>
      </p:sp>
      <p:sp>
        <p:nvSpPr>
          <p:cNvPr id="9" name="Shape 7"/>
          <p:cNvSpPr/>
          <p:nvPr/>
        </p:nvSpPr>
        <p:spPr>
          <a:xfrm>
            <a:off x="566928" y="3394710"/>
            <a:ext cx="502920" cy="502920"/>
          </a:xfrm>
          <a:prstGeom prst="ellipse">
            <a:avLst/>
          </a:prstGeom>
          <a:solidFill>
            <a:srgbClr val="5A5BA6"/>
          </a:solidFill>
          <a:ln/>
        </p:spPr>
        <p:txBody>
          <a:bodyPr/>
          <a:lstStyle/>
          <a:p>
            <a:endParaRPr lang="en-SA"/>
          </a:p>
        </p:txBody>
      </p:sp>
      <p:sp>
        <p:nvSpPr>
          <p:cNvPr id="10" name="Text 8"/>
          <p:cNvSpPr/>
          <p:nvPr/>
        </p:nvSpPr>
        <p:spPr>
          <a:xfrm>
            <a:off x="566928" y="339471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t>
            </a:r>
            <a:endParaRPr lang="en-US" sz="1300" dirty="0"/>
          </a:p>
        </p:txBody>
      </p:sp>
      <p:sp>
        <p:nvSpPr>
          <p:cNvPr id="11" name="Text 9"/>
          <p:cNvSpPr/>
          <p:nvPr/>
        </p:nvSpPr>
        <p:spPr>
          <a:xfrm>
            <a:off x="1298448" y="334899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Mediator (chain)</a:t>
            </a:r>
            <a:endParaRPr lang="en-US" sz="1600" dirty="0"/>
          </a:p>
        </p:txBody>
      </p:sp>
      <p:sp>
        <p:nvSpPr>
          <p:cNvPr id="12" name="Text 10"/>
          <p:cNvSpPr/>
          <p:nvPr/>
        </p:nvSpPr>
        <p:spPr>
          <a:xfrm>
            <a:off x="1298448" y="365988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T → M → Y. Do not adjust for M if you want the total effect.</a:t>
            </a:r>
            <a:endParaRPr lang="en-US" sz="1250" dirty="0"/>
          </a:p>
        </p:txBody>
      </p:sp>
      <p:sp>
        <p:nvSpPr>
          <p:cNvPr id="13" name="Shape 11"/>
          <p:cNvSpPr/>
          <p:nvPr/>
        </p:nvSpPr>
        <p:spPr>
          <a:xfrm>
            <a:off x="566928" y="4320540"/>
            <a:ext cx="502920" cy="502920"/>
          </a:xfrm>
          <a:prstGeom prst="ellipse">
            <a:avLst/>
          </a:prstGeom>
          <a:solidFill>
            <a:srgbClr val="EA7B38"/>
          </a:solidFill>
          <a:ln/>
        </p:spPr>
        <p:txBody>
          <a:bodyPr/>
          <a:lstStyle/>
          <a:p>
            <a:endParaRPr lang="en-SA"/>
          </a:p>
        </p:txBody>
      </p:sp>
      <p:sp>
        <p:nvSpPr>
          <p:cNvPr id="14" name="Text 12"/>
          <p:cNvSpPr/>
          <p:nvPr/>
        </p:nvSpPr>
        <p:spPr>
          <a:xfrm>
            <a:off x="566928" y="43205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t>
            </a:r>
            <a:endParaRPr lang="en-US" sz="1300" dirty="0"/>
          </a:p>
        </p:txBody>
      </p:sp>
      <p:sp>
        <p:nvSpPr>
          <p:cNvPr id="15" name="Text 13"/>
          <p:cNvSpPr/>
          <p:nvPr/>
        </p:nvSpPr>
        <p:spPr>
          <a:xfrm>
            <a:off x="1298448" y="427482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Collider</a:t>
            </a:r>
            <a:endParaRPr lang="en-US" sz="1600" dirty="0"/>
          </a:p>
        </p:txBody>
      </p:sp>
      <p:sp>
        <p:nvSpPr>
          <p:cNvPr id="16" name="Text 14"/>
          <p:cNvSpPr/>
          <p:nvPr/>
        </p:nvSpPr>
        <p:spPr>
          <a:xfrm>
            <a:off x="1298448" y="458571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T → C ← Y. Never condition on C (or its descendants).</a:t>
            </a:r>
            <a:endParaRPr lang="en-US" sz="1250" dirty="0"/>
          </a:p>
        </p:txBody>
      </p:sp>
      <p:sp>
        <p:nvSpPr>
          <p:cNvPr id="17" name="Shape 15"/>
          <p:cNvSpPr/>
          <p:nvPr/>
        </p:nvSpPr>
        <p:spPr>
          <a:xfrm>
            <a:off x="566928" y="5246370"/>
            <a:ext cx="502920" cy="502920"/>
          </a:xfrm>
          <a:prstGeom prst="ellipse">
            <a:avLst/>
          </a:prstGeom>
          <a:solidFill>
            <a:srgbClr val="3E9B90"/>
          </a:solidFill>
          <a:ln/>
        </p:spPr>
        <p:txBody>
          <a:bodyPr/>
          <a:lstStyle/>
          <a:p>
            <a:endParaRPr lang="en-SA"/>
          </a:p>
        </p:txBody>
      </p:sp>
      <p:sp>
        <p:nvSpPr>
          <p:cNvPr id="18" name="Text 16"/>
          <p:cNvSpPr/>
          <p:nvPr/>
        </p:nvSpPr>
        <p:spPr>
          <a:xfrm>
            <a:off x="566928" y="524637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t>
            </a:r>
            <a:endParaRPr lang="en-US" sz="1300" dirty="0"/>
          </a:p>
        </p:txBody>
      </p:sp>
      <p:sp>
        <p:nvSpPr>
          <p:cNvPr id="19" name="Text 17"/>
          <p:cNvSpPr/>
          <p:nvPr/>
        </p:nvSpPr>
        <p:spPr>
          <a:xfrm>
            <a:off x="1298448" y="520065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M-bias</a:t>
            </a:r>
            <a:endParaRPr lang="en-US" sz="1600" dirty="0"/>
          </a:p>
        </p:txBody>
      </p:sp>
      <p:sp>
        <p:nvSpPr>
          <p:cNvPr id="20" name="Text 18"/>
          <p:cNvSpPr/>
          <p:nvPr/>
        </p:nvSpPr>
        <p:spPr>
          <a:xfrm>
            <a:off x="1298448" y="551154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Conditioning on a pre-treatment collider can open bias — not all pre-treatment controls are safe.</a:t>
            </a:r>
            <a:endParaRPr lang="en-US" sz="1250" dirty="0"/>
          </a:p>
        </p:txBody>
      </p:sp>
      <p:sp>
        <p:nvSpPr>
          <p:cNvPr id="21" name="Text 19"/>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CHEAT-SHEETS</a:t>
            </a:r>
            <a:endParaRPr lang="en-US" sz="900" dirty="0"/>
          </a:p>
        </p:txBody>
      </p:sp>
      <p:sp>
        <p:nvSpPr>
          <p:cNvPr id="22" name="Text 20"/>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197  /  221</a:t>
            </a:r>
            <a:endParaRPr lang="en-US" sz="90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REFERENCE · PRACTICE</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Checklists &amp; Pitfalls</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The pre-flight lists and failure-mode catalogue to run on every analysis.</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REFERENCE</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198  /  221</a:t>
            </a:r>
            <a:endParaRPr lang="en-US" sz="90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REFERENCE · CHECKLISTS</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A/B Testing Pre-Flight Checklist</a:t>
            </a:r>
            <a:endParaRPr lang="en-US" sz="3400" dirty="0"/>
          </a:p>
        </p:txBody>
      </p:sp>
      <p:sp>
        <p:nvSpPr>
          <p:cNvPr id="4" name="Text 2"/>
          <p:cNvSpPr/>
          <p:nvPr/>
        </p:nvSpPr>
        <p:spPr>
          <a:xfrm>
            <a:off x="566928" y="1737360"/>
            <a:ext cx="11057839" cy="64008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Complete before launch, at analysis, and before ship.</a:t>
            </a:r>
            <a:endParaRPr lang="en-US" sz="1450" dirty="0"/>
          </a:p>
        </p:txBody>
      </p:sp>
      <p:sp>
        <p:nvSpPr>
          <p:cNvPr id="5" name="Shape 3"/>
          <p:cNvSpPr/>
          <p:nvPr/>
        </p:nvSpPr>
        <p:spPr>
          <a:xfrm>
            <a:off x="566928" y="2578608"/>
            <a:ext cx="137160" cy="137160"/>
          </a:xfrm>
          <a:prstGeom prst="ellipse">
            <a:avLst/>
          </a:prstGeom>
          <a:solidFill>
            <a:srgbClr val="3FA9E0"/>
          </a:solidFill>
          <a:ln/>
        </p:spPr>
        <p:txBody>
          <a:bodyPr/>
          <a:lstStyle/>
          <a:p>
            <a:endParaRPr lang="en-SA"/>
          </a:p>
        </p:txBody>
      </p:sp>
      <p:sp>
        <p:nvSpPr>
          <p:cNvPr id="6" name="Text 4"/>
          <p:cNvSpPr/>
          <p:nvPr/>
        </p:nvSpPr>
        <p:spPr>
          <a:xfrm>
            <a:off x="841248" y="2514600"/>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Pre-launch: single primary metric, named guardrails, power/MDE computed, horizon fixed, randomization unit chosen.</a:t>
            </a:r>
            <a:endParaRPr lang="en-US" sz="1400" dirty="0"/>
          </a:p>
        </p:txBody>
      </p:sp>
      <p:sp>
        <p:nvSpPr>
          <p:cNvPr id="7" name="Shape 5"/>
          <p:cNvSpPr/>
          <p:nvPr/>
        </p:nvSpPr>
        <p:spPr>
          <a:xfrm>
            <a:off x="566928" y="3300984"/>
            <a:ext cx="137160" cy="137160"/>
          </a:xfrm>
          <a:prstGeom prst="ellipse">
            <a:avLst/>
          </a:prstGeom>
          <a:solidFill>
            <a:srgbClr val="5A5BA6"/>
          </a:solidFill>
          <a:ln/>
        </p:spPr>
        <p:txBody>
          <a:bodyPr/>
          <a:lstStyle/>
          <a:p>
            <a:endParaRPr lang="en-SA"/>
          </a:p>
        </p:txBody>
      </p:sp>
      <p:sp>
        <p:nvSpPr>
          <p:cNvPr id="8" name="Text 6"/>
          <p:cNvSpPr/>
          <p:nvPr/>
        </p:nvSpPr>
        <p:spPr>
          <a:xfrm>
            <a:off x="841248" y="3236976"/>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Sanity: A/A test passes; sample-ratio matches the intended split.</a:t>
            </a:r>
            <a:endParaRPr lang="en-US" sz="1400" dirty="0"/>
          </a:p>
        </p:txBody>
      </p:sp>
      <p:sp>
        <p:nvSpPr>
          <p:cNvPr id="9" name="Shape 7"/>
          <p:cNvSpPr/>
          <p:nvPr/>
        </p:nvSpPr>
        <p:spPr>
          <a:xfrm>
            <a:off x="566928" y="4023360"/>
            <a:ext cx="137160" cy="137160"/>
          </a:xfrm>
          <a:prstGeom prst="ellipse">
            <a:avLst/>
          </a:prstGeom>
          <a:solidFill>
            <a:srgbClr val="EA7B38"/>
          </a:solidFill>
          <a:ln/>
        </p:spPr>
        <p:txBody>
          <a:bodyPr/>
          <a:lstStyle/>
          <a:p>
            <a:endParaRPr lang="en-SA"/>
          </a:p>
        </p:txBody>
      </p:sp>
      <p:sp>
        <p:nvSpPr>
          <p:cNvPr id="10" name="Text 8"/>
          <p:cNvSpPr/>
          <p:nvPr/>
        </p:nvSpPr>
        <p:spPr>
          <a:xfrm>
            <a:off x="841248" y="3959352"/>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Analysis: design-matched SE; CUPED / covariate adjustment applied; only pre-registered subgroups tested.</a:t>
            </a:r>
            <a:endParaRPr lang="en-US" sz="1400" dirty="0"/>
          </a:p>
        </p:txBody>
      </p:sp>
      <p:sp>
        <p:nvSpPr>
          <p:cNvPr id="11" name="Shape 9"/>
          <p:cNvSpPr/>
          <p:nvPr/>
        </p:nvSpPr>
        <p:spPr>
          <a:xfrm>
            <a:off x="566928" y="4745736"/>
            <a:ext cx="137160" cy="137160"/>
          </a:xfrm>
          <a:prstGeom prst="ellipse">
            <a:avLst/>
          </a:prstGeom>
          <a:solidFill>
            <a:srgbClr val="3E9B90"/>
          </a:solidFill>
          <a:ln/>
        </p:spPr>
        <p:txBody>
          <a:bodyPr/>
          <a:lstStyle/>
          <a:p>
            <a:endParaRPr lang="en-SA"/>
          </a:p>
        </p:txBody>
      </p:sp>
      <p:sp>
        <p:nvSpPr>
          <p:cNvPr id="12" name="Text 10"/>
          <p:cNvSpPr/>
          <p:nvPr/>
        </p:nvSpPr>
        <p:spPr>
          <a:xfrm>
            <a:off x="841248" y="4681728"/>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Integrity: no peeking (or valid sequential method used); multiplicity controlled.</a:t>
            </a:r>
            <a:endParaRPr lang="en-US" sz="1400" dirty="0"/>
          </a:p>
        </p:txBody>
      </p:sp>
      <p:sp>
        <p:nvSpPr>
          <p:cNvPr id="13" name="Shape 11"/>
          <p:cNvSpPr/>
          <p:nvPr/>
        </p:nvSpPr>
        <p:spPr>
          <a:xfrm>
            <a:off x="566928" y="5468112"/>
            <a:ext cx="137160" cy="137160"/>
          </a:xfrm>
          <a:prstGeom prst="ellipse">
            <a:avLst/>
          </a:prstGeom>
          <a:solidFill>
            <a:srgbClr val="73BB59"/>
          </a:solidFill>
          <a:ln/>
        </p:spPr>
        <p:txBody>
          <a:bodyPr/>
          <a:lstStyle/>
          <a:p>
            <a:endParaRPr lang="en-SA"/>
          </a:p>
        </p:txBody>
      </p:sp>
      <p:sp>
        <p:nvSpPr>
          <p:cNvPr id="14" name="Text 12"/>
          <p:cNvSpPr/>
          <p:nvPr/>
        </p:nvSpPr>
        <p:spPr>
          <a:xfrm>
            <a:off x="841248" y="5404104"/>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Ship: primary metric positive AND all guardrails held AND effect stable past novelty window.</a:t>
            </a:r>
            <a:endParaRPr lang="en-US" sz="1400" dirty="0"/>
          </a:p>
        </p:txBody>
      </p:sp>
      <p:sp>
        <p:nvSpPr>
          <p:cNvPr id="15" name="Text 13"/>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PRACTICE</a:t>
            </a:r>
            <a:endParaRPr lang="en-US" sz="900" dirty="0"/>
          </a:p>
        </p:txBody>
      </p:sp>
      <p:sp>
        <p:nvSpPr>
          <p:cNvPr id="16" name="Text 14"/>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199  /  221</a:t>
            </a:r>
            <a:endParaRPr lang="en-US" sz="90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REFERENCE · CHECKLISTS</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Observational Study Checklist</a:t>
            </a:r>
            <a:endParaRPr lang="en-US" sz="3400" dirty="0"/>
          </a:p>
        </p:txBody>
      </p:sp>
      <p:sp>
        <p:nvSpPr>
          <p:cNvPr id="4" name="Text 2"/>
          <p:cNvSpPr/>
          <p:nvPr/>
        </p:nvSpPr>
        <p:spPr>
          <a:xfrm>
            <a:off x="566928" y="1737360"/>
            <a:ext cx="11057839" cy="64008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The order matters; do not skip steps.</a:t>
            </a:r>
            <a:endParaRPr lang="en-US" sz="1450" dirty="0"/>
          </a:p>
        </p:txBody>
      </p:sp>
      <p:sp>
        <p:nvSpPr>
          <p:cNvPr id="5" name="Shape 3"/>
          <p:cNvSpPr/>
          <p:nvPr/>
        </p:nvSpPr>
        <p:spPr>
          <a:xfrm>
            <a:off x="566928" y="2578608"/>
            <a:ext cx="137160" cy="137160"/>
          </a:xfrm>
          <a:prstGeom prst="ellipse">
            <a:avLst/>
          </a:prstGeom>
          <a:solidFill>
            <a:srgbClr val="3FA9E0"/>
          </a:solidFill>
          <a:ln/>
        </p:spPr>
        <p:txBody>
          <a:bodyPr/>
          <a:lstStyle/>
          <a:p>
            <a:endParaRPr lang="en-SA"/>
          </a:p>
        </p:txBody>
      </p:sp>
      <p:sp>
        <p:nvSpPr>
          <p:cNvPr id="6" name="Text 4"/>
          <p:cNvSpPr/>
          <p:nvPr/>
        </p:nvSpPr>
        <p:spPr>
          <a:xfrm>
            <a:off x="841248" y="2514600"/>
            <a:ext cx="10783519" cy="515983"/>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Define estimand (ATE vs. ATT) and target population first.</a:t>
            </a:r>
            <a:endParaRPr lang="en-US" sz="1400" dirty="0"/>
          </a:p>
        </p:txBody>
      </p:sp>
      <p:sp>
        <p:nvSpPr>
          <p:cNvPr id="7" name="Shape 5"/>
          <p:cNvSpPr/>
          <p:nvPr/>
        </p:nvSpPr>
        <p:spPr>
          <a:xfrm>
            <a:off x="566928" y="3094591"/>
            <a:ext cx="137160" cy="137160"/>
          </a:xfrm>
          <a:prstGeom prst="ellipse">
            <a:avLst/>
          </a:prstGeom>
          <a:solidFill>
            <a:srgbClr val="5A5BA6"/>
          </a:solidFill>
          <a:ln/>
        </p:spPr>
        <p:txBody>
          <a:bodyPr/>
          <a:lstStyle/>
          <a:p>
            <a:endParaRPr lang="en-SA"/>
          </a:p>
        </p:txBody>
      </p:sp>
      <p:sp>
        <p:nvSpPr>
          <p:cNvPr id="8" name="Text 6"/>
          <p:cNvSpPr/>
          <p:nvPr/>
        </p:nvSpPr>
        <p:spPr>
          <a:xfrm>
            <a:off x="841248" y="3030583"/>
            <a:ext cx="10783519" cy="515983"/>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Draw the DAG; choose the adjustment set by the backdoor criterion, not by fit.</a:t>
            </a:r>
            <a:endParaRPr lang="en-US" sz="1400" dirty="0"/>
          </a:p>
        </p:txBody>
      </p:sp>
      <p:sp>
        <p:nvSpPr>
          <p:cNvPr id="9" name="Shape 7"/>
          <p:cNvSpPr/>
          <p:nvPr/>
        </p:nvSpPr>
        <p:spPr>
          <a:xfrm>
            <a:off x="566928" y="3610574"/>
            <a:ext cx="137160" cy="137160"/>
          </a:xfrm>
          <a:prstGeom prst="ellipse">
            <a:avLst/>
          </a:prstGeom>
          <a:solidFill>
            <a:srgbClr val="EA7B38"/>
          </a:solidFill>
          <a:ln/>
        </p:spPr>
        <p:txBody>
          <a:bodyPr/>
          <a:lstStyle/>
          <a:p>
            <a:endParaRPr lang="en-SA"/>
          </a:p>
        </p:txBody>
      </p:sp>
      <p:sp>
        <p:nvSpPr>
          <p:cNvPr id="10" name="Text 8"/>
          <p:cNvSpPr/>
          <p:nvPr/>
        </p:nvSpPr>
        <p:spPr>
          <a:xfrm>
            <a:off x="841248" y="3546566"/>
            <a:ext cx="10783519" cy="515983"/>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Confirm every confounder is measured; flag plausible unmeasured ones.</a:t>
            </a:r>
            <a:endParaRPr lang="en-US" sz="1400" dirty="0"/>
          </a:p>
        </p:txBody>
      </p:sp>
      <p:sp>
        <p:nvSpPr>
          <p:cNvPr id="11" name="Shape 9"/>
          <p:cNvSpPr/>
          <p:nvPr/>
        </p:nvSpPr>
        <p:spPr>
          <a:xfrm>
            <a:off x="566928" y="4126557"/>
            <a:ext cx="137160" cy="137160"/>
          </a:xfrm>
          <a:prstGeom prst="ellipse">
            <a:avLst/>
          </a:prstGeom>
          <a:solidFill>
            <a:srgbClr val="3E9B90"/>
          </a:solidFill>
          <a:ln/>
        </p:spPr>
        <p:txBody>
          <a:bodyPr/>
          <a:lstStyle/>
          <a:p>
            <a:endParaRPr lang="en-SA"/>
          </a:p>
        </p:txBody>
      </p:sp>
      <p:sp>
        <p:nvSpPr>
          <p:cNvPr id="12" name="Text 10"/>
          <p:cNvSpPr/>
          <p:nvPr/>
        </p:nvSpPr>
        <p:spPr>
          <a:xfrm>
            <a:off x="841248" y="4062549"/>
            <a:ext cx="10783519" cy="515983"/>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Check overlap; trim or restrict to common support.</a:t>
            </a:r>
            <a:endParaRPr lang="en-US" sz="1400" dirty="0"/>
          </a:p>
        </p:txBody>
      </p:sp>
      <p:sp>
        <p:nvSpPr>
          <p:cNvPr id="13" name="Shape 11"/>
          <p:cNvSpPr/>
          <p:nvPr/>
        </p:nvSpPr>
        <p:spPr>
          <a:xfrm>
            <a:off x="566928" y="4642539"/>
            <a:ext cx="137160" cy="137160"/>
          </a:xfrm>
          <a:prstGeom prst="ellipse">
            <a:avLst/>
          </a:prstGeom>
          <a:solidFill>
            <a:srgbClr val="73BB59"/>
          </a:solidFill>
          <a:ln/>
        </p:spPr>
        <p:txBody>
          <a:bodyPr/>
          <a:lstStyle/>
          <a:p>
            <a:endParaRPr lang="en-SA"/>
          </a:p>
        </p:txBody>
      </p:sp>
      <p:sp>
        <p:nvSpPr>
          <p:cNvPr id="14" name="Text 12"/>
          <p:cNvSpPr/>
          <p:nvPr/>
        </p:nvSpPr>
        <p:spPr>
          <a:xfrm>
            <a:off x="841248" y="4578531"/>
            <a:ext cx="10783519" cy="515983"/>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Verify post-adjustment balance (SMD &lt; 0.1).</a:t>
            </a:r>
            <a:endParaRPr lang="en-US" sz="1400" dirty="0"/>
          </a:p>
        </p:txBody>
      </p:sp>
      <p:sp>
        <p:nvSpPr>
          <p:cNvPr id="15" name="Shape 13"/>
          <p:cNvSpPr/>
          <p:nvPr/>
        </p:nvSpPr>
        <p:spPr>
          <a:xfrm>
            <a:off x="566928" y="5158522"/>
            <a:ext cx="137160" cy="137160"/>
          </a:xfrm>
          <a:prstGeom prst="ellipse">
            <a:avLst/>
          </a:prstGeom>
          <a:solidFill>
            <a:srgbClr val="3FA9E0"/>
          </a:solidFill>
          <a:ln/>
        </p:spPr>
        <p:txBody>
          <a:bodyPr/>
          <a:lstStyle/>
          <a:p>
            <a:endParaRPr lang="en-SA"/>
          </a:p>
        </p:txBody>
      </p:sp>
      <p:sp>
        <p:nvSpPr>
          <p:cNvPr id="16" name="Text 14"/>
          <p:cNvSpPr/>
          <p:nvPr/>
        </p:nvSpPr>
        <p:spPr>
          <a:xfrm>
            <a:off x="841248" y="5094514"/>
            <a:ext cx="10783519" cy="515983"/>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Estimate with a doubly-robust / cross-fit method; report a proper interval.</a:t>
            </a:r>
            <a:endParaRPr lang="en-US" sz="1400" dirty="0"/>
          </a:p>
        </p:txBody>
      </p:sp>
      <p:sp>
        <p:nvSpPr>
          <p:cNvPr id="17" name="Shape 15"/>
          <p:cNvSpPr/>
          <p:nvPr/>
        </p:nvSpPr>
        <p:spPr>
          <a:xfrm>
            <a:off x="566928" y="5674505"/>
            <a:ext cx="137160" cy="137160"/>
          </a:xfrm>
          <a:prstGeom prst="ellipse">
            <a:avLst/>
          </a:prstGeom>
          <a:solidFill>
            <a:srgbClr val="5A5BA6"/>
          </a:solidFill>
          <a:ln/>
        </p:spPr>
        <p:txBody>
          <a:bodyPr/>
          <a:lstStyle/>
          <a:p>
            <a:endParaRPr lang="en-SA"/>
          </a:p>
        </p:txBody>
      </p:sp>
      <p:sp>
        <p:nvSpPr>
          <p:cNvPr id="18" name="Text 16"/>
          <p:cNvSpPr/>
          <p:nvPr/>
        </p:nvSpPr>
        <p:spPr>
          <a:xfrm>
            <a:off x="841248" y="5610497"/>
            <a:ext cx="10783519" cy="515983"/>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Run a sensitivity analysis (E-value / bounds) and placebo / negative-control checks.</a:t>
            </a:r>
            <a:endParaRPr lang="en-US" sz="1400" dirty="0"/>
          </a:p>
        </p:txBody>
      </p:sp>
      <p:sp>
        <p:nvSpPr>
          <p:cNvPr id="19" name="Text 17"/>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PRACTICE</a:t>
            </a:r>
            <a:endParaRPr lang="en-US" sz="900" dirty="0"/>
          </a:p>
        </p:txBody>
      </p:sp>
      <p:sp>
        <p:nvSpPr>
          <p:cNvPr id="20" name="Text 18"/>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200  /  221</a:t>
            </a:r>
            <a:endParaRPr lang="en-US" sz="900"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REFERENCE · PITFALLS</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Pitfalls Master List (1 of 2)</a:t>
            </a:r>
            <a:endParaRPr lang="en-US" sz="3400" dirty="0"/>
          </a:p>
        </p:txBody>
      </p:sp>
      <p:sp>
        <p:nvSpPr>
          <p:cNvPr id="4" name="Text 2"/>
          <p:cNvSpPr/>
          <p:nvPr/>
        </p:nvSpPr>
        <p:spPr>
          <a:xfrm>
            <a:off x="566928" y="1737360"/>
            <a:ext cx="11057839" cy="64008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Design and identification failures.</a:t>
            </a:r>
            <a:endParaRPr lang="en-US" sz="1450" dirty="0"/>
          </a:p>
        </p:txBody>
      </p:sp>
      <p:sp>
        <p:nvSpPr>
          <p:cNvPr id="5" name="Shape 3"/>
          <p:cNvSpPr/>
          <p:nvPr/>
        </p:nvSpPr>
        <p:spPr>
          <a:xfrm>
            <a:off x="566928" y="2578608"/>
            <a:ext cx="137160" cy="137160"/>
          </a:xfrm>
          <a:prstGeom prst="ellipse">
            <a:avLst/>
          </a:prstGeom>
          <a:solidFill>
            <a:srgbClr val="3FA9E0"/>
          </a:solidFill>
          <a:ln/>
        </p:spPr>
        <p:txBody>
          <a:bodyPr/>
          <a:lstStyle/>
          <a:p>
            <a:endParaRPr lang="en-SA"/>
          </a:p>
        </p:txBody>
      </p:sp>
      <p:sp>
        <p:nvSpPr>
          <p:cNvPr id="6" name="Text 4"/>
          <p:cNvSpPr/>
          <p:nvPr/>
        </p:nvSpPr>
        <p:spPr>
          <a:xfrm>
            <a:off x="841248" y="251460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Interpreting a conditional (observational) comparison as a causal effect.</a:t>
            </a:r>
            <a:endParaRPr lang="en-US" sz="1400" dirty="0"/>
          </a:p>
        </p:txBody>
      </p:sp>
      <p:sp>
        <p:nvSpPr>
          <p:cNvPr id="7" name="Shape 5"/>
          <p:cNvSpPr/>
          <p:nvPr/>
        </p:nvSpPr>
        <p:spPr>
          <a:xfrm>
            <a:off x="566928" y="3180588"/>
            <a:ext cx="137160" cy="137160"/>
          </a:xfrm>
          <a:prstGeom prst="ellipse">
            <a:avLst/>
          </a:prstGeom>
          <a:solidFill>
            <a:srgbClr val="5A5BA6"/>
          </a:solidFill>
          <a:ln/>
        </p:spPr>
        <p:txBody>
          <a:bodyPr/>
          <a:lstStyle/>
          <a:p>
            <a:endParaRPr lang="en-SA"/>
          </a:p>
        </p:txBody>
      </p:sp>
      <p:sp>
        <p:nvSpPr>
          <p:cNvPr id="8" name="Text 6"/>
          <p:cNvSpPr/>
          <p:nvPr/>
        </p:nvSpPr>
        <p:spPr>
          <a:xfrm>
            <a:off x="841248" y="311658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Adjusting for a post-treatment variable (mediator or collider bias).</a:t>
            </a:r>
            <a:endParaRPr lang="en-US" sz="1400" dirty="0"/>
          </a:p>
        </p:txBody>
      </p:sp>
      <p:sp>
        <p:nvSpPr>
          <p:cNvPr id="9" name="Shape 7"/>
          <p:cNvSpPr/>
          <p:nvPr/>
        </p:nvSpPr>
        <p:spPr>
          <a:xfrm>
            <a:off x="566928" y="3782568"/>
            <a:ext cx="137160" cy="137160"/>
          </a:xfrm>
          <a:prstGeom prst="ellipse">
            <a:avLst/>
          </a:prstGeom>
          <a:solidFill>
            <a:srgbClr val="EA7B38"/>
          </a:solidFill>
          <a:ln/>
        </p:spPr>
        <p:txBody>
          <a:bodyPr/>
          <a:lstStyle/>
          <a:p>
            <a:endParaRPr lang="en-SA"/>
          </a:p>
        </p:txBody>
      </p:sp>
      <p:sp>
        <p:nvSpPr>
          <p:cNvPr id="10" name="Text 8"/>
          <p:cNvSpPr/>
          <p:nvPr/>
        </p:nvSpPr>
        <p:spPr>
          <a:xfrm>
            <a:off x="841248" y="371856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‘Controlling for everything’ — including colliders — to look thorough.</a:t>
            </a:r>
            <a:endParaRPr lang="en-US" sz="1400" dirty="0"/>
          </a:p>
        </p:txBody>
      </p:sp>
      <p:sp>
        <p:nvSpPr>
          <p:cNvPr id="11" name="Shape 9"/>
          <p:cNvSpPr/>
          <p:nvPr/>
        </p:nvSpPr>
        <p:spPr>
          <a:xfrm>
            <a:off x="566928" y="4384548"/>
            <a:ext cx="137160" cy="137160"/>
          </a:xfrm>
          <a:prstGeom prst="ellipse">
            <a:avLst/>
          </a:prstGeom>
          <a:solidFill>
            <a:srgbClr val="3E9B90"/>
          </a:solidFill>
          <a:ln/>
        </p:spPr>
        <p:txBody>
          <a:bodyPr/>
          <a:lstStyle/>
          <a:p>
            <a:endParaRPr lang="en-SA"/>
          </a:p>
        </p:txBody>
      </p:sp>
      <p:sp>
        <p:nvSpPr>
          <p:cNvPr id="12" name="Text 10"/>
          <p:cNvSpPr/>
          <p:nvPr/>
        </p:nvSpPr>
        <p:spPr>
          <a:xfrm>
            <a:off x="841248" y="432054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Assuming randomization guarantees balance in every single sample.</a:t>
            </a:r>
            <a:endParaRPr lang="en-US" sz="1400" dirty="0"/>
          </a:p>
        </p:txBody>
      </p:sp>
      <p:sp>
        <p:nvSpPr>
          <p:cNvPr id="13" name="Shape 11"/>
          <p:cNvSpPr/>
          <p:nvPr/>
        </p:nvSpPr>
        <p:spPr>
          <a:xfrm>
            <a:off x="566928" y="4986528"/>
            <a:ext cx="137160" cy="137160"/>
          </a:xfrm>
          <a:prstGeom prst="ellipse">
            <a:avLst/>
          </a:prstGeom>
          <a:solidFill>
            <a:srgbClr val="73BB59"/>
          </a:solidFill>
          <a:ln/>
        </p:spPr>
        <p:txBody>
          <a:bodyPr/>
          <a:lstStyle/>
          <a:p>
            <a:endParaRPr lang="en-SA"/>
          </a:p>
        </p:txBody>
      </p:sp>
      <p:sp>
        <p:nvSpPr>
          <p:cNvPr id="14" name="Text 12"/>
          <p:cNvSpPr/>
          <p:nvPr/>
        </p:nvSpPr>
        <p:spPr>
          <a:xfrm>
            <a:off x="841248" y="492252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Randomizing at the wrong level relative to interference.</a:t>
            </a:r>
            <a:endParaRPr lang="en-US" sz="1400" dirty="0"/>
          </a:p>
        </p:txBody>
      </p:sp>
      <p:sp>
        <p:nvSpPr>
          <p:cNvPr id="15" name="Shape 13"/>
          <p:cNvSpPr/>
          <p:nvPr/>
        </p:nvSpPr>
        <p:spPr>
          <a:xfrm>
            <a:off x="566928" y="5588508"/>
            <a:ext cx="137160" cy="137160"/>
          </a:xfrm>
          <a:prstGeom prst="ellipse">
            <a:avLst/>
          </a:prstGeom>
          <a:solidFill>
            <a:srgbClr val="3FA9E0"/>
          </a:solidFill>
          <a:ln/>
        </p:spPr>
        <p:txBody>
          <a:bodyPr/>
          <a:lstStyle/>
          <a:p>
            <a:endParaRPr lang="en-SA"/>
          </a:p>
        </p:txBody>
      </p:sp>
      <p:sp>
        <p:nvSpPr>
          <p:cNvPr id="16" name="Text 14"/>
          <p:cNvSpPr/>
          <p:nvPr/>
        </p:nvSpPr>
        <p:spPr>
          <a:xfrm>
            <a:off x="841248" y="552450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Ignoring an unmeasured confounder because ‘the model fits well’.</a:t>
            </a:r>
            <a:endParaRPr lang="en-US" sz="140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PRACTICE</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201  /  221</a:t>
            </a:r>
            <a:endParaRPr lang="en-US" sz="900"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REFERENCE · PITFALLS</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Pitfalls Master List (2 of 2)</a:t>
            </a:r>
            <a:endParaRPr lang="en-US" sz="3400" dirty="0"/>
          </a:p>
        </p:txBody>
      </p:sp>
      <p:sp>
        <p:nvSpPr>
          <p:cNvPr id="4" name="Text 2"/>
          <p:cNvSpPr/>
          <p:nvPr/>
        </p:nvSpPr>
        <p:spPr>
          <a:xfrm>
            <a:off x="566928" y="1737360"/>
            <a:ext cx="11057839" cy="64008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Estimation, inference, and communication failures.</a:t>
            </a:r>
            <a:endParaRPr lang="en-US" sz="1450" dirty="0"/>
          </a:p>
        </p:txBody>
      </p:sp>
      <p:sp>
        <p:nvSpPr>
          <p:cNvPr id="5" name="Shape 3"/>
          <p:cNvSpPr/>
          <p:nvPr/>
        </p:nvSpPr>
        <p:spPr>
          <a:xfrm>
            <a:off x="566928" y="2578608"/>
            <a:ext cx="137160" cy="137160"/>
          </a:xfrm>
          <a:prstGeom prst="ellipse">
            <a:avLst/>
          </a:prstGeom>
          <a:solidFill>
            <a:srgbClr val="3FA9E0"/>
          </a:solidFill>
          <a:ln/>
        </p:spPr>
        <p:txBody>
          <a:bodyPr/>
          <a:lstStyle/>
          <a:p>
            <a:endParaRPr lang="en-SA"/>
          </a:p>
        </p:txBody>
      </p:sp>
      <p:sp>
        <p:nvSpPr>
          <p:cNvPr id="6" name="Text 4"/>
          <p:cNvSpPr/>
          <p:nvPr/>
        </p:nvSpPr>
        <p:spPr>
          <a:xfrm>
            <a:off x="841248" y="251460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Peeking at a fixed-horizon test and stopping on the first significant look.</a:t>
            </a:r>
            <a:endParaRPr lang="en-US" sz="1400" dirty="0"/>
          </a:p>
        </p:txBody>
      </p:sp>
      <p:sp>
        <p:nvSpPr>
          <p:cNvPr id="7" name="Shape 5"/>
          <p:cNvSpPr/>
          <p:nvPr/>
        </p:nvSpPr>
        <p:spPr>
          <a:xfrm>
            <a:off x="566928" y="3180588"/>
            <a:ext cx="137160" cy="137160"/>
          </a:xfrm>
          <a:prstGeom prst="ellipse">
            <a:avLst/>
          </a:prstGeom>
          <a:solidFill>
            <a:srgbClr val="5A5BA6"/>
          </a:solidFill>
          <a:ln/>
        </p:spPr>
        <p:txBody>
          <a:bodyPr/>
          <a:lstStyle/>
          <a:p>
            <a:endParaRPr lang="en-SA"/>
          </a:p>
        </p:txBody>
      </p:sp>
      <p:sp>
        <p:nvSpPr>
          <p:cNvPr id="8" name="Text 6"/>
          <p:cNvSpPr/>
          <p:nvPr/>
        </p:nvSpPr>
        <p:spPr>
          <a:xfrm>
            <a:off x="841248" y="311658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Unclustered standard errors on grouped or repeated-measure data.</a:t>
            </a:r>
            <a:endParaRPr lang="en-US" sz="1400" dirty="0"/>
          </a:p>
        </p:txBody>
      </p:sp>
      <p:sp>
        <p:nvSpPr>
          <p:cNvPr id="9" name="Shape 7"/>
          <p:cNvSpPr/>
          <p:nvPr/>
        </p:nvSpPr>
        <p:spPr>
          <a:xfrm>
            <a:off x="566928" y="3782568"/>
            <a:ext cx="137160" cy="137160"/>
          </a:xfrm>
          <a:prstGeom prst="ellipse">
            <a:avLst/>
          </a:prstGeom>
          <a:solidFill>
            <a:srgbClr val="EA7B38"/>
          </a:solidFill>
          <a:ln/>
        </p:spPr>
        <p:txBody>
          <a:bodyPr/>
          <a:lstStyle/>
          <a:p>
            <a:endParaRPr lang="en-SA"/>
          </a:p>
        </p:txBody>
      </p:sp>
      <p:sp>
        <p:nvSpPr>
          <p:cNvPr id="10" name="Text 8"/>
          <p:cNvSpPr/>
          <p:nvPr/>
        </p:nvSpPr>
        <p:spPr>
          <a:xfrm>
            <a:off x="841248" y="371856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Extreme IPW weights left untrimmed, driven by a few units.</a:t>
            </a:r>
            <a:endParaRPr lang="en-US" sz="1400" dirty="0"/>
          </a:p>
        </p:txBody>
      </p:sp>
      <p:sp>
        <p:nvSpPr>
          <p:cNvPr id="11" name="Shape 9"/>
          <p:cNvSpPr/>
          <p:nvPr/>
        </p:nvSpPr>
        <p:spPr>
          <a:xfrm>
            <a:off x="566928" y="4384548"/>
            <a:ext cx="137160" cy="137160"/>
          </a:xfrm>
          <a:prstGeom prst="ellipse">
            <a:avLst/>
          </a:prstGeom>
          <a:solidFill>
            <a:srgbClr val="3E9B90"/>
          </a:solidFill>
          <a:ln/>
        </p:spPr>
        <p:txBody>
          <a:bodyPr/>
          <a:lstStyle/>
          <a:p>
            <a:endParaRPr lang="en-SA"/>
          </a:p>
        </p:txBody>
      </p:sp>
      <p:sp>
        <p:nvSpPr>
          <p:cNvPr id="12" name="Text 10"/>
          <p:cNvSpPr/>
          <p:nvPr/>
        </p:nvSpPr>
        <p:spPr>
          <a:xfrm>
            <a:off x="841248" y="432054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Reporting the most significant of many unplanned subgroups.</a:t>
            </a:r>
            <a:endParaRPr lang="en-US" sz="1400" dirty="0"/>
          </a:p>
        </p:txBody>
      </p:sp>
      <p:sp>
        <p:nvSpPr>
          <p:cNvPr id="13" name="Shape 11"/>
          <p:cNvSpPr/>
          <p:nvPr/>
        </p:nvSpPr>
        <p:spPr>
          <a:xfrm>
            <a:off x="566928" y="4986528"/>
            <a:ext cx="137160" cy="137160"/>
          </a:xfrm>
          <a:prstGeom prst="ellipse">
            <a:avLst/>
          </a:prstGeom>
          <a:solidFill>
            <a:srgbClr val="73BB59"/>
          </a:solidFill>
          <a:ln/>
        </p:spPr>
        <p:txBody>
          <a:bodyPr/>
          <a:lstStyle/>
          <a:p>
            <a:endParaRPr lang="en-SA"/>
          </a:p>
        </p:txBody>
      </p:sp>
      <p:sp>
        <p:nvSpPr>
          <p:cNvPr id="14" name="Text 12"/>
          <p:cNvSpPr/>
          <p:nvPr/>
        </p:nvSpPr>
        <p:spPr>
          <a:xfrm>
            <a:off x="841248" y="492252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A tight confidence interval presented as if identification were certain.</a:t>
            </a:r>
            <a:endParaRPr lang="en-US" sz="1400" dirty="0"/>
          </a:p>
        </p:txBody>
      </p:sp>
      <p:sp>
        <p:nvSpPr>
          <p:cNvPr id="15" name="Shape 13"/>
          <p:cNvSpPr/>
          <p:nvPr/>
        </p:nvSpPr>
        <p:spPr>
          <a:xfrm>
            <a:off x="566928" y="5588508"/>
            <a:ext cx="137160" cy="137160"/>
          </a:xfrm>
          <a:prstGeom prst="ellipse">
            <a:avLst/>
          </a:prstGeom>
          <a:solidFill>
            <a:srgbClr val="3FA9E0"/>
          </a:solidFill>
          <a:ln/>
        </p:spPr>
        <p:txBody>
          <a:bodyPr/>
          <a:lstStyle/>
          <a:p>
            <a:endParaRPr lang="en-SA"/>
          </a:p>
        </p:txBody>
      </p:sp>
      <p:sp>
        <p:nvSpPr>
          <p:cNvPr id="16" name="Text 14"/>
          <p:cNvSpPr/>
          <p:nvPr/>
        </p:nvSpPr>
        <p:spPr>
          <a:xfrm>
            <a:off x="841248" y="5524500"/>
            <a:ext cx="10783519" cy="601980"/>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An estimand that quietly differs from the decision at hand.</a:t>
            </a:r>
            <a:endParaRPr lang="en-US" sz="140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PRACTICE</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202  /  221</a:t>
            </a:r>
            <a:endParaRPr lang="en-US" sz="900"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REFERENCE · SENSITIVITY</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Sensitivity &amp; Falsification Toolkit</a:t>
            </a:r>
            <a:endParaRPr lang="en-US" sz="3400" dirty="0"/>
          </a:p>
        </p:txBody>
      </p:sp>
      <p:sp>
        <p:nvSpPr>
          <p:cNvPr id="4" name="Text 2"/>
          <p:cNvSpPr/>
          <p:nvPr/>
        </p:nvSpPr>
        <p:spPr>
          <a:xfrm>
            <a:off x="566928" y="1783080"/>
            <a:ext cx="11057839" cy="548640"/>
          </a:xfrm>
          <a:prstGeom prst="rect">
            <a:avLst/>
          </a:prstGeom>
          <a:noFill/>
          <a:ln/>
        </p:spPr>
        <p:txBody>
          <a:bodyPr wrap="square" lIns="0" tIns="0" rIns="0" bIns="0" rtlCol="0" anchor="t"/>
          <a:lstStyle/>
          <a:p>
            <a:pPr marL="0" indent="0">
              <a:lnSpc>
                <a:spcPct val="115000"/>
              </a:lnSpc>
              <a:buNone/>
            </a:pPr>
            <a:r>
              <a:rPr lang="en-US" sz="1400" dirty="0">
                <a:solidFill>
                  <a:srgbClr val="566581"/>
                </a:solidFill>
                <a:latin typeface="Calibri" pitchFamily="34" charset="0"/>
                <a:ea typeface="Calibri" pitchFamily="34" charset="-122"/>
                <a:cs typeface="Calibri" pitchFamily="34" charset="-120"/>
              </a:rPr>
              <a:t>Ways to stress-test a causal claim.</a:t>
            </a:r>
            <a:endParaRPr lang="en-US" sz="1400" dirty="0"/>
          </a:p>
        </p:txBody>
      </p:sp>
      <p:sp>
        <p:nvSpPr>
          <p:cNvPr id="5" name="Shape 3"/>
          <p:cNvSpPr/>
          <p:nvPr/>
        </p:nvSpPr>
        <p:spPr>
          <a:xfrm>
            <a:off x="566928" y="2468880"/>
            <a:ext cx="502920" cy="502920"/>
          </a:xfrm>
          <a:prstGeom prst="ellipse">
            <a:avLst/>
          </a:prstGeom>
          <a:solidFill>
            <a:srgbClr val="3FA9E0"/>
          </a:solidFill>
          <a:ln/>
        </p:spPr>
        <p:txBody>
          <a:bodyPr/>
          <a:lstStyle/>
          <a:p>
            <a:endParaRPr lang="en-SA"/>
          </a:p>
        </p:txBody>
      </p:sp>
      <p:sp>
        <p:nvSpPr>
          <p:cNvPr id="6" name="Text 4"/>
          <p:cNvSpPr/>
          <p:nvPr/>
        </p:nvSpPr>
        <p:spPr>
          <a:xfrm>
            <a:off x="566928" y="246888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7" name="Text 5"/>
          <p:cNvSpPr/>
          <p:nvPr/>
        </p:nvSpPr>
        <p:spPr>
          <a:xfrm>
            <a:off x="1298448" y="242316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E-value</a:t>
            </a:r>
            <a:endParaRPr lang="en-US" sz="1600" dirty="0"/>
          </a:p>
        </p:txBody>
      </p:sp>
      <p:sp>
        <p:nvSpPr>
          <p:cNvPr id="8" name="Text 6"/>
          <p:cNvSpPr/>
          <p:nvPr/>
        </p:nvSpPr>
        <p:spPr>
          <a:xfrm>
            <a:off x="1298448" y="273405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Minimum confounding strength (with T and Y) needed to nullify the estimate. Bigger is more robust.</a:t>
            </a:r>
            <a:endParaRPr lang="en-US" sz="1250" dirty="0"/>
          </a:p>
        </p:txBody>
      </p:sp>
      <p:sp>
        <p:nvSpPr>
          <p:cNvPr id="9" name="Shape 7"/>
          <p:cNvSpPr/>
          <p:nvPr/>
        </p:nvSpPr>
        <p:spPr>
          <a:xfrm>
            <a:off x="566928" y="3394710"/>
            <a:ext cx="502920" cy="502920"/>
          </a:xfrm>
          <a:prstGeom prst="ellipse">
            <a:avLst/>
          </a:prstGeom>
          <a:solidFill>
            <a:srgbClr val="5A5BA6"/>
          </a:solidFill>
          <a:ln/>
        </p:spPr>
        <p:txBody>
          <a:bodyPr/>
          <a:lstStyle/>
          <a:p>
            <a:endParaRPr lang="en-SA"/>
          </a:p>
        </p:txBody>
      </p:sp>
      <p:sp>
        <p:nvSpPr>
          <p:cNvPr id="10" name="Text 8"/>
          <p:cNvSpPr/>
          <p:nvPr/>
        </p:nvSpPr>
        <p:spPr>
          <a:xfrm>
            <a:off x="566928" y="339471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1" name="Text 9"/>
          <p:cNvSpPr/>
          <p:nvPr/>
        </p:nvSpPr>
        <p:spPr>
          <a:xfrm>
            <a:off x="1298448" y="334899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Rosenbaum bounds</a:t>
            </a:r>
            <a:endParaRPr lang="en-US" sz="1600" dirty="0"/>
          </a:p>
        </p:txBody>
      </p:sp>
      <p:sp>
        <p:nvSpPr>
          <p:cNvPr id="12" name="Text 10"/>
          <p:cNvSpPr/>
          <p:nvPr/>
        </p:nvSpPr>
        <p:spPr>
          <a:xfrm>
            <a:off x="1298448" y="365988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How large a hidden bias in assignment odds would overturn a matched result.</a:t>
            </a:r>
            <a:endParaRPr lang="en-US" sz="1250" dirty="0"/>
          </a:p>
        </p:txBody>
      </p:sp>
      <p:sp>
        <p:nvSpPr>
          <p:cNvPr id="13" name="Shape 11"/>
          <p:cNvSpPr/>
          <p:nvPr/>
        </p:nvSpPr>
        <p:spPr>
          <a:xfrm>
            <a:off x="566928" y="4320540"/>
            <a:ext cx="502920" cy="502920"/>
          </a:xfrm>
          <a:prstGeom prst="ellipse">
            <a:avLst/>
          </a:prstGeom>
          <a:solidFill>
            <a:srgbClr val="EA7B38"/>
          </a:solidFill>
          <a:ln/>
        </p:spPr>
        <p:txBody>
          <a:bodyPr/>
          <a:lstStyle/>
          <a:p>
            <a:endParaRPr lang="en-SA"/>
          </a:p>
        </p:txBody>
      </p:sp>
      <p:sp>
        <p:nvSpPr>
          <p:cNvPr id="14" name="Text 12"/>
          <p:cNvSpPr/>
          <p:nvPr/>
        </p:nvSpPr>
        <p:spPr>
          <a:xfrm>
            <a:off x="566928" y="432054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15" name="Text 13"/>
          <p:cNvSpPr/>
          <p:nvPr/>
        </p:nvSpPr>
        <p:spPr>
          <a:xfrm>
            <a:off x="1298448" y="427482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Partial-R² benchmarks</a:t>
            </a:r>
            <a:endParaRPr lang="en-US" sz="1600" dirty="0"/>
          </a:p>
        </p:txBody>
      </p:sp>
      <p:sp>
        <p:nvSpPr>
          <p:cNvPr id="16" name="Text 14"/>
          <p:cNvSpPr/>
          <p:nvPr/>
        </p:nvSpPr>
        <p:spPr>
          <a:xfrm>
            <a:off x="1298448" y="458571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Cinelli–Hazlett: benchmark an unobserved confounder against observed covariates.</a:t>
            </a:r>
            <a:endParaRPr lang="en-US" sz="1250" dirty="0"/>
          </a:p>
        </p:txBody>
      </p:sp>
      <p:sp>
        <p:nvSpPr>
          <p:cNvPr id="17" name="Shape 15"/>
          <p:cNvSpPr/>
          <p:nvPr/>
        </p:nvSpPr>
        <p:spPr>
          <a:xfrm>
            <a:off x="566928" y="5246370"/>
            <a:ext cx="502920" cy="502920"/>
          </a:xfrm>
          <a:prstGeom prst="ellipse">
            <a:avLst/>
          </a:prstGeom>
          <a:solidFill>
            <a:srgbClr val="3E9B90"/>
          </a:solidFill>
          <a:ln/>
        </p:spPr>
        <p:txBody>
          <a:bodyPr/>
          <a:lstStyle/>
          <a:p>
            <a:endParaRPr lang="en-SA"/>
          </a:p>
        </p:txBody>
      </p:sp>
      <p:sp>
        <p:nvSpPr>
          <p:cNvPr id="18" name="Text 16"/>
          <p:cNvSpPr/>
          <p:nvPr/>
        </p:nvSpPr>
        <p:spPr>
          <a:xfrm>
            <a:off x="566928" y="5246370"/>
            <a:ext cx="5029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04</a:t>
            </a:r>
            <a:endParaRPr lang="en-US" sz="1300" dirty="0"/>
          </a:p>
        </p:txBody>
      </p:sp>
      <p:sp>
        <p:nvSpPr>
          <p:cNvPr id="19" name="Text 17"/>
          <p:cNvSpPr/>
          <p:nvPr/>
        </p:nvSpPr>
        <p:spPr>
          <a:xfrm>
            <a:off x="1298448" y="5200650"/>
            <a:ext cx="10234879" cy="310896"/>
          </a:xfrm>
          <a:prstGeom prst="rect">
            <a:avLst/>
          </a:prstGeom>
          <a:noFill/>
          <a:ln/>
        </p:spPr>
        <p:txBody>
          <a:bodyPr wrap="square" lIns="0" tIns="0" rIns="0" bIns="0" rtlCol="0" anchor="ctr"/>
          <a:lstStyle/>
          <a:p>
            <a:pPr marL="0" indent="0">
              <a:buNone/>
            </a:pPr>
            <a:r>
              <a:rPr lang="en-US" sz="1600" b="1" dirty="0">
                <a:solidFill>
                  <a:srgbClr val="16233F"/>
                </a:solidFill>
                <a:latin typeface="Cambria" pitchFamily="34" charset="0"/>
                <a:ea typeface="Cambria" pitchFamily="34" charset="-122"/>
                <a:cs typeface="Cambria" pitchFamily="34" charset="-120"/>
              </a:rPr>
              <a:t>Negative controls &amp; placebos</a:t>
            </a:r>
            <a:endParaRPr lang="en-US" sz="1600" dirty="0"/>
          </a:p>
        </p:txBody>
      </p:sp>
      <p:sp>
        <p:nvSpPr>
          <p:cNvPr id="20" name="Text 18"/>
          <p:cNvSpPr/>
          <p:nvPr/>
        </p:nvSpPr>
        <p:spPr>
          <a:xfrm>
            <a:off x="1298448" y="5511546"/>
            <a:ext cx="10234879" cy="560070"/>
          </a:xfrm>
          <a:prstGeom prst="rect">
            <a:avLst/>
          </a:prstGeom>
          <a:noFill/>
          <a:ln/>
        </p:spPr>
        <p:txBody>
          <a:bodyPr wrap="square" lIns="0" tIns="0" rIns="0" bIns="0" rtlCol="0" anchor="t"/>
          <a:lstStyle/>
          <a:p>
            <a:pPr marL="0" indent="0">
              <a:lnSpc>
                <a:spcPct val="110000"/>
              </a:lnSpc>
              <a:buNone/>
            </a:pPr>
            <a:r>
              <a:rPr lang="en-US" sz="1250" dirty="0">
                <a:solidFill>
                  <a:srgbClr val="566581"/>
                </a:solidFill>
                <a:latin typeface="Calibri" pitchFamily="34" charset="0"/>
                <a:ea typeface="Calibri" pitchFamily="34" charset="-122"/>
                <a:cs typeface="Calibri" pitchFamily="34" charset="-120"/>
              </a:rPr>
              <a:t>Outcomes/exposures/periods where no effect can exist; a detected effect exposes bias.</a:t>
            </a:r>
            <a:endParaRPr lang="en-US" sz="1250" dirty="0"/>
          </a:p>
        </p:txBody>
      </p:sp>
      <p:sp>
        <p:nvSpPr>
          <p:cNvPr id="21" name="Text 19"/>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PRACTICE</a:t>
            </a:r>
            <a:endParaRPr lang="en-US" sz="900" dirty="0"/>
          </a:p>
        </p:txBody>
      </p:sp>
      <p:sp>
        <p:nvSpPr>
          <p:cNvPr id="22" name="Text 20"/>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203  /  221</a:t>
            </a:r>
            <a:endParaRPr lang="en-US" sz="900"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REFERENCE · PROFESSIONAL PRACTICE</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Reproducibility, Ethics &amp; Tooling</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Standards that separate a defensible analysis from a plausible-looking one.</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REFERENCE</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204  /  221</a:t>
            </a:r>
            <a:endParaRPr lang="en-US" sz="900"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PRACTICE · REPRODUCIBILITY</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Pre-Registration &amp; Reproducibility</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The strongest defence against p-hacking and hindsight is committing to the analysis before seeing outcomes.</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Pre-register</a:t>
            </a:r>
            <a:endParaRPr lang="en-US" sz="1500" dirty="0"/>
          </a:p>
        </p:txBody>
      </p:sp>
      <p:sp>
        <p:nvSpPr>
          <p:cNvPr id="7" name="Text 5"/>
          <p:cNvSpPr/>
          <p:nvPr/>
        </p:nvSpPr>
        <p:spPr>
          <a:xfrm>
            <a:off x="859536" y="28346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Fix the primary metric, the estimand, the analysis, and the stopping rule before data collection ends.</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Separate exploration from confirmation</a:t>
            </a:r>
            <a:endParaRPr lang="en-US" sz="1500" dirty="0"/>
          </a:p>
        </p:txBody>
      </p:sp>
      <p:sp>
        <p:nvSpPr>
          <p:cNvPr id="10" name="Text 8"/>
          <p:cNvSpPr/>
          <p:nvPr/>
        </p:nvSpPr>
        <p:spPr>
          <a:xfrm>
            <a:off x="859536" y="37490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Label exploratory findings honestly; confirm them on fresh data before acting.</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Reproducible pipelines</a:t>
            </a:r>
            <a:endParaRPr lang="en-US" sz="1500" dirty="0"/>
          </a:p>
        </p:txBody>
      </p:sp>
      <p:sp>
        <p:nvSpPr>
          <p:cNvPr id="13" name="Text 11"/>
          <p:cNvSpPr/>
          <p:nvPr/>
        </p:nvSpPr>
        <p:spPr>
          <a:xfrm>
            <a:off x="859536" y="4663440"/>
            <a:ext cx="10692079"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Version data and code, seed randomness, and script the full analysis so a reviewer can re-run it.</a:t>
            </a:r>
            <a:endParaRPr lang="en-US" sz="1250" dirty="0"/>
          </a:p>
        </p:txBody>
      </p:sp>
      <p:sp>
        <p:nvSpPr>
          <p:cNvPr id="14" name="Text 1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PRACTICE</a:t>
            </a:r>
            <a:endParaRPr lang="en-US" sz="900" dirty="0"/>
          </a:p>
        </p:txBody>
      </p:sp>
      <p:sp>
        <p:nvSpPr>
          <p:cNvPr id="15" name="Text 1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205  /  221</a:t>
            </a:r>
            <a:endParaRPr lang="en-US" sz="900"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PRACTICE · ETHICS</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The Ethics of Experimentation</a:t>
            </a:r>
            <a:endParaRPr lang="en-US" sz="3400" dirty="0"/>
          </a:p>
        </p:txBody>
      </p:sp>
      <p:sp>
        <p:nvSpPr>
          <p:cNvPr id="4" name="Text 2"/>
          <p:cNvSpPr/>
          <p:nvPr/>
        </p:nvSpPr>
        <p:spPr>
          <a:xfrm>
            <a:off x="566928" y="1737360"/>
            <a:ext cx="6583680"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Experiments act on real people; credibility and responsibility are inseparable.</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Do no harm</a:t>
            </a:r>
            <a:endParaRPr lang="en-US" sz="1500" dirty="0"/>
          </a:p>
        </p:txBody>
      </p:sp>
      <p:sp>
        <p:nvSpPr>
          <p:cNvPr id="7" name="Text 5"/>
          <p:cNvSpPr/>
          <p:nvPr/>
        </p:nvSpPr>
        <p:spPr>
          <a:xfrm>
            <a:off x="859536" y="28346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Guardrails protect users from being harmed by a variant; some interventions must never be randomized.</a:t>
            </a:r>
            <a:endParaRPr lang="en-US" sz="1250" dirty="0"/>
          </a:p>
        </p:txBody>
      </p:sp>
      <p:sp>
        <p:nvSpPr>
          <p:cNvPr id="8" name="Shape 6"/>
          <p:cNvSpPr/>
          <p:nvPr/>
        </p:nvSpPr>
        <p:spPr>
          <a:xfrm>
            <a:off x="566928" y="3529584"/>
            <a:ext cx="146304" cy="146304"/>
          </a:xfrm>
          <a:prstGeom prst="ellipse">
            <a:avLst/>
          </a:prstGeom>
          <a:solidFill>
            <a:srgbClr val="5A5BA6"/>
          </a:solidFill>
          <a:ln/>
        </p:spPr>
        <p:txBody>
          <a:bodyPr/>
          <a:lstStyle/>
          <a:p>
            <a:endParaRPr lang="en-SA"/>
          </a:p>
        </p:txBody>
      </p:sp>
      <p:sp>
        <p:nvSpPr>
          <p:cNvPr id="9" name="Text 7"/>
          <p:cNvSpPr/>
          <p:nvPr/>
        </p:nvSpPr>
        <p:spPr>
          <a:xfrm>
            <a:off x="859536" y="34747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Equipoise &amp; consent</a:t>
            </a:r>
            <a:endParaRPr lang="en-US" sz="1500" dirty="0"/>
          </a:p>
        </p:txBody>
      </p:sp>
      <p:sp>
        <p:nvSpPr>
          <p:cNvPr id="10" name="Text 8"/>
          <p:cNvSpPr/>
          <p:nvPr/>
        </p:nvSpPr>
        <p:spPr>
          <a:xfrm>
            <a:off x="859536" y="37490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Randomize only under genuine uncertainty about which arm is better; respect consent and applicable regulation.</a:t>
            </a:r>
            <a:endParaRPr lang="en-US" sz="1250" dirty="0"/>
          </a:p>
        </p:txBody>
      </p:sp>
      <p:sp>
        <p:nvSpPr>
          <p:cNvPr id="11" name="Shape 9"/>
          <p:cNvSpPr/>
          <p:nvPr/>
        </p:nvSpPr>
        <p:spPr>
          <a:xfrm>
            <a:off x="566928" y="4443984"/>
            <a:ext cx="146304" cy="146304"/>
          </a:xfrm>
          <a:prstGeom prst="ellipse">
            <a:avLst/>
          </a:prstGeom>
          <a:solidFill>
            <a:srgbClr val="EA7B38"/>
          </a:solidFill>
          <a:ln/>
        </p:spPr>
        <p:txBody>
          <a:bodyPr/>
          <a:lstStyle/>
          <a:p>
            <a:endParaRPr lang="en-SA"/>
          </a:p>
        </p:txBody>
      </p:sp>
      <p:sp>
        <p:nvSpPr>
          <p:cNvPr id="12" name="Text 10"/>
          <p:cNvSpPr/>
          <p:nvPr/>
        </p:nvSpPr>
        <p:spPr>
          <a:xfrm>
            <a:off x="859536" y="4389120"/>
            <a:ext cx="6217920"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Fairness of effects</a:t>
            </a:r>
            <a:endParaRPr lang="en-US" sz="1500" dirty="0"/>
          </a:p>
        </p:txBody>
      </p:sp>
      <p:sp>
        <p:nvSpPr>
          <p:cNvPr id="13" name="Text 11"/>
          <p:cNvSpPr/>
          <p:nvPr/>
        </p:nvSpPr>
        <p:spPr>
          <a:xfrm>
            <a:off x="859536" y="4663440"/>
            <a:ext cx="6217920" cy="62179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Check that a positive average effect is not achieved by harming a subgroup; report distributional impact.</a:t>
            </a:r>
            <a:endParaRPr lang="en-US" sz="1250" dirty="0"/>
          </a:p>
        </p:txBody>
      </p:sp>
      <p:sp>
        <p:nvSpPr>
          <p:cNvPr id="14" name="Shape 12"/>
          <p:cNvSpPr/>
          <p:nvPr/>
        </p:nvSpPr>
        <p:spPr>
          <a:xfrm>
            <a:off x="7470648" y="1737360"/>
            <a:ext cx="4154119" cy="4114800"/>
          </a:xfrm>
          <a:prstGeom prst="roundRect">
            <a:avLst>
              <a:gd name="adj" fmla="val 2667"/>
            </a:avLst>
          </a:prstGeom>
          <a:solidFill>
            <a:srgbClr val="F4F7FB"/>
          </a:solidFill>
          <a:ln w="12700">
            <a:solidFill>
              <a:srgbClr val="D9E2F0"/>
            </a:solidFill>
            <a:prstDash val="solid"/>
          </a:ln>
        </p:spPr>
        <p:txBody>
          <a:bodyPr/>
          <a:lstStyle/>
          <a:p>
            <a:endParaRPr lang="en-SA"/>
          </a:p>
        </p:txBody>
      </p:sp>
      <p:sp>
        <p:nvSpPr>
          <p:cNvPr id="15" name="Text 13"/>
          <p:cNvSpPr/>
          <p:nvPr/>
        </p:nvSpPr>
        <p:spPr>
          <a:xfrm>
            <a:off x="7744968" y="2011680"/>
            <a:ext cx="3605479" cy="274320"/>
          </a:xfrm>
          <a:prstGeom prst="rect">
            <a:avLst/>
          </a:prstGeom>
          <a:noFill/>
          <a:ln/>
        </p:spPr>
        <p:txBody>
          <a:bodyPr wrap="square" lIns="0" tIns="0" rIns="0" bIns="0" rtlCol="0" anchor="ctr"/>
          <a:lstStyle/>
          <a:p>
            <a:pPr marL="0" indent="0">
              <a:buNone/>
            </a:pPr>
            <a:r>
              <a:rPr lang="en-US" sz="1100" b="1" kern="0" spc="200" dirty="0">
                <a:solidFill>
                  <a:srgbClr val="3FA9E0"/>
                </a:solidFill>
                <a:latin typeface="Calibri" pitchFamily="34" charset="0"/>
                <a:ea typeface="Calibri" pitchFamily="34" charset="-122"/>
                <a:cs typeface="Calibri" pitchFamily="34" charset="-120"/>
              </a:rPr>
              <a:t>GOVERNANCE</a:t>
            </a:r>
            <a:endParaRPr lang="en-US" sz="1100" dirty="0"/>
          </a:p>
        </p:txBody>
      </p:sp>
      <p:sp>
        <p:nvSpPr>
          <p:cNvPr id="16" name="Text 14"/>
          <p:cNvSpPr/>
          <p:nvPr/>
        </p:nvSpPr>
        <p:spPr>
          <a:xfrm>
            <a:off x="7744968" y="2377440"/>
            <a:ext cx="3605479" cy="3200400"/>
          </a:xfrm>
          <a:prstGeom prst="rect">
            <a:avLst/>
          </a:prstGeom>
          <a:noFill/>
          <a:ln/>
        </p:spPr>
        <p:txBody>
          <a:bodyPr wrap="square" lIns="0" tIns="0" rIns="0" bIns="0" rtlCol="0" anchor="t"/>
          <a:lstStyle/>
          <a:p>
            <a:pPr marL="0" indent="0">
              <a:lnSpc>
                <a:spcPct val="125000"/>
              </a:lnSpc>
              <a:buNone/>
            </a:pPr>
            <a:r>
              <a:rPr lang="en-US" sz="1350" i="1" dirty="0">
                <a:solidFill>
                  <a:srgbClr val="16233F"/>
                </a:solidFill>
                <a:latin typeface="Calibri" pitchFamily="34" charset="0"/>
                <a:ea typeface="Calibri" pitchFamily="34" charset="-122"/>
                <a:cs typeface="Calibri" pitchFamily="34" charset="-120"/>
              </a:rPr>
              <a:t>In a national and enterprise context, align experimentation with data-protection rules and an ethics-review process — responsible AI and responsible experimentation share the same spine.</a:t>
            </a:r>
            <a:endParaRPr lang="en-US" sz="13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PRACTICE</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206  /  221</a:t>
            </a:r>
            <a:endParaRPr lang="en-US" sz="900"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PRACTICE · TOOLING</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Python Toolkit</a:t>
            </a:r>
            <a:endParaRPr lang="en-US" sz="3400" dirty="0"/>
          </a:p>
        </p:txBody>
      </p:sp>
      <p:sp>
        <p:nvSpPr>
          <p:cNvPr id="4" name="Text 2"/>
          <p:cNvSpPr/>
          <p:nvPr/>
        </p:nvSpPr>
        <p:spPr>
          <a:xfrm>
            <a:off x="566928" y="1783080"/>
            <a:ext cx="11057839" cy="457200"/>
          </a:xfrm>
          <a:prstGeom prst="rect">
            <a:avLst/>
          </a:prstGeom>
          <a:noFill/>
          <a:ln/>
        </p:spPr>
        <p:txBody>
          <a:bodyPr wrap="square" lIns="0" tIns="0" rIns="0" bIns="0" rtlCol="0" anchor="t"/>
          <a:lstStyle/>
          <a:p>
            <a:pPr marL="0" indent="0">
              <a:lnSpc>
                <a:spcPct val="112000"/>
              </a:lnSpc>
              <a:buNone/>
            </a:pPr>
            <a:r>
              <a:rPr lang="en-US" sz="1350" dirty="0">
                <a:solidFill>
                  <a:srgbClr val="566581"/>
                </a:solidFill>
                <a:latin typeface="Calibri" pitchFamily="34" charset="0"/>
                <a:ea typeface="Calibri" pitchFamily="34" charset="-122"/>
                <a:cs typeface="Calibri" pitchFamily="34" charset="-120"/>
              </a:rPr>
              <a:t>A practical, open-source stack for the labs and for production work.</a:t>
            </a:r>
            <a:endParaRPr lang="en-US" sz="1350" dirty="0"/>
          </a:p>
        </p:txBody>
      </p:sp>
      <p:graphicFrame>
        <p:nvGraphicFramePr>
          <p:cNvPr id="209" name="Table 0"/>
          <p:cNvGraphicFramePr>
            <a:graphicFrameLocks noGrp="1"/>
          </p:cNvGraphicFramePr>
          <p:nvPr>
            <p:extLst>
              <p:ext uri="{D42A27DB-BD31-4B8C-83A1-F6EECF244321}">
                <p14:modId xmlns:p14="http://schemas.microsoft.com/office/powerpoint/2010/main" val="1579011935"/>
              </p:ext>
            </p:extLst>
          </p:nvPr>
        </p:nvGraphicFramePr>
        <p:xfrm>
          <a:off x="566928" y="2331720"/>
          <a:ext cx="10158984" cy="3291840"/>
        </p:xfrm>
        <a:graphic>
          <a:graphicData uri="http://schemas.openxmlformats.org/drawingml/2006/table">
            <a:tbl>
              <a:tblPr/>
              <a:tblGrid>
                <a:gridCol w="292608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3483864">
                  <a:extLst>
                    <a:ext uri="{9D8B030D-6E8A-4147-A177-3AD203B41FA5}">
                      <a16:colId xmlns:a16="http://schemas.microsoft.com/office/drawing/2014/main" val="20002"/>
                    </a:ext>
                  </a:extLst>
                </a:gridCol>
              </a:tblGrid>
              <a:tr h="54864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Task</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Libraries</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Notes</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extLst>
                  <a:ext uri="{0D108BD9-81ED-4DB2-BD59-A6C34878D82A}">
                    <a16:rowId xmlns:a16="http://schemas.microsoft.com/office/drawing/2014/main" val="10000"/>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Data &amp; modelling</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pandas, NumPy, statsmodels, scikit-learn</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Foundations for estimation and inference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Causal estimation</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DoWhy, EconML, CausalML</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Adjustment, DR/ML learners, CATE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Diagnostics / matching</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causalinference, dowhy refuters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Balance, overlap, refutation tests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Panel / quasi-experiment</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linearmodels, differences, pysyncon</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IV/2SLS, modern DiD, synthetic control</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Experimentation</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scipy.stats, statsmodels.power</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Power, tests, sequential analysis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PRACTICE</a:t>
            </a:r>
            <a:endParaRPr lang="en-US" sz="900" dirty="0"/>
          </a:p>
        </p:txBody>
      </p:sp>
      <p:sp>
        <p:nvSpPr>
          <p:cNvPr id="7" name="Text 4"/>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207  /  221</a:t>
            </a:r>
            <a:endParaRPr lang="en-US" sz="900"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REFERENCE · NOTATION</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Notation Reference</a:t>
            </a:r>
            <a:endParaRPr lang="en-US" sz="3400" dirty="0"/>
          </a:p>
        </p:txBody>
      </p:sp>
      <p:graphicFrame>
        <p:nvGraphicFramePr>
          <p:cNvPr id="210"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0158984" cy="4251960"/>
        </p:xfrm>
        <a:graphic>
          <a:graphicData uri="http://schemas.openxmlformats.org/drawingml/2006/table">
            <a:tbl>
              <a:tblPr/>
              <a:tblGrid>
                <a:gridCol w="2377440">
                  <a:extLst>
                    <a:ext uri="{9D8B030D-6E8A-4147-A177-3AD203B41FA5}">
                      <a16:colId xmlns:a16="http://schemas.microsoft.com/office/drawing/2014/main" val="20000"/>
                    </a:ext>
                  </a:extLst>
                </a:gridCol>
                <a:gridCol w="7781544">
                  <a:extLst>
                    <a:ext uri="{9D8B030D-6E8A-4147-A177-3AD203B41FA5}">
                      <a16:colId xmlns:a16="http://schemas.microsoft.com/office/drawing/2014/main" val="20001"/>
                    </a:ext>
                  </a:extLst>
                </a:gridCol>
              </a:tblGrid>
              <a:tr h="531495">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Symbol</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extLst>
                  <a:ext uri="{0D108BD9-81ED-4DB2-BD59-A6C34878D82A}">
                    <a16:rowId xmlns:a16="http://schemas.microsoft.com/office/drawing/2014/main" val="10000"/>
                  </a:ext>
                </a:extLst>
              </a:tr>
              <a:tr h="531495">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T (or D)</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Treatment / exposure indicator</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1495">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Y, Y(1), Y(0)</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Observed outcome; potential outcomes under treatment / control</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531495">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X</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Pre-treatment covariates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1495">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τᵢ, ATE, ATT</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Individual effect; average effects (population / on treated)</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531495">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e(x)</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Propensity score P(T=1 | X=x)</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1495">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Z</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Instrument; ⊥ denotes statistical independence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6"/>
                  </a:ext>
                </a:extLst>
              </a:tr>
              <a:tr h="531495">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do(·)</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The intervention operator (setting a variable)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PRACTICE</a:t>
            </a:r>
            <a:endParaRPr lang="en-US" sz="900" dirty="0"/>
          </a:p>
        </p:txBody>
      </p:sp>
      <p:sp>
        <p:nvSpPr>
          <p:cNvPr id="6" name="Text 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208  /  221</a:t>
            </a:r>
            <a:endParaRPr lang="en-US" sz="900"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REFERENCE · GLOSSARY</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Glossary (1 of 3)</a:t>
            </a:r>
            <a:endParaRPr lang="en-US" sz="3400" dirty="0"/>
          </a:p>
        </p:txBody>
      </p:sp>
      <p:graphicFrame>
        <p:nvGraphicFramePr>
          <p:cNvPr id="211"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0158984" cy="3840480"/>
        </p:xfrm>
        <a:graphic>
          <a:graphicData uri="http://schemas.openxmlformats.org/drawingml/2006/table">
            <a:tbl>
              <a:tblPr/>
              <a:tblGrid>
                <a:gridCol w="2743200">
                  <a:extLst>
                    <a:ext uri="{9D8B030D-6E8A-4147-A177-3AD203B41FA5}">
                      <a16:colId xmlns:a16="http://schemas.microsoft.com/office/drawing/2014/main" val="20000"/>
                    </a:ext>
                  </a:extLst>
                </a:gridCol>
                <a:gridCol w="7415784">
                  <a:extLst>
                    <a:ext uri="{9D8B030D-6E8A-4147-A177-3AD203B41FA5}">
                      <a16:colId xmlns:a16="http://schemas.microsoft.com/office/drawing/2014/main" val="20001"/>
                    </a:ext>
                  </a:extLst>
                </a:gridCol>
              </a:tblGrid>
              <a:tr h="54864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Term</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Definition</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extLst>
                  <a:ext uri="{0D108BD9-81ED-4DB2-BD59-A6C34878D82A}">
                    <a16:rowId xmlns:a16="http://schemas.microsoft.com/office/drawing/2014/main" val="10000"/>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Potential outcome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The outcome a unit would have under a specific treatment value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Counterfactual</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The unobserved potential outcome under the treatment not received</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Estimand / estimator / estimate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Target quantity / procedure / resulting number</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SUTVA</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No interference and a single well-defined treatment version</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Ignorability</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Treatment independent of potential outcomes given covariates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Positivity / overlap</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Every covariate profile has a chance of either treatment</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6"/>
                  </a:ext>
                </a:extLst>
              </a:tr>
            </a:tbl>
          </a:graphicData>
        </a:graphic>
      </p:graphicFrame>
      <p:sp>
        <p:nvSpPr>
          <p:cNvPr id="5" name="Text 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GLOSSARY</a:t>
            </a:r>
            <a:endParaRPr lang="en-US" sz="900" dirty="0"/>
          </a:p>
        </p:txBody>
      </p:sp>
      <p:sp>
        <p:nvSpPr>
          <p:cNvPr id="6" name="Text 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209  /  221</a:t>
            </a:r>
            <a:endParaRPr lang="en-US" sz="900"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REFERENCE · GLOSSARY</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Glossary (2 of 3)</a:t>
            </a:r>
            <a:endParaRPr lang="en-US" sz="3400" dirty="0"/>
          </a:p>
        </p:txBody>
      </p:sp>
      <p:graphicFrame>
        <p:nvGraphicFramePr>
          <p:cNvPr id="212"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0158984" cy="3840480"/>
        </p:xfrm>
        <a:graphic>
          <a:graphicData uri="http://schemas.openxmlformats.org/drawingml/2006/table">
            <a:tbl>
              <a:tblPr/>
              <a:tblGrid>
                <a:gridCol w="2743200">
                  <a:extLst>
                    <a:ext uri="{9D8B030D-6E8A-4147-A177-3AD203B41FA5}">
                      <a16:colId xmlns:a16="http://schemas.microsoft.com/office/drawing/2014/main" val="20000"/>
                    </a:ext>
                  </a:extLst>
                </a:gridCol>
                <a:gridCol w="7415784">
                  <a:extLst>
                    <a:ext uri="{9D8B030D-6E8A-4147-A177-3AD203B41FA5}">
                      <a16:colId xmlns:a16="http://schemas.microsoft.com/office/drawing/2014/main" val="20001"/>
                    </a:ext>
                  </a:extLst>
                </a:gridCol>
              </a:tblGrid>
              <a:tr h="54864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Term</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Definition</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extLst>
                  <a:ext uri="{0D108BD9-81ED-4DB2-BD59-A6C34878D82A}">
                    <a16:rowId xmlns:a16="http://schemas.microsoft.com/office/drawing/2014/main" val="10000"/>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Confounder</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A common cause of treatment and outcome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Collider</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A common effect of two variables; conditioning opens bias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Propensity score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Probability of treatment given covariates, e(x)</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IPW</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Inverse-probability weighting to rebalance the sample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Doubly robust</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Consistent if the outcome OR the treatment model is correct</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CUPED</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Variance reduction using a pre-treatment covariate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6"/>
                  </a:ext>
                </a:extLst>
              </a:tr>
            </a:tbl>
          </a:graphicData>
        </a:graphic>
      </p:graphicFrame>
      <p:sp>
        <p:nvSpPr>
          <p:cNvPr id="5" name="Text 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GLOSSARY</a:t>
            </a:r>
            <a:endParaRPr lang="en-US" sz="900" dirty="0"/>
          </a:p>
        </p:txBody>
      </p:sp>
      <p:sp>
        <p:nvSpPr>
          <p:cNvPr id="6" name="Text 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210  /  221</a:t>
            </a:r>
            <a:endParaRPr lang="en-US" sz="900"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REFERENCE · GLOSSARY</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Glossary (3 of 3)</a:t>
            </a:r>
            <a:endParaRPr lang="en-US" sz="3400" dirty="0"/>
          </a:p>
        </p:txBody>
      </p:sp>
      <p:graphicFrame>
        <p:nvGraphicFramePr>
          <p:cNvPr id="213"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0158984" cy="3840480"/>
        </p:xfrm>
        <a:graphic>
          <a:graphicData uri="http://schemas.openxmlformats.org/drawingml/2006/table">
            <a:tbl>
              <a:tblPr/>
              <a:tblGrid>
                <a:gridCol w="2743200">
                  <a:extLst>
                    <a:ext uri="{9D8B030D-6E8A-4147-A177-3AD203B41FA5}">
                      <a16:colId xmlns:a16="http://schemas.microsoft.com/office/drawing/2014/main" val="20000"/>
                    </a:ext>
                  </a:extLst>
                </a:gridCol>
                <a:gridCol w="7415784">
                  <a:extLst>
                    <a:ext uri="{9D8B030D-6E8A-4147-A177-3AD203B41FA5}">
                      <a16:colId xmlns:a16="http://schemas.microsoft.com/office/drawing/2014/main" val="20001"/>
                    </a:ext>
                  </a:extLst>
                </a:gridCol>
              </a:tblGrid>
              <a:tr h="54864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Term</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Definition</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extLst>
                  <a:ext uri="{0D108BD9-81ED-4DB2-BD59-A6C34878D82A}">
                    <a16:rowId xmlns:a16="http://schemas.microsoft.com/office/drawing/2014/main" val="10000"/>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DiD</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Difference-in-differences; compares before/after changes across groups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Parallel trends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Groups would have moved together absent treatment</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Synthetic control</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A weighted blend of controls matching the treated unit's history</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IV / LATE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Instrumental variables; the local effect on compliers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RDD</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Regression discontinuity; the local effect at a threshold</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E-value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Confounding strength needed to explain away an effect</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6"/>
                  </a:ext>
                </a:extLst>
              </a:tr>
            </a:tbl>
          </a:graphicData>
        </a:graphic>
      </p:graphicFrame>
      <p:sp>
        <p:nvSpPr>
          <p:cNvPr id="5" name="Text 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GLOSSARY</a:t>
            </a:r>
            <a:endParaRPr lang="en-US" sz="900" dirty="0"/>
          </a:p>
        </p:txBody>
      </p:sp>
      <p:sp>
        <p:nvSpPr>
          <p:cNvPr id="6" name="Text 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211  /  221</a:t>
            </a:r>
            <a:endParaRPr lang="en-US" sz="900" dirty="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33172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REFERENCE · DELIVERY</a:t>
            </a:r>
            <a:endParaRPr lang="en-US" sz="1300" dirty="0"/>
          </a:p>
        </p:txBody>
      </p:sp>
      <p:sp>
        <p:nvSpPr>
          <p:cNvPr id="3" name="Text 1"/>
          <p:cNvSpPr/>
          <p:nvPr/>
        </p:nvSpPr>
        <p:spPr>
          <a:xfrm>
            <a:off x="566928" y="2788920"/>
            <a:ext cx="10058400" cy="1371600"/>
          </a:xfrm>
          <a:prstGeom prst="rect">
            <a:avLst/>
          </a:prstGeom>
          <a:noFill/>
          <a:ln/>
        </p:spPr>
        <p:txBody>
          <a:bodyPr wrap="square" lIns="0" tIns="0" rIns="0" bIns="0" rtlCol="0" anchor="t"/>
          <a:lstStyle/>
          <a:p>
            <a:pPr marL="0" indent="0">
              <a:lnSpc>
                <a:spcPct val="102000"/>
              </a:lnSpc>
              <a:buNone/>
            </a:pPr>
            <a:r>
              <a:rPr lang="en-US" sz="4000" b="1" dirty="0">
                <a:solidFill>
                  <a:srgbClr val="FFFFFF"/>
                </a:solidFill>
                <a:latin typeface="Cambria" pitchFamily="34" charset="0"/>
                <a:ea typeface="Cambria" pitchFamily="34" charset="-122"/>
                <a:cs typeface="Cambria" pitchFamily="34" charset="-120"/>
              </a:rPr>
              <a:t>Course Toolkit &amp; Facilitator Notes</a:t>
            </a:r>
            <a:endParaRPr lang="en-US" sz="4000" dirty="0"/>
          </a:p>
        </p:txBody>
      </p:sp>
      <p:sp>
        <p:nvSpPr>
          <p:cNvPr id="4" name="Text 2"/>
          <p:cNvSpPr/>
          <p:nvPr/>
        </p:nvSpPr>
        <p:spPr>
          <a:xfrm>
            <a:off x="566928" y="4160520"/>
            <a:ext cx="932688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Competency mapping, assessment blueprint, timing, and delivery guidance for instructors.</a:t>
            </a:r>
            <a:endParaRPr lang="en-US" sz="1500" dirty="0"/>
          </a:p>
        </p:txBody>
      </p:sp>
      <p:sp>
        <p:nvSpPr>
          <p:cNvPr id="5" name="Shape 3"/>
          <p:cNvSpPr/>
          <p:nvPr/>
        </p:nvSpPr>
        <p:spPr>
          <a:xfrm>
            <a:off x="566928" y="3931920"/>
            <a:ext cx="164592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9FB0C8"/>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C9DAF0"/>
                </a:solidFill>
                <a:latin typeface="Calibri" pitchFamily="34" charset="0"/>
                <a:ea typeface="Calibri" pitchFamily="34" charset="-122"/>
                <a:cs typeface="Calibri" pitchFamily="34" charset="-120"/>
              </a:rPr>
              <a:t>REFERENCE</a:t>
            </a:r>
            <a:endParaRPr lang="en-US" sz="900" dirty="0"/>
          </a:p>
        </p:txBody>
      </p:sp>
      <p:sp>
        <p:nvSpPr>
          <p:cNvPr id="7" name="Text 5"/>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9FB0C8"/>
                </a:solidFill>
                <a:latin typeface="Calibri" pitchFamily="34" charset="0"/>
                <a:ea typeface="Calibri" pitchFamily="34" charset="-122"/>
                <a:cs typeface="Calibri" pitchFamily="34" charset="-120"/>
              </a:rPr>
              <a:t>212  /  221</a:t>
            </a:r>
            <a:endParaRPr lang="en-US" sz="900"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DELIVERY · MAPPING</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Outcomes → Competency → Content</a:t>
            </a:r>
            <a:endParaRPr lang="en-US" sz="3400" dirty="0"/>
          </a:p>
        </p:txBody>
      </p:sp>
      <p:sp>
        <p:nvSpPr>
          <p:cNvPr id="4" name="Text 2"/>
          <p:cNvSpPr/>
          <p:nvPr/>
        </p:nvSpPr>
        <p:spPr>
          <a:xfrm>
            <a:off x="566928" y="1783080"/>
            <a:ext cx="11057839" cy="457200"/>
          </a:xfrm>
          <a:prstGeom prst="rect">
            <a:avLst/>
          </a:prstGeom>
          <a:noFill/>
          <a:ln/>
        </p:spPr>
        <p:txBody>
          <a:bodyPr wrap="square" lIns="0" tIns="0" rIns="0" bIns="0" rtlCol="0" anchor="t"/>
          <a:lstStyle/>
          <a:p>
            <a:pPr marL="0" indent="0">
              <a:lnSpc>
                <a:spcPct val="112000"/>
              </a:lnSpc>
              <a:buNone/>
            </a:pPr>
            <a:r>
              <a:rPr lang="en-US" sz="1350" dirty="0">
                <a:solidFill>
                  <a:srgbClr val="566581"/>
                </a:solidFill>
                <a:latin typeface="Calibri" pitchFamily="34" charset="0"/>
                <a:ea typeface="Calibri" pitchFamily="34" charset="-122"/>
                <a:cs typeface="Calibri" pitchFamily="34" charset="-120"/>
              </a:rPr>
              <a:t>Traceability from each learning outcome to the DSC-C04 competency and the day that delivers it.</a:t>
            </a:r>
            <a:endParaRPr lang="en-US" sz="1350" dirty="0"/>
          </a:p>
        </p:txBody>
      </p:sp>
      <p:graphicFrame>
        <p:nvGraphicFramePr>
          <p:cNvPr id="215" name="Table 0"/>
          <p:cNvGraphicFramePr>
            <a:graphicFrameLocks noGrp="1"/>
          </p:cNvGraphicFramePr>
          <p:nvPr>
            <p:extLst>
              <p:ext uri="{D42A27DB-BD31-4B8C-83A1-F6EECF244321}">
                <p14:modId xmlns:p14="http://schemas.microsoft.com/office/powerpoint/2010/main" val="1579011935"/>
              </p:ext>
            </p:extLst>
          </p:nvPr>
        </p:nvGraphicFramePr>
        <p:xfrm>
          <a:off x="566928" y="2331720"/>
          <a:ext cx="10158984" cy="3703322"/>
        </p:xfrm>
        <a:graphic>
          <a:graphicData uri="http://schemas.openxmlformats.org/drawingml/2006/table">
            <a:tbl>
              <a:tblPr/>
              <a:tblGrid>
                <a:gridCol w="32918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2660904">
                  <a:extLst>
                    <a:ext uri="{9D8B030D-6E8A-4147-A177-3AD203B41FA5}">
                      <a16:colId xmlns:a16="http://schemas.microsoft.com/office/drawing/2014/main" val="20002"/>
                    </a:ext>
                  </a:extLst>
                </a:gridCol>
              </a:tblGrid>
              <a:tr h="529046">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Outcome</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DSC-C04 element</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Primary day(s)</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extLst>
                  <a:ext uri="{0D108BD9-81ED-4DB2-BD59-A6C34878D82A}">
                    <a16:rowId xmlns:a16="http://schemas.microsoft.com/office/drawing/2014/main" val="10000"/>
                  </a:ext>
                </a:extLst>
              </a:tr>
              <a:tr h="529046">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LO1 Formalise questions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Potential outcomes, estimands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Day 1</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9046">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LO2 Defend assumptions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Identification, SUTVA, ignorability</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Day 1, Day 3</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529046">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LO3–LO4 Experiments &amp; A/B</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Design, randomization, testing</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Day 2</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9046">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LO5 Observational effects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Adjustment, DR estimation</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Day 3</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529046">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LO6 Quasi-experiments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DiD, IV, RDD, synthetic control</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Day 3</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9046">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LO7–LO8 Uncertainty &amp; bias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Inference, sensitivity, validity</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Day 4</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6"/>
                  </a:ext>
                </a:extLst>
              </a:tr>
            </a:tbl>
          </a:graphicData>
        </a:graphic>
      </p:graphicFrame>
      <p:sp>
        <p:nvSpPr>
          <p:cNvPr id="6" name="Text 3"/>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DELIVERY</a:t>
            </a:r>
            <a:endParaRPr lang="en-US" sz="900" dirty="0"/>
          </a:p>
        </p:txBody>
      </p:sp>
      <p:sp>
        <p:nvSpPr>
          <p:cNvPr id="7" name="Text 4"/>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213  /  221</a:t>
            </a:r>
            <a:endParaRPr lang="en-US" sz="900" dirty="0"/>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DELIVERY · ASSESSMENT</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Assessment Blueprint</a:t>
            </a:r>
            <a:endParaRPr lang="en-US" sz="3400" dirty="0"/>
          </a:p>
        </p:txBody>
      </p:sp>
      <p:graphicFrame>
        <p:nvGraphicFramePr>
          <p:cNvPr id="216"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0158984" cy="3291840"/>
        </p:xfrm>
        <a:graphic>
          <a:graphicData uri="http://schemas.openxmlformats.org/drawingml/2006/table">
            <a:tbl>
              <a:tblPr/>
              <a:tblGrid>
                <a:gridCol w="25603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3209544">
                  <a:extLst>
                    <a:ext uri="{9D8B030D-6E8A-4147-A177-3AD203B41FA5}">
                      <a16:colId xmlns:a16="http://schemas.microsoft.com/office/drawing/2014/main" val="20003"/>
                    </a:ext>
                  </a:extLst>
                </a:gridCol>
              </a:tblGrid>
              <a:tr h="54864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Instrument</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Items / form</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Weight</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Aligned outcomes</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extLst>
                  <a:ext uri="{0D108BD9-81ED-4DB2-BD59-A6C34878D82A}">
                    <a16:rowId xmlns:a16="http://schemas.microsoft.com/office/drawing/2014/main" val="10000"/>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Pre-test</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10 MCQ (diagnostic)</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Baseline across LO1–LO8</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Daily checks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4 sets, MCQ + applied</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LO of that day</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Labs 1–4</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Rubric-scored notebooks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LO3–LO7</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Capstone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Design + memo + defense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40%</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LO1–LO8 integrated</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Post-test</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20 MCQ (summative)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LO1–LO8</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DELIVERY</a:t>
            </a:r>
            <a:endParaRPr lang="en-US" sz="900" dirty="0"/>
          </a:p>
        </p:txBody>
      </p:sp>
      <p:sp>
        <p:nvSpPr>
          <p:cNvPr id="6" name="Text 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214  /  221</a:t>
            </a:r>
            <a:endParaRPr lang="en-US" sz="900" dirty="0"/>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DELIVERY · TIMING</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Master Timetable (Days 1–2)</a:t>
            </a:r>
            <a:endParaRPr lang="en-US" sz="3400" dirty="0"/>
          </a:p>
        </p:txBody>
      </p:sp>
      <p:graphicFrame>
        <p:nvGraphicFramePr>
          <p:cNvPr id="217"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0158984" cy="3291840"/>
        </p:xfrm>
        <a:graphic>
          <a:graphicData uri="http://schemas.openxmlformats.org/drawingml/2006/table">
            <a:tbl>
              <a:tblPr/>
              <a:tblGrid>
                <a:gridCol w="146304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52544">
                  <a:extLst>
                    <a:ext uri="{9D8B030D-6E8A-4147-A177-3AD203B41FA5}">
                      <a16:colId xmlns:a16="http://schemas.microsoft.com/office/drawing/2014/main" val="20002"/>
                    </a:ext>
                  </a:extLst>
                </a:gridCol>
              </a:tblGrid>
              <a:tr h="54864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Hour</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Day 1</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Day 2</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extLst>
                  <a:ext uri="{0D108BD9-81ED-4DB2-BD59-A6C34878D82A}">
                    <a16:rowId xmlns:a16="http://schemas.microsoft.com/office/drawing/2014/main" val="10000"/>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Causal thinking &amp; workflow</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Design of experiments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Potential outcomes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Inference for experiments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Identification assumptions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Regression, CUPED, CATE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Randomization &amp; inference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A/B testing in production</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Lab 1 + discussion + wrap</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Lab 2 + discussion + wrap</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DELIVERY</a:t>
            </a:r>
            <a:endParaRPr lang="en-US" sz="900" dirty="0"/>
          </a:p>
        </p:txBody>
      </p:sp>
      <p:sp>
        <p:nvSpPr>
          <p:cNvPr id="6" name="Text 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215  /  221</a:t>
            </a:r>
            <a:endParaRPr lang="en-US" sz="900" dirty="0"/>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DELIVERY · TIMING</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Master Timetable (Days 3–4)</a:t>
            </a:r>
            <a:endParaRPr lang="en-US" sz="3400" dirty="0"/>
          </a:p>
        </p:txBody>
      </p:sp>
      <p:graphicFrame>
        <p:nvGraphicFramePr>
          <p:cNvPr id="218"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0158984" cy="3291840"/>
        </p:xfrm>
        <a:graphic>
          <a:graphicData uri="http://schemas.openxmlformats.org/drawingml/2006/table">
            <a:tbl>
              <a:tblPr/>
              <a:tblGrid>
                <a:gridCol w="146304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52544">
                  <a:extLst>
                    <a:ext uri="{9D8B030D-6E8A-4147-A177-3AD203B41FA5}">
                      <a16:colId xmlns:a16="http://schemas.microsoft.com/office/drawing/2014/main" val="20002"/>
                    </a:ext>
                  </a:extLst>
                </a:gridCol>
              </a:tblGrid>
              <a:tr h="54864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Hour</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Day 3</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Day 4</a:t>
                      </a:r>
                      <a:endParaRPr lang="en-US" sz="120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16233F"/>
                    </a:solidFill>
                  </a:tcPr>
                </a:tc>
                <a:extLst>
                  <a:ext uri="{0D108BD9-81ED-4DB2-BD59-A6C34878D82A}">
                    <a16:rowId xmlns:a16="http://schemas.microsoft.com/office/drawing/2014/main" val="10000"/>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Confounding &amp; DAGs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Uncertainty quantification</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Adjustment estimators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Bias, validity &amp; sensitivity</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DiD &amp; synthetic control</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Real-world case studies</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IV &amp; RDD</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Capstone lab</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548640">
                <a:tc>
                  <a:txBody>
                    <a:bodyPr/>
                    <a:lstStyle/>
                    <a:p>
                      <a:pPr marL="0" indent="0" algn="l">
                        <a:buNone/>
                      </a:pPr>
                      <a:r>
                        <a:rPr lang="en-US" sz="1150" b="1" dirty="0">
                          <a:solidFill>
                            <a:srgbClr val="16233F"/>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Lab 3 + discussion + wrap</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tc>
                  <a:txBody>
                    <a:bodyPr/>
                    <a:lstStyle/>
                    <a:p>
                      <a:pPr marL="0" indent="0" algn="l">
                        <a:buNone/>
                      </a:pPr>
                      <a:r>
                        <a:rPr lang="en-US" sz="1150" dirty="0">
                          <a:solidFill>
                            <a:srgbClr val="566581"/>
                          </a:solidFill>
                          <a:latin typeface="Calibri" pitchFamily="34" charset="0"/>
                          <a:ea typeface="Calibri" pitchFamily="34" charset="-122"/>
                          <a:cs typeface="Calibri" pitchFamily="34" charset="-120"/>
                        </a:rPr>
                        <a:t>Defense + post-test + close</a:t>
                      </a:r>
                      <a:endParaRPr lang="en-US" sz="1150" dirty="0">
                        <a:latin typeface="Calibri" charset="0"/>
                        <a:ea typeface="Calibri" charset="0"/>
                        <a:cs typeface="Calibri" charset="0"/>
                      </a:endParaRPr>
                    </a:p>
                  </a:txBody>
                  <a:tcPr marL="76200" marR="76200" marT="50800" marB="50800" anchor="ctr">
                    <a:lnL w="12700" cap="flat" cmpd="sng" algn="ctr">
                      <a:solidFill>
                        <a:srgbClr val="D9E2F0"/>
                      </a:solidFill>
                      <a:prstDash val="solid"/>
                      <a:round/>
                      <a:headEnd type="none" w="med" len="med"/>
                      <a:tailEnd type="none" w="med" len="med"/>
                    </a:lnL>
                    <a:lnR w="12700" cap="flat" cmpd="sng" algn="ctr">
                      <a:solidFill>
                        <a:srgbClr val="D9E2F0"/>
                      </a:solidFill>
                      <a:prstDash val="solid"/>
                      <a:round/>
                      <a:headEnd type="none" w="med" len="med"/>
                      <a:tailEnd type="none" w="med" len="med"/>
                    </a:lnR>
                    <a:lnT w="12700" cap="flat" cmpd="sng" algn="ctr">
                      <a:solidFill>
                        <a:srgbClr val="D9E2F0"/>
                      </a:solidFill>
                      <a:prstDash val="solid"/>
                      <a:round/>
                      <a:headEnd type="none" w="med" len="med"/>
                      <a:tailEnd type="none" w="med" len="med"/>
                    </a:lnT>
                    <a:lnB w="12700" cap="flat" cmpd="sng" algn="ctr">
                      <a:solidFill>
                        <a:srgbClr val="D9E2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DELIVERY</a:t>
            </a:r>
            <a:endParaRPr lang="en-US" sz="900" dirty="0"/>
          </a:p>
        </p:txBody>
      </p:sp>
      <p:sp>
        <p:nvSpPr>
          <p:cNvPr id="6" name="Text 3"/>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216  /  221</a:t>
            </a:r>
            <a:endParaRPr lang="en-US" sz="900"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DELIVERY · FACILITATION</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Facilitator Delivery Notes</a:t>
            </a:r>
            <a:endParaRPr lang="en-US" sz="3400" dirty="0"/>
          </a:p>
        </p:txBody>
      </p:sp>
      <p:sp>
        <p:nvSpPr>
          <p:cNvPr id="4" name="Text 2"/>
          <p:cNvSpPr/>
          <p:nvPr/>
        </p:nvSpPr>
        <p:spPr>
          <a:xfrm>
            <a:off x="566928" y="1737360"/>
            <a:ext cx="11057839" cy="73152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How to run this deck for maximum retention with an expert audience.</a:t>
            </a:r>
            <a:endParaRPr lang="en-US" sz="1450" dirty="0"/>
          </a:p>
        </p:txBody>
      </p:sp>
      <p:sp>
        <p:nvSpPr>
          <p:cNvPr id="5" name="Shape 3"/>
          <p:cNvSpPr/>
          <p:nvPr/>
        </p:nvSpPr>
        <p:spPr>
          <a:xfrm>
            <a:off x="566928" y="2615184"/>
            <a:ext cx="146304" cy="146304"/>
          </a:xfrm>
          <a:prstGeom prst="ellipse">
            <a:avLst/>
          </a:prstGeom>
          <a:solidFill>
            <a:srgbClr val="3FA9E0"/>
          </a:solidFill>
          <a:ln/>
        </p:spPr>
        <p:txBody>
          <a:bodyPr/>
          <a:lstStyle/>
          <a:p>
            <a:endParaRPr lang="en-SA"/>
          </a:p>
        </p:txBody>
      </p:sp>
      <p:sp>
        <p:nvSpPr>
          <p:cNvPr id="6" name="Text 4"/>
          <p:cNvSpPr/>
          <p:nvPr/>
        </p:nvSpPr>
        <p:spPr>
          <a:xfrm>
            <a:off x="859536" y="256032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Lead with the failure</a:t>
            </a:r>
            <a:endParaRPr lang="en-US" sz="1500" dirty="0"/>
          </a:p>
        </p:txBody>
      </p:sp>
      <p:sp>
        <p:nvSpPr>
          <p:cNvPr id="7" name="Text 5"/>
          <p:cNvSpPr/>
          <p:nvPr/>
        </p:nvSpPr>
        <p:spPr>
          <a:xfrm>
            <a:off x="859536" y="2834640"/>
            <a:ext cx="10692079"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Open each method by showing where the naive approach breaks; the fix then feels necessary, not academic.</a:t>
            </a:r>
            <a:endParaRPr lang="en-US" sz="1250" dirty="0"/>
          </a:p>
        </p:txBody>
      </p:sp>
      <p:sp>
        <p:nvSpPr>
          <p:cNvPr id="8" name="Shape 6"/>
          <p:cNvSpPr/>
          <p:nvPr/>
        </p:nvSpPr>
        <p:spPr>
          <a:xfrm>
            <a:off x="566928" y="3506724"/>
            <a:ext cx="146304" cy="146304"/>
          </a:xfrm>
          <a:prstGeom prst="ellipse">
            <a:avLst/>
          </a:prstGeom>
          <a:solidFill>
            <a:srgbClr val="5A5BA6"/>
          </a:solidFill>
          <a:ln/>
        </p:spPr>
        <p:txBody>
          <a:bodyPr/>
          <a:lstStyle/>
          <a:p>
            <a:endParaRPr lang="en-SA"/>
          </a:p>
        </p:txBody>
      </p:sp>
      <p:sp>
        <p:nvSpPr>
          <p:cNvPr id="9" name="Text 7"/>
          <p:cNvSpPr/>
          <p:nvPr/>
        </p:nvSpPr>
        <p:spPr>
          <a:xfrm>
            <a:off x="859536" y="345186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Code every concept</a:t>
            </a:r>
            <a:endParaRPr lang="en-US" sz="1500" dirty="0"/>
          </a:p>
        </p:txBody>
      </p:sp>
      <p:sp>
        <p:nvSpPr>
          <p:cNvPr id="10" name="Text 8"/>
          <p:cNvSpPr/>
          <p:nvPr/>
        </p:nvSpPr>
        <p:spPr>
          <a:xfrm>
            <a:off x="859536" y="3726180"/>
            <a:ext cx="10692079"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Move to the notebook within minutes of each idea; abstract discussion loses expert practitioners fast.</a:t>
            </a:r>
            <a:endParaRPr lang="en-US" sz="1250" dirty="0"/>
          </a:p>
        </p:txBody>
      </p:sp>
      <p:sp>
        <p:nvSpPr>
          <p:cNvPr id="11" name="Shape 9"/>
          <p:cNvSpPr/>
          <p:nvPr/>
        </p:nvSpPr>
        <p:spPr>
          <a:xfrm>
            <a:off x="566928" y="4398264"/>
            <a:ext cx="146304" cy="146304"/>
          </a:xfrm>
          <a:prstGeom prst="ellipse">
            <a:avLst/>
          </a:prstGeom>
          <a:solidFill>
            <a:srgbClr val="EA7B38"/>
          </a:solidFill>
          <a:ln/>
        </p:spPr>
        <p:txBody>
          <a:bodyPr/>
          <a:lstStyle/>
          <a:p>
            <a:endParaRPr lang="en-SA"/>
          </a:p>
        </p:txBody>
      </p:sp>
      <p:sp>
        <p:nvSpPr>
          <p:cNvPr id="12" name="Text 10"/>
          <p:cNvSpPr/>
          <p:nvPr/>
        </p:nvSpPr>
        <p:spPr>
          <a:xfrm>
            <a:off x="859536" y="434340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Make assumptions the star</a:t>
            </a:r>
            <a:endParaRPr lang="en-US" sz="1500" dirty="0"/>
          </a:p>
        </p:txBody>
      </p:sp>
      <p:sp>
        <p:nvSpPr>
          <p:cNvPr id="13" name="Text 11"/>
          <p:cNvSpPr/>
          <p:nvPr/>
        </p:nvSpPr>
        <p:spPr>
          <a:xfrm>
            <a:off x="859536" y="4617720"/>
            <a:ext cx="10692079"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Return relentlessly to ‘which assumption is doing the work?’ — it is the course's throughline.</a:t>
            </a:r>
            <a:endParaRPr lang="en-US" sz="1250" dirty="0"/>
          </a:p>
        </p:txBody>
      </p:sp>
      <p:sp>
        <p:nvSpPr>
          <p:cNvPr id="14" name="Shape 12"/>
          <p:cNvSpPr/>
          <p:nvPr/>
        </p:nvSpPr>
        <p:spPr>
          <a:xfrm>
            <a:off x="566928" y="5289804"/>
            <a:ext cx="146304" cy="146304"/>
          </a:xfrm>
          <a:prstGeom prst="ellipse">
            <a:avLst/>
          </a:prstGeom>
          <a:solidFill>
            <a:srgbClr val="3E9B90"/>
          </a:solidFill>
          <a:ln/>
        </p:spPr>
        <p:txBody>
          <a:bodyPr/>
          <a:lstStyle/>
          <a:p>
            <a:endParaRPr lang="en-SA"/>
          </a:p>
        </p:txBody>
      </p:sp>
      <p:sp>
        <p:nvSpPr>
          <p:cNvPr id="15" name="Text 13"/>
          <p:cNvSpPr/>
          <p:nvPr/>
        </p:nvSpPr>
        <p:spPr>
          <a:xfrm>
            <a:off x="859536" y="5234940"/>
            <a:ext cx="10692079" cy="274320"/>
          </a:xfrm>
          <a:prstGeom prst="rect">
            <a:avLst/>
          </a:prstGeom>
          <a:noFill/>
          <a:ln/>
        </p:spPr>
        <p:txBody>
          <a:bodyPr wrap="square" lIns="0" tIns="0" rIns="0" bIns="0" rtlCol="0" anchor="ctr"/>
          <a:lstStyle/>
          <a:p>
            <a:pPr marL="0" indent="0">
              <a:buNone/>
            </a:pPr>
            <a:r>
              <a:rPr lang="en-US" sz="1500" b="1" dirty="0">
                <a:solidFill>
                  <a:srgbClr val="16233F"/>
                </a:solidFill>
                <a:latin typeface="Cambria" pitchFamily="34" charset="0"/>
                <a:ea typeface="Cambria" pitchFamily="34" charset="-122"/>
                <a:cs typeface="Cambria" pitchFamily="34" charset="-120"/>
              </a:rPr>
              <a:t>Debate, do not lecture</a:t>
            </a:r>
            <a:endParaRPr lang="en-US" sz="1500" dirty="0"/>
          </a:p>
        </p:txBody>
      </p:sp>
      <p:sp>
        <p:nvSpPr>
          <p:cNvPr id="16" name="Text 14"/>
          <p:cNvSpPr/>
          <p:nvPr/>
        </p:nvSpPr>
        <p:spPr>
          <a:xfrm>
            <a:off x="859536" y="5509260"/>
            <a:ext cx="10692079" cy="598932"/>
          </a:xfrm>
          <a:prstGeom prst="rect">
            <a:avLst/>
          </a:prstGeom>
          <a:noFill/>
          <a:ln/>
        </p:spPr>
        <p:txBody>
          <a:bodyPr wrap="square" lIns="0" tIns="0" rIns="0" bIns="0" rtlCol="0" anchor="t"/>
          <a:lstStyle/>
          <a:p>
            <a:pPr marL="0" indent="0">
              <a:lnSpc>
                <a:spcPct val="108000"/>
              </a:lnSpc>
              <a:buNone/>
            </a:pPr>
            <a:r>
              <a:rPr lang="en-US" sz="1250" dirty="0">
                <a:solidFill>
                  <a:srgbClr val="566581"/>
                </a:solidFill>
                <a:latin typeface="Calibri" pitchFamily="34" charset="0"/>
                <a:ea typeface="Calibri" pitchFamily="34" charset="-122"/>
                <a:cs typeface="Calibri" pitchFamily="34" charset="-120"/>
              </a:rPr>
              <a:t>Use the discussions to surface disagreement; expert cohorts learn most by defending design choices.</a:t>
            </a:r>
            <a:endParaRPr lang="en-US" sz="1250" dirty="0"/>
          </a:p>
        </p:txBody>
      </p:sp>
      <p:sp>
        <p:nvSpPr>
          <p:cNvPr id="17" name="Text 15"/>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DELIVERY</a:t>
            </a:r>
            <a:endParaRPr lang="en-US" sz="900" dirty="0"/>
          </a:p>
        </p:txBody>
      </p:sp>
      <p:sp>
        <p:nvSpPr>
          <p:cNvPr id="18" name="Text 16"/>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217  /  221</a:t>
            </a:r>
            <a:endParaRPr lang="en-US" sz="900" dirty="0"/>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DELIVERY · LOGISTICS</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Materials &amp; Environment</a:t>
            </a:r>
            <a:endParaRPr lang="en-US" sz="3400" dirty="0"/>
          </a:p>
        </p:txBody>
      </p:sp>
      <p:sp>
        <p:nvSpPr>
          <p:cNvPr id="4" name="Text 2"/>
          <p:cNvSpPr/>
          <p:nvPr/>
        </p:nvSpPr>
        <p:spPr>
          <a:xfrm>
            <a:off x="566928" y="1737360"/>
            <a:ext cx="11057839" cy="64008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What learners and facilitators need in place before Day 1.</a:t>
            </a:r>
            <a:endParaRPr lang="en-US" sz="1450" dirty="0"/>
          </a:p>
        </p:txBody>
      </p:sp>
      <p:sp>
        <p:nvSpPr>
          <p:cNvPr id="5" name="Shape 3"/>
          <p:cNvSpPr/>
          <p:nvPr/>
        </p:nvSpPr>
        <p:spPr>
          <a:xfrm>
            <a:off x="566928" y="2578608"/>
            <a:ext cx="137160" cy="137160"/>
          </a:xfrm>
          <a:prstGeom prst="ellipse">
            <a:avLst/>
          </a:prstGeom>
          <a:solidFill>
            <a:srgbClr val="3FA9E0"/>
          </a:solidFill>
          <a:ln/>
        </p:spPr>
        <p:txBody>
          <a:bodyPr/>
          <a:lstStyle/>
          <a:p>
            <a:endParaRPr lang="en-SA"/>
          </a:p>
        </p:txBody>
      </p:sp>
      <p:sp>
        <p:nvSpPr>
          <p:cNvPr id="6" name="Text 4"/>
          <p:cNvSpPr/>
          <p:nvPr/>
        </p:nvSpPr>
        <p:spPr>
          <a:xfrm>
            <a:off x="841248" y="2514600"/>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Compute: Python 3.11+ with the toolkit libraries, or a hosted notebook environment (Colab / JupyterHub).</a:t>
            </a:r>
            <a:endParaRPr lang="en-US" sz="1400" dirty="0"/>
          </a:p>
        </p:txBody>
      </p:sp>
      <p:sp>
        <p:nvSpPr>
          <p:cNvPr id="7" name="Shape 5"/>
          <p:cNvSpPr/>
          <p:nvPr/>
        </p:nvSpPr>
        <p:spPr>
          <a:xfrm>
            <a:off x="566928" y="3300984"/>
            <a:ext cx="137160" cy="137160"/>
          </a:xfrm>
          <a:prstGeom prst="ellipse">
            <a:avLst/>
          </a:prstGeom>
          <a:solidFill>
            <a:srgbClr val="5A5BA6"/>
          </a:solidFill>
          <a:ln/>
        </p:spPr>
        <p:txBody>
          <a:bodyPr/>
          <a:lstStyle/>
          <a:p>
            <a:endParaRPr lang="en-SA"/>
          </a:p>
        </p:txBody>
      </p:sp>
      <p:sp>
        <p:nvSpPr>
          <p:cNvPr id="8" name="Text 6"/>
          <p:cNvSpPr/>
          <p:nvPr/>
        </p:nvSpPr>
        <p:spPr>
          <a:xfrm>
            <a:off x="841248" y="3236976"/>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Datasets: four lab datasets plus one capstone dataset with a documented data dictionary and known ground truth where used.</a:t>
            </a:r>
            <a:endParaRPr lang="en-US" sz="1400" dirty="0"/>
          </a:p>
        </p:txBody>
      </p:sp>
      <p:sp>
        <p:nvSpPr>
          <p:cNvPr id="9" name="Shape 7"/>
          <p:cNvSpPr/>
          <p:nvPr/>
        </p:nvSpPr>
        <p:spPr>
          <a:xfrm>
            <a:off x="566928" y="4023360"/>
            <a:ext cx="137160" cy="137160"/>
          </a:xfrm>
          <a:prstGeom prst="ellipse">
            <a:avLst/>
          </a:prstGeom>
          <a:solidFill>
            <a:srgbClr val="EA7B38"/>
          </a:solidFill>
          <a:ln/>
        </p:spPr>
        <p:txBody>
          <a:bodyPr/>
          <a:lstStyle/>
          <a:p>
            <a:endParaRPr lang="en-SA"/>
          </a:p>
        </p:txBody>
      </p:sp>
      <p:sp>
        <p:nvSpPr>
          <p:cNvPr id="10" name="Text 8"/>
          <p:cNvSpPr/>
          <p:nvPr/>
        </p:nvSpPr>
        <p:spPr>
          <a:xfrm>
            <a:off x="841248" y="3959352"/>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Access: pre-test link, daily-check forms, lab notebooks (starter + solution), and the capstone rubric.</a:t>
            </a:r>
            <a:endParaRPr lang="en-US" sz="1400" dirty="0"/>
          </a:p>
        </p:txBody>
      </p:sp>
      <p:sp>
        <p:nvSpPr>
          <p:cNvPr id="11" name="Shape 9"/>
          <p:cNvSpPr/>
          <p:nvPr/>
        </p:nvSpPr>
        <p:spPr>
          <a:xfrm>
            <a:off x="566928" y="4745736"/>
            <a:ext cx="137160" cy="137160"/>
          </a:xfrm>
          <a:prstGeom prst="ellipse">
            <a:avLst/>
          </a:prstGeom>
          <a:solidFill>
            <a:srgbClr val="3E9B90"/>
          </a:solidFill>
          <a:ln/>
        </p:spPr>
        <p:txBody>
          <a:bodyPr/>
          <a:lstStyle/>
          <a:p>
            <a:endParaRPr lang="en-SA"/>
          </a:p>
        </p:txBody>
      </p:sp>
      <p:sp>
        <p:nvSpPr>
          <p:cNvPr id="12" name="Text 10"/>
          <p:cNvSpPr/>
          <p:nvPr/>
        </p:nvSpPr>
        <p:spPr>
          <a:xfrm>
            <a:off x="841248" y="4681728"/>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Delivery: remote-friendly; discussions run in breakout groups with a shared review at the end of each hour.</a:t>
            </a:r>
            <a:endParaRPr lang="en-US" sz="1400" dirty="0"/>
          </a:p>
        </p:txBody>
      </p:sp>
      <p:sp>
        <p:nvSpPr>
          <p:cNvPr id="13" name="Shape 11"/>
          <p:cNvSpPr/>
          <p:nvPr/>
        </p:nvSpPr>
        <p:spPr>
          <a:xfrm>
            <a:off x="566928" y="5468112"/>
            <a:ext cx="137160" cy="137160"/>
          </a:xfrm>
          <a:prstGeom prst="ellipse">
            <a:avLst/>
          </a:prstGeom>
          <a:solidFill>
            <a:srgbClr val="73BB59"/>
          </a:solidFill>
          <a:ln/>
        </p:spPr>
        <p:txBody>
          <a:bodyPr/>
          <a:lstStyle/>
          <a:p>
            <a:endParaRPr lang="en-SA"/>
          </a:p>
        </p:txBody>
      </p:sp>
      <p:sp>
        <p:nvSpPr>
          <p:cNvPr id="14" name="Text 12"/>
          <p:cNvSpPr/>
          <p:nvPr/>
        </p:nvSpPr>
        <p:spPr>
          <a:xfrm>
            <a:off x="841248" y="5404104"/>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Pre-work: confirm SF-3 and DS-1 prerequisites; share a 30-minute Python/stats refresher for borderline learners.</a:t>
            </a:r>
            <a:endParaRPr lang="en-US" sz="1400" dirty="0"/>
          </a:p>
        </p:txBody>
      </p:sp>
      <p:sp>
        <p:nvSpPr>
          <p:cNvPr id="15" name="Text 13"/>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DELIVERY</a:t>
            </a:r>
            <a:endParaRPr lang="en-US" sz="900" dirty="0"/>
          </a:p>
        </p:txBody>
      </p:sp>
      <p:sp>
        <p:nvSpPr>
          <p:cNvPr id="16" name="Text 14"/>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218  /  221</a:t>
            </a:r>
            <a:endParaRPr lang="en-US" sz="900" dirty="0"/>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11057839" cy="292608"/>
          </a:xfrm>
          <a:prstGeom prst="rect">
            <a:avLst/>
          </a:prstGeom>
          <a:noFill/>
          <a:ln/>
        </p:spPr>
        <p:txBody>
          <a:bodyPr wrap="square" lIns="0" tIns="0" rIns="0" bIns="0" rtlCol="0" anchor="ctr"/>
          <a:lstStyle/>
          <a:p>
            <a:pPr marL="0" indent="0" algn="l">
              <a:buNone/>
            </a:pPr>
            <a:r>
              <a:rPr lang="en-US" sz="1200" b="1" kern="0" spc="300" dirty="0">
                <a:solidFill>
                  <a:srgbClr val="3FA9E0"/>
                </a:solidFill>
                <a:latin typeface="Calibri" pitchFamily="34" charset="0"/>
                <a:ea typeface="Calibri" pitchFamily="34" charset="-122"/>
                <a:cs typeface="Calibri" pitchFamily="34" charset="-120"/>
              </a:rPr>
              <a:t>REFERENCE · FURTHER STUDY</a:t>
            </a:r>
            <a:endParaRPr lang="en-US" sz="1200" dirty="0"/>
          </a:p>
        </p:txBody>
      </p:sp>
      <p:sp>
        <p:nvSpPr>
          <p:cNvPr id="3" name="Text 1"/>
          <p:cNvSpPr/>
          <p:nvPr/>
        </p:nvSpPr>
        <p:spPr>
          <a:xfrm>
            <a:off x="566928" y="713232"/>
            <a:ext cx="11057839" cy="868680"/>
          </a:xfrm>
          <a:prstGeom prst="rect">
            <a:avLst/>
          </a:prstGeom>
          <a:noFill/>
          <a:ln/>
        </p:spPr>
        <p:txBody>
          <a:bodyPr wrap="square" lIns="0" tIns="0" rIns="0" bIns="0" rtlCol="0" anchor="t"/>
          <a:lstStyle/>
          <a:p>
            <a:pPr marL="0" indent="0" algn="l">
              <a:lnSpc>
                <a:spcPct val="100000"/>
              </a:lnSpc>
              <a:buNone/>
            </a:pPr>
            <a:r>
              <a:rPr lang="en-US" sz="3400" b="1" dirty="0">
                <a:solidFill>
                  <a:srgbClr val="16233F"/>
                </a:solidFill>
                <a:latin typeface="Cambria" pitchFamily="34" charset="0"/>
                <a:ea typeface="Cambria" pitchFamily="34" charset="-122"/>
                <a:cs typeface="Cambria" pitchFamily="34" charset="-120"/>
              </a:rPr>
              <a:t>Canonical References for Deeper Study</a:t>
            </a:r>
            <a:endParaRPr lang="en-US" sz="3400" dirty="0"/>
          </a:p>
        </p:txBody>
      </p:sp>
      <p:sp>
        <p:nvSpPr>
          <p:cNvPr id="4" name="Text 2"/>
          <p:cNvSpPr/>
          <p:nvPr/>
        </p:nvSpPr>
        <p:spPr>
          <a:xfrm>
            <a:off x="566928" y="1737360"/>
            <a:ext cx="11057839" cy="640080"/>
          </a:xfrm>
          <a:prstGeom prst="rect">
            <a:avLst/>
          </a:prstGeom>
          <a:noFill/>
          <a:ln/>
        </p:spPr>
        <p:txBody>
          <a:bodyPr wrap="square" lIns="0" tIns="0" rIns="0" bIns="0" rtlCol="0" anchor="t"/>
          <a:lstStyle/>
          <a:p>
            <a:pPr marL="0" indent="0">
              <a:lnSpc>
                <a:spcPct val="118000"/>
              </a:lnSpc>
              <a:buNone/>
            </a:pPr>
            <a:r>
              <a:rPr lang="en-US" sz="1450" dirty="0">
                <a:solidFill>
                  <a:srgbClr val="566581"/>
                </a:solidFill>
                <a:latin typeface="Calibri" pitchFamily="34" charset="0"/>
                <a:ea typeface="Calibri" pitchFamily="34" charset="-122"/>
                <a:cs typeface="Calibri" pitchFamily="34" charset="-120"/>
              </a:rPr>
              <a:t>Where to go after the course, by theme (author-level pointers, not required reading).</a:t>
            </a:r>
            <a:endParaRPr lang="en-US" sz="1450" dirty="0"/>
          </a:p>
        </p:txBody>
      </p:sp>
      <p:sp>
        <p:nvSpPr>
          <p:cNvPr id="5" name="Shape 3"/>
          <p:cNvSpPr/>
          <p:nvPr/>
        </p:nvSpPr>
        <p:spPr>
          <a:xfrm>
            <a:off x="566928" y="2578608"/>
            <a:ext cx="137160" cy="137160"/>
          </a:xfrm>
          <a:prstGeom prst="ellipse">
            <a:avLst/>
          </a:prstGeom>
          <a:solidFill>
            <a:srgbClr val="3FA9E0"/>
          </a:solidFill>
          <a:ln/>
        </p:spPr>
        <p:txBody>
          <a:bodyPr/>
          <a:lstStyle/>
          <a:p>
            <a:endParaRPr lang="en-SA"/>
          </a:p>
        </p:txBody>
      </p:sp>
      <p:sp>
        <p:nvSpPr>
          <p:cNvPr id="6" name="Text 4"/>
          <p:cNvSpPr/>
          <p:nvPr/>
        </p:nvSpPr>
        <p:spPr>
          <a:xfrm>
            <a:off x="841248" y="2514600"/>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Foundations &amp; potential outcomes — Imbens &amp; Rubin; Hernán &amp; Robins (‘What If’).</a:t>
            </a:r>
            <a:endParaRPr lang="en-US" sz="1400" dirty="0"/>
          </a:p>
        </p:txBody>
      </p:sp>
      <p:sp>
        <p:nvSpPr>
          <p:cNvPr id="7" name="Shape 5"/>
          <p:cNvSpPr/>
          <p:nvPr/>
        </p:nvSpPr>
        <p:spPr>
          <a:xfrm>
            <a:off x="566928" y="3300984"/>
            <a:ext cx="137160" cy="137160"/>
          </a:xfrm>
          <a:prstGeom prst="ellipse">
            <a:avLst/>
          </a:prstGeom>
          <a:solidFill>
            <a:srgbClr val="5A5BA6"/>
          </a:solidFill>
          <a:ln/>
        </p:spPr>
        <p:txBody>
          <a:bodyPr/>
          <a:lstStyle/>
          <a:p>
            <a:endParaRPr lang="en-SA"/>
          </a:p>
        </p:txBody>
      </p:sp>
      <p:sp>
        <p:nvSpPr>
          <p:cNvPr id="8" name="Text 6"/>
          <p:cNvSpPr/>
          <p:nvPr/>
        </p:nvSpPr>
        <p:spPr>
          <a:xfrm>
            <a:off x="841248" y="3236976"/>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Graphical causal models — Pearl; Pearl, Glymour &amp; Jewell primer.</a:t>
            </a:r>
            <a:endParaRPr lang="en-US" sz="1400" dirty="0"/>
          </a:p>
        </p:txBody>
      </p:sp>
      <p:sp>
        <p:nvSpPr>
          <p:cNvPr id="9" name="Shape 7"/>
          <p:cNvSpPr/>
          <p:nvPr/>
        </p:nvSpPr>
        <p:spPr>
          <a:xfrm>
            <a:off x="566928" y="4023360"/>
            <a:ext cx="137160" cy="137160"/>
          </a:xfrm>
          <a:prstGeom prst="ellipse">
            <a:avLst/>
          </a:prstGeom>
          <a:solidFill>
            <a:srgbClr val="EA7B38"/>
          </a:solidFill>
          <a:ln/>
        </p:spPr>
        <p:txBody>
          <a:bodyPr/>
          <a:lstStyle/>
          <a:p>
            <a:endParaRPr lang="en-SA"/>
          </a:p>
        </p:txBody>
      </p:sp>
      <p:sp>
        <p:nvSpPr>
          <p:cNvPr id="10" name="Text 8"/>
          <p:cNvSpPr/>
          <p:nvPr/>
        </p:nvSpPr>
        <p:spPr>
          <a:xfrm>
            <a:off x="841248" y="3959352"/>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Applied / econometric designs — Angrist &amp; Pischke; Cunningham (‘Causal Inference: The Mixtape’).</a:t>
            </a:r>
            <a:endParaRPr lang="en-US" sz="1400" dirty="0"/>
          </a:p>
        </p:txBody>
      </p:sp>
      <p:sp>
        <p:nvSpPr>
          <p:cNvPr id="11" name="Shape 9"/>
          <p:cNvSpPr/>
          <p:nvPr/>
        </p:nvSpPr>
        <p:spPr>
          <a:xfrm>
            <a:off x="566928" y="4745736"/>
            <a:ext cx="137160" cy="137160"/>
          </a:xfrm>
          <a:prstGeom prst="ellipse">
            <a:avLst/>
          </a:prstGeom>
          <a:solidFill>
            <a:srgbClr val="3E9B90"/>
          </a:solidFill>
          <a:ln/>
        </p:spPr>
        <p:txBody>
          <a:bodyPr/>
          <a:lstStyle/>
          <a:p>
            <a:endParaRPr lang="en-SA"/>
          </a:p>
        </p:txBody>
      </p:sp>
      <p:sp>
        <p:nvSpPr>
          <p:cNvPr id="12" name="Text 10"/>
          <p:cNvSpPr/>
          <p:nvPr/>
        </p:nvSpPr>
        <p:spPr>
          <a:xfrm>
            <a:off x="841248" y="4681728"/>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Experimentation — Gerber &amp; Green (field experiments); Kohavi, Tang &amp; Xu (online experiments).</a:t>
            </a:r>
            <a:endParaRPr lang="en-US" sz="1400" dirty="0"/>
          </a:p>
        </p:txBody>
      </p:sp>
      <p:sp>
        <p:nvSpPr>
          <p:cNvPr id="13" name="Shape 11"/>
          <p:cNvSpPr/>
          <p:nvPr/>
        </p:nvSpPr>
        <p:spPr>
          <a:xfrm>
            <a:off x="566928" y="5468112"/>
            <a:ext cx="137160" cy="137160"/>
          </a:xfrm>
          <a:prstGeom prst="ellipse">
            <a:avLst/>
          </a:prstGeom>
          <a:solidFill>
            <a:srgbClr val="73BB59"/>
          </a:solidFill>
          <a:ln/>
        </p:spPr>
        <p:txBody>
          <a:bodyPr/>
          <a:lstStyle/>
          <a:p>
            <a:endParaRPr lang="en-SA"/>
          </a:p>
        </p:txBody>
      </p:sp>
      <p:sp>
        <p:nvSpPr>
          <p:cNvPr id="14" name="Text 12"/>
          <p:cNvSpPr/>
          <p:nvPr/>
        </p:nvSpPr>
        <p:spPr>
          <a:xfrm>
            <a:off x="841248" y="5404104"/>
            <a:ext cx="10783519" cy="722376"/>
          </a:xfrm>
          <a:prstGeom prst="rect">
            <a:avLst/>
          </a:prstGeom>
          <a:noFill/>
          <a:ln/>
        </p:spPr>
        <p:txBody>
          <a:bodyPr wrap="square" lIns="0" tIns="0" rIns="0" bIns="0" rtlCol="0" anchor="t"/>
          <a:lstStyle/>
          <a:p>
            <a:pPr marL="0" indent="0">
              <a:lnSpc>
                <a:spcPct val="112000"/>
              </a:lnSpc>
              <a:buNone/>
            </a:pPr>
            <a:r>
              <a:rPr lang="en-US" sz="1400" dirty="0">
                <a:solidFill>
                  <a:srgbClr val="566581"/>
                </a:solidFill>
                <a:latin typeface="Calibri" pitchFamily="34" charset="0"/>
                <a:ea typeface="Calibri" pitchFamily="34" charset="-122"/>
                <a:cs typeface="Calibri" pitchFamily="34" charset="-120"/>
              </a:rPr>
              <a:t>Modern ML for effects — double/debiased ML and causal forests literature (Chernozhukov et al.; Athey &amp; Wager).</a:t>
            </a:r>
            <a:endParaRPr lang="en-US" sz="1400" dirty="0"/>
          </a:p>
        </p:txBody>
      </p:sp>
      <p:sp>
        <p:nvSpPr>
          <p:cNvPr id="15" name="Text 13"/>
          <p:cNvSpPr/>
          <p:nvPr/>
        </p:nvSpPr>
        <p:spPr>
          <a:xfrm>
            <a:off x="566928" y="6419088"/>
            <a:ext cx="7740487" cy="274320"/>
          </a:xfrm>
          <a:prstGeom prst="rect">
            <a:avLst/>
          </a:prstGeom>
          <a:noFill/>
          <a:ln/>
        </p:spPr>
        <p:txBody>
          <a:bodyPr wrap="square" lIns="0" tIns="0" rIns="0" bIns="0" rtlCol="0" anchor="ctr"/>
          <a:lstStyle/>
          <a:p>
            <a:pPr marL="0" indent="0" algn="l">
              <a:buNone/>
            </a:pPr>
            <a:r>
              <a:rPr lang="en-US" sz="900" kern="0" spc="200" dirty="0">
                <a:solidFill>
                  <a:srgbClr val="8A98AE"/>
                </a:solidFill>
                <a:latin typeface="Calibri" pitchFamily="34" charset="0"/>
                <a:ea typeface="Calibri" pitchFamily="34" charset="-122"/>
                <a:cs typeface="Calibri" pitchFamily="34" charset="-120"/>
              </a:rPr>
              <a:t>ACADEMY OF EXCELLENCE</a:t>
            </a:r>
            <a:r>
              <a:rPr lang="en-US" sz="900" kern="0" spc="200" dirty="0">
                <a:solidFill>
                  <a:srgbClr val="3FA9E0"/>
                </a:solidFill>
                <a:latin typeface="Calibri" pitchFamily="34" charset="0"/>
                <a:ea typeface="Calibri" pitchFamily="34" charset="-122"/>
                <a:cs typeface="Calibri" pitchFamily="34" charset="-120"/>
              </a:rPr>
              <a:t>   ·   </a:t>
            </a:r>
            <a:r>
              <a:rPr lang="en-US" sz="900" b="1" kern="0" spc="200" dirty="0">
                <a:solidFill>
                  <a:srgbClr val="566581"/>
                </a:solidFill>
                <a:latin typeface="Calibri" pitchFamily="34" charset="0"/>
                <a:ea typeface="Calibri" pitchFamily="34" charset="-122"/>
                <a:cs typeface="Calibri" pitchFamily="34" charset="-120"/>
              </a:rPr>
              <a:t>REFERENCE · DELIVERY</a:t>
            </a:r>
            <a:endParaRPr lang="en-US" sz="900" dirty="0"/>
          </a:p>
        </p:txBody>
      </p:sp>
      <p:sp>
        <p:nvSpPr>
          <p:cNvPr id="16" name="Text 14"/>
          <p:cNvSpPr/>
          <p:nvPr/>
        </p:nvSpPr>
        <p:spPr>
          <a:xfrm>
            <a:off x="9795967" y="6419088"/>
            <a:ext cx="1828800" cy="274320"/>
          </a:xfrm>
          <a:prstGeom prst="rect">
            <a:avLst/>
          </a:prstGeom>
          <a:noFill/>
          <a:ln/>
        </p:spPr>
        <p:txBody>
          <a:bodyPr wrap="square" lIns="0" tIns="0" rIns="0" bIns="0" rtlCol="0" anchor="ctr"/>
          <a:lstStyle/>
          <a:p>
            <a:pPr marL="0" indent="0" algn="r">
              <a:buNone/>
            </a:pPr>
            <a:r>
              <a:rPr lang="en-US" sz="900" kern="0" spc="100" dirty="0">
                <a:solidFill>
                  <a:srgbClr val="8A98AE"/>
                </a:solidFill>
                <a:latin typeface="Calibri" pitchFamily="34" charset="0"/>
                <a:ea typeface="Calibri" pitchFamily="34" charset="-122"/>
                <a:cs typeface="Calibri" pitchFamily="34" charset="-120"/>
              </a:rPr>
              <a:t>219  /  221</a:t>
            </a:r>
            <a:endParaRPr lang="en-US" sz="900" dirty="0"/>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21">
    <p:bg>
      <p:bgPr>
        <a:solidFill>
          <a:srgbClr val="16233F"/>
        </a:solidFill>
        <a:effectLst/>
      </p:bgPr>
    </p:bg>
    <p:spTree>
      <p:nvGrpSpPr>
        <p:cNvPr id="1" name=""/>
        <p:cNvGrpSpPr/>
        <p:nvPr/>
      </p:nvGrpSpPr>
      <p:grpSpPr>
        <a:xfrm>
          <a:off x="0" y="0"/>
          <a:ext cx="0" cy="0"/>
          <a:chOff x="0" y="0"/>
          <a:chExt cx="0" cy="0"/>
        </a:xfrm>
      </p:grpSpPr>
      <p:sp>
        <p:nvSpPr>
          <p:cNvPr id="2" name="Text 0"/>
          <p:cNvSpPr/>
          <p:nvPr/>
        </p:nvSpPr>
        <p:spPr>
          <a:xfrm>
            <a:off x="566928" y="2011680"/>
            <a:ext cx="11057839" cy="365760"/>
          </a:xfrm>
          <a:prstGeom prst="rect">
            <a:avLst/>
          </a:prstGeom>
          <a:noFill/>
          <a:ln/>
        </p:spPr>
        <p:txBody>
          <a:bodyPr wrap="square" lIns="0" tIns="0" rIns="0" bIns="0" rtlCol="0" anchor="ctr"/>
          <a:lstStyle/>
          <a:p>
            <a:pPr marL="0" indent="0">
              <a:buNone/>
            </a:pPr>
            <a:r>
              <a:rPr lang="en-US" sz="1300" b="1" kern="0" spc="500" dirty="0">
                <a:solidFill>
                  <a:srgbClr val="3FA9E0"/>
                </a:solidFill>
                <a:latin typeface="Calibri" pitchFamily="34" charset="0"/>
                <a:ea typeface="Calibri" pitchFamily="34" charset="-122"/>
                <a:cs typeface="Calibri" pitchFamily="34" charset="-120"/>
              </a:rPr>
              <a:t>SDAIA ACADEMY</a:t>
            </a:r>
            <a:endParaRPr lang="en-US" sz="1300" dirty="0"/>
          </a:p>
        </p:txBody>
      </p:sp>
      <p:sp>
        <p:nvSpPr>
          <p:cNvPr id="3" name="Text 1"/>
          <p:cNvSpPr/>
          <p:nvPr/>
        </p:nvSpPr>
        <p:spPr>
          <a:xfrm>
            <a:off x="566928" y="2560320"/>
            <a:ext cx="10058400" cy="10972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4" name="Text 2"/>
          <p:cNvSpPr/>
          <p:nvPr/>
        </p:nvSpPr>
        <p:spPr>
          <a:xfrm>
            <a:off x="566928" y="3749040"/>
            <a:ext cx="9601200" cy="914400"/>
          </a:xfrm>
          <a:prstGeom prst="rect">
            <a:avLst/>
          </a:prstGeom>
          <a:noFill/>
          <a:ln/>
        </p:spPr>
        <p:txBody>
          <a:bodyPr wrap="square" lIns="0" tIns="0" rIns="0" bIns="0" rtlCol="0" anchor="ctr"/>
          <a:lstStyle/>
          <a:p>
            <a:pPr marL="0" indent="0">
              <a:lnSpc>
                <a:spcPct val="125000"/>
              </a:lnSpc>
              <a:buNone/>
            </a:pPr>
            <a:r>
              <a:rPr lang="en-US" sz="1500" dirty="0">
                <a:solidFill>
                  <a:srgbClr val="C9DAF0"/>
                </a:solidFill>
                <a:latin typeface="Calibri" pitchFamily="34" charset="0"/>
                <a:ea typeface="Calibri" pitchFamily="34" charset="-122"/>
                <a:cs typeface="Calibri" pitchFamily="34" charset="-120"/>
              </a:rPr>
              <a:t>You can now formalise causal questions, design and analyse experiments, draw effects from observational data, quantify uncertainty at both layers, and communicate a decision whose risk is owned.</a:t>
            </a:r>
            <a:endParaRPr lang="en-US" sz="1500" dirty="0"/>
          </a:p>
        </p:txBody>
      </p:sp>
      <p:sp>
        <p:nvSpPr>
          <p:cNvPr id="5" name="Shape 3"/>
          <p:cNvSpPr/>
          <p:nvPr/>
        </p:nvSpPr>
        <p:spPr>
          <a:xfrm>
            <a:off x="566928" y="4937760"/>
            <a:ext cx="1828800" cy="0"/>
          </a:xfrm>
          <a:prstGeom prst="line">
            <a:avLst/>
          </a:prstGeom>
          <a:noFill/>
          <a:ln w="25400">
            <a:solidFill>
              <a:srgbClr val="3FA9E0"/>
            </a:solidFill>
            <a:prstDash val="solid"/>
          </a:ln>
        </p:spPr>
        <p:txBody>
          <a:bodyPr/>
          <a:lstStyle/>
          <a:p>
            <a:endParaRPr lang="en-SA"/>
          </a:p>
        </p:txBody>
      </p:sp>
      <p:sp>
        <p:nvSpPr>
          <p:cNvPr id="6" name="Text 4"/>
          <p:cNvSpPr/>
          <p:nvPr/>
        </p:nvSpPr>
        <p:spPr>
          <a:xfrm>
            <a:off x="566928" y="5120640"/>
            <a:ext cx="11057839" cy="365760"/>
          </a:xfrm>
          <a:prstGeom prst="rect">
            <a:avLst/>
          </a:prstGeom>
          <a:noFill/>
          <a:ln/>
        </p:spPr>
        <p:txBody>
          <a:bodyPr wrap="square" lIns="0" tIns="0" rIns="0" bIns="0" rtlCol="0" anchor="ctr"/>
          <a:lstStyle/>
          <a:p>
            <a:pPr marL="0" indent="0">
              <a:buNone/>
            </a:pPr>
            <a:r>
              <a:rPr lang="en-US" sz="1200" dirty="0">
                <a:solidFill>
                  <a:srgbClr val="9FB0C8"/>
                </a:solidFill>
                <a:latin typeface="Calibri" pitchFamily="34" charset="0"/>
                <a:ea typeface="Calibri" pitchFamily="34" charset="-122"/>
                <a:cs typeface="Calibri" pitchFamily="34" charset="-120"/>
              </a:rPr>
              <a:t>Experimentation &amp; Causal Inference · P6.1.04 · DSC-C04 · SDAIA Academy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23896</Words>
  <Application>Microsoft Macintosh PowerPoint</Application>
  <PresentationFormat>Widescreen</PresentationFormat>
  <Paragraphs>3037</Paragraphs>
  <Slides>221</Slides>
  <Notes>221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221</vt:i4>
      </vt:variant>
    </vt:vector>
  </HeadingPairs>
  <TitlesOfParts>
    <vt:vector size="22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SDAIA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Experimentation and Causal Inference (P6.1.04)</dc:title>
  <dc:subject>PptxGenJS Presentation</dc:subject>
  <dc:creator>SDAIA Academy</dc:creator>
  <cp:lastModifiedBy>Abrar Mutlaq Alotaibi</cp:lastModifiedBy>
  <cp:revision>2</cp:revision>
  <dcterms:created xsi:type="dcterms:W3CDTF">2026-07-01T06:48:25Z</dcterms:created>
  <dcterms:modified xsi:type="dcterms:W3CDTF">2026-09-05T11:42:32Z</dcterms:modified>
</cp:coreProperties>
</file>